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這個單元跟前面的部署工作坊不同：不是部署一個應用，而是把應用弄壞，再救回來。所有 Velero 備份與還原步驟都在真實叢集上跑過，投影片上的輸出是 2026 年 9 月 23 日實際擷取的結果。etcd 還原與整座叢集重建會影響共用叢集上的其他租戶，所以只提供 runbook，不在這座叢集上執行。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建議節奏：1 到 4 是一條完整的第一次救援主線；5 在學員對 Completed 就是成功產生信心之後立刻打破它；6、7、8 往下一層到 control plane 與整座叢集；9 收尾成可以帶回公司的制度。7 和 8 是 runbook，不在共用叢集上執行。時間配置：開場 4 分鐘，九個單元依序 8、8、12、12、15、10、6、6、7 分鐘，總結 2 分鐘，合計 90 分鐘。沒有列在主線的頁面放在最後的補充資料，供學員課後閱讀。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三條備份路徑：Velero 把資源 manifest 寫到 backups，node-agent 把 CSI 快照的內容用 kopia 上傳到 kopia 目錄，etcd CronJob 把 snapshot 放到 etcd-backups。共同原則是最後都落到叢集外的 Object Storage。Velero UI 是 OTWLD 版本，網址 velero.nexai.org.com，掛在 admin-gateway。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1 是觀念加唯讀觀察。先建立一個關鍵認知：同一個應用由兩種性質完全不同的東西組成，各自住在不同地方，要用不同工具備份。建議時間：8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 dr-demo 為例，同一個 PostgreSQL 應用其實由兩種東西組成。一句話總結：etcd 裡只有描述，沒有內容。單元 5 情境 1 會實際重現「Pod Running、table 也在，但訂單全不見」。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備份一定要能回答：如果整座叢集包含 Ceph 都不見了，備份還在嗎？只有叢集外的 Object Storage 四種災難都撐得住。可攜性是單元 8 重建叢集的關鍵。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「備份成功」只證明 Velero 把它被要求備份的東西寫進了 Object Storage。中間任何一環沒想到，都會變成 Completed 的備份、救不回來的應用。這張表就是整門課的路線圖。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2 在叢集外的一台備份機上用 SeaweedFS 提供 S3，讓 Velero 寫進去，並且不透過 Velero、直接去 S3 確認資料真的寫出去了。建議時間：8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一個常見、看起來合理的設計是在叢集裡開 Ceph RGW 或 MinIO 給 Velero 用。這座叢集其實真的有 rook-ceph-retain-bucket 這個 StorageClass，早期測試也這樣做過。問題是備份跟被保護的東西在同一個故障域。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的 AWS plugin 使用標準 AWS credentials 檔格式。輪替密碼時用 create secret 加 dry-run 再 apply，然後重啟 velero Deployment 和 node-agent DaemonSet。velero-repo-credentials 是單元 8 重建叢集的關鍵，很多人不知道它存在。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s3-check-pod 用 Velero 自己的 credentials，只做 ls，是不經過 Velero 的第二個來源。實測 kopia 裡 dr-demo 約 37MB，是 PV 資料壓縮去重後的大小。也可以在備份機上用 df 和 du 確認硬碟真的在長。PV 資料則由 kopia 用 velero-repo-credentials 加密。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3 用 Velero UI 建立第一份備份。重點不在按鈕怎麼按，而在學會判斷一份備份是不是真的完成。建議時間：12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dr-demo 就是我們要保護的一個應用。write-postgres.sh 寫入 DR-TEST-DB-001；check-data.sh 會檢查 PVC、資料庫資料、CephFS 檔案三項；baseline.sh 留存叢集基準紀錄，單元 7、8 也會用到。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本課程用 OTWLD Velero UI 0.10.2。欄位名稱可能隨版本略有不同，但背後產生的永遠是同一個 Backup 物件。UI 是方便的輸入介面，判斷依據永遠是 CR 本身。等價 CLI：velero backup create 加 include-namespaces dr-demo 與 snapshot-move-data。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Mover 的流程：velero 建立 VolumeSnapshot，CSI 回報 ReadyToUse；node-agent 從快照建立暫時 PVC 並掛載，用 kopia 上傳到 S3，完成後回報 bytes；最後刪除暫時 PVC 與快照。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dr-course-backup-01 實測從 16:27:52 開始、16:29:30 完成，約 98 秒，19 個物件全部備份，兩個 Volume 的 Data Movement 都 succeeded。這份清單要求每一項都打勾，而前七項打勾仍不代表救得回來。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4 把備份還原回來。先讓每位學員安全地還原到新 namespace 練習，最後由講師示範一次刪掉 dr-demo、原地還原的完整災難流程。建議時間：12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建議上課順序：先用還原到新 namespace 讓每位學員都能安全練習，最後講師 demo 一次完整災難流程。UI 精靈同樣對應 Restore CR：backupName、includedNamespaces、namespaceMapping、restorePVs、existingResourcePolicy。送出後一樣先確認 CR。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check-data.sh 把三項驗證包在一起，有結束碼：全過 0、任一失敗 1，單元 9 的自動化 Restore Test 直接重用它。CephFS 要用只讀的臨時 Pod，因為 cephfs-test-1 每次啟動都會重寫檔案，就算資料沒還原，它也會自己寫一份出來。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每往下一層，需要的驗證知識就越接近應用本身。練習題 3 由講師 demo：app-disaster.sh 刪除 dr-demo，原地還原，再跑 check-data.sh，記錄從刪除到驗證通過花了幾分鐘，這就是這個應用實測的 RTO。練習題 2 可以帶出 RPO：備份之後新增的資料不會回來。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5 在學員對 Completed 就是成功產生信心之後，立刻打破它。五個情境都在真實叢集上實測重現。建議時間：15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刻意設計成同時依賴 PVC、Secret、ConfigMap，少了任何一個，還原後的症狀都不一樣。四份備份分別是完整、不含 Volume、排除 Secret、排除 ConfigMap。以下每個情境都用 namespaceMapping 還原到獨立的 namespace，不影響來源。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這是全單元最危險的情境，因為每一項表面檢查都通過。只剩 SEED-0001 一筆種子資料，而它看起來就像資料。legacy-writer 也一樣，檔案的時間戳記變成還原後重新寫的時間。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 2 的 PVC 已經 Bound、資料也還原了，但容器根本啟動不了。修復方式很有代表性：只從完整備份補還原缺的那一種資源。情境 3 的症狀不同，因為 ConfigMap 是當 volume 掛載，所以是 FailedMount。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這張表可以印給學員當作還原除錯的速查表。課後清理：刪除 dr-pitfall 相關的 namespace、legacy StorageClass，並用 velero backup delete 刪掉 pitfall 系列備份。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6 往下一層到 control plane。本單元的 yaml 與線上 etcd-backup namespace 的物件完全一致，線上目前 suspend，由講師上課時操作。建議時間：10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 etcd image 是 distroless，沒有 shell，所以線上 CronJob 把拍 snapshot 和上傳拆成兩個容器。snapshot 暫存在 Pod 的 emptyDir，Pod 結束即刪除，不在節點上留副本，因為 snapshot 裡有所有 Secret 的密文。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本叢集的 etcd 備份是 etcd-backup CronJob，目前 suspend；Velero 是 v1.18.2。重點是兩者保護的層級不同。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判斷流程：先問 API Server 能不能用。不能，再問 etcd 還有沒有多數成員健康：有就替換故障成員，沒有才用 snapshot 還原。能用，就看影響範圍：一個應用用 Velero；大量叢集資源被刪，要看能不能接受整座叢集回到過去。整座叢集不見，走單元 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7 是 runbook，不在共用叢集上執行。etcd 還原會讓整座叢集，包含 vui、cattle、rook-ceph 等其他租戶，回到 snapshot 的時間點。請在專用的 lab 叢集練習，或由講師以錄影示範。建議時間：6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判讀重點：服務還在，但 kubectl 什麼都做不了，是 control plane 災難的特徵，跟應用掛了完全不同。第一步永遠是上節點，用 crictl 看 etcd 和 apiserver 的容器狀態與 log。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restore-etcd-member.sh 把 stop、restore、start-etcd、start-cp 包成子指令，預設 dry-run，加 --execute 才執行。static Pod 由 kubelet 監看 manifests 目錄，把 manifest 移走就等於停止。kubeadm 產生的 etcd.yaml 裡 k8s01 的 initial-cluster 只有它自己，這沒關係，資料目錄存在時 etcd 會忽略所有 initial 參數。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8 也是 runbook，建議用另一組 VM 建一座 DR 叢集實際演練一次，或由講師錄影示範。重點：連 Ceph 一起沒了，因為 OSD 就是叢集節點上的磁碟。建議時間：6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可能的原因：機房停電加儲存陣列損壞、虛擬化平台誤刪整組 VM、勒索軟體、升級失敗到無法回復。倒數第二列是最容易漏掉的一項。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每一步都有檢查點，通過才往下。第 4 步的 StorageClass 名稱一定要跟舊叢集相同，否則就是單元 5 情境 4。重建清單裡的版本都是 2026 年 9 月 23 日的實際狀態：Kubernetes v1.35.7、Cilium 1.19.3、Velero v1.18.2。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9 收尾成可以帶回公司的制度。依課程決定，本單元的 Schedule 與 CronJob 只提供 yaml、不在撰寫時套用；腳本本身已在真實叢集上執行過。建議時間：7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這兩個問題是撰寫這個單元時對線上 daily-full-backup 檢查發現的，正好說明這個單元為什麼存在。問題 1 的原因沒有查明，同期間 Velero Pod 被重建過數次，但重點是五天內沒有任何人知道。問題 2 用只備份 dr-demo 的 dr-course-backup-01 做同一套流程就完全正常，4 項 PASS，耗時 1 分鐘。修正方式見補充資料的 Schedule 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本身沒有內建通知，本單元用 CronJob 跑 backup-check.sh 呼叫 webhook，Slack、Mattermost、Google Chat 都接受。26 小時這一項抓得到問題 1。為什麼成功也要通知：如果只在失敗時通知，檢查程式自己沒跑，就會被當成一切正常。注意 backup-check 抓不到問題 2，那份備份的每一個狀態欄位都是完美的。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時間軸：最後一次成功備份到災難發生之間是資料遺失，也就是 RPO；災難發生到服務恢復是停機，也就是 RTO。本課程的實測數字可以當作 RTO 的參考下限。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用這五點收尾，每一點都可以對應回某個單元的實測結果。課後清理：dr-demo-restore、dr-pitfall 相關 namespace、rook-ceph-block-legacy StorageClass，以及 dr-course-backup-01 與 pitfall 系列備份；刪備份一律用 velero backup delete。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課程結束，感謝參與。開放提問。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補充資料從這一頁開始。上課時跳過這一段，提醒學員課後依章節自行閱讀；遇到問題可以在下次上課或討論區提出。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分鐘主線】這些都是直接用 kubectl 和 velero 查到的，不是假設。倒數第二列是單元 9 的主題：排程是 Enabled，卻連續 5 天沒有備份也沒人發現，而且每日備份因為夾帶 velero namespace，實測還原時 PV 資料失敗。最後一列是真的踩過的坑，寫腳本時一律用完整的資源名稱。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分鐘主線】etcd 是 Kubernetes 唯一的資料庫，只有 API Server 直接讀寫它。所有 kubectl get 看得到的東西，最後都是 etcd 裡的一筆 key/value。右邊這些不在 etcd 裡，其中加密金鑰最容易被忽略，單元 6 會把它列為必須跟 snapshot 一起備份的項目。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分鐘主線】前兩個方塊都住在 etcd，只有第三個是資料本身。兩種 StorageClass 都用 CSI Snapshot 加 Data Mover 備份，快照類別分別是 csi-rbdplugin-snapclass 和 csi-cephfsplugin-snapclass。可以用第 8 節的唯讀指令，從 PVC 一路追到 Ceph 的 volumeHandle。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跑在叢集裡、透過 API Server 逐一重建資源，所以 API Server 掛了它就無能為力。etcd snapshot 是完整、一致的複本，但只能整座叢集一起回到過去，也不含 PV 資料。兩者互補，單元 6 會再用決策圖整理。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分鐘主線】本課程用 SeaweedFS 的 weed mini 單機全功能模式，跑在叢集外的 Ubuntu 26.04 備份機 10.90.1.125，資料放在獨立的第二顆硬碟。這裡只列關鍵檢查點，完整步驟在 seaweedfs 的 README。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分鐘主線】這是這座叢集實際的安裝參數，單元 8 重建時會重用。線上目前是 HTTP 直連 8333。備份機上已經建好 Nginx 加 TLS 和防火牆規則，但如果先開防火牆、BSL 還沒切換，Velero 會立刻變成 Unavailable，所有備份失敗。所以順序很重要。自建 S3 一律加 s3ForcePathStyle。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分鐘主線】這六個錯誤都跟 BSL 有關。排錯原則是縮小範圍：先用 s3-check-pod 確認同一組帳密能不能 ls，就能分辨是 S3 端的問題還是 Velero 設定的問題。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分鐘主線】系統元件要用它們自己的安裝方式重建，不要從備份倒回舊狀態，單元 8 會詳細說明。includeClusterResources 是最容易被誤用的一個：舊的那份 true 的備份還原時有 188 個 warnings，幾乎都是已存在、跳過，真正重要的警告會被淹沒。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分鐘主線】這是 2026 年 9 月 23 日對 dr-demo 實測的結果。Label Selector 看的是每個資源自己的 metadata.labels，而 dr-demo 的 Deployment、Secret、Service 都沒貼 label。練習題 2 會讓學員補上 label 再備份一次比較。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一次處理一份備份，所以會看到 Queued。WaitingForPluginOperations 代表資源已備份、Data Mover 還在上傳。重點是 Completed 不代表可以放心，要搭配單元 3 的檢查清單。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分鐘主線】restorePVs false 適合只想還原設定、資料由應用自己的機制補回，或資料量很大、先把骨架拉起來的情況。單元 5 情境 1 會示範資料沒回來、但一切看起來都正常有多危險。用 selector 部分還原的前提是所有資源都有一致的 label。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分鐘主線】還原順序是固定的，先被依賴的先建。實測 dr-course-restore-01 是 Completed，19 個物件全部還原，兩個 PVC 的 Restore Item Operation 都 Completed，進度分別是 47876961 和 45 bytes。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分鐘主線】這些細節都是教學重點。特別是 ClusterIP 會變，所以應用之間一律用 Service 的 DNS 名稱連線，不要寫死 IP。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分鐘主線】真實情境是舊叢集的 StorageClass 叫 ceph-block-ssd，新叢集改名了，備份裡的 PVC 還寫著舊名字。在同一座叢集重現：建立 legacy SC、備份、刪除 SC、還原。已經 Bound 的 PVC 不受影響，因為 PV 不依賴 SC 物件存在。套用 ConfigMap 後再還原就 Completed，PVC 被改寫成新的 SC。但檔案內容呢？這就帶出下一個情境。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分鐘主線】這不是原本設計的情境，是實測時踩到的真實問題。CSI Snapshot 拍的是區塊裝置，不是應用程式的記憶體，這叫 crash-consistent，跟突然拔電一樣。PostgreSQL 的資料沒事，因為資料庫每次 COMMIT 都會 fsync；一般應用寫檔通常不會。Hook 可以寫在 Backup 的 spec.hooks，也可以寫在 Pod template 的 annotation。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以 namespace 為邊界備份，但應用的依賴常常跨出那個邊界。Cilium 有一個已知陷阱：Pod 建立時計算身分，所以 namespace label 要比 Pod 先存在。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分鐘主線】這些都是實戰部署工作坊七個產品開發時實際遇過、還原後會重現的情境。跟學員對照前一門課的踩坑經驗，會更有感。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分鐘主線】kubelet 會繼續維持現有的 Pod，所以 etcd 掛掉時，對外服務大多還連得到，但任何變更都做不了。3 個成員的 etcd 只能容忍 1 個故障。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分鐘主線】這些值是從 etcd-k8s01 的 Pod yaml 查到的。撰寫教材時自動化環境不允許直接對 etcd 執行指令，所以沒有附上 member list 的實測輸出，請講師課前自己跑一次並記錄 DB 大小，作為估算備份檔大小與還原時間的依據。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分鐘主線】線上腳本 RETENTION_DAYS=30。清理是在上傳成功之後才跑，所以 CronJob 停了清理也停了；但反過來，如果上傳一直失敗、清理照跑，就會把好的備份刪光。snapshot 通常只有數十到數百 MB，寧可多留。重大變更前可以用 create job --from=cronjob 手動拍一次。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分鐘主線】第 6 步還要在每台 control-plane 上用 root 執行 backup-control-plane-files.sh，備份 snapshot 以外的必需檔案。驗證 snapshot 能用的方法是在任何一台 Linux 上下載並 restore 到暫存目錄，能解開就代表檔案完整，完全不碰線上 etcd。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分鐘主線】模擬方式：在單 control-plane 的 lab 叢集，先確認有可用的 snapshot，建立一個 after-snapshot namespace 當作時間點標記，然後停 etcd、把資料目錄搬走、再放回 manifest，etcd 就會用空白資料目錄重新啟動。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分鐘主線】etcd 還原是整座叢集最高風險的操作。正式環境執行前逐項確認並留下紀錄。第 6 項特別重要：金鑰如果在 snapshot 之後輪替過，還原後所有 Secret 都無法解密。第 9 項是因為還原過程 API 不通，kube-vip 的 VIP 也可能漂移，SSH 或 console 是唯一入口。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分鐘主線】時間點驗證用單元 7 一開始建立的 after-snapshot namespace：它應該不存在。再用 baseline.sh 跟災難前的紀錄比對。最後一格很重要：snapshot 之後寫進 PostgreSQL 的資料仍然在 Ceph 裡，所以 etcd 還原後常見資源與資料不同時間點的混合狀態。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分鐘主線】最後要恢復第 4 節暫停的自動化。練習題都在自己的 lab 叢集做：模擬損壞並還原、故意用對不上的加密金鑰觀察錯誤、在 snapshot 之後建立 PVC 再還原，找出孤兒 RBD image。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分鐘主線】這份清單要在災難前就準備好，而且放在叢集外、離線也拿得到。velero-repo-credentials 的匯出方式：kubectl get secret 取出 yaml，去掉 uid、resourceVersion、creationTimestamp 再保存。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分鐘主線】這是單元 2 那個 Secret 的伏筆。練習題 2 會故意不還原 repo 密碼就安裝 Velero，觀察 Restore 狀態和 DataDownload 的錯誤訊息。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分鐘主線】Velero 會先還原 Namespace 物件和它的 label，再還原 Pod，剛好避開 Cilium 的已知陷阱。驗證分層：平台、資源與 baseline 比對、dr-demo 用 check-data.sh、flarum 等的 DB 用 cloudbeaver 查一筆災難前的資料、對外網址用 curl --resolve、最後應用負責人驗收。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分鐘主線】直覺上 etcd snapshot 就是整座叢集，但放到新機器上會遇到這五個問題。這也是單元 6 決策表最後一列的理由。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分鐘主線】建議版在 09-daily-backup-verification/velero/schedule-daily-full.yaml，只提供 yaml，由講師決定是否套用。本課程撰寫時就被 Fleet 的 schedules 誤導過一次，以為 Velero 沒有排程。維護期間可以 velero schedule pause，但別忘了恢復，backup-check 會抓到。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分鐘主線】TTL 到期後 Velero 會自動刪除 Backup CR、S3 上的備份檔和 kopia 中不再被引用的資料。kopia 會去重，每日增量通常遠小於全量：dr-demo 的 PV 資料約 47.8MB，在 S3 上占用約 37MB。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分鐘主線】restore-test.sh 的流程：找出最新一份包含目標 namespace 的 Completed 備份，用 namespaceMapping 還原到 dr-restore-test，等 Deployment Ready，跑 check-data.sh；通過就清除這次還原的資源，失敗就保留現場供除錯，最後通知結果與耗時。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分鐘主線】這張表是練習題 1：請學員為自己公司的 3 個應用填寫。Runbook 要放在叢集外、離線可取得；每次演練或事件後，更新 RPO、RTO 的實測值與 runbook。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【補充資料，課後自學，不在 90 分鐘主線】預期結果：用剛剛那份新的每日備份，Restore Completed、4 項 PASS。練習題 5 值得討論：修正排程之後，已經存在的三份每日備份還能用嗎？如果今天就需要從 09-22 的備份還原 dr-demo，要怎麼處理。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image" Target="../media/image-68-6.png"/><Relationship Id="rId7" Type="http://schemas.openxmlformats.org/officeDocument/2006/relationships/image" Target="../media/image-68-7.png"/><Relationship Id="rId8" Type="http://schemas.openxmlformats.org/officeDocument/2006/relationships/image" Target="../media/image-68-8.png"/><Relationship Id="rId9" Type="http://schemas.openxmlformats.org/officeDocument/2006/relationships/image" Target="../media/image-68-9.png"/><Relationship Id="rId10" Type="http://schemas.openxmlformats.org/officeDocument/2006/relationships/image" Target="../media/image-6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661160"/>
            <a:ext cx="81102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企業實戰教育訓練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8000" y="2219960"/>
            <a:ext cx="811022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備份、復原與</a:t>
            </a:r>
            <a:endParaRPr lang="en-US" sz="5000" dirty="0"/>
          </a:p>
          <a:p>
            <a:pPr algn="l" indent="0" marL="0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災難復原演練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08000" y="3883660"/>
            <a:ext cx="811022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Application Backup 開始，逐步理解資源、PV 資料、etcd 與整座叢集的復原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8000" y="4726940"/>
            <a:ext cx="8110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主講人：[姓名]</a:t>
            </a:r>
            <a:endParaRPr lang="en-US" sz="1500" dirty="0"/>
          </a:p>
        </p:txBody>
      </p:sp>
      <p:pic>
        <p:nvPicPr>
          <p:cNvPr id="7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九個單元，90 分鐘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0"/>
          <a:ext cx="11176000" cy="3435350"/>
        </p:xfrm>
        <a:graphic>
          <a:graphicData uri="http://schemas.openxmlformats.org/drawingml/2006/table">
            <a:tbl>
              <a:tblPr/>
              <a:tblGrid>
                <a:gridCol w="670560"/>
                <a:gridCol w="3129280"/>
                <a:gridCol w="4470400"/>
                <a:gridCol w="1788160"/>
                <a:gridCol w="11176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核心問題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實機操作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備份與復原概念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「備份 Kubernetes」到底要備份什麼？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觀念 + 唯讀觀察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建立外部 Backup Storage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備份為什麼一定要放叢集外？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SeaweedFS + BSL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 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怎麼判斷備份「真的」完成？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 Restore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怎麼證明資料真的救回來？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的陷阱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為什麼還是救不回來？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個情境實測重現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備份與還原策略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 跟 Velero 差在哪？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講師操作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Plane Disaster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起不來時怎麼救？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Disaster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叢集整個不見，照什麼順序重建？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每日備份與 Restore 驗證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怎麼讓備份每天跑、會通知、定期驗證？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講師套用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課程地圖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pic>
        <p:nvPicPr>
          <p:cNvPr id="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演練環境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三條備份路徑，都落到叢集外的 Object Storage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8000" y="443230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跟叢集住在同一批節點上，CSI Snapshot 只存在 Ceph 裡；叢集整個消失，快照也一起消失。所以本叢集的 Velero 一律開 snapshotMoveData。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11175" y="1108075"/>
            <a:ext cx="7004050" cy="1127760"/>
          </a:xfrm>
          <a:prstGeom prst="roundRect">
            <a:avLst>
              <a:gd name="adj" fmla="val 87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5480" y="1262380"/>
            <a:ext cx="68963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叢集內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5480" y="1539241"/>
            <a:ext cx="68963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namespace: dr-demo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5480" y="1833880"/>
            <a:ext cx="68963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postgres（RBD, RWO）+ cephfs-test（CephFS, RWX）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11175" y="2343786"/>
            <a:ext cx="7004050" cy="850900"/>
          </a:xfrm>
          <a:prstGeom prst="roundRect">
            <a:avLst>
              <a:gd name="adj" fmla="val 1156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5480" y="2498091"/>
            <a:ext cx="68963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server + node-agent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5480" y="2792730"/>
            <a:ext cx="68963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EnableCSI、kopia、Data Mover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1175" y="3302636"/>
            <a:ext cx="7004050" cy="850900"/>
          </a:xfrm>
          <a:prstGeom prst="roundRect">
            <a:avLst>
              <a:gd name="adj" fmla="val 1156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5480" y="3456941"/>
            <a:ext cx="68963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CronJob etcd-backup-k8s0x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5480" y="3751580"/>
            <a:ext cx="68963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 suspend</a:t>
            </a:r>
            <a:endParaRPr lang="en-US" sz="13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70800" y="2540000"/>
            <a:ext cx="3048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28000" y="1104900"/>
            <a:ext cx="3556000" cy="1435100"/>
          </a:xfrm>
          <a:prstGeom prst="roundRect">
            <a:avLst>
              <a:gd name="adj" fmla="val 8850"/>
            </a:avLst>
          </a:prstGeom>
          <a:solidFill>
            <a:srgbClr val="12517C"/>
          </a:solidFill>
          <a:ln/>
        </p:spPr>
      </p:sp>
      <p:sp>
        <p:nvSpPr>
          <p:cNvPr id="20" name="Text 15"/>
          <p:cNvSpPr/>
          <p:nvPr/>
        </p:nvSpPr>
        <p:spPr>
          <a:xfrm>
            <a:off x="8382000" y="1358900"/>
            <a:ext cx="3139440" cy="150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b="1" spc="10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叢集外 · 備份機 10.90.1.125</a:t>
            </a:r>
            <a:endParaRPr lang="en-US" sz="731" dirty="0"/>
          </a:p>
        </p:txBody>
      </p:sp>
      <p:sp>
        <p:nvSpPr>
          <p:cNvPr id="21" name="Text 16"/>
          <p:cNvSpPr/>
          <p:nvPr/>
        </p:nvSpPr>
        <p:spPr>
          <a:xfrm>
            <a:off x="8382000" y="1598533"/>
            <a:ext cx="313944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 weed mini</a:t>
            </a:r>
            <a:endParaRPr lang="en-US" sz="909" dirty="0"/>
          </a:p>
        </p:txBody>
      </p:sp>
      <p:sp>
        <p:nvSpPr>
          <p:cNvPr id="22" name="Text 17"/>
          <p:cNvSpPr/>
          <p:nvPr/>
        </p:nvSpPr>
        <p:spPr>
          <a:xfrm>
            <a:off x="8382000" y="1869520"/>
            <a:ext cx="3139440" cy="18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:8333</a:t>
            </a:r>
            <a:endParaRPr lang="en-US" sz="909" dirty="0"/>
          </a:p>
        </p:txBody>
      </p:sp>
      <p:sp>
        <p:nvSpPr>
          <p:cNvPr id="23" name="Text 18"/>
          <p:cNvSpPr/>
          <p:nvPr/>
        </p:nvSpPr>
        <p:spPr>
          <a:xfrm>
            <a:off x="8382000" y="2140507"/>
            <a:ext cx="3139440" cy="17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資料寫在獨立硬碟 /dev/sdb1</a:t>
            </a:r>
            <a:endParaRPr lang="en-US" sz="780" dirty="0"/>
          </a:p>
        </p:txBody>
      </p:sp>
      <p:sp>
        <p:nvSpPr>
          <p:cNvPr id="24" name="Shape 19"/>
          <p:cNvSpPr/>
          <p:nvPr/>
        </p:nvSpPr>
        <p:spPr>
          <a:xfrm>
            <a:off x="8131175" y="2638425"/>
            <a:ext cx="3549650" cy="1758950"/>
          </a:xfrm>
          <a:prstGeom prst="roundRect">
            <a:avLst>
              <a:gd name="adj" fmla="val 559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85480" y="2792730"/>
            <a:ext cx="3338271" cy="23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velero/backups/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85480" y="3031094"/>
            <a:ext cx="3338271" cy="25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 manifest tar.gz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285480" y="3284617"/>
            <a:ext cx="3338271" cy="23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velero/kopia/&lt;ns&gt;/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285480" y="3522980"/>
            <a:ext cx="333827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資料（去重、加密）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285480" y="3776583"/>
            <a:ext cx="3338271" cy="23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etcd-backups/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85480" y="4014947"/>
            <a:ext cx="3338271" cy="25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0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0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備份與復原概念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1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1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0"/>
            <a:ext cx="615174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先把「備份 Kubernetes」拆開：要備份什麼、住在哪、用什麼救。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Resource 與 Application Data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2141220"/>
        </p:xfrm>
        <a:graphic>
          <a:graphicData uri="http://schemas.openxmlformats.org/drawingml/2006/table">
            <a:tbl>
              <a:tblPr/>
              <a:tblGrid>
                <a:gridCol w="2235200"/>
                <a:gridCol w="4470400"/>
                <a:gridCol w="447040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Resource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Deployment、Service、Secret、PVC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的資料表、CephFS 上的檔案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JSON，幾 KB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可能數百 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住在哪裡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背後的儲存：Ceph RBD / CephFS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能不能重新產生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通常可以：Git 裡有 yaml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不行，丟了就是丟了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備份工具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Velero、etcd snapshot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Volume 備份、應用自己的 dump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33139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裡只有「這裡應該有一個 10Gi 的 PVC」這個描述，PVC 裡面的內容不在 etcd。只備份 etcd 或 YAML，救回來的是一個空殼。</a:t>
            </a:r>
            <a:endParaRPr lang="en-US" sz="14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備份放在哪裡，決定能撐過哪種災難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1427480"/>
        </p:xfrm>
        <a:graphic>
          <a:graphicData uri="http://schemas.openxmlformats.org/drawingml/2006/table">
            <a:tbl>
              <a:tblPr/>
              <a:tblGrid>
                <a:gridCol w="4023360"/>
                <a:gridCol w="1788160"/>
                <a:gridCol w="1788160"/>
                <a:gridCol w="1788160"/>
                <a:gridCol w="178816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存放位置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掛了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被刪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壞掉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整座叢集消失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只有 CSI Snapshot（在 Ceph 裡）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deletionPolicy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裡另外放一份 dump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叢集外的 Object Storage（S3）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8225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00228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故障隔離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31343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不同機器、不同磁碟：本課程是 10.90.1.125 的 /dev/sdb1。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28225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00228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共同語言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66987" y="331343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Velero、etcd 腳本、DB dump 都講 S3 API，一套儲存收全部備份。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389" y="28225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094" y="300228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可攜性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43094" y="3313432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新叢集指向同一個 bucket，就能看到舊叢集的所有備份。</a:t>
            </a:r>
            <a:endParaRPr lang="en-US" sz="1300" dirty="0"/>
          </a:p>
        </p:txBody>
      </p:sp>
      <p:pic>
        <p:nvPicPr>
          <p:cNvPr id="1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為什麼「有備份」不等於「一定能還原」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1"/>
          <a:ext cx="11176000" cy="2748280"/>
        </p:xfrm>
        <a:graphic>
          <a:graphicData uri="http://schemas.openxmlformats.org/drawingml/2006/table">
            <a:tbl>
              <a:tblPr/>
              <a:tblGrid>
                <a:gridCol w="3352800"/>
                <a:gridCol w="5140960"/>
                <a:gridCol w="268224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斷點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在哪裡實測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沒備份 Volume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Running、table 在，業務資料全空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排除了 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排除了 ConfigMap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ContainerCreating（FailedMount）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目標叢集沒有同名 StorageClass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永遠 Pending，Restore PartiallyFailed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快照前資料還在記憶體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檔案存在但 0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備份放在叢集裡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叢集一掛，備份也沒了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從沒演練過還原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出事才發現少憑證、少步驟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4020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的每一份備份，Velero 都顯示 Completed、0 errors、0 warnings。能證明備份有用的只有一件事：定期實際還原，並用資料驗證。</a:t>
            </a:r>
            <a:endParaRPr lang="en-US" sz="135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1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1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建立外部 Backup Storage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1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備份的第一條規則：備份不能跟被備份的東西一起死掉。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為什麼備份不能只放在叢集裡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11176000" cy="2061210"/>
        </p:xfrm>
        <a:graphic>
          <a:graphicData uri="http://schemas.openxmlformats.org/drawingml/2006/table">
            <a:tbl>
              <a:tblPr/>
              <a:tblGrid>
                <a:gridCol w="3799840"/>
                <a:gridCol w="3688080"/>
                <a:gridCol w="368808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災難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叢集內的 Ceph RGW / MinIO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叢集外的 SeaweedFS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故障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備份跟資料一起壞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損壞、API Server 起不來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資料可能還在，但服務要靠叢集跑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整座叢集重灌、機房失火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救得回來（異地更好）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勒索軟體拿到 cluster-admin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一個 kubectl delete 全部清掉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 S3 帳號權限而定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456304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63601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不同的故障域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947164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不同機器、不同磁碟，最好不同機房（3-2-1）。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3456304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63601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不同的權限域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66987" y="394716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cluster-admin 不應該能刪掉備份。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389" y="3456304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094" y="363601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不依賴被保護的系統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43094" y="3947164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備份機自己要能獨立開機、登入、驗證。</a:t>
            </a:r>
            <a:endParaRPr lang="en-US" sz="1300" dirty="0"/>
          </a:p>
        </p:txBody>
      </p:sp>
      <p:pic>
        <p:nvPicPr>
          <p:cNvPr id="1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Credentials 與兩個關鍵 Secret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64"/>
            <a:ext cx="4826000" cy="1600200"/>
          </a:xfrm>
          <a:prstGeom prst="roundRect">
            <a:avLst>
              <a:gd name="adj" fmla="val 6349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64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credentials-velero（不要進版控）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1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[default]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79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aws_access_key_id=velero-backup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aws_secret_access_key=&lt;secretKey&gt;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chmod 600 credentials-velero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65775" y="1105539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5480" y="1285242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cloud-credentials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745480" y="1596392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install --secret-file 產生，連 S3 的帳密；server 和 node-agent 都掛載它。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65775" y="2404746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45480" y="2584450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velero-repo-credentials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745480" y="2895600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kopia repository 的加密密碼，第一次用 Data Mover 時自動產生。PV 資料在 S3 上是用它加密的。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8000" y="3853179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7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980179"/>
            <a:ext cx="254000" cy="25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6800" y="3983354"/>
            <a:ext cx="986405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新叢集如果產生了不同的 repo 密碼，就讀不出舊叢集上傳的 PV 資料。這個 Secret 要跟 S3 帳密一起另外保存在叢集外（單元 8）。</a:t>
            </a:r>
            <a:endParaRPr lang="en-US" sz="1300" dirty="0"/>
          </a:p>
        </p:txBody>
      </p:sp>
      <p:pic>
        <p:nvPicPr>
          <p:cNvPr id="19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只代表連得上，還要確認真的寫出去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64"/>
            <a:ext cx="5715000" cy="2555240"/>
          </a:xfrm>
          <a:prstGeom prst="roundRect">
            <a:avLst>
              <a:gd name="adj" fmla="val 3976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64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backup-location get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1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     PHASE      ACCESS MODE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79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  Available  ReadWrite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472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不透過 Velero，直接 ls bucket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kubectl apply -f velero/s3-check-pod.yaml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64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backups/dr-course-backup-01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63521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15508 dr-course-backup-01.tar.gz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002279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kopia/dr-demo size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410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Total Size: 37285283   # 約 37MB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54775" y="1105539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34480" y="128524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= Available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34480" y="159639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每分鐘驗證一次能不能存取 bucket。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54775" y="2157096"/>
            <a:ext cx="5226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4480" y="233680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lastSyncedTime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34480" y="2647950"/>
            <a:ext cx="501263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定期把 bucket 裡的備份清單同步回叢集，新叢集接上就看得到舊備份。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54775" y="3456304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4480" y="3636014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能讀出來才算數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34480" y="3947164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 download 下載 tar.gz，確認內容解得開。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8000" y="4657092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24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4784092"/>
            <a:ext cx="254000" cy="254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66800" y="4787267"/>
            <a:ext cx="960047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 tar.gz 裡的 Secret 只是 base64。能讀 bucket 的人就讀得到所有 Secret：bucket 權限要收緊、要開 HTTPS、要擋防火牆。</a:t>
            </a:r>
            <a:endParaRPr lang="en-US" sz="1300" dirty="0"/>
          </a:p>
        </p:txBody>
      </p:sp>
      <p:pic>
        <p:nvPicPr>
          <p:cNvPr id="26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14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14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Backup：備份 Application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500879"/>
            <a:ext cx="600033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UI 建立第一份備份，並回答：這份備份真的完成了嗎？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受害者應用：dr-demo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4826000" cy="2404745"/>
        </p:xfrm>
        <a:graphic>
          <a:graphicData uri="http://schemas.openxmlformats.org/drawingml/2006/table">
            <a:tbl>
              <a:tblPr/>
              <a:tblGrid>
                <a:gridCol w="1930400"/>
                <a:gridCol w="28956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/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postgres（PostgreSQL 16）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PVC（RBD, RWO）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PVC（CephFS, RWX）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cephfs-test-1 / -2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562600" y="1102364"/>
            <a:ext cx="61214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5791200" y="1305564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91200" y="1544321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dr/manifest/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91200" y="1783079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dr-demo rollout status deploy/postgres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91200" y="2021842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./dr/script/write-postgres.sh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91200" y="2260600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./dr/script/check-data.sh    # 3 項全 PASS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91200" y="2499364"/>
            <a:ext cx="58341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./dr/script/baseline.sh      # 留存基準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62600" y="3042921"/>
            <a:ext cx="630504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備份前先跑一次 check-data.sh：這就是之後比對的基準。</a:t>
            </a:r>
            <a:endParaRPr lang="en-US" sz="1300" dirty="0"/>
          </a:p>
        </p:txBody>
      </p:sp>
      <p:pic>
        <p:nvPicPr>
          <p:cNvPr id="1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UI 精靈：每一步都對應 Backup CR 的欄位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11176000" cy="2971800"/>
        </p:xfrm>
        <a:graphic>
          <a:graphicData uri="http://schemas.openxmlformats.org/drawingml/2006/table">
            <a:tbl>
              <a:tblPr/>
              <a:tblGrid>
                <a:gridCol w="3129280"/>
                <a:gridCol w="3352800"/>
                <a:gridCol w="469392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精靈步驟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本課程填什麼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對應欄位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dr-demo-backup-01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metadata.name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包含 dr-demo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spec.includedNamespaces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不填（全部）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spec.includedResources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Selector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spec.labelSelector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快照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spec.snapshotVolumes: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Move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spec.snapshotMoveData: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System 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關閉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spec.defaultVolumesToFsBackup: false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720h（30 天）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spec.ttl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4363721"/>
            <a:ext cx="11176000" cy="619760"/>
          </a:xfrm>
          <a:prstGeom prst="roundRect">
            <a:avLst>
              <a:gd name="adj" fmla="val 16393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4566921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velero get backup dr-demo-backup-01 -o yaml     # 送出後第一件事：看 UI 實際產生了什麼</a:t>
            </a:r>
            <a:endParaRPr lang="en-US" sz="1200" dirty="0"/>
          </a:p>
        </p:txBody>
      </p:sp>
      <p:pic>
        <p:nvPicPr>
          <p:cNvPr id="7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Data Backup：三種方式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64"/>
          <a:ext cx="11176000" cy="1320800"/>
        </p:xfrm>
        <a:graphic>
          <a:graphicData uri="http://schemas.openxmlformats.org/drawingml/2006/table">
            <a:tbl>
              <a:tblPr/>
              <a:tblGrid>
                <a:gridCol w="3576320"/>
                <a:gridCol w="2011680"/>
                <a:gridCol w="2011680"/>
                <a:gridCol w="357632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資料放哪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叢集消失還在嗎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Snapshot（只拍快照）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最快，但跟資料同一個故障域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+ Data Mover（本叢集）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S3（kopia）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先拍時間點快照，再由 node-agent 上傳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System 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S3（kopia）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直接讀掛載目錄；不是時間點快照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2712721"/>
            <a:ext cx="1117600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2915921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kubectl -n velero get datauploads -l velero.io/backup-name=dr-course-backup-01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154679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PVC            PHASE      BYTES      NODE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339344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shared-data    Completed  45         k8s02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6600" y="36322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postgres-data  Completed  47876961   k8s01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8000" y="4328164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shared-data 正好 45 bytes，就是 dr-test.txt 的大小。BYTES 是判斷資料有沒有真的被搬走最直接的數字。</a:t>
            </a:r>
            <a:endParaRPr lang="en-US" sz="1350" dirty="0"/>
          </a:p>
        </p:txBody>
      </p:sp>
      <p:pic>
        <p:nvPicPr>
          <p:cNvPr id="1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備份完成檢查清單：缺一不可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39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5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" y="1208410"/>
            <a:ext cx="215900" cy="215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900" y="1196342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是 Completed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08000" y="1528452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000" y="1631317"/>
            <a:ext cx="215900" cy="215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9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= 0，Warnings 已逐一看過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508000" y="1951360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1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8000" y="2054225"/>
            <a:ext cx="215900" cy="215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900" y="2042158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backed up = Total items（19 / 19）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08000" y="2374267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4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8000" y="2477133"/>
            <a:ext cx="215900" cy="215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0900" y="2465077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List 有 Deployment、Secret、Service、PVC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248400" y="1105539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7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48400" y="1208410"/>
            <a:ext cx="215900" cy="215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91300" y="1196342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PVC 都出現在 Backup Volumes，Result = succeeded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6248400" y="1528452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0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48400" y="1631317"/>
            <a:ext cx="215900" cy="2159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913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data Size 合理：47.8MB / 45B</a:t>
            </a:r>
            <a:endParaRPr lang="en-US" sz="1350" dirty="0"/>
          </a:p>
        </p:txBody>
      </p:sp>
      <p:sp>
        <p:nvSpPr>
          <p:cNvPr id="22" name="Shape 13"/>
          <p:cNvSpPr/>
          <p:nvPr/>
        </p:nvSpPr>
        <p:spPr>
          <a:xfrm>
            <a:off x="6248400" y="1951360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3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48400" y="2054225"/>
            <a:ext cx="215900" cy="2159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91300" y="2042158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檔案真的在叢集外（單元 2）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248400" y="2374267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6" name="Image 8" descr="CheckCircl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48400" y="2477133"/>
            <a:ext cx="215900" cy="2159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591300" y="2465077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能還原，而且資料對（單元 4）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508000" y="307340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8 項是唯一真正能證明備份有用的一項。單元 5 會示範 1～7 全部打勾、第 8 項卻失敗的情況。</a:t>
            </a:r>
            <a:endParaRPr lang="en-US" sz="1400" dirty="0"/>
          </a:p>
        </p:txBody>
      </p:sp>
      <p:pic>
        <p:nvPicPr>
          <p:cNvPr id="29" name="Image 9" descr="AIC AIoT Cloud">    </p:cNvPr>
          <p:cNvPicPr>
            <a:picLocks noChangeAspect="1"/>
          </p:cNvPicPr>
          <p:nvPr/>
        </p:nvPicPr>
        <p:blipFill>
          <a:blip r:embed="rId10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08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08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Restore：把 Application 救回來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500885"/>
            <a:ext cx="544169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還原成功的定義：災難前寫進去的那筆資料，現在查得到。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兩種還原方式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1784350"/>
        </p:xfrm>
        <a:graphic>
          <a:graphicData uri="http://schemas.openxmlformats.org/drawingml/2006/table">
            <a:tbl>
              <a:tblPr/>
              <a:tblGrid>
                <a:gridCol w="2011680"/>
                <a:gridCol w="4246880"/>
                <a:gridCol w="491744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原地還原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還原到新 namespace（namespaceMapping）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 namespace 已不存在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 namespace 可以還活著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風險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原應用還在時，同名資源被跳過，容易誤判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幾乎沒有：新的 PV、新的 namespace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真正的災難復原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還原演練、比對資料、救回單筆誤刪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講師 demo：app-disaster.sh → 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實測（2026-09-23）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176277"/>
            <a:ext cx="1117600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3379477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dr-course-restore-01 \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61823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--from-backup dr-course-backup-01 \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3856992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--namespace-mappings dr-demo:dr-demo-restore \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6600" y="409575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--restore-volumes=true --wait</a:t>
            </a:r>
            <a:endParaRPr lang="en-US" sz="1200" dirty="0"/>
          </a:p>
        </p:txBody>
      </p:sp>
      <p:pic>
        <p:nvPicPr>
          <p:cNvPr id="1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驗證：從骨架到資料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42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880" y="1596392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 1/1、Service 有 Endpoints、PVC 全部 Bound、Secret 存在。到這裡只證明骨架回來了。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175" y="2404752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2584450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資料庫（RBD）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2895600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 FROM disaster_test 查得到 DR-TEST-DB-001，created_at 是 09-09，比備份早兩週。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3703960"/>
            <a:ext cx="6115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883658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檔案（CephFS）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880" y="4194808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用只讀的臨時 Pod 讀 dr-test.txt：45 bytes，時間是原始寫入時間。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1102358"/>
            <a:ext cx="4826000" cy="2555240"/>
          </a:xfrm>
          <a:prstGeom prst="roundRect">
            <a:avLst>
              <a:gd name="adj" fmla="val 3976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1305558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./dr/script/check-data.sh dr-demo-restore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6600" y="1544327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1. Kubernetes 資源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86600" y="1783085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PVC postgres-data Bound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86600" y="20218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PVC shared-data Bound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86600" y="2260600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2. PostgreSQL 資料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86600" y="2499358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disaster_test 查得到 DR-TEST-DB-001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86600" y="2738127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3. CephFS 資料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2976885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[PASS] dr-test.txt 含 DR-TEST-FS-001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86600" y="3241042"/>
            <a:ext cx="44998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結果：還原驗證通過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8000" y="4904742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24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5031742"/>
            <a:ext cx="254000" cy="254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66800" y="5034917"/>
            <a:ext cx="7568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驗證工具本身不能產生被驗證的資料：cephfs-test-1 每次啟動都會重寫 dr-test.txt，不能用它來驗證。</a:t>
            </a:r>
            <a:endParaRPr lang="en-US" sz="1300" dirty="0"/>
          </a:p>
        </p:txBody>
      </p:sp>
      <p:pic>
        <p:nvPicPr>
          <p:cNvPr id="26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真的還原成功的判斷標準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33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42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42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Completed：Velero 說它做完了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4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48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Running：Kubernetes 說容器起來了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8000" y="2075817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27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27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Bound：儲存說磁碟接上了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6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58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58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資料查得到：只有這一層證明「救回來了」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8000" y="3046102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應用功能正常：登入、讀寫、對外連線，由業務方確認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8000" y="3807458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還原演練一定要有應用負責人參與：只有他們知道「哪一筆資料在，才代表真的沒事」。</a:t>
            </a:r>
            <a:endParaRPr lang="en-US" sz="1400" dirty="0"/>
          </a:p>
        </p:txBody>
      </p:sp>
      <p:pic>
        <p:nvPicPr>
          <p:cNvPr id="2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7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7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的陷阱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7"/>
            <a:ext cx="588416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每一份備份都顯示 Completed，卻沒有一份救得回可用的應用。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Lab：一個 PostgreSQL，三種依賴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33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4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PVC：資料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0880" y="1596392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筆訂單 ORDER-1001～1003 只存在 PVC 裡。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1175" y="2157102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233680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Secret：帳密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264795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envFrom 引用。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1175" y="3208660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388358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ConfigMap：初始化 SQL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880" y="3699508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 volume 掛載，產生 SEED-0001 種子資料。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69000" y="1102358"/>
            <a:ext cx="5715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14" name="Text 11"/>
          <p:cNvSpPr/>
          <p:nvPr/>
        </p:nvSpPr>
        <p:spPr>
          <a:xfrm>
            <a:off x="6197600" y="1305558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backup get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97600" y="1544327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                  STATUS     ERRORS  WARNINGS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7600" y="1783085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pitfall-full          Completed  0       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7600" y="20218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pitfall-no-configmap  Completed  0       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97600" y="2260600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pitfall-no-data       Completed  0       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97600" y="2499358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pitfall-no-secret     Completed  0       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69000" y="3042927"/>
            <a:ext cx="58864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四份看起來一模一樣。Velero 只負責你要它備份的東西有沒有備份到，不知道你的應用需要什麼。</a:t>
            </a:r>
            <a:endParaRPr lang="en-US" sz="1300" dirty="0"/>
          </a:p>
        </p:txBody>
      </p:sp>
      <p:pic>
        <p:nvPicPr>
          <p:cNvPr id="2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1：Resource 有了，Data 不存在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4826000" cy="2404745"/>
        </p:xfrm>
        <a:graphic>
          <a:graphicData uri="http://schemas.openxmlformats.org/drawingml/2006/table">
            <a:tbl>
              <a:tblPr/>
              <a:tblGrid>
                <a:gridCol w="2895600"/>
                <a:gridCol w="19304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phase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1/1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能連線、orders table 存在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有一筆……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業務資料 ORDER-1001～1003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562600" y="1102358"/>
            <a:ext cx="63050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發生了什麼事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5562600" y="1445902"/>
            <a:ext cx="61214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62600" y="15367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019800" y="1536700"/>
            <a:ext cx="583412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備份沒有 Volume 資料 → PVC 動態佈建一顆空磁碟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562600" y="1931033"/>
            <a:ext cx="61214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62600" y="2021842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019800" y="2021842"/>
            <a:ext cx="583412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看到空目錄 → 執行 initdb 與 ConfigMap 的 SQL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562600" y="2416175"/>
            <a:ext cx="61214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62600" y="25069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019800" y="2506985"/>
            <a:ext cx="583412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重建、種子資料塞回去 → 看起來像正常的資料庫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562600" y="3025142"/>
            <a:ext cx="61214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/>
        </p:spPr>
      </p:sp>
      <p:pic>
        <p:nvPicPr>
          <p:cNvPr id="16" name="Image 1" descr="Warning">    </p:cNvPr>
          <p:cNvPicPr>
            <a:picLocks noChangeAspect="1"/>
          </p:cNvPicPr>
          <p:nvPr/>
        </p:nvPicPr>
        <p:blipFill>
          <a:blip r:embed="rId2"/>
          <a:srcRect l="0" r="0" t="-460" b="-460"/>
          <a:stretch/>
        </p:blipFill>
        <p:spPr>
          <a:xfrm>
            <a:off x="5740400" y="3272792"/>
            <a:ext cx="232807" cy="254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00207" y="3152142"/>
            <a:ext cx="556817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驗證腳本要查「災難前才存在、不可能自動重生」的資料，不是查 table 在不在。</a:t>
            </a:r>
            <a:endParaRPr lang="en-US" sz="1300" dirty="0"/>
          </a:p>
        </p:txBody>
      </p:sp>
      <p:pic>
        <p:nvPicPr>
          <p:cNvPr id="18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2、3：Secret 或 ConfigMap 遺失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1070610"/>
        </p:xfrm>
        <a:graphic>
          <a:graphicData uri="http://schemas.openxmlformats.org/drawingml/2006/table">
            <a:tbl>
              <a:tblPr/>
              <a:tblGrid>
                <a:gridCol w="2905760"/>
                <a:gridCol w="3799840"/>
                <a:gridCol w="447040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缺什麼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envFrom 引用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CreateContainerConfigError：secret not found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ConfigMap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當作 volume 掛載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ContainerCreating + FailedMount event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465710"/>
            <a:ext cx="6902450" cy="2465070"/>
          </a:xfrm>
          <a:prstGeom prst="roundRect">
            <a:avLst>
              <a:gd name="adj" fmla="val 399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645408"/>
            <a:ext cx="67393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修復：只從完整備份補還原 Secret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90880" y="2922277"/>
            <a:ext cx="654304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8" name="Text 4"/>
          <p:cNvSpPr/>
          <p:nvPr/>
        </p:nvSpPr>
        <p:spPr>
          <a:xfrm>
            <a:off x="919480" y="3125477"/>
            <a:ext cx="62684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pitfall-restore-secret-only \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19480" y="3364235"/>
            <a:ext cx="62684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--from-backup pitfall-full --include-resources secrets \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19480" y="3602992"/>
            <a:ext cx="62684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--namespace-mappings dr-pitfall:dr-pitfall-nosecret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90880" y="4083050"/>
            <a:ext cx="673933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自動重試成功，不用重建 Pod；4 筆訂單都在。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23175" y="2465710"/>
            <a:ext cx="40576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02880" y="2645408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應用執行時不需要，不代表還原時可以不要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802880" y="2956558"/>
            <a:ext cx="38091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 ConfigMap 只在第一次 initdb 有用，但 Pod spec 宣告要掛載，kubelet 就會一直等。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23175" y="3764917"/>
            <a:ext cx="40576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02880" y="3944627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真實世界的變形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802880" y="4255777"/>
            <a:ext cx="38091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External Secrets / Vault 排除 Secret：還原前 Vault 必須可用，ExternalSecret 物件要在備份裡。</a:t>
            </a:r>
            <a:endParaRPr lang="en-US" sz="1300" dirty="0"/>
          </a:p>
        </p:txBody>
      </p:sp>
      <p:pic>
        <p:nvPicPr>
          <p:cNvPr id="1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總整理：還原後的症狀 → 先懷疑什麼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534920"/>
        </p:xfrm>
        <a:graphic>
          <a:graphicData uri="http://schemas.openxmlformats.org/drawingml/2006/table">
            <a:tbl>
              <a:tblPr/>
              <a:tblGrid>
                <a:gridCol w="3799840"/>
                <a:gridCol w="4023360"/>
                <a:gridCol w="3352800"/>
              </a:tblGrid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還原後症狀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第一個要懷疑的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怎麼確認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Running、資料空的或只有預設資料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沒備份 Volume，或 restorePVs: false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--details 的 Backup Volumes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 引用的 Secret / ConfigMap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ContainerCreating + FailedMount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掛載的 Secret / ConfigMap / PVC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Pending + ProvisioningFailed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sc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WaitingForPluginOperations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下載中，或 PVC 無法 Bound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-n velero get datadownloads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檔案在但 0 bytes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快照前資料未落盤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 pre-backup hook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連不到其他 namespace 的服務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或 namespace label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ns --show-labels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27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27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etcd 備份與還原策略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42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42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77"/>
            <a:ext cx="536173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保護的是應用；etcd snapshot 保護的是叢集本身。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Snapshot：只有一半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58"/>
            <a:ext cx="5461000" cy="1838960"/>
          </a:xfrm>
          <a:prstGeom prst="roundRect">
            <a:avLst>
              <a:gd name="adj" fmla="val 5525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58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etcdctl snapshot save /backup/snapshot.db \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27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--endpoints=https://127.0.0.1:2379 \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--cacert=/etc/kubernetes/pki/etcd/ca.crt \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42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--cert=/etc/kubernetes/pki/etcd/server.crt \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--key=/etc/kubernetes/pki/etcd/server.key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58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etcdutl snapshot status /backup/snapshot.db -w table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8000" y="3068327"/>
            <a:ext cx="562483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線上操作，不用停 etcd。save 用 etcdctl；status、restore 用 etcdutl（3.6 已從 etcdctl 移除 restore）。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72200" y="1102358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還要備份這些檔案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42727"/>
          <a:ext cx="5511800" cy="1651000"/>
        </p:xfrm>
        <a:graphic>
          <a:graphicData uri="http://schemas.openxmlformats.org/drawingml/2006/table">
            <a:tbl>
              <a:tblPr/>
              <a:tblGrid>
                <a:gridCol w="2480310"/>
                <a:gridCol w="303149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少了它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encryption-config.yaml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讀不出任何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pki/ca.*、sa.*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kubeconfig、token 全部失效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pki/etcd/*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mTLS 無法建立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manifests/*.yaml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不知道原本的啟動參數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172200" y="3230885"/>
            <a:ext cx="567715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backup-control-plane-files.sh 負責備份。</a:t>
            </a:r>
            <a:endParaRPr lang="en-US" sz="1250" dirty="0"/>
          </a:p>
        </p:txBody>
      </p:sp>
      <p:pic>
        <p:nvPicPr>
          <p:cNvPr id="1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備份策略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 與 Velero Backup 的差異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748280"/>
        </p:xfrm>
        <a:graphic>
          <a:graphicData uri="http://schemas.openxmlformats.org/drawingml/2006/table">
            <a:tbl>
              <a:tblPr/>
              <a:tblGrid>
                <a:gridCol w="2235200"/>
                <a:gridCol w="4470400"/>
                <a:gridCol w="44704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備份什麼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裡的全部 key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選定範圍的資源 + 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有：CSI Snapshot + Data Mover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粒度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全有或全無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namespace、資源種類、label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整座叢集同一時間點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逐一讀取，非原子性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還原影響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整座叢集回到過去，所有租戶都受影響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只影響被還原的範圍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需要叢集活著嗎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 API 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能還原到別的叢集嗎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不建議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可以，這是設計目標之一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4020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它們互補，不是二選一。</a:t>
            </a:r>
            <a:endParaRPr lang="en-US" sz="15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備份策略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什麼情況用哪一種 Restore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641600"/>
        </p:xfrm>
        <a:graphic>
          <a:graphicData uri="http://schemas.openxmlformats.org/drawingml/2006/table">
            <a:tbl>
              <a:tblPr/>
              <a:tblGrid>
                <a:gridCol w="4246880"/>
                <a:gridCol w="2905760"/>
                <a:gridCol w="402336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用哪個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 dr-demo namespace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只救一個 namespace，不影響其他團隊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資料被錯誤 migration 寫壞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Velero（restorePVs）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裡沒有 DB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中 1 台硬碟壞掉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都不用：替換成員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其餘 2 台仍有 quorum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資料全部損壞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起不來，Velero 無能為力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有人 kubectl delete crd --all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snapshot（能接受回到過去時）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刪除會連帶刪除所有 CR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K8s 升級失敗想退回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snapshot（升級前拍的）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整座叢集要一致地回到升級前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整座叢集或機房消失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重建 + 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新機器、新 IP，舊 snapshot 不適用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備份策略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45308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62908"/>
            <a:ext cx="86334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Disaster：etcd 還原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476750"/>
            <a:ext cx="1605201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527550"/>
            <a:ext cx="1325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runbook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65601" y="4500885"/>
            <a:ext cx="559392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起不來的時候，怎麼從 snapshot 把叢集救回來。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異常時看到的現象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58"/>
          <a:ext cx="11176000" cy="2061210"/>
        </p:xfrm>
        <a:graphic>
          <a:graphicData uri="http://schemas.openxmlformats.org/drawingml/2006/table">
            <a:tbl>
              <a:tblPr/>
              <a:tblGrid>
                <a:gridCol w="2458720"/>
                <a:gridCol w="4470400"/>
                <a:gridCol w="424688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觀察點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停止 / 失去 quorum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資料被清空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nodes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timed out，或 connection refused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resources found，或 Forbidden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kube-apiserver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反覆重啟（liveness 失敗）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正常運作，重建預設物件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現有 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繼續運作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繼續運作一段時間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對外服務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大多仍可連線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逐漸異常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新部署 / 擴縮 / 自我修復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全部停擺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全部停擺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453135"/>
            <a:ext cx="1117600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365633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第一步永遠是上節點看（不靠 kubectl）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89510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crictl ps -a | grep -E 'etcd|kube-apiserver'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413385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sudo journalctl -u kubelet --since "10 min ago" | tail -50</a:t>
            </a:r>
            <a:endParaRPr lang="en-US" sz="1200" dirty="0"/>
          </a:p>
        </p:txBody>
      </p:sp>
      <p:pic>
        <p:nvPicPr>
          <p:cNvPr id="9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還原（runbook）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Snapshot 還原：每一步 3 台都完成才往下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6810"/>
            <a:ext cx="1863090" cy="1289050"/>
          </a:xfrm>
          <a:prstGeom prst="roundRect">
            <a:avLst>
              <a:gd name="adj" fmla="val 763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611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停止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5750"/>
            <a:ext cx="160528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移走 apiserver、cm、scheduler、etcd 的 manifest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53640" y="1662435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37815" y="1221110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992120" y="13754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重建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992120" y="1670050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保留舊目錄，從同一 snapshot restore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80280" y="1662435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64455" y="1221110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18760" y="13754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 啟動 etcd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18760" y="1670050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 3 台都健康、只有一個 leader</a:t>
            </a:r>
            <a:endParaRPr lang="en-US" sz="12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06920" y="1662435"/>
            <a:ext cx="3048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91095" y="1105545"/>
            <a:ext cx="1863090" cy="1291590"/>
          </a:xfrm>
          <a:prstGeom prst="roundRect">
            <a:avLst>
              <a:gd name="adj" fmla="val 762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645400" y="1259855"/>
            <a:ext cx="1605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 啟動 control plane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645400" y="1785615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移回 manifest，重啟 kubelet</a:t>
            </a:r>
            <a:endParaRPr lang="en-US" sz="1200" dirty="0"/>
          </a:p>
        </p:txBody>
      </p:sp>
      <p:pic>
        <p:nvPicPr>
          <p:cNvPr id="19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33560" y="1662435"/>
            <a:ext cx="304800" cy="1778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817735" y="1221110"/>
            <a:ext cx="1863090" cy="1060450"/>
          </a:xfrm>
          <a:prstGeom prst="roundRect">
            <a:avLst>
              <a:gd name="adj" fmla="val 9281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972040" y="1375420"/>
            <a:ext cx="16052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 驗證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972040" y="1670050"/>
            <a:ext cx="16052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API、Secret、時間點、應用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08000" y="2679700"/>
            <a:ext cx="11176000" cy="1813560"/>
          </a:xfrm>
          <a:prstGeom prst="roundRect">
            <a:avLst>
              <a:gd name="adj" fmla="val 5602"/>
            </a:avLst>
          </a:prstGeom>
          <a:solidFill>
            <a:srgbClr val="0F2F47"/>
          </a:solidFill>
          <a:ln/>
        </p:spPr>
      </p:sp>
      <p:sp>
        <p:nvSpPr>
          <p:cNvPr id="24" name="Text 17"/>
          <p:cNvSpPr/>
          <p:nvPr/>
        </p:nvSpPr>
        <p:spPr>
          <a:xfrm>
            <a:off x="736600" y="28829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etcdutl snapshot restore /root/snap.db \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36600" y="31216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--name k8s01 \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36600" y="336041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--initial-cluster k8s01=https://10.90.1.81:2380,k8s02=https://10.90.1.82:2380,k8s03=https://10.90.1.83:2380 \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36600" y="35991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--initial-advertise-peer-urls https://10.90.1.81:2380 \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6600" y="383795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--initial-cluster-token etcd-restore-20260923 \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6600" y="40767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--data-dir /var/lib/etcd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08000" y="477267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台用同一個 token，而且要跟原本的叢集不同，避免跟殘留的舊成員互相加入。</a:t>
            </a:r>
            <a:endParaRPr lang="en-US" sz="1350" dirty="0"/>
          </a:p>
        </p:txBody>
      </p:sp>
      <p:pic>
        <p:nvPicPr>
          <p:cNvPr id="31" name="Image 5" descr="AIC AIoT Cloud">    </p:cNvPr>
          <p:cNvPicPr>
            <a:picLocks noChangeAspect="1"/>
          </p:cNvPicPr>
          <p:nvPr/>
        </p:nvPicPr>
        <p:blipFill>
          <a:blip r:embed="rId6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還原（runbook）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Disaster：整個叢集消失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1605201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132580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runbook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65601" y="4179565"/>
            <a:ext cx="53143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乾淨重建基礎元件，再用 Velero 把應用與資料還原回來。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叢集消失後，什麼還在、什麼沒了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641600"/>
        </p:xfrm>
        <a:graphic>
          <a:graphicData uri="http://schemas.openxmlformats.org/drawingml/2006/table">
            <a:tbl>
              <a:tblPr/>
              <a:tblGrid>
                <a:gridCol w="3799840"/>
                <a:gridCol w="3352800"/>
                <a:gridCol w="402336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東西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存放位置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叢集消失後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 K8s 資源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 → Velero 備份（S3）還在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 PV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Ceph（節點磁碟）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 → 只有 snapshotMoveData 那份還在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沒搬出去的 CSI Snapshot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跟著沒了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 / Velero 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manifest、Helm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velero-repo-credentials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沒了，除非另外保存 → 讀不出 PV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credentials、TLS 憑證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視保存方式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叢集重建（runbook）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8"/>
              </a:lnSpc>
              <a:buNone/>
            </a:pPr>
            <a:r>
              <a:rPr lang="en-US" sz="319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重建順序</a:t>
            </a:r>
            <a:endParaRPr lang="en-US" sz="3190" dirty="0"/>
          </a:p>
        </p:txBody>
      </p:sp>
      <p:sp>
        <p:nvSpPr>
          <p:cNvPr id="4" name="Shape 1"/>
          <p:cNvSpPr/>
          <p:nvPr/>
        </p:nvSpPr>
        <p:spPr>
          <a:xfrm>
            <a:off x="508000" y="1101328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2138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2138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宣告災難、啟動 DR 流程，取出 DR 保險箱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8000" y="1582117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72903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72903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節點 OS + containerd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8000" y="2062807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53617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53617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 init / join；kube-vip VIP、gpu01 taint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8000" y="2543572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34382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34382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 CNI → 節點變 Ready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3024262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15072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15072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Rook-Ceph：StorageClass 同名；snapshot-controller + VolumeSnapshotClass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3505051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000" y="3595861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65200" y="3595861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API：LB IP Pool、Gateway、TLS Secret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8000" y="3985741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8000" y="4076551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65200" y="4076551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先還原 velero-repo-credentials，再 velero install（同一個 bucket）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8000" y="4466506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8000" y="4557316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5200" y="4557316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確認舊備份同步出現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08000" y="4947221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8000" y="5038006"/>
            <a:ext cx="355600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65200" y="5038006"/>
            <a:ext cx="6723634" cy="323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分批 Velero Restore 應用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08000" y="5427985"/>
            <a:ext cx="6985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8000" y="5518795"/>
            <a:ext cx="355600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965200" y="5518795"/>
            <a:ext cx="6723634" cy="32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驗證資料 → 切換 DNS → 宣告恢復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747000" y="1098153"/>
            <a:ext cx="3937000" cy="4807347"/>
          </a:xfrm>
          <a:prstGeom prst="roundRect">
            <a:avLst>
              <a:gd name="adj" fmla="val 3226"/>
            </a:avLst>
          </a:prstGeom>
          <a:solidFill>
            <a:srgbClr val="12517C"/>
          </a:solidFill>
          <a:ln/>
        </p:spPr>
      </p:sp>
      <p:sp>
        <p:nvSpPr>
          <p:cNvPr id="35" name="Text 32"/>
          <p:cNvSpPr/>
          <p:nvPr/>
        </p:nvSpPr>
        <p:spPr>
          <a:xfrm>
            <a:off x="8001000" y="1352153"/>
            <a:ext cx="35318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001000" y="1679823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基礎元件用它自己的安裝方式重建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001000" y="2060823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應用才用 Velero 還原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001000" y="2441823"/>
            <a:ext cx="353187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還原 kube-system、rook-ceph、velero，會把舊叢集的節點名稱、IP、憑證一起倒回新叢集。</a:t>
            </a:r>
            <a:endParaRPr lang="en-US" sz="1300" dirty="0"/>
          </a:p>
        </p:txBody>
      </p:sp>
      <p:pic>
        <p:nvPicPr>
          <p:cNvPr id="39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叢集重建（runbook）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每日備份與 Restore 驗證機制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5187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79565"/>
            <a:ext cx="648817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備份不是一個動作，是一個制度：每天跑、會叫人、定期證明能還原。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這座叢集的現況：兩個沒人發現的問題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2745105"/>
          </a:xfrm>
          <a:prstGeom prst="roundRect">
            <a:avLst>
              <a:gd name="adj" fmla="val 358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55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6280" y="1612900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連續 5 天沒有備份，沒有任何告警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6280" y="1982465"/>
            <a:ext cx="506984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8" name="Text 5"/>
          <p:cNvSpPr/>
          <p:nvPr/>
        </p:nvSpPr>
        <p:spPr>
          <a:xfrm>
            <a:off x="944880" y="218566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daily-full-backup-20260916…  Completed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4880" y="242443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（09-17～09-21 沒有任何紀錄）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4880" y="266320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daily-full-backup-20260922…  Completed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4880" y="2901950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daily-full-backup-20260923…  Completed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6280" y="3407420"/>
            <a:ext cx="522193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沒有「失敗」可以通知，所以只做失敗通知的監控完全無效。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00775" y="1105545"/>
            <a:ext cx="5480050" cy="2745105"/>
          </a:xfrm>
          <a:prstGeom prst="roundRect">
            <a:avLst>
              <a:gd name="adj" fmla="val 358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5880" y="1310655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5880" y="1612900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每日備份還原不回 PV 資料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05880" y="1982465"/>
            <a:ext cx="5069840" cy="1097280"/>
          </a:xfrm>
          <a:prstGeom prst="roundRect">
            <a:avLst>
              <a:gd name="adj" fmla="val 9259"/>
            </a:avLst>
          </a:prstGeom>
          <a:solidFill>
            <a:srgbClr val="0F2F47"/>
          </a:solidFill>
          <a:ln/>
        </p:spPr>
      </p:sp>
      <p:sp>
        <p:nvSpPr>
          <p:cNvPr id="17" name="Text 14"/>
          <p:cNvSpPr/>
          <p:nvPr/>
        </p:nvSpPr>
        <p:spPr>
          <a:xfrm>
            <a:off x="6634480" y="218566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Restore restore-test-…：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34480" y="242443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phase=PartiallyFailed errors=2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34480" y="2663205"/>
            <a:ext cx="475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multiple DataUpload result cms found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5880" y="3168650"/>
            <a:ext cx="522193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排程沒有排除 velero namespace，備份夾帶了其他備份的 DataUpload 物件，同一個 PVC 有 3 筆。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8000" y="413323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這三份每日備份每一份都顯示 Completed、0 errors、0 warnings。</a:t>
            </a:r>
            <a:endParaRPr lang="en-US" sz="1500" dirty="0"/>
          </a:p>
        </p:txBody>
      </p:sp>
      <p:pic>
        <p:nvPicPr>
          <p:cNvPr id="22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可靠的每日備份需要三層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產生：Schedule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有沒有在跑？01:00 UTC 產生 Backup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0" y="1432570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973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516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檢查：backup-check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516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03:00：存在、夠新、成功嗎？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86700" y="1432570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835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4378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驗證：restore-test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4378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每週一 04:00：真的能還原、資料對嗎？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8000" y="2219970"/>
            <a:ext cx="56379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backup-check 的檢查項目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8000" y="2560315"/>
            <a:ext cx="5637911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4922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是 Available</a:t>
            </a:r>
            <a:endParaRPr lang="en-US" sz="1250" dirty="0"/>
          </a:p>
          <a:p>
            <a:pPr algn="l" marL="190500" indent="-14922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Enabled 且沒有 paused</a:t>
            </a:r>
            <a:endParaRPr lang="en-US" sz="1250" dirty="0"/>
          </a:p>
          <a:p>
            <a:pPr algn="l" marL="190500" indent="-14922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 Completed 備份距今 ≤ 26 小時</a:t>
            </a:r>
            <a:endParaRPr lang="en-US" sz="1250" dirty="0"/>
          </a:p>
          <a:p>
            <a:pPr algn="l" marL="190500" indent="-14922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最新成功備份 errors = 0</a:t>
            </a:r>
            <a:endParaRPr lang="en-US" sz="1250" dirty="0"/>
          </a:p>
          <a:p>
            <a:pPr algn="l" marL="190500" indent="-149225">
              <a:lnSpc>
                <a:spcPts val="1938"/>
              </a:lnSpc>
              <a:buSzPct val="100000"/>
              <a:buChar char="•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最新一次不是 Failed / PartiallyFailed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10300" y="2219970"/>
            <a:ext cx="5473700" cy="1570673"/>
          </a:xfrm>
          <a:prstGeom prst="roundRect">
            <a:avLst>
              <a:gd name="adj" fmla="val 8086"/>
            </a:avLst>
          </a:prstGeom>
          <a:solidFill>
            <a:srgbClr val="12517C"/>
          </a:solidFill>
          <a:ln/>
        </p:spPr>
      </p:sp>
      <p:sp>
        <p:nvSpPr>
          <p:cNvPr id="18" name="Text 13"/>
          <p:cNvSpPr/>
          <p:nvPr/>
        </p:nvSpPr>
        <p:spPr>
          <a:xfrm>
            <a:off x="6464300" y="2473970"/>
            <a:ext cx="5114671" cy="14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b="1" spc="10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成功也要通知</a:t>
            </a:r>
            <a:endParaRPr lang="en-US" sz="720" dirty="0"/>
          </a:p>
        </p:txBody>
      </p:sp>
      <p:sp>
        <p:nvSpPr>
          <p:cNvPr id="19" name="Text 14"/>
          <p:cNvSpPr/>
          <p:nvPr/>
        </p:nvSpPr>
        <p:spPr>
          <a:xfrm>
            <a:off x="6464300" y="2711921"/>
            <a:ext cx="5114671" cy="179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每天固定收到一則成功訊息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64300" y="2980779"/>
            <a:ext cx="5114671" cy="179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某天沒收到就是訊號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464300" y="3249613"/>
            <a:ext cx="5114671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33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man's switch：可以再接 Healthchecks.io 或 Uptime Kuma 的心跳監控。</a:t>
            </a:r>
            <a:endParaRPr lang="en-US" sz="1133" dirty="0"/>
          </a:p>
        </p:txBody>
      </p:sp>
      <p:pic>
        <p:nvPicPr>
          <p:cNvPr id="22" name="Image 3" descr="AIC AIoT Cloud">    </p:cNvPr>
          <p:cNvPicPr>
            <a:picLocks noChangeAspect="1"/>
          </p:cNvPicPr>
          <p:nvPr/>
        </p:nvPicPr>
        <p:blipFill>
          <a:blip r:embed="rId4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/ RTO：用演練證明的數字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55"/>
            <a:ext cx="527425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RPO：最多能遺失多久的資料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0880" y="1612900"/>
            <a:ext cx="527425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由備份頻率決定。每日備份 → 最差 24 小時；像問題 1 斷掉 5 天，實際 RPO 就是 5 天。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00775" y="1105545"/>
            <a:ext cx="5480050" cy="1182370"/>
          </a:xfrm>
          <a:prstGeom prst="roundRect">
            <a:avLst>
              <a:gd name="adj" fmla="val 832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0480" y="1285255"/>
            <a:ext cx="527425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RTO：多久要恢復服務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80480" y="1612900"/>
            <a:ext cx="52742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由還原流程決定：偵測 + 決策 + 還原 + 驗證 + 切換。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570485"/>
          <a:ext cx="11176000" cy="1717675"/>
        </p:xfrm>
        <a:graphic>
          <a:graphicData uri="http://schemas.openxmlformats.org/drawingml/2006/table">
            <a:tbl>
              <a:tblPr/>
              <a:tblGrid>
                <a:gridCol w="5140960"/>
                <a:gridCol w="3799840"/>
                <a:gridCol w="22352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實測耗時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來源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還原到新 namespace（約 48MB）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55 秒；含驗證約 1 分鐘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備份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全叢集每日備份（1687 個物件）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 6 分鐘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線上排程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還原 / 整座叢集重建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未實測（runbook）；重建通常以小時計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7、8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帶走這五件事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5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只有描述，PV 裡才是資料：兩種都要備，而且要搬到叢集外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4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48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不等於救得回來：用「災難前才存在的資料」驗證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8000" y="207583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15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備份範圍由應用的依賴決定：Secret、ConfigMap、StorageClass、跨 namespace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6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70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救應用，etcd snapshot 救 control plane；叢集消失就乾淨重建再還原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8000" y="3046090"/>
            <a:ext cx="1117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110403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備份是制度：每天檢查、成功也通知、每週自動還原測試、每季人工演練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8000" y="380747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延伸：dr/seaweedfs（備份機安裝）、dr/velero-ui、dr/etcdctl。</a:t>
            </a:r>
            <a:endParaRPr lang="en-US" sz="1300" dirty="0"/>
          </a:p>
        </p:txBody>
      </p:sp>
      <p:pic>
        <p:nvPicPr>
          <p:cNvPr id="2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588270"/>
            <a:ext cx="115112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備份、復原與災難復原演練</a:t>
            </a:r>
            <a:endParaRPr lang="en-US" sz="1800" dirty="0"/>
          </a:p>
        </p:txBody>
      </p:sp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80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66615"/>
            <a:ext cx="863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84215"/>
            <a:ext cx="863346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補充資料：課後自學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8000" y="4155455"/>
            <a:ext cx="990600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206255"/>
            <a:ext cx="711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課後閱讀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51000" y="4179565"/>
            <a:ext cx="600009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以下內容不在 90 分鐘主線，依章節排列，供學員課後自行閱讀。</a:t>
            </a:r>
            <a:endParaRPr lang="en-US" sz="1600" dirty="0"/>
          </a:p>
        </p:txBody>
      </p:sp>
      <p:pic>
        <p:nvPicPr>
          <p:cNvPr id="8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這座叢集的備份相關事實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748280"/>
        </p:xfrm>
        <a:graphic>
          <a:graphicData uri="http://schemas.openxmlformats.org/drawingml/2006/table">
            <a:tbl>
              <a:tblPr/>
              <a:tblGrid>
                <a:gridCol w="2905760"/>
                <a:gridCol w="827024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實際狀態（2026-09-23 查詢）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v1.35.7，kubeadm，3 台 control-plane（k8s01～03）+ gpu01，VIP 10.90.1.80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3.6.6，stacked，資料目錄 /var/lib/etcd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靜態加密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 encryption-provider-config → etcd 還原時必須同時有這把金鑰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v1.18.2，EnableCSI，uploader = kopia，aws plugin v1.14.2，node-agent 4 個節點都有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BackupStorageLocation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default，s3Url http://10.90.1.125:8333，bucket velero，Available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既有排程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daily-full-backup 每天 01:00 UTC；但 09-17～09-21 沒有備份，且實測還原不回 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名稱衝突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schedules 拿到的是 Fleet 的；一律寫 schedules.velero.io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演練環境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保存什麼，不保存什麼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1849755"/>
          </a:xfrm>
          <a:prstGeom prst="roundRect">
            <a:avLst>
              <a:gd name="adj" fmla="val 53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6280" y="1680220"/>
            <a:ext cx="5221935" cy="79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namespace、資源、CRD 物件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RBAC、Node 物件、Lease、Event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 Velero 的 Backup CR 也在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6280" y="2536825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/registry/deployments/dr-demo/postgres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105545"/>
            <a:ext cx="5480050" cy="1849755"/>
          </a:xfrm>
          <a:prstGeom prst="roundRect">
            <a:avLst>
              <a:gd name="adj" fmla="val 53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58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5880" y="1680220"/>
            <a:ext cx="5221935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 image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裡的資料、節點上的檔案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自己的憑證 /etc/kubernetes/pki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靜態加密金鑰 encryption-config.yaml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8000" y="323788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2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364880"/>
            <a:ext cx="254000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6800" y="3368055"/>
            <a:ext cx="87786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本叢集有開 Secret 靜態加密：只有 snapshot、沒有 encryption-config.yaml，還原後 API Server 讀不出任何 Secret。</a:t>
            </a:r>
            <a:endParaRPr lang="en-US" sz="1300" dirty="0"/>
          </a:p>
        </p:txBody>
      </p:sp>
      <p:pic>
        <p:nvPicPr>
          <p:cNvPr id="14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1 · 備份與復原概念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PVC、PV 與實際資料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PersistentVolumeClaim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etcd：我要 10Gi、RWO、rook-ceph-block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0" y="1432570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973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516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PersistentVolume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516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etcd：綁到 Ceph 上的哪一顆 image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86700" y="1432570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83575" y="1105545"/>
            <a:ext cx="3397250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437880" y="1259855"/>
            <a:ext cx="3181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RBD image / subvolume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437880" y="1554485"/>
            <a:ext cx="31812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Ceph：應用真正寫入的資料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219970"/>
          <a:ext cx="11176000" cy="1030605"/>
        </p:xfrm>
        <a:graphic>
          <a:graphicData uri="http://schemas.openxmlformats.org/drawingml/2006/table">
            <a:tbl>
              <a:tblPr/>
              <a:tblGrid>
                <a:gridCol w="2458720"/>
                <a:gridCol w="2235200"/>
                <a:gridCol w="3799840"/>
                <a:gridCol w="268224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的例子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rook-ceph-block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RBD · RWO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→ Data Mover 上傳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postgres-data 約 47.9MB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 · RWX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→ Data Mover 上傳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shared-data 45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08000" y="3540125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7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667125"/>
            <a:ext cx="254000" cy="254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6800" y="3670300"/>
            <a:ext cx="80035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reclaimPolicy 是 Delete：刪掉 PVC 或整個 namespace，Ceph 上的資料立刻一起刪除，沒有資源回收筒。</a:t>
            </a:r>
            <a:endParaRPr lang="en-US" sz="1300" dirty="0"/>
          </a:p>
        </p:txBody>
      </p:sp>
      <p:pic>
        <p:nvPicPr>
          <p:cNvPr id="19" name="Image 4" descr="AIC AIoT Cloud">    </p:cNvPr>
          <p:cNvPicPr>
            <a:picLocks noChangeAspect="1"/>
          </p:cNvPicPr>
          <p:nvPr/>
        </p:nvPicPr>
        <p:blipFill>
          <a:blip r:embed="rId5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1 · 備份與復原概念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與 etcd Backup 各解決什麼問題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480050" cy="2059305"/>
          </a:xfrm>
          <a:prstGeom prst="roundRect">
            <a:avLst>
              <a:gd name="adj" fmla="val 47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2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Velero：透過 API 工作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6280" y="1680220"/>
            <a:ext cx="522193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適合：誤刪一個 namespace 或應用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適合：應用資料被寫壞，還原 PV 資料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適合：把應用搬到另一座叢集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不行：etcd 損壞、API Server 起不來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不擅長：整座叢集精確的時間點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00775" y="1105545"/>
            <a:ext cx="5480050" cy="2059305"/>
          </a:xfrm>
          <a:prstGeom prst="roundRect">
            <a:avLst>
              <a:gd name="adj" fmla="val 47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5880" y="1310655"/>
            <a:ext cx="522193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snapshot：整個資料庫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5880" y="1680220"/>
            <a:ext cx="5221935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唯一解：etcd 損壞或失去 quorum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適合：大量叢集層級資源被刪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太粗：只想救一個 namespace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不行：救回 PV 裡的資料</a:t>
            </a:r>
            <a:endParaRPr lang="en-US" sz="1300" dirty="0"/>
          </a:p>
          <a:p>
            <a:pPr algn="l" marL="198120" indent="-155956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不建議：還原到別的叢集</a:t>
            </a:r>
            <a:endParaRPr lang="en-US" sz="1300" dirty="0"/>
          </a:p>
        </p:txBody>
      </p:sp>
      <p:pic>
        <p:nvPicPr>
          <p:cNvPr id="1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1 · 備份與復原概念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 備份機：五個檢查點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283460"/>
        </p:xfrm>
        <a:graphic>
          <a:graphicData uri="http://schemas.openxmlformats.org/drawingml/2006/table">
            <a:tbl>
              <a:tblPr/>
              <a:tblGrid>
                <a:gridCol w="2905760"/>
                <a:gridCol w="4246880"/>
                <a:gridCol w="402336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為什麼重要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獨立硬碟掛在 /backup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 -h /backup 顯示 /dev/sdb1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確認資料沒寫到系統碟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systemd RequiresMountsFor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硬碟沒掛上，服務不會啟動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避免資料默默寫進根目錄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兩組 S3 帳號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seaweed-admin 管理；velero-backup 只能存取 velero 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權限分離：Velero 不能建立或刪除 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管理者先建立 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admin 執行 aws s3 mb s3://velero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帳號執行 mb 會得到 AccessDenied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reboot 測試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重開機後 systemctl is-active seaweedfs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備份機自己也要能在災難後恢復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675385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完整安裝步驟：dr/seaweedfs/README.md。etcd 備份的 etcd-backups bucket 建議用另一組帳號。</a:t>
            </a:r>
            <a:endParaRPr lang="en-US" sz="13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2 · 外部 Backup Storage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Backup Storage Location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588000" cy="3220720"/>
          </a:xfrm>
          <a:prstGeom prst="roundRect">
            <a:avLst>
              <a:gd name="adj" fmla="val 3155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02-backup-storage/velero/install-velero.sh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install \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--provider aws \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--plugins velero/velero-plugin-for-aws:v1.14.2 \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--bucket velero \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--secret-file ./credentials-velero \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--backup-location-config region=us-east-1,\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885"/>
            <a:ext cx="52847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s3ForcePathStyle="true",s3Url=http://10.90.1.125:8333 \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42900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--features=EnableCSI \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667770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--use-node-agent \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906515"/>
            <a:ext cx="52847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--uploader-type kopia --wait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0000" y="1102370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切換到 HTTPS 的正確順序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0000" y="1395090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0000" y="1485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807200" y="1485900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bsl-https.yaml，填入 caCert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50000" y="1880245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0000" y="19710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807200" y="1971055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backup-location get 仍是 Available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50000" y="2365375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0000" y="24561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807200" y="2456185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跑一次小備份，確認能寫入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50000" y="2850530"/>
            <a:ext cx="5334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0000" y="29413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807200" y="2941315"/>
            <a:ext cx="502310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最後才在備份機 ufw deny 8333/tcp</a:t>
            </a:r>
            <a:endParaRPr lang="en-US" sz="1300" dirty="0"/>
          </a:p>
        </p:txBody>
      </p:sp>
      <p:pic>
        <p:nvPicPr>
          <p:cNvPr id="29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2 · 外部 Backup Storage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常見錯誤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04745"/>
        </p:xfrm>
        <a:graphic>
          <a:graphicData uri="http://schemas.openxmlformats.org/drawingml/2006/table">
            <a:tbl>
              <a:tblPr/>
              <a:tblGrid>
                <a:gridCol w="3799840"/>
                <a:gridCol w="3799840"/>
                <a:gridCol w="357632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Unavailable，log 有 AccessDenied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 錯，或沒有 bucket 權限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s3-check-pod 同一組帳密測 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NoSuchBucket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 沒事先建立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seaweed-admin 執行 aws s3 mb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SignatureDoesNotMatch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proxy 改寫 Host，或 URL 不一致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proxy_set_header Host；兩邊 URL 一致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x509: unknown authority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自簽憑證，Velero 不信任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objectStorage.caCert 填 Root 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dial tcp …:8333: i/o timeout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防火牆擋住，或 BSL 還是 8333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 HTTP → HTTPS 的切換順序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virtual-host 網址錯誤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忘記 s3ForcePathStyle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 S3 一律加 s3ForcePathStyle: true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2 · 外部 Backup Storage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備份範圍：Namespace 與 Cluster 資源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320800"/>
        </p:xfrm>
        <a:graphic>
          <a:graphicData uri="http://schemas.openxmlformats.org/drawingml/2006/table">
            <a:tbl>
              <a:tblPr/>
              <a:tblGrid>
                <a:gridCol w="4917440"/>
                <a:gridCol w="2905760"/>
                <a:gridCol w="33528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寫法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[dr-demo]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只備份 dr-demo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應用層級備份（本課主線）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[dr-demo, filebrowser]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多個應用一起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有相依關係的一組應用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["*"] 排除 kube-system、velero、rook-ceph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全叢集扣掉系統元件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每日全量備份（單元 9）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715890"/>
            <a:ext cx="5480050" cy="1638300"/>
          </a:xfrm>
          <a:prstGeom prst="roundRect">
            <a:avLst>
              <a:gd name="adj" fmla="val 60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16280" y="2921000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includeClusterResources 不設定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6280" y="3197870"/>
            <a:ext cx="522193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個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16280" y="3901455"/>
            <a:ext cx="522193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只帶上跟 namespace 有關的 PV、CRD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00775" y="2715890"/>
            <a:ext cx="5480050" cy="1638300"/>
          </a:xfrm>
          <a:prstGeom prst="roundRect">
            <a:avLst>
              <a:gd name="adj" fmla="val 60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5880" y="2921000"/>
            <a:ext cx="52219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includeClusterResources: true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5880" y="3197870"/>
            <a:ext cx="522193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921 個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6405880" y="3901455"/>
            <a:ext cx="522193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整座叢集的 cluster-scoped 資源；還原時產生 188 個 warnings</a:t>
            </a:r>
            <a:endParaRPr lang="en-US" sz="1300" dirty="0"/>
          </a:p>
        </p:txBody>
      </p:sp>
      <p:pic>
        <p:nvPicPr>
          <p:cNvPr id="1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 · 第一次 Backup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 的陷阱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207000" cy="2981960"/>
          </a:xfrm>
          <a:prstGeom prst="roundRect">
            <a:avLst>
              <a:gd name="adj" fmla="val 3407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backup create example-e \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489229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--include-namespaces dr-demo --selector app=postgres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202185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List: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2606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ReplicaSet             postgres-54bfb985f9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4993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Pod                    postgres-54bfb985f9-grjh5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738115"/>
            <a:ext cx="489229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PersistentVolumeClaim  postgres-data  # 被引用而連帶加入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319025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PersistentVolume       pvc-85e449cf-…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4290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Namespace              dr-demo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6677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# 沒有 Deployment、Secret、Service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6775" y="1105545"/>
            <a:ext cx="5734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285255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套用在每一個資源上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26480" y="1596405"/>
            <a:ext cx="553587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不是「選應用」。Deployment 自己的 metadata.labels 是空的，只有 Pod template 有 app=postgres。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6775" y="2404740"/>
            <a:ext cx="5734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2584450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 Completed，還原沒用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26480" y="2895600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只回來一堆沒人管的 ReplicaSet 和 Pod，沒有帳密、沒有 Service。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6775" y="3456310"/>
            <a:ext cx="5734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3636020"/>
            <a:ext cx="55358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26480" y="3947170"/>
            <a:ext cx="553587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要用 selector，先規定所有資源都貼 app.kubernetes.io/instance；不然用 namespace 當邊界最安全。</a:t>
            </a:r>
            <a:endParaRPr lang="en-US" sz="1300" dirty="0"/>
          </a:p>
        </p:txBody>
      </p:sp>
      <p:pic>
        <p:nvPicPr>
          <p:cNvPr id="23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 · 第一次 Backup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的狀態、Warning 與 Error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5715000" cy="2311400"/>
        </p:xfrm>
        <a:graphic>
          <a:graphicData uri="http://schemas.openxmlformats.org/drawingml/2006/table">
            <a:tbl>
              <a:tblPr/>
              <a:tblGrid>
                <a:gridCol w="2286000"/>
                <a:gridCol w="34290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該怎麼辦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/ Queued / InProgress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WaitingForPluginOperations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還在上傳：看 DataUpload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完成，仍要做下一頁的檢查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Errors，不能當作可用備份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logs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參數錯，例如 BSL 不存在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54775" y="1105545"/>
            <a:ext cx="5226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634480" y="1285255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634480" y="1596405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某個項目沒備份到 → PartiallyFailed。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54775" y="2157090"/>
            <a:ext cx="5226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34480" y="2336800"/>
            <a:ext cx="50126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34480" y="2647950"/>
            <a:ext cx="501263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備份到了，但有要注意的地方 → 仍然 Completed。Completed 加上 warnings &gt; 0，一定要打開來看。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51600" y="3453135"/>
            <a:ext cx="523240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12" name="Text 8"/>
          <p:cNvSpPr/>
          <p:nvPr/>
        </p:nvSpPr>
        <p:spPr>
          <a:xfrm>
            <a:off x="6680200" y="365633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describe &lt;name&gt; --details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680200" y="389510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logs &lt;name&gt; | grep -Ei 'error|warning'</a:t>
            </a:r>
            <a:endParaRPr lang="en-US" sz="1200" dirty="0"/>
          </a:p>
        </p:txBody>
      </p:sp>
      <p:pic>
        <p:nvPicPr>
          <p:cNvPr id="1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3 · 第一次 Backup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restorePVs 與部分還原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07061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3799840"/>
                <a:gridCol w="335280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restorePVs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資料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從 S3 下載到新的 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資料回來了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不還原，動態佈建一顆空磁碟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Running，但資料是空的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2462535"/>
            <a:ext cx="11176000" cy="1336040"/>
          </a:xfrm>
          <a:prstGeom prst="roundRect">
            <a:avLst>
              <a:gd name="adj" fmla="val 7605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266573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每日全叢集備份裡只救回 dr-demo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290450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--from-backup daily-full-backup-20260923010055 --include-namespaces dr-demo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36600" y="314325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只還原誤刪的 Secret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6600" y="338202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restore create --from-backup dr-demo-backup-01 --include-resources secrets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8000" y="407796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備份做大範圍，還原做小範圍：從每日全叢集備份只救回一個 namespace，是最常見的實戰用法。</a:t>
            </a:r>
            <a:endParaRPr lang="en-US" sz="1350" dirty="0"/>
          </a:p>
        </p:txBody>
      </p:sp>
      <p:pic>
        <p:nvPicPr>
          <p:cNvPr id="11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4 · 第一次 Restore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如何重新建立資源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5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CustomResourceDefinitions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4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48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8000" y="207583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1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StorageClasses（若備份內有）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6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70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VolumeSnapshotClass / Content / Snapshot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304609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DataUploads → PV → PVC：資料在這裡下載回來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353124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000" y="362205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65200" y="362205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 → Secret → ConfigMap → LimitRange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8000" y="4016375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8000" y="410718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65200" y="410718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→ ReplicaSet → Endpoints → Service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8000" y="4501530"/>
            <a:ext cx="48260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8000" y="4592315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5200" y="4592315"/>
            <a:ext cx="449986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其餘資源，依字母順序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565775" y="1105545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5480" y="1285255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API Server 逐一 create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745480" y="1596405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不是把 etcd 倒回去，所以 admission webhook、ResourceQuota、NetworkPolicy 都會生效。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565775" y="2404740"/>
            <a:ext cx="61150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45480" y="2584450"/>
            <a:ext cx="59283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兩個正常的 warning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745480" y="2895600"/>
            <a:ext cx="592830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ciliumendpoints CRD 已存在；kube-root-ca.crt 是 namespace 建立時自動產生的。</a:t>
            </a:r>
            <a:endParaRPr lang="en-US" sz="1300" dirty="0"/>
          </a:p>
        </p:txBody>
      </p:sp>
      <p:pic>
        <p:nvPicPr>
          <p:cNvPr id="3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4 · 第一次 Restore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還原後觀察到的細節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41220"/>
        </p:xfrm>
        <a:graphic>
          <a:graphicData uri="http://schemas.openxmlformats.org/drawingml/2006/table">
            <a:tbl>
              <a:tblPr/>
              <a:tblGrid>
                <a:gridCol w="4917440"/>
                <a:gridCol w="625856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名稱變了：pvc-85e4… → pvc-2707…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建立新的 PV 再把資料寫進去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ClusterIP 變了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由叢集重新分配 → 應用一律用 DNS 連線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備份裡有 3 個 postgres Pod，還原後只有 1 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不還原已結束的 Pod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名稱跟原本一樣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還原 Pod 物件本身，之後由 ReplicaSet 接手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cephfs-test-1 / 2 沒有被還原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備份當下這兩個裸 Pod 已經不存在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4 · 第一次 Restore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4：StorageClass 不存在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334000" cy="2052320"/>
          </a:xfrm>
          <a:prstGeom prst="roundRect">
            <a:avLst>
              <a:gd name="adj" fmla="val 4950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kubectl get pvc -n dr-pitfall-nosc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legacy-data    Pending   rook-ceph-block-legacy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postgres-data  Bound     rook-ceph-block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47255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velero restore describe pitfall-restore-no-sc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5023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Phase:  PartiallyFailed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70"/>
            <a:ext cx="50231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Errors: … storageclasses "rook-ceph-block-legacy" not found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8000" y="3281685"/>
            <a:ext cx="5334000" cy="749300"/>
          </a:xfrm>
          <a:prstGeom prst="roundRect">
            <a:avLst>
              <a:gd name="adj" fmla="val 10169"/>
            </a:avLst>
          </a:prstGeom>
          <a:solidFill>
            <a:srgbClr val="FBEEDC"/>
          </a:solidFill>
          <a:ln/>
        </p:spPr>
      </p:sp>
      <p:pic>
        <p:nvPicPr>
          <p:cNvPr id="12" name="Image 1" descr="Warning">    </p:cNvPr>
          <p:cNvPicPr>
            <a:picLocks noChangeAspect="1"/>
          </p:cNvPicPr>
          <p:nvPr/>
        </p:nvPicPr>
        <p:blipFill>
          <a:blip r:embed="rId2"/>
          <a:srcRect l="-350" r="-350" t="0" b="0"/>
          <a:stretch/>
        </p:blipFill>
        <p:spPr>
          <a:xfrm>
            <a:off x="685800" y="3529335"/>
            <a:ext cx="159861" cy="254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2661" y="3408685"/>
            <a:ext cx="48322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沒加 --item-operation-timeout，這個 Restore 會卡在 WaitingForPluginOperations 最多 4 小時才失敗。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045200" y="1102370"/>
            <a:ext cx="58079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解法：change-storage-class ConfigMap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45200" y="1442715"/>
            <a:ext cx="5638800" cy="2052320"/>
          </a:xfrm>
          <a:prstGeom prst="roundRect">
            <a:avLst>
              <a:gd name="adj" fmla="val 4950"/>
            </a:avLst>
          </a:prstGeom>
          <a:solidFill>
            <a:srgbClr val="0F2F47"/>
          </a:solidFill>
          <a:ln/>
        </p:spPr>
      </p:sp>
      <p:sp>
        <p:nvSpPr>
          <p:cNvPr id="16" name="Text 12"/>
          <p:cNvSpPr/>
          <p:nvPr/>
        </p:nvSpPr>
        <p:spPr>
          <a:xfrm>
            <a:off x="6273800" y="164591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273800" y="188468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namespace: velero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273800" y="212345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labels: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73800" y="236220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velero.io/plugin-config: ""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273800" y="260097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velero.io/change-storage-class: RestoreItemAction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73800" y="283971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73800" y="3078485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rook-ceph-block-legacy: rook-ceph-block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045200" y="3622055"/>
            <a:ext cx="58079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這是全域設定，對之後所有 Restore 都生效：要納入版本控管，用完移除。</a:t>
            </a:r>
            <a:endParaRPr lang="en-US" sz="1250" dirty="0"/>
          </a:p>
        </p:txBody>
      </p:sp>
      <p:pic>
        <p:nvPicPr>
          <p:cNvPr id="24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5：快照拍到還沒寫進磁碟的資料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207000" cy="2316480"/>
          </a:xfrm>
          <a:prstGeom prst="roundRect">
            <a:avLst>
              <a:gd name="adj" fmla="val 4386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ls -la /data            # 還原後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1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-rw-r--r--  0  legacy.txt     # 0 bytes！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08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ls -la /data            # 來源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5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-rw-r--r--  56 legacy.txt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08:33:01  寫入 legacy.txt → 進入 page cache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24770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08:33:16  備份開始，幾秒後拍 CSI 快照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6351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ext4 journal 每 5 秒提交 → 檔案「存在」已落盤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002285"/>
            <a:ext cx="4892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檔案內容最多 30 秒才寫回 → 快照拍到 0 bytes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18200" y="1102370"/>
          <a:ext cx="5765800" cy="1651000"/>
        </p:xfrm>
        <a:graphic>
          <a:graphicData uri="http://schemas.openxmlformats.org/drawingml/2006/table">
            <a:tbl>
              <a:tblPr/>
              <a:tblGrid>
                <a:gridCol w="2998216"/>
                <a:gridCol w="2767584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什麼都不做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crash-consistent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 hook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已寫入的資料都落盤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fsfreeze pre / post hook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快照期間凍結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pg_dump、CHECKPOINT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application-consistent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918200" y="2890515"/>
            <a:ext cx="593877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實驗：沒有 hook 的檔案 0 bytes，加了 sync hook 的是 48 bytes，內容完整。</a:t>
            </a:r>
            <a:endParaRPr lang="en-US" sz="1250" dirty="0"/>
          </a:p>
        </p:txBody>
      </p:sp>
      <p:pic>
        <p:nvPicPr>
          <p:cNvPr id="1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與資源的跨界依賴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524760"/>
        </p:xfrm>
        <a:graphic>
          <a:graphicData uri="http://schemas.openxmlformats.org/drawingml/2006/table">
            <a:tbl>
              <a:tblPr/>
              <a:tblGrid>
                <a:gridCol w="2458720"/>
                <a:gridCol w="4246880"/>
                <a:gridCol w="447040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依賴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本課程的例子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只還原單一 namespace 會怎樣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連線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連 flarum / planka / peertube 的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回來了，對面的 DB 不在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共用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 HTTPRoute 掛在 default 的 dev-gateway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還原但 Accepted=False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label + NetworkPolicy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的 namespaceSelector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沒回來 → 流量被擋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Cluster-scoped 資源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StorageClass、ClusterRole、CRD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預設不會跟著 namespace 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與 Operator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 的 CephCluster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在但 Operator 沒跑，沒人處理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憑證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default/gateway-tls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在別的 namespace，不會跟著備份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91668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為每個應用寫一張依賴清單，還原演練時逐項確認；或把有依賴關係的 namespace 放進同一份備份。</a:t>
            </a:r>
            <a:endParaRPr lang="en-US" sz="135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Running，應用仍然不能用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311400"/>
        </p:xfrm>
        <a:graphic>
          <a:graphicData uri="http://schemas.openxmlformats.org/drawingml/2006/table">
            <a:tbl>
              <a:tblPr/>
              <a:tblGrid>
                <a:gridCol w="2011680"/>
                <a:gridCol w="4246880"/>
                <a:gridCol w="491744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發生在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'appdb.settings' doesn't exist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已安裝標記在 assets PVC、資料在 mysql PVC，時間點不同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planka / mysql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 authentication 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官方 image 只在首次 initdb 套用密碼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peertube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無法登入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密碼只在首次啟動印在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onlyoffice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飆高、功能異常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擋住對外連線，背景程式無限重試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中被殺掉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livenessProbe 的等待時間小於冷啟動時間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瀏覽器連不到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hostname 與新叢集的 DNS、Gateway IP 不一致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70331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的最後一層就是「應用功能正常」：登入、讀一筆舊資料、寫一筆新資料、從外部網址連得到。</a:t>
            </a:r>
            <a:endParaRPr lang="en-US" sz="135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5 · Backup 的陷阱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在 Kubernetes 中的角色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2640806" cy="1062990"/>
          </a:xfrm>
          <a:prstGeom prst="roundRect">
            <a:avLst>
              <a:gd name="adj" fmla="val 925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59855"/>
            <a:ext cx="24021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/ Velero / Controller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785615"/>
            <a:ext cx="24021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所有元件都經過 API Server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4056" y="1548135"/>
            <a:ext cx="304800" cy="177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40931" y="1221110"/>
            <a:ext cx="2640886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795236" y="1375420"/>
            <a:ext cx="24022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kube-apiserver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5236" y="1670050"/>
            <a:ext cx="240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唯一直接讀寫 etcd 的元件</a:t>
            </a:r>
            <a:endParaRPr lang="en-US" sz="12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3892" y="1548135"/>
            <a:ext cx="304800" cy="177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70767" y="1221110"/>
            <a:ext cx="2640886" cy="831850"/>
          </a:xfrm>
          <a:prstGeom prst="roundRect">
            <a:avLst>
              <a:gd name="adj" fmla="val 11832"/>
            </a:avLst>
          </a:prstGeom>
          <a:solidFill>
            <a:srgbClr val="DCEFF6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925072" y="1375420"/>
            <a:ext cx="24022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75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25072" y="1670050"/>
            <a:ext cx="240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強一致的 key/value 資料庫（Raft）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11175" y="24542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0880" y="263398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掛了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90880" y="294513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全部失敗、Controller 停擺；但已經在跑的容器不會馬上停。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287282" y="24542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466987" y="263398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服務還在，什麼都不能改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466987" y="294513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 control plane 災難的典型特徵。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63389" y="2454275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43094" y="263398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個成員容忍 1 個故障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43094" y="294513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需要多數 = 2 票；2 個同時掛掉就失去 quorum。</a:t>
            </a:r>
            <a:endParaRPr lang="en-US" sz="1300" dirty="0"/>
          </a:p>
        </p:txBody>
      </p:sp>
      <p:pic>
        <p:nvPicPr>
          <p:cNvPr id="24" name="Image 3" descr="AIC AIoT Cloud">    </p:cNvPr>
          <p:cNvPicPr>
            <a:picLocks noChangeAspect="1"/>
          </p:cNvPicPr>
          <p:nvPr/>
        </p:nvPicPr>
        <p:blipFill>
          <a:blip r:embed="rId4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 etcd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641600"/>
        </p:xfrm>
        <a:graphic>
          <a:graphicData uri="http://schemas.openxmlformats.org/drawingml/2006/table">
            <a:tbl>
              <a:tblPr/>
              <a:tblGrid>
                <a:gridCol w="2011680"/>
                <a:gridCol w="4246880"/>
                <a:gridCol w="491744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對備份與還原的意義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stacked：k8s01～03 各跑一個 static Pod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還原時 3 台都要處理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3.6.6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用同版本的 etcdctl / etcdutl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資料目錄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/var/lib/etcd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還原會產生新的資料目錄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/etc/kubernetes/pki/etcd/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連線要 mTLS；憑證不在 snapshot 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Pod manifest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/etc/kubernetes/manifests/etcd.yaml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移走 manifest 就停止 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加密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encryption-config.yaml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裡是密文，金鑰必須另外備份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kube-vip 10.90.1.80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還原期間 API 不通，VIP 會漂移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保存位置與備份頻率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102370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存放位置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442740"/>
          <a:ext cx="5486400" cy="16510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control-plane 本機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節點壞了一起沒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叢集內的 PVC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要叢集活著才能讀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 S3：etcd-backups/&lt;node&gt;/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再複製到異地或離線媒體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防勒索、防機房災難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197600" y="1102370"/>
            <a:ext cx="5650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頻率由 RPO 決定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0" y="1442740"/>
          <a:ext cx="5486400" cy="1320800"/>
        </p:xfrm>
        <a:graphic>
          <a:graphicData uri="http://schemas.openxmlformats.org/drawingml/2006/table">
            <a:tbl>
              <a:tblPr/>
              <a:tblGrid>
                <a:gridCol w="2414016"/>
                <a:gridCol w="3072384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叢集性質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頻率與保留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設定很少變動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每日，保留 30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經常部署的共用叢集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6 小時～每日，重大變更前手動拍一次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 完全管理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每日，保留 14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08000" y="338331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510310"/>
            <a:ext cx="254000" cy="254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66800" y="3513485"/>
            <a:ext cx="816254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監控「最新一份備份的時間」比保留天數更重要：上傳一直失敗、清理一直成功，最後一份好的也會被刪掉。</a:t>
            </a:r>
            <a:endParaRPr lang="en-US" sz="1300" dirty="0"/>
          </a:p>
        </p:txBody>
      </p:sp>
      <p:pic>
        <p:nvPicPr>
          <p:cNvPr id="11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講師操作：啟用並驗證 etcd 備份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11176000" cy="2529840"/>
          </a:xfrm>
          <a:prstGeom prst="roundRect">
            <a:avLst>
              <a:gd name="adj" fmla="val 4016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確認 yaml 與線上一致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--dry-run=server -f dr/06-etcd-strategy/manifest/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1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手動觸發一次（不用改 suspend）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etcd-backup create job --from=cronjob/etcd-backup-k8s01 etcd-backup-test-01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看 etcd-snapshot、etcd-snapshot-status、upload 三個容器的 log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確認真的在叢集外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--endpoint-url http://10.90.1.125:8333 s3 ls s3://etcd-backups/k8s01/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9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5. 驗證 snapshot 能用（不碰線上 etcd）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etcdutl snapshot restore ./snap.db --data-dir /tmp/etcd-verify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8000" y="391160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5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4038600"/>
            <a:ext cx="254000" cy="254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66800" y="4041775"/>
            <a:ext cx="753972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這些步驟會改變線上狀態（寫入 S3）。解除 suspend 讓它每天自動跑，由講師在課堂上確認後再做。</a:t>
            </a:r>
            <a:endParaRPr lang="en-US" sz="1300" dirty="0"/>
          </a:p>
        </p:txBody>
      </p:sp>
      <p:pic>
        <p:nvPicPr>
          <p:cNvPr id="17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6 · etcd 備份策略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情境與範圍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5727700" cy="2858770"/>
          </a:xfrm>
          <a:prstGeom prst="roundRect">
            <a:avLst>
              <a:gd name="adj" fmla="val 4442"/>
            </a:avLst>
          </a:prstGeom>
          <a:solidFill>
            <a:srgbClr val="12517C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56370"/>
            <a:ext cx="53762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684040"/>
            <a:ext cx="53762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 control-plane 的 etcd 資料同時損壞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2000" y="2065040"/>
            <a:ext cx="53762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失去 quorum，API Server 無法運作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2000" y="2446040"/>
            <a:ext cx="537629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目標：用單元 6 的 snapshot 與 control-plane 檔案，把叢集重建回 snapshot 時間點。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67475" y="1105545"/>
            <a:ext cx="52133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7180" y="1285230"/>
            <a:ext cx="49995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不是這個單元要處理的：只壞 1 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47180" y="1596380"/>
            <a:ext cx="49995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其餘 2 台還有 quorum，member remove + kubeadm join 替換成員即可。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67475" y="2404765"/>
            <a:ext cx="52133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47180" y="2584450"/>
            <a:ext cx="49995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不是這個單元要處理的：只壞一個應用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47180" y="2895600"/>
            <a:ext cx="499955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的 Velero。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64300" y="3453160"/>
            <a:ext cx="52197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42100" y="3580160"/>
            <a:ext cx="254000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23100" y="3583335"/>
            <a:ext cx="341119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只在 lab 叢集練習：例如單台 kubeadm VM。</a:t>
            </a:r>
            <a:endParaRPr lang="en-US" sz="1300" dirty="0"/>
          </a:p>
        </p:txBody>
      </p:sp>
      <p:pic>
        <p:nvPicPr>
          <p:cNvPr id="18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還原前的 12 項安全確認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8000" y="11963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5200" y="11963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真的需要還原嗎？只壞 1 台就替換成員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8000" y="159067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68151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5200" y="168151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取得核准，通知所有租戶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8000" y="207580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8000" y="216664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5200" y="216664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選定損壞前的最後一份 snapshot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8000" y="25609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200" y="265177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台用同一個檔案（比對 sha256）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304611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80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5200" y="313690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etcdutl 版本 = 叢集 etcd 版本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35312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8000" y="36220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65200" y="36220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encryption-config.yaml 與 snapshot 同一時期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484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48400" y="11963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705600" y="11963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/etc/kubernetes/pki 完整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48400" y="159067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48400" y="168151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705600" y="168151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保留損壞的資料目錄：mv，不要 rm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48400" y="207580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48400" y="216664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705600" y="216664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有節點 console 或 BMC 存取權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248400" y="25609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48400" y="265177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705600" y="265177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規劃還原後的 PV 對帳與 GitOps 同步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48400" y="304611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48400" y="313690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6705600" y="313690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暫停 CI/CD、Fleet、Velero Schedule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248400" y="35312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48400" y="3622030"/>
            <a:ext cx="355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6705600" y="3622030"/>
            <a:ext cx="512775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兩人作業：一人執行、一人對照</a:t>
            </a:r>
            <a:endParaRPr lang="en-US" sz="1250" dirty="0"/>
          </a:p>
        </p:txBody>
      </p:sp>
      <p:pic>
        <p:nvPicPr>
          <p:cNvPr id="40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還原後的驗證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1175" y="1105545"/>
            <a:ext cx="5505450" cy="1786890"/>
          </a:xfrm>
          <a:prstGeom prst="roundRect">
            <a:avLst>
              <a:gd name="adj" fmla="val 55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28523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0880" y="1562100"/>
            <a:ext cx="514604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7" name="Text 4"/>
          <p:cNvSpPr/>
          <p:nvPr/>
        </p:nvSpPr>
        <p:spPr>
          <a:xfrm>
            <a:off x="919480" y="176530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--raw='/readyz?verbose' | tail -5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9480" y="200407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nodes -o wide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5375" y="1105545"/>
            <a:ext cx="5505450" cy="1786890"/>
          </a:xfrm>
          <a:prstGeom prst="roundRect">
            <a:avLst>
              <a:gd name="adj" fmla="val 550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28523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解密（最容易忽略）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1562100"/>
            <a:ext cx="514604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76530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dr-demo get secret postgres-secret \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00407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-o jsonpath='{.data.POSTGRES_USER}' | base64 -d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48414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 failed to decrypt → 金鑰與 snapshot 不符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1175" y="3051175"/>
            <a:ext cx="5505450" cy="1548130"/>
          </a:xfrm>
          <a:prstGeom prst="roundRect">
            <a:avLst>
              <a:gd name="adj" fmla="val 635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880" y="32309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時間點正確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880" y="3507730"/>
            <a:ext cx="514604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18" name="Text 15"/>
          <p:cNvSpPr/>
          <p:nvPr/>
        </p:nvSpPr>
        <p:spPr>
          <a:xfrm>
            <a:off x="919480" y="371093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get ns after-snapshot    # 應該 NotFound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9480" y="394970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./dr/script/baseline.sh ./tmp/after-etcd-restore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5375" y="3051175"/>
            <a:ext cx="5505450" cy="1548130"/>
          </a:xfrm>
          <a:prstGeom prst="roundRect">
            <a:avLst>
              <a:gd name="adj" fmla="val 635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32309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55080" y="3507730"/>
            <a:ext cx="5146040" cy="619760"/>
          </a:xfrm>
          <a:prstGeom prst="roundRect">
            <a:avLst>
              <a:gd name="adj" fmla="val 16393"/>
            </a:avLst>
          </a:prstGeom>
          <a:solidFill>
            <a:srgbClr val="0F2F47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3710930"/>
            <a:ext cx="48295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./dr/script/check-data.sh dr-demo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55080" y="419100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還原不會動到 PV 資料：資源回到過去，資料停在現在。</a:t>
            </a:r>
            <a:endParaRPr lang="en-US" sz="1200" dirty="0"/>
          </a:p>
        </p:txBody>
      </p:sp>
      <p:pic>
        <p:nvPicPr>
          <p:cNvPr id="25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還原後的副作用與清理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94560"/>
        </p:xfrm>
        <a:graphic>
          <a:graphicData uri="http://schemas.openxmlformats.org/drawingml/2006/table">
            <a:tbl>
              <a:tblPr/>
              <a:tblGrid>
                <a:gridCol w="2905760"/>
                <a:gridCol w="4023360"/>
                <a:gridCol w="424688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副作用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孤兒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之後建立的 PVC，Ceph 有 image、etcd 沒有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比對 rbd ls 與 kubectl get pv，確認後清理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斷掉的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之後刪除的 PVC，etcd 又出現 PV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刪除 PVC/PV，由應用或 Velero 補回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版本回退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之後的部署消失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 重新同步，或重跑 CI/CD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備份清單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之後的 Backup CR 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會從 bucket 自動同步回來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Lease / leader election 混亂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各元件的 lease 回到過去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通常數分鐘內恢復；必要時重啟元件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8651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事後檢討：損壞原因、實際 RTO、snapshot 與事件的時間差（實際 RPO）、runbook 哪裡不清楚，然後更新文件。</a:t>
            </a:r>
            <a:endParaRPr lang="en-US" sz="135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7 · etcd 還原（runbook）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保險箱：災難前就必須存在叢集外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5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000" y="1208435"/>
            <a:ext cx="215900" cy="215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900" y="119633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velero-repo-credentials（kopia repository 密碼）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08000" y="152846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000" y="1631305"/>
            <a:ext cx="215900" cy="215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9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S3 credentials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508000" y="19513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1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8000" y="2054225"/>
            <a:ext cx="215900" cy="215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900" y="204217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備份的 S3 credentials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08000" y="237425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4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8000" y="2477145"/>
            <a:ext cx="215900" cy="2159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0900" y="246509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憑證與私鑰、Root CA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248400" y="110554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17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48400" y="1208435"/>
            <a:ext cx="215900" cy="215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91300" y="119633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應用的外部相依資訊：外部 DB、SMTP、OAuth secret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6248400" y="152846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0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48400" y="1631305"/>
            <a:ext cx="215900" cy="2159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91300" y="161925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 repo：manifest、Helm values、install-velero.sh</a:t>
            </a:r>
            <a:endParaRPr lang="en-US" sz="1350" dirty="0"/>
          </a:p>
        </p:txBody>
      </p:sp>
      <p:sp>
        <p:nvSpPr>
          <p:cNvPr id="22" name="Shape 13"/>
          <p:cNvSpPr/>
          <p:nvPr/>
        </p:nvSpPr>
        <p:spPr>
          <a:xfrm>
            <a:off x="6248400" y="195138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3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48400" y="2054225"/>
            <a:ext cx="215900" cy="2159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91300" y="204217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最新的 baseline.sh 輸出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6248400" y="2374255"/>
            <a:ext cx="5435600" cy="0"/>
          </a:xfrm>
          <a:prstGeom prst="line">
            <a:avLst/>
          </a:prstGeom>
          <a:noFill/>
          <a:ln w="6350">
            <a:solidFill>
              <a:srgbClr val="D5DEE8"/>
            </a:solidFill>
            <a:prstDash val="solid"/>
          </a:ln>
        </p:spPr>
      </p:sp>
      <p:pic>
        <p:nvPicPr>
          <p:cNvPr id="26" name="Image 8" descr="CheckCircl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48400" y="2477145"/>
            <a:ext cx="215900" cy="2159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591300" y="2465090"/>
            <a:ext cx="524548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這份 runbook 的紙本或離線版本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508000" y="307340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練習：你們公司現在有幾項是真的存在叢集外的？</a:t>
            </a:r>
            <a:endParaRPr lang="en-US" sz="1500" dirty="0"/>
          </a:p>
        </p:txBody>
      </p:sp>
      <p:pic>
        <p:nvPicPr>
          <p:cNvPr id="29" name="Image 9" descr="AIC AIoT Cloud">    </p:cNvPr>
          <p:cNvPicPr>
            <a:picLocks noChangeAspect="1"/>
          </p:cNvPicPr>
          <p:nvPr/>
        </p:nvPicPr>
        <p:blipFill>
          <a:blip r:embed="rId10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重新連接 Backup Storage：順序很重要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6223000" cy="2844800"/>
          </a:xfrm>
          <a:prstGeom prst="roundRect">
            <a:avLst>
              <a:gd name="adj" fmla="val 3571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先放回「舊的」repo 密碼（從 DR 保險箱取出）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4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create namespace velero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11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velero-repo-credentials.yaml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4723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 安裝 Velero，指向同一個 bucket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8600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dr/02-backup-storage/velero &amp;&amp; ./install-velero.sh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55017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先把 BSL 設成唯讀，避免誤刪或誤寫舊備份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8894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velero patch bsl default --type merge \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302771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-p '{"spec":{"accessMode":"ReadOnly"}}'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9183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確認舊備份同步出現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530600"/>
            <a:ext cx="59387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get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59600" y="1102370"/>
            <a:ext cx="4724400" cy="996950"/>
          </a:xfrm>
          <a:prstGeom prst="roundRect">
            <a:avLst>
              <a:gd name="adj" fmla="val 7643"/>
            </a:avLst>
          </a:prstGeom>
          <a:solidFill>
            <a:srgbClr val="FBEEDC"/>
          </a:solidFill>
          <a:ln/>
        </p:spPr>
      </p:sp>
      <p:pic>
        <p:nvPicPr>
          <p:cNvPr id="16" name="Image 1" descr="Warning">    </p:cNvPr>
          <p:cNvPicPr>
            <a:picLocks noChangeAspect="1"/>
          </p:cNvPicPr>
          <p:nvPr/>
        </p:nvPicPr>
        <p:blipFill>
          <a:blip r:embed="rId2"/>
          <a:srcRect l="0" r="0" t="-259" b="-259"/>
          <a:stretch/>
        </p:blipFill>
        <p:spPr>
          <a:xfrm>
            <a:off x="7137400" y="1473845"/>
            <a:ext cx="107394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1794" y="1229370"/>
            <a:ext cx="425843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沒有先放 velero-repo-credentials，Velero 會產生一組新的密碼：資源還原成功、PV 資料失敗，又是一個「看起來大致成功」的陷阱。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62775" y="2229495"/>
            <a:ext cx="4718050" cy="918210"/>
          </a:xfrm>
          <a:prstGeom prst="roundRect">
            <a:avLst>
              <a:gd name="adj" fmla="val 1071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42480" y="2409180"/>
            <a:ext cx="44893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全部還原完成後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142480" y="2720330"/>
            <a:ext cx="44893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BSL 改回 ReadWrite。唯讀期間 TTL 清理也會暫停。</a:t>
            </a:r>
            <a:endParaRPr lang="en-US" sz="1300" dirty="0"/>
          </a:p>
        </p:txBody>
      </p:sp>
      <p:pic>
        <p:nvPicPr>
          <p:cNvPr id="21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分批還原應用，再逐層驗證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717675"/>
        </p:xfrm>
        <a:graphic>
          <a:graphicData uri="http://schemas.openxmlformats.org/drawingml/2006/table">
            <a:tbl>
              <a:tblPr/>
              <a:tblGrid>
                <a:gridCol w="1341120"/>
                <a:gridCol w="6035040"/>
                <a:gridCol w="379984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理由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drawio、filebrowser、flarum、planka、onlyoffice、peertube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各自獨立：DB 與 App 在同一個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連第 1 批的 DB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課程 lab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永不還原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kube-system、velero、rook-ceph、cattle-*、etcd-backup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由各自的安裝程序重建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109615"/>
            <a:ext cx="11176000" cy="858520"/>
          </a:xfrm>
          <a:prstGeom prst="roundRect">
            <a:avLst>
              <a:gd name="adj" fmla="val 11834"/>
            </a:avLst>
          </a:prstGeom>
          <a:solidFill>
            <a:srgbClr val="0F2F47"/>
          </a:solidFill>
          <a:ln/>
        </p:spPr>
      </p:sp>
      <p:sp>
        <p:nvSpPr>
          <p:cNvPr id="6" name="Text 2"/>
          <p:cNvSpPr/>
          <p:nvPr/>
        </p:nvSpPr>
        <p:spPr>
          <a:xfrm>
            <a:off x="736600" y="331281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./dr/08-cluster-rebuild/script/restore-apps-in-order.sh daily-full-backup-20260923010055  # 先 dry-run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6600" y="3551585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velero get datadownloads | grep -v Completed   # 每批做完檢查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8000" y="424750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最後記錄實際 RTO（宣告災難到業務驗收通過）與實際 RPO（最後一份可用備份到災難的時間差）。</a:t>
            </a:r>
            <a:endParaRPr lang="en-US" sz="1350" dirty="0"/>
          </a:p>
        </p:txBody>
      </p:sp>
      <p:pic>
        <p:nvPicPr>
          <p:cNvPr id="9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為什麼不用 etcd snapshot 還原整座叢集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141220"/>
        </p:xfrm>
        <a:graphic>
          <a:graphicData uri="http://schemas.openxmlformats.org/drawingml/2006/table">
            <a:tbl>
              <a:tblPr/>
              <a:tblGrid>
                <a:gridCol w="2682240"/>
                <a:gridCol w="849376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裡是舊節點；新節點名稱或 IP 不同就對不上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裡的 PV 指向舊 Ceph 的 image ID，新 Ceph 上不存在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必須連 PKI 一起沿用，否則所有 token 與 kubeconfig 失效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加密金鑰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必須沿用舊的 encryption-config.yaml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基礎元件狀態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Cilium、Rook 的 CR 描述的是舊環境：舊 OSD、舊 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3313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 適合「同一批機器，只是 etcd 壞了」。叢集整個不見時，乾淨重建 + Velero 還原應用才是可預期、可重複的流程。</a:t>
            </a:r>
            <a:endParaRPr lang="en-US" sz="14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8 · 叢集重建（runbook）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Schedule：線上現況與建議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22525"/>
        </p:xfrm>
        <a:graphic>
          <a:graphicData uri="http://schemas.openxmlformats.org/drawingml/2006/table">
            <a:tbl>
              <a:tblPr/>
              <a:tblGrid>
                <a:gridCol w="2458720"/>
                <a:gridCol w="2458720"/>
                <a:gridCol w="3352800"/>
                <a:gridCol w="2905760"/>
              </a:tblGrid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欄位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 daily-full-backup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1 * * 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01:00 UTC（台灣 09:00）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52133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kube-system、kube-public、kube-node-lease、velero、rook-ceph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 velero 修正問題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excludedResources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VolumeSnapshot / Content、Event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還原沒有意義的暫時物件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snapshotMoveData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資料必須搬出叢集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useOwnerReferencesInBackup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會讓刪 Schedule 連帶刪備份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814465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941465"/>
            <a:ext cx="254000" cy="254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66800" y="3944640"/>
            <a:ext cx="1003672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本叢集裝了 Rancher Fleet：kubectl get schedules 拿到的是 Fleet 的空清單。一律寫 schedules.velero.io，或用 velero schedule get。</a:t>
            </a:r>
            <a:endParaRPr lang="en-US" sz="1300" dirty="0"/>
          </a:p>
        </p:txBody>
      </p:sp>
      <p:pic>
        <p:nvPicPr>
          <p:cNvPr id="8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與分級保留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717675"/>
        </p:xfrm>
        <a:graphic>
          <a:graphicData uri="http://schemas.openxmlformats.org/drawingml/2006/table">
            <a:tbl>
              <a:tblPr/>
              <a:tblGrid>
                <a:gridCol w="2905760"/>
                <a:gridCol w="1788160"/>
                <a:gridCol w="1564640"/>
                <a:gridCol w="491744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critical-6h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6 小時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關鍵應用，RPO 6 小時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daily-full-backup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全叢集，RPO 24 小時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weekly-full（練習題）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發現資料被慢慢改壞時回溯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monthly-archive（練習題）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稽核、法規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112790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29247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太短 + 問題太晚發現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60362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所有備份都已經包含錯誤資料。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3112790"/>
            <a:ext cx="3617436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292475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備份停了，TTL 照常刪舊備份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66987" y="3603625"/>
            <a:ext cx="335576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停得夠久，連最後一份好的也會被刪。監控「最新成功備份距今多久」。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468" y="3112790"/>
            <a:ext cx="3617357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174" y="329247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手動刪除用 velero backup delete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43174" y="360362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delete backup 只刪 CR，下次同步又會長回來。</a:t>
            </a:r>
            <a:endParaRPr lang="en-US" sz="1300" dirty="0"/>
          </a:p>
        </p:txBody>
      </p:sp>
      <p:pic>
        <p:nvPicPr>
          <p:cNvPr id="1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Test：唯一抓得到問題 2 的方法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1717675"/>
        </p:xfrm>
        <a:graphic>
          <a:graphicData uri="http://schemas.openxmlformats.org/drawingml/2006/table">
            <a:tbl>
              <a:tblPr/>
              <a:tblGrid>
                <a:gridCol w="3352800"/>
                <a:gridCol w="4470400"/>
                <a:gridCol w="1676400"/>
                <a:gridCol w="16764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能發現什麼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UI / velero backup get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Phase、errors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backup-check（每日）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沒產生、太舊、失敗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自動 Restore Test（每週）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還原流程、PV 資料、應用資料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 DR 演練（每季）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runbook、人員、權限、RTO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112790"/>
            <a:ext cx="3617357" cy="1149350"/>
          </a:xfrm>
          <a:prstGeom prst="roundRect">
            <a:avLst>
              <a:gd name="adj" fmla="val 856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292475"/>
            <a:ext cx="3355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固定目的地 + namespace 內的 Role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90880" y="358710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dr-restore-test 事先建立，Job 不需要叢集層級權限。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87282" y="3112790"/>
            <a:ext cx="3617357" cy="1149350"/>
          </a:xfrm>
          <a:prstGeom prst="roundRect">
            <a:avLst>
              <a:gd name="adj" fmla="val 856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66987" y="3292475"/>
            <a:ext cx="3355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只刪自己還原的東西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466987" y="3587105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velero.io/restore-name label 清除，不會誤刪。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63389" y="3112790"/>
            <a:ext cx="3617357" cy="1149350"/>
          </a:xfrm>
          <a:prstGeom prst="roundRect">
            <a:avLst>
              <a:gd name="adj" fmla="val 856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43094" y="3292475"/>
            <a:ext cx="3355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驗證資料，不是驗證狀態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43094" y="3587105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直接重用單元 4 的 check-data.sh。</a:t>
            </a:r>
            <a:endParaRPr lang="en-US" sz="1300" dirty="0"/>
          </a:p>
        </p:txBody>
      </p:sp>
      <p:pic>
        <p:nvPicPr>
          <p:cNvPr id="14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 DR Policy 至少要寫下這些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102370"/>
          <a:ext cx="11176000" cy="2404745"/>
        </p:xfrm>
        <a:graphic>
          <a:graphicData uri="http://schemas.openxmlformats.org/drawingml/2006/table">
            <a:tbl>
              <a:tblPr/>
              <a:tblGrid>
                <a:gridCol w="2235200"/>
                <a:gridCol w="8940800"/>
              </a:tblGrid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範例（依應用分級）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應用分級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營收或對外、Tier 2 內部重要、Tier 3 可重建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 / RTO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1：1h / 4h；Tier 2：24h / 1 天；Tier 3：7 天 / 盡力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1：Velero 每小時 + 資料庫原生備份；Tier 2：每日 Velero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保存與監控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 S3 + 異地副本；每日 backup-check；未收到通知的處理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每週自動 Restore Test；每季人工演練；紀錄存查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角色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誰宣告災難、誰執行、誰驗收、誰對外溝通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79665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/ RTO 不是技術人員自己決定的數字，而是業務方根據代價決定、IT 用演練證明。沒有演練過的 RTO 只是一個願望。</a:t>
            </a:r>
            <a:endParaRPr lang="en-US" sz="1400" dirty="0"/>
          </a:p>
        </p:txBody>
      </p:sp>
      <p:pic>
        <p:nvPicPr>
          <p:cNvPr id="6" name="Image 1" descr="AIC AIoT Cloud">    </p:cNvPr>
          <p:cNvPicPr>
            <a:picLocks noChangeAspect="1"/>
          </p:cNvPicPr>
          <p:nvPr/>
        </p:nvPicPr>
        <p:blipFill>
          <a:blip r:embed="rId2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2048" r="-2048" t="0" b="0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講師操作：啟用整套機制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8000" y="1102370"/>
            <a:ext cx="11176000" cy="3007360"/>
          </a:xfrm>
          <a:prstGeom prst="roundRect">
            <a:avLst>
              <a:gd name="adj" fmla="val 3378"/>
            </a:avLst>
          </a:prstGeom>
          <a:solidFill>
            <a:srgbClr val="0F2F47"/>
          </a:solidFill>
          <a:ln/>
        </p:spPr>
      </p:sp>
      <p:sp>
        <p:nvSpPr>
          <p:cNvPr id="5" name="Text 2"/>
          <p:cNvSpPr/>
          <p:nvPr/>
        </p:nvSpPr>
        <p:spPr>
          <a:xfrm>
            <a:off x="736600" y="13055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dr/09-daily-backup-verification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6600" y="15443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 修正每日排程（排除 velero 等 namespace）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600" y="17831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velero/schedule-daily-full.yaml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6600" y="20218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velero backup create --from-schedule daily-full-backup --wait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600" y="22606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2.（可選）關鍵應用高頻排程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6600" y="24993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velero/schedule-critical-6h.yaml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600" y="273814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 檢查與還原測試（.example 會被略過）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600" y="297691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apply -f manifest/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" y="321563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dr-ops create secret generic backup-notify --from-literal=WEBHOOK_URL='https://...'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600" y="345440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 立刻各跑一次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600" y="3693170"/>
            <a:ext cx="11040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-n dr-ops create job --from=cronjob/restore-test restore-test-manual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8000" y="438914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FBEEDC"/>
          </a:solidFill>
          <a:ln/>
        </p:spPr>
      </p:sp>
      <p:pic>
        <p:nvPicPr>
          <p:cNvPr id="17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4516140"/>
            <a:ext cx="254000" cy="25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6800" y="4519315"/>
            <a:ext cx="934400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3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這些步驟會修改線上排程並建立 CronJob，請講師確認後再操作。修正排程之後，已經存在的每日備份仍然救不回 PV 資料。</a:t>
            </a:r>
            <a:endParaRPr lang="en-US" sz="1300" dirty="0"/>
          </a:p>
        </p:txBody>
      </p:sp>
      <p:pic>
        <p:nvPicPr>
          <p:cNvPr id="19" name="Image 2" descr="AIC AIoT Cloud">    </p:cNvPr>
          <p:cNvPicPr>
            <a:picLocks noChangeAspect="1"/>
          </p:cNvPicPr>
          <p:nvPr/>
        </p:nvPicPr>
        <p:blipFill>
          <a:blip r:embed="rId3"/>
          <a:srcRect l="0" r="0"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 · 單元 9 · 每日備份與驗證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備份、復原與災難復原演練</dc:title>
  <dc:subject>PptxGenJS Presentation</dc:subject>
  <dc:creator>PptxGenJS</dc:creator>
  <cp:lastModifiedBy>PptxGenJS</cp:lastModifiedBy>
  <cp:revision>1</cp:revision>
  <dcterms:created xsi:type="dcterms:W3CDTF">2026-09-24T10:08:14Z</dcterms:created>
  <dcterms:modified xsi:type="dcterms:W3CDTF">2026-09-24T10:08:14Z</dcterms:modified>
</cp:coreProperties>
</file>