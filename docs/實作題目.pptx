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0" r:id="rId1"/>
    <p:sldMasterId id="2147483662" r:id="rId2"/>
    <p:sldMasterId id="2147483672" r:id="rId3"/>
  </p:sldMasterIdLst>
  <p:notesMasterIdLst>
    <p:notesMasterId r:id="rId71"/>
  </p:notesMasterIdLst>
  <p:sldIdLst>
    <p:sldId id="332" r:id="rId4"/>
    <p:sldId id="387" r:id="rId5"/>
    <p:sldId id="388" r:id="rId6"/>
    <p:sldId id="389" r:id="rId7"/>
    <p:sldId id="390" r:id="rId8"/>
    <p:sldId id="392" r:id="rId9"/>
    <p:sldId id="393" r:id="rId10"/>
    <p:sldId id="394" r:id="rId11"/>
    <p:sldId id="395" r:id="rId12"/>
    <p:sldId id="396" r:id="rId13"/>
    <p:sldId id="397" r:id="rId14"/>
    <p:sldId id="399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3" r:id="rId25"/>
    <p:sldId id="414" r:id="rId26"/>
    <p:sldId id="415" r:id="rId27"/>
    <p:sldId id="416" r:id="rId28"/>
    <p:sldId id="417" r:id="rId29"/>
    <p:sldId id="418" r:id="rId30"/>
    <p:sldId id="419" r:id="rId31"/>
    <p:sldId id="420" r:id="rId32"/>
    <p:sldId id="421" r:id="rId33"/>
    <p:sldId id="424" r:id="rId34"/>
    <p:sldId id="425" r:id="rId35"/>
    <p:sldId id="426" r:id="rId36"/>
    <p:sldId id="427" r:id="rId37"/>
    <p:sldId id="428" r:id="rId38"/>
    <p:sldId id="429" r:id="rId39"/>
    <p:sldId id="430" r:id="rId40"/>
    <p:sldId id="431" r:id="rId41"/>
    <p:sldId id="432" r:id="rId42"/>
    <p:sldId id="433" r:id="rId43"/>
    <p:sldId id="436" r:id="rId44"/>
    <p:sldId id="437" r:id="rId45"/>
    <p:sldId id="438" r:id="rId46"/>
    <p:sldId id="439" r:id="rId47"/>
    <p:sldId id="440" r:id="rId48"/>
    <p:sldId id="441" r:id="rId49"/>
    <p:sldId id="442" r:id="rId50"/>
    <p:sldId id="443" r:id="rId51"/>
    <p:sldId id="446" r:id="rId52"/>
    <p:sldId id="447" r:id="rId53"/>
    <p:sldId id="448" r:id="rId54"/>
    <p:sldId id="449" r:id="rId55"/>
    <p:sldId id="450" r:id="rId56"/>
    <p:sldId id="451" r:id="rId57"/>
    <p:sldId id="452" r:id="rId58"/>
    <p:sldId id="453" r:id="rId59"/>
    <p:sldId id="454" r:id="rId60"/>
    <p:sldId id="455" r:id="rId61"/>
    <p:sldId id="456" r:id="rId62"/>
    <p:sldId id="459" r:id="rId63"/>
    <p:sldId id="460" r:id="rId64"/>
    <p:sldId id="461" r:id="rId65"/>
    <p:sldId id="462" r:id="rId66"/>
    <p:sldId id="463" r:id="rId67"/>
    <p:sldId id="464" r:id="rId68"/>
    <p:sldId id="465" r:id="rId69"/>
    <p:sldId id="466" r:id="rId70"/>
  </p:sldIdLst>
  <p:sldSz cx="12192000" cy="6858000"/>
  <p:notesSz cx="6858000" cy="12192000"/>
  <p:embeddedFontLst>
    <p:embeddedFont>
      <p:font typeface="微軟正黑體" panose="020B0604030504040204" pitchFamily="34" charset="-120"/>
      <p:regular r:id="rId72"/>
      <p:bold r:id="rId73"/>
    </p:embeddedFont>
    <p:embeddedFont>
      <p:font typeface="Calibri" panose="020F0502020204030204" pitchFamily="34" charset="0"/>
      <p:regular r:id="rId74"/>
      <p:bold r:id="rId75"/>
      <p:italic r:id="rId76"/>
      <p:boldItalic r:id="rId77"/>
    </p:embeddedFont>
    <p:embeddedFont>
      <p:font typeface="Calibri Light" panose="020F0302020204030204" pitchFamily="34" charset="0"/>
      <p:regular r:id="rId78"/>
      <p:italic r:id="rId79"/>
    </p:embeddedFont>
    <p:embeddedFont>
      <p:font typeface="Consolas" panose="020B0609020204030204" pitchFamily="49" charset="0"/>
      <p:regular r:id="rId80"/>
      <p:bold r:id="rId81"/>
      <p:italic r:id="rId82"/>
      <p:boldItalic r:id="rId83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6" roundtripDataSignature="AMtx7mjZuBJnmcXMojO/OAXysXXpjOBN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85B"/>
    <a:srgbClr val="EA9058"/>
    <a:srgbClr val="12517C"/>
    <a:srgbClr val="767171"/>
    <a:srgbClr val="1B6F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E94655B-3E1F-45FA-A986-AC50302866E6}">
  <a:tblStyle styleId="{FE94655B-3E1F-45FA-A986-AC50302866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920" autoAdjust="0"/>
  </p:normalViewPr>
  <p:slideViewPr>
    <p:cSldViewPr snapToGrid="0">
      <p:cViewPr varScale="1">
        <p:scale>
          <a:sx n="112" d="100"/>
          <a:sy n="112" d="100"/>
        </p:scale>
        <p:origin x="7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9" Type="http://schemas.openxmlformats.org/officeDocument/2006/relationships/theme" Target="theme/theme1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2.xml"/><Relationship Id="rId90" Type="http://schemas.openxmlformats.org/officeDocument/2006/relationships/tableStyles" Target="tableStyle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font" Target="fonts/font6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customschemas.google.com/relationships/presentationmetadata" Target="meta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font" Target="fonts/font5.fntdata"/><Relationship Id="rId7" Type="http://schemas.openxmlformats.org/officeDocument/2006/relationships/slide" Target="slides/slide4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presProps" Target="presProps.xml"/><Relationship Id="rId61" Type="http://schemas.openxmlformats.org/officeDocument/2006/relationships/slide" Target="slides/slide58.xml"/><Relationship Id="rId8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歡迎來到實戰部署工作坊。這門課不用</a:t>
            </a:r>
            <a:r>
              <a:rPr lang="en-US" altLang="zh-TW" dirty="0"/>
              <a:t> kind 或 </a:t>
            </a:r>
            <a:r>
              <a:rPr lang="en-US" altLang="zh-TW" dirty="0" err="1"/>
              <a:t>minikube，而是把七個真實可用的開源應用部署到一座</a:t>
            </a:r>
            <a:r>
              <a:rPr lang="en-US" altLang="zh-TW" dirty="0"/>
              <a:t> Rancher </a:t>
            </a:r>
            <a:r>
              <a:rPr lang="en-US" altLang="zh-TW" dirty="0" err="1"/>
              <a:t>代管的正式叢集上。每一份</a:t>
            </a:r>
            <a:r>
              <a:rPr lang="en-US" altLang="zh-TW" dirty="0"/>
              <a:t> manifest </a:t>
            </a:r>
            <a:r>
              <a:rPr lang="en-US" altLang="zh-TW" dirty="0" err="1"/>
              <a:t>都真的部署、驗證過，課堂上看到的坑也都是實際踩過的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3551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354c58d55cfae68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8" name="Google Shape;528;h354c58d55cfae689_0_6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每個產品的 exercises 目錄都有這兩種題型，正解就是上一層的 manifest 目錄。填空題訓練讀懂 yaml 各欄位之間的關聯；除錯題訓練維運時的排錯流程。除錯題每個檔案最多一個錯，也有檔案完全沒錯。只給症狀方向，不直接說錯在哪一行。</a:t>
            </a:r>
            <a:endParaRPr/>
          </a:p>
        </p:txBody>
      </p:sp>
      <p:sp>
        <p:nvSpPr>
          <p:cNvPr id="529" name="Google Shape;529;h354c58d55cfae689_0_6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386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354c58d55cfae689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5" name="Google Shape;545;h354c58d55cfae689_0_6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把七站遇到的錯誤整理成一張查表。重點是建立習慣：看到症狀先查對的地方，而不是亂改 yaml。describe pod 的 Events 能解決一半以上的問題；Endpoints 是空的幾乎都是 label 對不上；CrashLoopBackOff 要看上一次容器的 log。</a:t>
            </a:r>
            <a:endParaRPr/>
          </a:p>
        </p:txBody>
      </p:sp>
      <p:sp>
        <p:nvSpPr>
          <p:cNvPr id="546" name="Google Shape;546;h354c58d55cfae689_0_6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354c58d55cfae689_0_6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3" name="Google Shape;553;h354c58d55cfae689_0_6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這四個條件就是本教材驗證每一份 manifest 的標準，學員的作業也用同一套標準。Pod Running 不代表服務可用，一定要一路驗到 curl 拿到應用本身的內容。清除時每個產品刪掉自己的 namespace 即可；課程全部結束再刪 dev-gateway。</a:t>
            </a:r>
            <a:endParaRPr/>
          </a:p>
        </p:txBody>
      </p:sp>
      <p:sp>
        <p:nvSpPr>
          <p:cNvPr id="554" name="Google Shape;554;h354c58d55cfae689_0_6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因為完全無狀態，是整套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 的第一個範例，用來介紹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ResourceQuota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LimitRange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/ Deployment / Service / Gateway API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HTTPRoute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HPA /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等基礎與進階概念，之後 其他產品（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flarum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…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）才會陸續疊加儲存、資料庫、跨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等更複雜 的主題。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42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97332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090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跟前一個範例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draw.io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（純無狀態）不同，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filebrowser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是整套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K8s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教學課程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第一個「有狀態」的產品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，用來介紹 </a:t>
            </a:r>
            <a:r>
              <a:rPr lang="en-US" altLang="zh-TW" dirty="0" err="1"/>
              <a:t>PersistentVolumeClaim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dirty="0" err="1"/>
              <a:t>StorageClass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，特別是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RWO vs RWX 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該怎麼選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——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不是看應用程式種類，而是看「這份資料允不允許被多個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Pod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同時寫入」</a:t>
            </a:r>
            <a:endParaRPr lang="en-US" altLang="zh-TW" sz="1200" b="0" i="0" u="none" strike="noStrike" cap="none" spc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945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1003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6198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這三個坑都已經修在</a:t>
            </a:r>
            <a:r>
              <a:rPr lang="en-US" altLang="zh-TW" dirty="0"/>
              <a:t> manifest </a:t>
            </a:r>
            <a:r>
              <a:rPr lang="en-US" altLang="zh-TW" dirty="0" err="1"/>
              <a:t>裡，可以直接當課堂案例。第二個特別適合現場演示：先只套一個方向的</a:t>
            </a:r>
            <a:r>
              <a:rPr lang="en-US" altLang="zh-TW" dirty="0"/>
              <a:t> </a:t>
            </a:r>
            <a:r>
              <a:rPr lang="en-US" altLang="zh-TW" dirty="0" err="1"/>
              <a:t>NetworkPolicy，讓學員看到錯誤訊息，再帶著一起找出要補的第二條規則。OnlyOffice</a:t>
            </a:r>
            <a:r>
              <a:rPr lang="en-US" altLang="zh-TW" dirty="0"/>
              <a:t> </a:t>
            </a:r>
            <a:r>
              <a:rPr lang="en-US" altLang="zh-TW" dirty="0" err="1"/>
              <a:t>整合是雙向流量，不是只有</a:t>
            </a:r>
            <a:r>
              <a:rPr lang="en-US" altLang="zh-TW" dirty="0"/>
              <a:t> </a:t>
            </a:r>
            <a:r>
              <a:rPr lang="en-US" altLang="zh-TW" dirty="0" err="1"/>
              <a:t>filebrowser</a:t>
            </a:r>
            <a:r>
              <a:rPr lang="en-US" altLang="zh-TW" dirty="0"/>
              <a:t> 連 </a:t>
            </a:r>
            <a:r>
              <a:rPr lang="en-US" altLang="zh-TW" dirty="0" err="1"/>
              <a:t>onlyoffice。第三個坑跟</a:t>
            </a:r>
            <a:r>
              <a:rPr lang="en-US" altLang="zh-TW" dirty="0"/>
              <a:t> </a:t>
            </a:r>
            <a:r>
              <a:rPr lang="en-US" altLang="zh-TW" dirty="0" err="1"/>
              <a:t>onlyoffice</a:t>
            </a:r>
            <a:r>
              <a:rPr lang="en-US" altLang="zh-TW" dirty="0"/>
              <a:t> 的 PLUGINS_ENABLED </a:t>
            </a:r>
            <a:r>
              <a:rPr lang="en-US" altLang="zh-TW" dirty="0" err="1"/>
              <a:t>是同一類問題，後面會再遇到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1391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它把自己專用的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mysql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資料庫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併在同一個 </a:t>
            </a:r>
            <a:r>
              <a:rPr lang="en-US" altLang="zh-TW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裡一起管理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76340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6655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731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PostgreSQL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Planka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應用程式放在同一個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，只服務這一個 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60799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7883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759493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兩個產品都是</a:t>
            </a:r>
            <a:r>
              <a:rPr lang="en-US" altLang="zh-TW" dirty="0"/>
              <a:t> App </a:t>
            </a:r>
            <a:r>
              <a:rPr lang="en-US" altLang="zh-TW" dirty="0" err="1"/>
              <a:t>加專屬資料庫放在同一個</a:t>
            </a:r>
            <a:r>
              <a:rPr lang="en-US" altLang="zh-TW" dirty="0"/>
              <a:t> </a:t>
            </a:r>
            <a:r>
              <a:rPr lang="en-US" altLang="zh-TW" dirty="0" err="1"/>
              <a:t>namespace，NetworkPolicy</a:t>
            </a:r>
            <a:r>
              <a:rPr lang="en-US" altLang="zh-TW" dirty="0"/>
              <a:t> </a:t>
            </a:r>
            <a:r>
              <a:rPr lang="en-US" altLang="zh-TW" dirty="0" err="1"/>
              <a:t>也都是同</a:t>
            </a:r>
            <a:r>
              <a:rPr lang="en-US" altLang="zh-TW" dirty="0"/>
              <a:t> namespace 的 </a:t>
            </a:r>
            <a:r>
              <a:rPr lang="en-US" altLang="zh-TW" dirty="0" err="1"/>
              <a:t>podSelector</a:t>
            </a:r>
            <a:r>
              <a:rPr lang="en-US" altLang="zh-TW" dirty="0"/>
              <a:t> </a:t>
            </a:r>
            <a:r>
              <a:rPr lang="en-US" altLang="zh-TW" dirty="0" err="1"/>
              <a:t>寫法。差別在映像本身的設計。要帶出的觀念是：安全強化要不要做、能不能做，要看</a:t>
            </a:r>
            <a:r>
              <a:rPr lang="en-US" altLang="zh-TW" dirty="0"/>
              <a:t> image </a:t>
            </a:r>
            <a:r>
              <a:rPr lang="en-US" altLang="zh-TW" dirty="0" err="1"/>
              <a:t>實際怎麼設計，不能無腦套同一份模板</a:t>
            </a:r>
            <a:r>
              <a:rPr lang="en-US" altLang="zh-TW" dirty="0"/>
              <a:t>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094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目前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資源需求最重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的一個產品（官方建議至少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 CPU / 4GB RAM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）。重點不在應用邏輯本身，而在「資源緊繃的共用叢集， 該怎麼安排一個吃重的工作負載」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453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9934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719742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一次把前面所有產品分別學過的概念（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StatefulSet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Secret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PVC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ConfigMap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掛載腳本、跨元件 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NetworkPolicy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、節點排程）串在同一個 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namespace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裡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65814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78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2773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跟前面幾個「本身就是一個應用」的 產品不同，</a:t>
            </a:r>
            <a:r>
              <a:rPr lang="en-US" altLang="zh-TW" sz="1200" b="0" i="0" u="none" strike="noStrike" cap="none" spc="0" dirty="0" err="1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CloudBeaver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在這門課裡</a:t>
            </a:r>
            <a:r>
              <a:rPr lang="zh-TW" altLang="en-US" sz="1200" b="1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不屬於任何單一產品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，而是專門拿來集中查看</a:t>
            </a:r>
            <a:r>
              <a:rPr lang="en-US" altLang="zh-TW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zh-TW" altLang="en-US" sz="1200" b="0" i="0" u="none" strike="noStrike" cap="none" spc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驗證其他產品用到的資料庫內容的工具型產品。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0764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10595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5883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543920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544338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4757511"/>
            <a:ext cx="7599489" cy="112077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4988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8282111" cy="1853458"/>
          </a:xfrm>
        </p:spPr>
        <p:txBody>
          <a:bodyPr anchor="b">
            <a:normAutofit/>
          </a:bodyPr>
          <a:lstStyle>
            <a:lvl1pPr>
              <a:defRPr sz="4800" baseline="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8282570" cy="150812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  <a:lvl2pPr>
              <a:defRPr baseline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95891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sz="1600" baseline="0">
                <a:solidFill>
                  <a:srgbClr val="595757"/>
                </a:solidFill>
              </a:defRPr>
            </a:lvl4pPr>
            <a:lvl5pPr>
              <a:defRPr sz="1600"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4741119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37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64778"/>
            <a:ext cx="5682732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64778"/>
            <a:ext cx="5685577" cy="4896740"/>
          </a:xfrm>
        </p:spPr>
        <p:txBody>
          <a:bodyPr/>
          <a:lstStyle>
            <a:lvl1pPr>
              <a:defRPr baseline="0">
                <a:solidFill>
                  <a:srgbClr val="595757"/>
                </a:solidFill>
              </a:defRPr>
            </a:lvl1pPr>
            <a:lvl2pPr>
              <a:defRPr baseline="0">
                <a:solidFill>
                  <a:srgbClr val="595757"/>
                </a:solidFill>
              </a:defRPr>
            </a:lvl2pPr>
            <a:lvl3pPr>
              <a:defRPr baseline="0">
                <a:solidFill>
                  <a:srgbClr val="595757"/>
                </a:solidFill>
              </a:defRPr>
            </a:lvl3pPr>
            <a:lvl4pPr>
              <a:defRPr baseline="0">
                <a:solidFill>
                  <a:srgbClr val="595757"/>
                </a:solidFill>
              </a:defRPr>
            </a:lvl4pPr>
            <a:lvl5pPr>
              <a:defRPr baseline="0"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451035"/>
      </p:ext>
    </p:extLst>
  </p:cSld>
  <p:clrMapOvr>
    <a:masterClrMapping/>
  </p:clrMapOvr>
  <p:hf sldNum="0" hdr="0" ftr="0" dt="0"/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3"/>
          </a:xfrm>
        </p:spPr>
        <p:txBody>
          <a:bodyPr/>
          <a:lstStyle>
            <a:lvl1pPr>
              <a:defRPr sz="20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="0" i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7"/>
            <a:ext cx="5033444" cy="452927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3"/>
          </a:xfrm>
        </p:spPr>
        <p:txBody>
          <a:bodyPr/>
          <a:lstStyle>
            <a:lvl1pPr>
              <a:defRPr sz="20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5"/>
            <a:ext cx="5036289" cy="452929"/>
          </a:xfrm>
        </p:spPr>
        <p:txBody>
          <a:bodyPr anchor="b"/>
          <a:lstStyle>
            <a:lvl1pPr marL="0" indent="0">
              <a:buNone/>
              <a:defRPr sz="2400" b="0" i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1893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14867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30171772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0" y="553131"/>
            <a:ext cx="11511185" cy="71164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2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3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441063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4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9832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36247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內容版面配置區 4"/>
          <p:cNvSpPr>
            <a:spLocks noGrp="1"/>
          </p:cNvSpPr>
          <p:nvPr>
            <p:ph sz="quarter" idx="13"/>
          </p:nvPr>
        </p:nvSpPr>
        <p:spPr>
          <a:xfrm>
            <a:off x="5637230" y="1136591"/>
            <a:ext cx="6215786" cy="445235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060" y="6042204"/>
            <a:ext cx="1284816" cy="722619"/>
          </a:xfrm>
          <a:prstGeom prst="rect">
            <a:avLst/>
          </a:prstGeom>
        </p:spPr>
      </p:pic>
      <p:sp>
        <p:nvSpPr>
          <p:cNvPr id="12" name="文字方塊 11"/>
          <p:cNvSpPr txBox="1"/>
          <p:nvPr/>
        </p:nvSpPr>
        <p:spPr>
          <a:xfrm>
            <a:off x="341311" y="3405955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41312" y="4052286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14" name="文字版面配置區 2"/>
          <p:cNvSpPr>
            <a:spLocks noGrp="1"/>
          </p:cNvSpPr>
          <p:nvPr>
            <p:ph type="body" idx="15"/>
          </p:nvPr>
        </p:nvSpPr>
        <p:spPr>
          <a:xfrm>
            <a:off x="5637230" y="554565"/>
            <a:ext cx="4056551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rgbClr val="12517C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444381" y="3982149"/>
            <a:ext cx="188404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-794584" y="223519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91917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2"/>
            <a:ext cx="12192003" cy="685800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83940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677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 hasCustomPrompt="1"/>
          </p:nvPr>
        </p:nvSpPr>
        <p:spPr>
          <a:xfrm>
            <a:off x="341833" y="1169179"/>
            <a:ext cx="7669748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3" name="內容版面配置區 4"/>
          <p:cNvSpPr>
            <a:spLocks noGrp="1"/>
          </p:cNvSpPr>
          <p:nvPr>
            <p:ph sz="quarter" idx="14" hasCustomPrompt="1"/>
          </p:nvPr>
        </p:nvSpPr>
        <p:spPr>
          <a:xfrm>
            <a:off x="341313" y="5282739"/>
            <a:ext cx="7670173" cy="89610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14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209"/>
            <a:ext cx="7670173" cy="15081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 userDrawn="1"/>
        </p:nvCxnSpPr>
        <p:spPr>
          <a:xfrm>
            <a:off x="280988" y="6236456"/>
            <a:ext cx="1690425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44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1263192"/>
            <a:ext cx="9699477" cy="4666268"/>
          </a:xfrm>
          <a:prstGeom prst="rect">
            <a:avLst/>
          </a:prstGeom>
          <a:gradFill flip="none" rotWithShape="1">
            <a:gsLst>
              <a:gs pos="0">
                <a:srgbClr val="4F2199">
                  <a:alpha val="60000"/>
                </a:srgbClr>
              </a:gs>
              <a:gs pos="100000">
                <a:srgbClr val="4F2199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標題 1"/>
          <p:cNvSpPr>
            <a:spLocks noGrp="1"/>
          </p:cNvSpPr>
          <p:nvPr>
            <p:ph type="title" hasCustomPrompt="1"/>
          </p:nvPr>
        </p:nvSpPr>
        <p:spPr>
          <a:xfrm>
            <a:off x="341832" y="1169009"/>
            <a:ext cx="9357645" cy="1853458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3" hasCustomPrompt="1"/>
          </p:nvPr>
        </p:nvSpPr>
        <p:spPr>
          <a:xfrm>
            <a:off x="341313" y="3156039"/>
            <a:ext cx="9358164" cy="1508125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  <a:lvl2pPr marL="32400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2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1176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41831" y="1275122"/>
            <a:ext cx="11511185" cy="4818029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sz="1600" baseline="0"/>
            </a:lvl4pPr>
            <a:lvl5pPr>
              <a:defRPr sz="1600" baseline="0"/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0227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8694"/>
            <a:ext cx="5682732" cy="488282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8694"/>
            <a:ext cx="5685577" cy="488282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文字方塊 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805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2001908"/>
            <a:ext cx="5036289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251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2001908"/>
            <a:ext cx="5033445" cy="415960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5249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47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1897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24807968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06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991686"/>
            <a:ext cx="3597782" cy="4161286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29679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3571621" y="0"/>
            <a:ext cx="8620379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15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341311" y="1997466"/>
            <a:ext cx="288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600" b="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600" b="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/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15" name="文字方塊 14"/>
          <p:cNvSpPr txBox="1"/>
          <p:nvPr userDrawn="1"/>
        </p:nvSpPr>
        <p:spPr>
          <a:xfrm>
            <a:off x="341312" y="2707259"/>
            <a:ext cx="1987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4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cxnSp>
        <p:nvCxnSpPr>
          <p:cNvPr id="13" name="直線接點 12"/>
          <p:cNvCxnSpPr/>
          <p:nvPr userDrawn="1"/>
        </p:nvCxnSpPr>
        <p:spPr>
          <a:xfrm>
            <a:off x="444381" y="2577808"/>
            <a:ext cx="1884040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內容版面配置區 4"/>
          <p:cNvSpPr>
            <a:spLocks noGrp="1"/>
          </p:cNvSpPr>
          <p:nvPr>
            <p:ph sz="quarter" idx="14"/>
          </p:nvPr>
        </p:nvSpPr>
        <p:spPr>
          <a:xfrm>
            <a:off x="3933826" y="2705100"/>
            <a:ext cx="7919190" cy="2895600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2" name="文字版面配置區 2"/>
          <p:cNvSpPr>
            <a:spLocks noGrp="1"/>
          </p:cNvSpPr>
          <p:nvPr>
            <p:ph type="body" idx="15"/>
          </p:nvPr>
        </p:nvSpPr>
        <p:spPr>
          <a:xfrm>
            <a:off x="3933826" y="1997466"/>
            <a:ext cx="5759956" cy="452927"/>
          </a:xfrm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6" name="文字方塊 15"/>
          <p:cNvSpPr txBox="1"/>
          <p:nvPr userDrawn="1"/>
        </p:nvSpPr>
        <p:spPr>
          <a:xfrm>
            <a:off x="-794584" y="283171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716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3951807" y="2269982"/>
            <a:ext cx="7901210" cy="755229"/>
          </a:xfrm>
        </p:spPr>
        <p:txBody>
          <a:bodyPr anchor="ctr">
            <a:normAutofit/>
          </a:bodyPr>
          <a:lstStyle>
            <a:lvl1pPr>
              <a:defRPr sz="4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341832" y="5778123"/>
            <a:ext cx="9357645" cy="5867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2" y="2192224"/>
            <a:ext cx="2886702" cy="1623567"/>
          </a:xfrm>
          <a:prstGeom prst="rect">
            <a:avLst/>
          </a:prstGeom>
        </p:spPr>
      </p:pic>
      <p:cxnSp>
        <p:nvCxnSpPr>
          <p:cNvPr id="8" name="直線接點 7"/>
          <p:cNvCxnSpPr/>
          <p:nvPr userDrawn="1"/>
        </p:nvCxnSpPr>
        <p:spPr>
          <a:xfrm>
            <a:off x="3552825" y="1962333"/>
            <a:ext cx="0" cy="1944167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內容版面配置區 9"/>
          <p:cNvSpPr>
            <a:spLocks noGrp="1"/>
          </p:cNvSpPr>
          <p:nvPr>
            <p:ph sz="quarter" idx="14" hasCustomPrompt="1"/>
          </p:nvPr>
        </p:nvSpPr>
        <p:spPr>
          <a:xfrm>
            <a:off x="3951288" y="3107987"/>
            <a:ext cx="7900987" cy="159702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rgbClr val="595757"/>
                </a:solidFill>
              </a:defRPr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altLang="zh-TW" dirty="0"/>
              <a:t>Text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3914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 userDrawn="1"/>
        </p:nvSpPr>
        <p:spPr>
          <a:xfrm>
            <a:off x="7973933" y="-381565"/>
            <a:ext cx="4793309" cy="4793309"/>
          </a:xfrm>
          <a:prstGeom prst="ellipse">
            <a:avLst/>
          </a:prstGeom>
          <a:gradFill flip="none" rotWithShape="1">
            <a:gsLst>
              <a:gs pos="35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橢圓 6"/>
          <p:cNvSpPr/>
          <p:nvPr userDrawn="1"/>
        </p:nvSpPr>
        <p:spPr>
          <a:xfrm>
            <a:off x="6429081" y="-60372"/>
            <a:ext cx="2403835" cy="2403835"/>
          </a:xfrm>
          <a:prstGeom prst="ellipse">
            <a:avLst/>
          </a:prstGeom>
          <a:gradFill flip="none" rotWithShape="1">
            <a:gsLst>
              <a:gs pos="19000">
                <a:srgbClr val="ACECEF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41832" y="1160463"/>
            <a:ext cx="9357645" cy="1853458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2" y="3152004"/>
            <a:ext cx="9357645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595757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2870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73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12"/>
          </p:nvPr>
        </p:nvSpPr>
        <p:spPr>
          <a:xfrm>
            <a:off x="341313" y="1273324"/>
            <a:ext cx="11510962" cy="487964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方塊 4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1589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41831" y="1271366"/>
            <a:ext cx="5682732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67438" y="1271366"/>
            <a:ext cx="5685577" cy="4890152"/>
          </a:xfrm>
        </p:spPr>
        <p:txBody>
          <a:bodyPr/>
          <a:lstStyle>
            <a:lvl1pPr>
              <a:defRPr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>
                <a:solidFill>
                  <a:srgbClr val="595757"/>
                </a:solidFill>
              </a:defRPr>
            </a:lvl3pPr>
            <a:lvl4pPr>
              <a:defRPr>
                <a:solidFill>
                  <a:srgbClr val="595757"/>
                </a:solidFill>
              </a:defRPr>
            </a:lvl4pPr>
            <a:lvl5pPr>
              <a:defRPr>
                <a:solidFill>
                  <a:srgbClr val="595757"/>
                </a:solidFill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867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5" pos="3795">
          <p15:clr>
            <a:srgbClr val="FBAE40"/>
          </p15:clr>
        </p15:guide>
        <p15:guide id="6" pos="3885">
          <p15:clr>
            <a:srgbClr val="FBAE40"/>
          </p15:clr>
        </p15:guide>
        <p15:guide id="7" orient="horz" pos="370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內容版面配置區 5"/>
          <p:cNvSpPr>
            <a:spLocks noGrp="1"/>
          </p:cNvSpPr>
          <p:nvPr>
            <p:ph sz="quarter" idx="4"/>
          </p:nvPr>
        </p:nvSpPr>
        <p:spPr>
          <a:xfrm>
            <a:off x="6816725" y="1899358"/>
            <a:ext cx="5036289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5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5033444" cy="452927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2E75B6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99358"/>
            <a:ext cx="5033445" cy="4253614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7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16725" y="1270144"/>
            <a:ext cx="5036289" cy="452929"/>
          </a:xfrm>
        </p:spPr>
        <p:txBody>
          <a:bodyPr anchor="b"/>
          <a:lstStyle>
            <a:lvl1pPr marL="0" indent="0">
              <a:buNone/>
              <a:defRPr sz="2400" b="0" baseline="0">
                <a:solidFill>
                  <a:srgbClr val="4FB99F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8" name="文字方塊 7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2109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10455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207125"/>
          </a:xfrm>
        </p:spPr>
        <p:txBody>
          <a:bodyPr/>
          <a:lstStyle/>
          <a:p>
            <a:r>
              <a:rPr lang="zh-TW" altLang="en-US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6325609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內容版面配置區 3"/>
          <p:cNvSpPr>
            <a:spLocks noGrp="1"/>
          </p:cNvSpPr>
          <p:nvPr>
            <p:ph sz="half" idx="2"/>
          </p:nvPr>
        </p:nvSpPr>
        <p:spPr>
          <a:xfrm>
            <a:off x="3418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6" name="文字版面配置區 2"/>
          <p:cNvSpPr>
            <a:spLocks noGrp="1"/>
          </p:cNvSpPr>
          <p:nvPr>
            <p:ph type="body" idx="13"/>
          </p:nvPr>
        </p:nvSpPr>
        <p:spPr>
          <a:xfrm>
            <a:off x="8255234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7" name="內容版面配置區 3"/>
          <p:cNvSpPr>
            <a:spLocks noGrp="1"/>
          </p:cNvSpPr>
          <p:nvPr>
            <p:ph sz="half" idx="14"/>
          </p:nvPr>
        </p:nvSpPr>
        <p:spPr>
          <a:xfrm>
            <a:off x="8255233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8" name="文字版面配置區 2"/>
          <p:cNvSpPr>
            <a:spLocks noGrp="1"/>
          </p:cNvSpPr>
          <p:nvPr>
            <p:ph type="body" idx="15"/>
          </p:nvPr>
        </p:nvSpPr>
        <p:spPr>
          <a:xfrm>
            <a:off x="4298531" y="1270146"/>
            <a:ext cx="3597781" cy="452927"/>
          </a:xfrm>
        </p:spPr>
        <p:txBody>
          <a:bodyPr anchor="b"/>
          <a:lstStyle>
            <a:lvl1pPr marL="0" indent="0">
              <a:buNone/>
              <a:defRPr sz="2400" b="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9" name="內容版面配置區 3"/>
          <p:cNvSpPr>
            <a:spLocks noGrp="1"/>
          </p:cNvSpPr>
          <p:nvPr>
            <p:ph sz="half" idx="16"/>
          </p:nvPr>
        </p:nvSpPr>
        <p:spPr>
          <a:xfrm>
            <a:off x="4298530" y="1820768"/>
            <a:ext cx="3597782" cy="4340749"/>
          </a:xfrm>
        </p:spPr>
        <p:txBody>
          <a:bodyPr/>
          <a:lstStyle>
            <a:lvl1pPr>
              <a:defRPr sz="2000" baseline="0"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>
              <a:defRPr sz="1800" baseline="0"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>
              <a:defRPr sz="1600" baseline="0"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6579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文字方塊 13"/>
          <p:cNvSpPr txBox="1"/>
          <p:nvPr userDrawn="1"/>
        </p:nvSpPr>
        <p:spPr>
          <a:xfrm>
            <a:off x="341311" y="546901"/>
            <a:ext cx="2888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RTF</a:t>
            </a:r>
            <a:r>
              <a:rPr lang="zh-TW" altLang="en-US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 </a:t>
            </a:r>
            <a:r>
              <a:rPr lang="en-US" altLang="zh-TW" sz="3200" b="1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NOW</a:t>
            </a:r>
            <a:endParaRPr lang="zh-TW" altLang="en-US" sz="3200" b="1" baseline="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377CC-F3CE-409D-81DD-7A2A41DFAA25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444381" y="1127243"/>
            <a:ext cx="1884040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 userDrawn="1"/>
        </p:nvSpPr>
        <p:spPr>
          <a:xfrm>
            <a:off x="10919042" y="547593"/>
            <a:ext cx="933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baseline="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Q&amp;A</a:t>
            </a:r>
            <a:endParaRPr lang="zh-TW" altLang="en-US" sz="2800" baseline="0" dirty="0">
              <a:solidFill>
                <a:schemeClr val="bg1"/>
              </a:solidFill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155414"/>
            <a:ext cx="1315236" cy="493214"/>
          </a:xfrm>
          <a:prstGeom prst="rect">
            <a:avLst/>
          </a:prstGeom>
        </p:spPr>
      </p:pic>
      <p:sp>
        <p:nvSpPr>
          <p:cNvPr id="8" name="內容版面配置區 7"/>
          <p:cNvSpPr>
            <a:spLocks noGrp="1"/>
          </p:cNvSpPr>
          <p:nvPr>
            <p:ph sz="quarter" idx="13"/>
          </p:nvPr>
        </p:nvSpPr>
        <p:spPr>
          <a:xfrm>
            <a:off x="3566355" y="1471613"/>
            <a:ext cx="8285920" cy="4406900"/>
          </a:xfrm>
        </p:spPr>
        <p:txBody>
          <a:bodyPr anchor="ctr"/>
          <a:lstStyle>
            <a:lvl1pPr marL="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2pPr>
            <a:lvl3pPr marL="9144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3pPr>
            <a:lvl4pPr marL="13716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4pPr>
            <a:lvl5pPr marL="1828800" indent="0">
              <a:buNone/>
              <a:defRPr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9" name="文字版面配置區 2"/>
          <p:cNvSpPr>
            <a:spLocks noGrp="1"/>
          </p:cNvSpPr>
          <p:nvPr>
            <p:ph type="body" idx="15"/>
          </p:nvPr>
        </p:nvSpPr>
        <p:spPr>
          <a:xfrm>
            <a:off x="336044" y="1471613"/>
            <a:ext cx="2894266" cy="4406900"/>
          </a:xfrm>
        </p:spPr>
        <p:txBody>
          <a:bodyPr anchor="ctr"/>
          <a:lstStyle>
            <a:lvl1pPr marL="0" indent="0">
              <a:buNone/>
              <a:defRPr sz="2400" b="0" baseline="0">
                <a:solidFill>
                  <a:srgbClr val="595757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-794584" y="374733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*</a:t>
            </a:r>
          </a:p>
          <a:p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於段落內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按 </a:t>
            </a:r>
            <a:r>
              <a:rPr lang="en-US" altLang="zh-TW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Tab </a:t>
            </a: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使</a:t>
            </a:r>
            <a:endParaRPr lang="en-US" altLang="zh-TW" sz="1000" b="0" i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000" b="0" i="0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文字縮小</a:t>
            </a:r>
            <a:endParaRPr lang="zh-TW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7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5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2685" t="45009"/>
          <a:stretch/>
        </p:blipFill>
        <p:spPr>
          <a:xfrm>
            <a:off x="-9427" y="-9427"/>
            <a:ext cx="2746474" cy="2635082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496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9"/>
            <a:ext cx="11511185" cy="4886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-729784" y="553132"/>
            <a:ext cx="597324" cy="711646"/>
          </a:xfrm>
          <a:prstGeom prst="rect">
            <a:avLst/>
          </a:prstGeom>
          <a:solidFill>
            <a:srgbClr val="1251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-729784" y="60887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18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81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124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541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rgbClr val="12517C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82D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197309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75121"/>
            <a:ext cx="11511185" cy="4832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 baseline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>
                <a:alpha val="31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-729784" y="1373009"/>
            <a:ext cx="597324" cy="133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/>
          <p:cNvSpPr txBox="1"/>
          <p:nvPr/>
        </p:nvSpPr>
        <p:spPr>
          <a:xfrm>
            <a:off x="-729784" y="1498699"/>
            <a:ext cx="663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</a:p>
          <a:p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zh-TW" altLang="en-US" sz="1100" dirty="0">
                <a:solidFill>
                  <a:schemeClr val="tx1"/>
                </a:solidFill>
              </a:rPr>
              <a:t>透明度</a:t>
            </a:r>
            <a:endParaRPr lang="en-US" altLang="zh-TW" sz="1100" dirty="0">
              <a:solidFill>
                <a:schemeClr val="tx1"/>
              </a:solidFill>
            </a:endParaRPr>
          </a:p>
          <a:p>
            <a:r>
              <a:rPr lang="en-US" altLang="zh-TW" sz="1100" dirty="0">
                <a:solidFill>
                  <a:schemeClr val="tx1"/>
                </a:solidFill>
              </a:rPr>
              <a:t>85~100</a:t>
            </a:r>
          </a:p>
          <a:p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13" name="圖片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31" y="6364896"/>
            <a:ext cx="1269744" cy="338871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tx1"/>
                </a:solidFill>
              </a:rPr>
              <a:t>R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G 255</a:t>
            </a:r>
          </a:p>
          <a:p>
            <a:r>
              <a:rPr lang="en-US" altLang="zh-TW" sz="1100" dirty="0">
                <a:solidFill>
                  <a:schemeClr val="tx1"/>
                </a:solidFill>
              </a:rPr>
              <a:t>B 255</a:t>
            </a:r>
            <a:endParaRPr lang="zh-TW" alt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24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bg1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341831" y="271314"/>
            <a:ext cx="11511185" cy="7116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41831" y="1264777"/>
            <a:ext cx="11511185" cy="4886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 dirty="0"/>
              <a:t>Text</a:t>
            </a:r>
            <a:endParaRPr lang="zh-TW" altLang="en-US" dirty="0"/>
          </a:p>
          <a:p>
            <a:pPr lvl="1"/>
            <a:r>
              <a:rPr lang="en-US" altLang="zh-TW" dirty="0"/>
              <a:t>Text</a:t>
            </a:r>
            <a:endParaRPr lang="zh-TW" altLang="en-US" dirty="0"/>
          </a:p>
          <a:p>
            <a:pPr lvl="2"/>
            <a:r>
              <a:rPr lang="en-US" altLang="zh-TW" dirty="0"/>
              <a:t>Text</a:t>
            </a:r>
            <a:endParaRPr lang="zh-TW" altLang="en-US" dirty="0"/>
          </a:p>
          <a:p>
            <a:pPr lvl="3"/>
            <a:r>
              <a:rPr lang="en-US" altLang="zh-TW" dirty="0"/>
              <a:t>Text</a:t>
            </a:r>
            <a:endParaRPr lang="zh-TW" altLang="en-US" dirty="0"/>
          </a:p>
          <a:p>
            <a:pPr lvl="4"/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09816" y="63648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</a:defRPr>
            </a:lvl1pPr>
          </a:lstStyle>
          <a:p>
            <a:fld id="{AB5377CC-F3CE-409D-81DD-7A2A41DFAA25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-729784" y="605622"/>
            <a:ext cx="597324" cy="711646"/>
          </a:xfrm>
          <a:prstGeom prst="rect">
            <a:avLst/>
          </a:prstGeom>
          <a:solidFill>
            <a:srgbClr val="0056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-729784" y="1380650"/>
            <a:ext cx="597324" cy="7116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-729784" y="661363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0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117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-729784" y="1436391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 89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87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87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-729784" y="2208168"/>
            <a:ext cx="597324" cy="711646"/>
          </a:xfrm>
          <a:prstGeom prst="rect">
            <a:avLst/>
          </a:prstGeom>
          <a:solidFill>
            <a:srgbClr val="4FB9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-729784" y="2263909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79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185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159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-729784" y="2979945"/>
            <a:ext cx="597324" cy="71164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-729784" y="3035686"/>
            <a:ext cx="5973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solidFill>
                  <a:schemeClr val="bg1"/>
                </a:solidFill>
              </a:rPr>
              <a:t>R</a:t>
            </a:r>
            <a:r>
              <a:rPr lang="zh-TW" altLang="en-US" sz="1100" dirty="0">
                <a:solidFill>
                  <a:schemeClr val="bg1"/>
                </a:solidFill>
              </a:rPr>
              <a:t> </a:t>
            </a:r>
            <a:r>
              <a:rPr lang="en-US" altLang="zh-TW" sz="1100" dirty="0">
                <a:solidFill>
                  <a:schemeClr val="bg1"/>
                </a:solidFill>
              </a:rPr>
              <a:t>46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G 117</a:t>
            </a:r>
          </a:p>
          <a:p>
            <a:r>
              <a:rPr lang="en-US" altLang="zh-TW" sz="1100" dirty="0">
                <a:solidFill>
                  <a:schemeClr val="bg1"/>
                </a:solidFill>
              </a:rPr>
              <a:t>B 182</a:t>
            </a:r>
            <a:endParaRPr lang="zh-TW" altLang="en-US" sz="1100" dirty="0">
              <a:solidFill>
                <a:schemeClr val="bg1"/>
              </a:solidFill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9" y="6321270"/>
            <a:ext cx="1315236" cy="493214"/>
          </a:xfrm>
          <a:prstGeom prst="rect">
            <a:avLst/>
          </a:prstGeom>
        </p:spPr>
      </p:pic>
      <p:cxnSp>
        <p:nvCxnSpPr>
          <p:cNvPr id="21" name="Straight Connector 6">
            <a:extLst>
              <a:ext uri="{FF2B5EF4-FFF2-40B4-BE49-F238E27FC236}">
                <a16:creationId xmlns:a16="http://schemas.microsoft.com/office/drawing/2014/main" id="{AB14B325-37EE-2D47-9D73-848E4457D5C0}"/>
              </a:ext>
            </a:extLst>
          </p:cNvPr>
          <p:cNvCxnSpPr>
            <a:cxnSpLocks/>
          </p:cNvCxnSpPr>
          <p:nvPr/>
        </p:nvCxnSpPr>
        <p:spPr>
          <a:xfrm>
            <a:off x="280988" y="6236456"/>
            <a:ext cx="11669712" cy="0"/>
          </a:xfrm>
          <a:prstGeom prst="line">
            <a:avLst/>
          </a:prstGeom>
          <a:ln w="28575">
            <a:solidFill>
              <a:srgbClr val="EAED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790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微軟正黑體" panose="020B0604030504040204" pitchFamily="34" charset="-120"/>
          <a:cs typeface="Arial" panose="020B0604020202020204" pitchFamily="34" charset="0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4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1pPr>
      <a:lvl2pPr marL="50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2pPr>
      <a:lvl3pPr marL="86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3pPr>
      <a:lvl4pPr marL="1152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4pPr>
      <a:lvl5pPr marL="1584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rgbClr val="595757"/>
          </a:solidFill>
          <a:latin typeface="Arial" panose="020B060402020202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;p1">
            <a:extLst>
              <a:ext uri="{FF2B5EF4-FFF2-40B4-BE49-F238E27FC236}">
                <a16:creationId xmlns:a16="http://schemas.microsoft.com/office/drawing/2014/main" id="{D3F76CE8-7797-4B05-9671-9D7D0AAA533F}"/>
              </a:ext>
            </a:extLst>
          </p:cNvPr>
          <p:cNvSpPr/>
          <p:nvPr/>
        </p:nvSpPr>
        <p:spPr>
          <a:xfrm>
            <a:off x="508000" y="2160270"/>
            <a:ext cx="811022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Kubernetes </a:t>
            </a:r>
            <a:r>
              <a:rPr lang="en-US" sz="2000" b="1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企業實戰教育訓練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8;p1">
            <a:extLst>
              <a:ext uri="{FF2B5EF4-FFF2-40B4-BE49-F238E27FC236}">
                <a16:creationId xmlns:a16="http://schemas.microsoft.com/office/drawing/2014/main" id="{BC0B885F-2634-449B-A07D-F9A663942F6E}"/>
              </a:ext>
            </a:extLst>
          </p:cNvPr>
          <p:cNvSpPr/>
          <p:nvPr/>
        </p:nvSpPr>
        <p:spPr>
          <a:xfrm>
            <a:off x="508000" y="2719070"/>
            <a:ext cx="8110220" cy="80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lvl="0">
              <a:lnSpc>
                <a:spcPct val="110000"/>
              </a:lnSpc>
              <a:buClr>
                <a:srgbClr val="FFFFFF"/>
              </a:buClr>
              <a:buSzPts val="5600"/>
            </a:pPr>
            <a:r>
              <a:rPr lang="zh-TW" altLang="en-US" sz="56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實作練習</a:t>
            </a:r>
          </a:p>
        </p:txBody>
      </p:sp>
      <p:sp>
        <p:nvSpPr>
          <p:cNvPr id="7" name="Google Shape;19;p1">
            <a:extLst>
              <a:ext uri="{FF2B5EF4-FFF2-40B4-BE49-F238E27FC236}">
                <a16:creationId xmlns:a16="http://schemas.microsoft.com/office/drawing/2014/main" id="{821F0CB5-0CC5-41B5-B907-6A9A43E09BAF}"/>
              </a:ext>
            </a:extLst>
          </p:cNvPr>
          <p:cNvSpPr/>
          <p:nvPr/>
        </p:nvSpPr>
        <p:spPr>
          <a:xfrm>
            <a:off x="508000" y="3704590"/>
            <a:ext cx="8110220" cy="34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9D3E0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7 </a:t>
            </a:r>
            <a:r>
              <a:rPr lang="en-US" sz="1800" dirty="0" err="1">
                <a:solidFill>
                  <a:schemeClr val="lt1"/>
                </a:solidFill>
              </a:rPr>
              <a:t>個真實開源應用</a:t>
            </a:r>
            <a:r>
              <a:rPr lang="en-US" sz="1800" dirty="0">
                <a:solidFill>
                  <a:schemeClr val="lt1"/>
                </a:solidFill>
              </a:rPr>
              <a:t> · </a:t>
            </a:r>
            <a:r>
              <a:rPr lang="en-US" sz="1800" dirty="0" err="1">
                <a:solidFill>
                  <a:schemeClr val="lt1"/>
                </a:solidFill>
              </a:rPr>
              <a:t>一座正式</a:t>
            </a:r>
            <a:r>
              <a:rPr lang="en-US" sz="1800" dirty="0">
                <a:solidFill>
                  <a:schemeClr val="lt1"/>
                </a:solidFill>
              </a:rPr>
              <a:t> K8s </a:t>
            </a:r>
            <a:r>
              <a:rPr lang="en-US" sz="1800" dirty="0" err="1">
                <a:solidFill>
                  <a:schemeClr val="lt1"/>
                </a:solidFill>
              </a:rPr>
              <a:t>叢集</a:t>
            </a:r>
            <a:r>
              <a:rPr lang="en-US" sz="1800" dirty="0">
                <a:solidFill>
                  <a:schemeClr val="lt1"/>
                </a:solidFill>
              </a:rPr>
              <a:t> · </a:t>
            </a:r>
            <a:r>
              <a:rPr lang="en-US" sz="1800" dirty="0" err="1">
                <a:solidFill>
                  <a:schemeClr val="lt1"/>
                </a:solidFill>
              </a:rPr>
              <a:t>難度逐站遞增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dirty="0">
              <a:solidFill>
                <a:srgbClr val="FFFFFF"/>
              </a:solidFill>
            </a:endParaRPr>
          </a:p>
        </p:txBody>
      </p:sp>
      <p:sp>
        <p:nvSpPr>
          <p:cNvPr id="8" name="Google Shape;20;p1">
            <a:extLst>
              <a:ext uri="{FF2B5EF4-FFF2-40B4-BE49-F238E27FC236}">
                <a16:creationId xmlns:a16="http://schemas.microsoft.com/office/drawing/2014/main" id="{37263E95-1D87-4AE6-8CA6-40B3A41BB3DE}"/>
              </a:ext>
            </a:extLst>
          </p:cNvPr>
          <p:cNvSpPr/>
          <p:nvPr/>
        </p:nvSpPr>
        <p:spPr>
          <a:xfrm>
            <a:off x="508000" y="4227830"/>
            <a:ext cx="811022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</a:rPr>
              <a:t>主講人：</a:t>
            </a:r>
            <a:r>
              <a:rPr lang="en-US" sz="1500" b="1">
                <a:solidFill>
                  <a:srgbClr val="FFFFFF"/>
                </a:solidFill>
              </a:rPr>
              <a:t>李旻恩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2;p1">
            <a:extLst>
              <a:ext uri="{FF2B5EF4-FFF2-40B4-BE49-F238E27FC236}">
                <a16:creationId xmlns:a16="http://schemas.microsoft.com/office/drawing/2014/main" id="{C7E64D6B-2752-49BA-B458-3C3CF282F349}"/>
              </a:ext>
            </a:extLst>
          </p:cNvPr>
          <p:cNvSpPr/>
          <p:nvPr/>
        </p:nvSpPr>
        <p:spPr>
          <a:xfrm>
            <a:off x="815975" y="5520055"/>
            <a:ext cx="897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0" name="Google Shape;23;p1">
            <a:extLst>
              <a:ext uri="{FF2B5EF4-FFF2-40B4-BE49-F238E27FC236}">
                <a16:creationId xmlns:a16="http://schemas.microsoft.com/office/drawing/2014/main" id="{91A98538-D6FD-45D3-94E3-474D8CC4A3C5}"/>
              </a:ext>
            </a:extLst>
          </p:cNvPr>
          <p:cNvSpPr/>
          <p:nvPr/>
        </p:nvSpPr>
        <p:spPr>
          <a:xfrm>
            <a:off x="944880" y="5560105"/>
            <a:ext cx="690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 dirty="0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draw.io</a:t>
            </a:r>
            <a:endParaRPr sz="1200" b="1" i="0" u="none" strike="noStrike" cap="none" dirty="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4;p1">
            <a:extLst>
              <a:ext uri="{FF2B5EF4-FFF2-40B4-BE49-F238E27FC236}">
                <a16:creationId xmlns:a16="http://schemas.microsoft.com/office/drawing/2014/main" id="{97204568-3881-447B-8975-B7321935E7C1}"/>
              </a:ext>
            </a:extLst>
          </p:cNvPr>
          <p:cNvSpPr/>
          <p:nvPr/>
        </p:nvSpPr>
        <p:spPr>
          <a:xfrm>
            <a:off x="1821974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2" name="Google Shape;25;p1">
            <a:extLst>
              <a:ext uri="{FF2B5EF4-FFF2-40B4-BE49-F238E27FC236}">
                <a16:creationId xmlns:a16="http://schemas.microsoft.com/office/drawing/2014/main" id="{1E00EE33-8DF3-445F-BD55-0F96EF9FFF59}"/>
              </a:ext>
            </a:extLst>
          </p:cNvPr>
          <p:cNvSpPr/>
          <p:nvPr/>
        </p:nvSpPr>
        <p:spPr>
          <a:xfrm>
            <a:off x="1950879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filebrowser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6;p1">
            <a:extLst>
              <a:ext uri="{FF2B5EF4-FFF2-40B4-BE49-F238E27FC236}">
                <a16:creationId xmlns:a16="http://schemas.microsoft.com/office/drawing/2014/main" id="{ED5F8B77-2242-4E37-92F1-6BDE20EB6A47}"/>
              </a:ext>
            </a:extLst>
          </p:cNvPr>
          <p:cNvSpPr/>
          <p:nvPr/>
        </p:nvSpPr>
        <p:spPr>
          <a:xfrm>
            <a:off x="3193812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4" name="Google Shape;27;p1">
            <a:extLst>
              <a:ext uri="{FF2B5EF4-FFF2-40B4-BE49-F238E27FC236}">
                <a16:creationId xmlns:a16="http://schemas.microsoft.com/office/drawing/2014/main" id="{31A2A3DC-EAEF-4B76-96FC-C91D11E932D2}"/>
              </a:ext>
            </a:extLst>
          </p:cNvPr>
          <p:cNvSpPr/>
          <p:nvPr/>
        </p:nvSpPr>
        <p:spPr>
          <a:xfrm>
            <a:off x="3322717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flarum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8;p1">
            <a:extLst>
              <a:ext uri="{FF2B5EF4-FFF2-40B4-BE49-F238E27FC236}">
                <a16:creationId xmlns:a16="http://schemas.microsoft.com/office/drawing/2014/main" id="{3632CDBD-89A7-4EEF-B635-EB4F090537CB}"/>
              </a:ext>
            </a:extLst>
          </p:cNvPr>
          <p:cNvSpPr/>
          <p:nvPr/>
        </p:nvSpPr>
        <p:spPr>
          <a:xfrm>
            <a:off x="4108371" y="5520055"/>
            <a:ext cx="8067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6" name="Google Shape;29;p1">
            <a:extLst>
              <a:ext uri="{FF2B5EF4-FFF2-40B4-BE49-F238E27FC236}">
                <a16:creationId xmlns:a16="http://schemas.microsoft.com/office/drawing/2014/main" id="{4D613155-E1C0-49E5-BF17-5DEB47228E56}"/>
              </a:ext>
            </a:extLst>
          </p:cNvPr>
          <p:cNvSpPr/>
          <p:nvPr/>
        </p:nvSpPr>
        <p:spPr>
          <a:xfrm>
            <a:off x="4237276" y="5560105"/>
            <a:ext cx="5997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planka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;p1">
            <a:extLst>
              <a:ext uri="{FF2B5EF4-FFF2-40B4-BE49-F238E27FC236}">
                <a16:creationId xmlns:a16="http://schemas.microsoft.com/office/drawing/2014/main" id="{6B8FA0FF-08E9-4793-8EA1-AE01FDA125A8}"/>
              </a:ext>
            </a:extLst>
          </p:cNvPr>
          <p:cNvSpPr/>
          <p:nvPr/>
        </p:nvSpPr>
        <p:spPr>
          <a:xfrm>
            <a:off x="5022929" y="5520055"/>
            <a:ext cx="1172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18" name="Google Shape;31;p1">
            <a:extLst>
              <a:ext uri="{FF2B5EF4-FFF2-40B4-BE49-F238E27FC236}">
                <a16:creationId xmlns:a16="http://schemas.microsoft.com/office/drawing/2014/main" id="{D135E961-583B-47B3-89C2-73B024454E67}"/>
              </a:ext>
            </a:extLst>
          </p:cNvPr>
          <p:cNvSpPr/>
          <p:nvPr/>
        </p:nvSpPr>
        <p:spPr>
          <a:xfrm>
            <a:off x="5151834" y="5560105"/>
            <a:ext cx="965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onlyoffice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32;p1">
            <a:extLst>
              <a:ext uri="{FF2B5EF4-FFF2-40B4-BE49-F238E27FC236}">
                <a16:creationId xmlns:a16="http://schemas.microsoft.com/office/drawing/2014/main" id="{873C859B-D39C-43F0-ABEE-59DABC76C55D}"/>
              </a:ext>
            </a:extLst>
          </p:cNvPr>
          <p:cNvSpPr/>
          <p:nvPr/>
        </p:nvSpPr>
        <p:spPr>
          <a:xfrm>
            <a:off x="6303248" y="5520055"/>
            <a:ext cx="9894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0" name="Google Shape;33;p1">
            <a:extLst>
              <a:ext uri="{FF2B5EF4-FFF2-40B4-BE49-F238E27FC236}">
                <a16:creationId xmlns:a16="http://schemas.microsoft.com/office/drawing/2014/main" id="{BE500675-DFE1-40A9-AC39-4FC23EEE3D9C}"/>
              </a:ext>
            </a:extLst>
          </p:cNvPr>
          <p:cNvSpPr/>
          <p:nvPr/>
        </p:nvSpPr>
        <p:spPr>
          <a:xfrm>
            <a:off x="6432153" y="5560105"/>
            <a:ext cx="78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peertube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34;p1">
            <a:extLst>
              <a:ext uri="{FF2B5EF4-FFF2-40B4-BE49-F238E27FC236}">
                <a16:creationId xmlns:a16="http://schemas.microsoft.com/office/drawing/2014/main" id="{07E1F26F-5583-4913-9AE0-06EE07F6EBFB}"/>
              </a:ext>
            </a:extLst>
          </p:cNvPr>
          <p:cNvSpPr/>
          <p:nvPr/>
        </p:nvSpPr>
        <p:spPr>
          <a:xfrm>
            <a:off x="7400687" y="5520055"/>
            <a:ext cx="1263900" cy="318900"/>
          </a:xfrm>
          <a:prstGeom prst="roundRect">
            <a:avLst>
              <a:gd name="adj" fmla="val 50000"/>
            </a:avLst>
          </a:prstGeom>
          <a:solidFill>
            <a:srgbClr val="DCEFF6"/>
          </a:solidFill>
          <a:ln w="9525" cap="flat" cmpd="sng">
            <a:solidFill>
              <a:srgbClr val="3A4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A86E8"/>
              </a:solidFill>
            </a:endParaRPr>
          </a:p>
        </p:txBody>
      </p:sp>
      <p:sp>
        <p:nvSpPr>
          <p:cNvPr id="22" name="Google Shape;35;p1">
            <a:extLst>
              <a:ext uri="{FF2B5EF4-FFF2-40B4-BE49-F238E27FC236}">
                <a16:creationId xmlns:a16="http://schemas.microsoft.com/office/drawing/2014/main" id="{CEBB40DF-A9AE-4DFD-B4A9-8FD2BBB4F3CB}"/>
              </a:ext>
            </a:extLst>
          </p:cNvPr>
          <p:cNvSpPr/>
          <p:nvPr/>
        </p:nvSpPr>
        <p:spPr>
          <a:xfrm>
            <a:off x="7529592" y="5560105"/>
            <a:ext cx="10569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CE3EC"/>
              </a:buClr>
              <a:buSzPts val="1200"/>
              <a:buFont typeface="Courier New"/>
              <a:buNone/>
            </a:pPr>
            <a:r>
              <a:rPr lang="en-US" sz="1200" b="1" i="0" u="none" strike="noStrike" cap="non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cloudbeaver</a:t>
            </a:r>
            <a:endParaRPr sz="1200" b="1" i="0" u="none" strike="noStrike" cap="non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9842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h354c58d55cfae689_0_613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兩種題型：填空與除錯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EB32246-76F6-4207-A209-D4CD9B238564}"/>
              </a:ext>
            </a:extLst>
          </p:cNvPr>
          <p:cNvGrpSpPr/>
          <p:nvPr/>
        </p:nvGrpSpPr>
        <p:grpSpPr>
          <a:xfrm>
            <a:off x="755700" y="1819231"/>
            <a:ext cx="5340300" cy="3219537"/>
            <a:chOff x="733475" y="1588132"/>
            <a:chExt cx="5340300" cy="3219537"/>
          </a:xfrm>
        </p:grpSpPr>
        <p:sp>
          <p:nvSpPr>
            <p:cNvPr id="532" name="Google Shape;532;h354c58d55cfae689_0_613"/>
            <p:cNvSpPr/>
            <p:nvPr/>
          </p:nvSpPr>
          <p:spPr>
            <a:xfrm>
              <a:off x="733475" y="1588132"/>
              <a:ext cx="5340300" cy="3219537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h354c58d55cfae689_0_613"/>
            <p:cNvSpPr/>
            <p:nvPr/>
          </p:nvSpPr>
          <p:spPr>
            <a:xfrm>
              <a:off x="9953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題目一 · manifest-incomplete/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h354c58d55cfae689_0_613"/>
            <p:cNvSpPr/>
            <p:nvPr/>
          </p:nvSpPr>
          <p:spPr>
            <a:xfrm>
              <a:off x="9953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半成品</a:t>
              </a:r>
              <a:r>
                <a:rPr lang="en-US" sz="20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YAML </a:t>
              </a:r>
              <a:r>
                <a:rPr lang="en-US" sz="20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填空</a:t>
              </a:r>
              <a:endParaRPr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h354c58d55cfae689_0_613"/>
            <p:cNvSpPr/>
            <p:nvPr/>
          </p:nvSpPr>
          <p:spPr>
            <a:xfrm>
              <a:off x="9953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正解被挖掉的欄位標成 __FILL_ME_n__，照編號填完再依序 apply。光是 draw.io 就有 20 格。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h354c58d55cfae689_0_613"/>
            <p:cNvSpPr/>
            <p:nvPr/>
          </p:nvSpPr>
          <p:spPr>
            <a:xfrm>
              <a:off x="995310" y="3200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寫完用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diff 跟 ../manifest/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對照。先自己推理一輪，再對答案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。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E0DEAF29-B8F4-403C-89B9-EF71D88F21AA}"/>
              </a:ext>
            </a:extLst>
          </p:cNvPr>
          <p:cNvGrpSpPr/>
          <p:nvPr/>
        </p:nvGrpSpPr>
        <p:grpSpPr>
          <a:xfrm>
            <a:off x="6276725" y="1819231"/>
            <a:ext cx="5340300" cy="3219536"/>
            <a:chOff x="6118275" y="1588133"/>
            <a:chExt cx="5340300" cy="3219536"/>
          </a:xfrm>
        </p:grpSpPr>
        <p:sp>
          <p:nvSpPr>
            <p:cNvPr id="537" name="Google Shape;537;h354c58d55cfae689_0_613"/>
            <p:cNvSpPr/>
            <p:nvPr/>
          </p:nvSpPr>
          <p:spPr>
            <a:xfrm>
              <a:off x="6118275" y="1588133"/>
              <a:ext cx="5340300" cy="3219536"/>
            </a:xfrm>
            <a:prstGeom prst="roundRect">
              <a:avLst>
                <a:gd name="adj" fmla="val 327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h354c58d55cfae689_0_613"/>
            <p:cNvSpPr/>
            <p:nvPr/>
          </p:nvSpPr>
          <p:spPr>
            <a:xfrm>
              <a:off x="6380110" y="1844042"/>
              <a:ext cx="4956440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Courier New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題目二 · manifest-buggy/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h354c58d55cfae689_0_613"/>
            <p:cNvSpPr/>
            <p:nvPr/>
          </p:nvSpPr>
          <p:spPr>
            <a:xfrm>
              <a:off x="6380110" y="2159000"/>
              <a:ext cx="4956440" cy="33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看起來完整，其實藏了錯</a:t>
              </a:r>
              <a:endPara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h354c58d55cfae689_0_613"/>
            <p:cNvSpPr/>
            <p:nvPr/>
          </p:nvSpPr>
          <p:spPr>
            <a:xfrm>
              <a:off x="6380110" y="2565400"/>
              <a:ext cx="4956440" cy="55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整套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apply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下去，用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describe、get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-o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yaml、logs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 找出問題。draw.io </a:t>
              </a:r>
              <a:r>
                <a:rPr lang="en-US" sz="1400" b="0" i="0" u="none" strike="noStrike" cap="none" dirty="0" err="1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的四個症狀</a:t>
              </a:r>
              <a:r>
                <a:rPr lang="en-US" sz="1400" b="0" i="0" u="none" strike="noStrike" cap="none" dirty="0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：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h354c58d55cfae689_0_613"/>
            <p:cNvSpPr/>
            <p:nvPr/>
          </p:nvSpPr>
          <p:spPr>
            <a:xfrm>
              <a:off x="6528100" y="3200400"/>
              <a:ext cx="480845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Endpoints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永遠是空的（label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永遠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0/1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Ready（probe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的 port）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HTTPRoute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Accepted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卻連不到（backendRefs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13360" marR="0" lvl="0" indent="-21336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400"/>
                <a:buFont typeface="Arial"/>
                <a:buAutoNum type="arabicPeriod"/>
              </a:pP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第二個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Pod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卡在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 b="0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Pending（配額</a:t>
              </a:r>
              <a:r>
                <a:rPr lang="en-US" sz="1400" b="0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）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115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h354c58d55cfae689_0_629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除錯工具箱：看到症狀先查哪裡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9" name="Google Shape;549;h354c58d55cfae689_0_629"/>
          <p:cNvGraphicFramePr/>
          <p:nvPr/>
        </p:nvGraphicFramePr>
        <p:xfrm>
          <a:off x="812800" y="1584958"/>
          <a:ext cx="10566375" cy="2529513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6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先看哪裡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這門課常見的原因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Pod 卡在 Pending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Events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超過配額、缺 toleration、PVC 未 Bound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Running 但 0/1 Ready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pod → probe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打錯 port、初始延遲太短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是空的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get endpoints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跟 Pod label 對不上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回 503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describe httproute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不是 Service 的 port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logs --previous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 讓降權失敗、設定路徑錯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連線逾時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B6F6A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kubectl exec 測 /dev/tcp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 少放行一個方向</a:t>
                      </a:r>
                      <a:endParaRPr sz="13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7775" marR="57775" marT="57775" marB="5777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h354c58d55cfae689_0_636"/>
          <p:cNvSpPr/>
          <p:nvPr/>
        </p:nvSpPr>
        <p:spPr>
          <a:xfrm>
            <a:off x="812800" y="812800"/>
            <a:ext cx="108834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3200"/>
              <a:buFont typeface="Arial"/>
              <a:buNone/>
            </a:pPr>
            <a:r>
              <a:rPr lang="en-US" sz="3200" b="1" i="0" u="none" strike="noStrike" cap="none" dirty="0" err="1">
                <a:solidFill>
                  <a:srgbClr val="12517C"/>
                </a:solidFill>
                <a:latin typeface="Arial"/>
                <a:ea typeface="Arial"/>
                <a:cs typeface="Arial"/>
                <a:sym typeface="Arial"/>
              </a:rPr>
              <a:t>驗收標準：四個綠燈才算部署完成</a:t>
            </a:r>
            <a:endParaRPr sz="3200" b="0" i="0" u="none" strike="noStrike" cap="none" dirty="0">
              <a:solidFill>
                <a:srgbClr val="12517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h354c58d55cfae689_0_636"/>
          <p:cNvSpPr/>
          <p:nvPr/>
        </p:nvSpPr>
        <p:spPr>
          <a:xfrm>
            <a:off x="8159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8" name="Google Shape;55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56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h354c58d55cfae689_0_636"/>
          <p:cNvSpPr/>
          <p:nvPr/>
        </p:nvSpPr>
        <p:spPr>
          <a:xfrm>
            <a:off x="13639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h354c58d55cfae689_0_636"/>
          <p:cNvSpPr/>
          <p:nvPr/>
        </p:nvSpPr>
        <p:spPr>
          <a:xfrm>
            <a:off x="9956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Pod Running 且 Ready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h354c58d55cfae689_0_636"/>
          <p:cNvSpPr/>
          <p:nvPr/>
        </p:nvSpPr>
        <p:spPr>
          <a:xfrm>
            <a:off x="995680" y="2854958"/>
            <a:ext cx="2226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pod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h354c58d55cfae689_0_636"/>
          <p:cNvSpPr/>
          <p:nvPr/>
        </p:nvSpPr>
        <p:spPr>
          <a:xfrm>
            <a:off x="34956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753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h354c58d55cfae689_0_636"/>
          <p:cNvSpPr/>
          <p:nvPr/>
        </p:nvSpPr>
        <p:spPr>
          <a:xfrm>
            <a:off x="40436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h354c58d55cfae689_0_636"/>
          <p:cNvSpPr/>
          <p:nvPr/>
        </p:nvSpPr>
        <p:spPr>
          <a:xfrm>
            <a:off x="3675380" y="2237742"/>
            <a:ext cx="22263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Service 有 endpoints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h354c58d55cfae689_0_636"/>
          <p:cNvSpPr/>
          <p:nvPr/>
        </p:nvSpPr>
        <p:spPr>
          <a:xfrm>
            <a:off x="3675380" y="2590800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get endpoints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h354c58d55cfae689_0_636"/>
          <p:cNvSpPr/>
          <p:nvPr/>
        </p:nvSpPr>
        <p:spPr>
          <a:xfrm>
            <a:off x="61753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8" name="Google Shape;568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550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h354c58d55cfae689_0_636"/>
          <p:cNvSpPr/>
          <p:nvPr/>
        </p:nvSpPr>
        <p:spPr>
          <a:xfrm>
            <a:off x="67233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h354c58d55cfae689_0_636"/>
          <p:cNvSpPr/>
          <p:nvPr/>
        </p:nvSpPr>
        <p:spPr>
          <a:xfrm>
            <a:off x="63550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+ ResolvedRefs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h354c58d55cfae689_0_636"/>
          <p:cNvSpPr/>
          <p:nvPr/>
        </p:nvSpPr>
        <p:spPr>
          <a:xfrm>
            <a:off x="6355080" y="2854958"/>
            <a:ext cx="2226300" cy="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kubectl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describe </a:t>
            </a:r>
            <a:r>
              <a:rPr lang="en-US" sz="1200" b="0" i="0" u="none" strike="noStrike" cap="none" dirty="0" err="1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httproute</a:t>
            </a: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 -n &lt;ns&gt;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h354c58d55cfae689_0_636"/>
          <p:cNvSpPr/>
          <p:nvPr/>
        </p:nvSpPr>
        <p:spPr>
          <a:xfrm>
            <a:off x="8855075" y="1588133"/>
            <a:ext cx="2520900" cy="2134800"/>
          </a:xfrm>
          <a:prstGeom prst="roundRect">
            <a:avLst>
              <a:gd name="adj" fmla="val 461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3" name="Google Shape;573;h354c58d55cfae689_0_636" descr="CheckCircl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34780" y="183134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h354c58d55cfae689_0_636"/>
          <p:cNvSpPr/>
          <p:nvPr/>
        </p:nvSpPr>
        <p:spPr>
          <a:xfrm>
            <a:off x="9403080" y="1793242"/>
            <a:ext cx="220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6F6A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h354c58d55cfae689_0_636"/>
          <p:cNvSpPr/>
          <p:nvPr/>
        </p:nvSpPr>
        <p:spPr>
          <a:xfrm>
            <a:off x="9034780" y="2237742"/>
            <a:ext cx="22263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213D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curl 拿到應用的真實內容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h354c58d55cfae689_0_636"/>
          <p:cNvSpPr/>
          <p:nvPr/>
        </p:nvSpPr>
        <p:spPr>
          <a:xfrm>
            <a:off x="9034780" y="2854958"/>
            <a:ext cx="2226300" cy="68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ourier New"/>
              <a:buNone/>
            </a:pPr>
            <a:r>
              <a:rPr lang="en-US" sz="1200" b="0" i="0" u="none" strike="noStrike" cap="none" dirty="0">
                <a:solidFill>
                  <a:srgbClr val="4A5568"/>
                </a:solidFill>
                <a:latin typeface="Courier New"/>
                <a:ea typeface="Courier New"/>
                <a:cs typeface="Courier New"/>
                <a:sym typeface="Courier New"/>
              </a:rPr>
              <a:t>curl -k https://&lt;product&gt;.nexai.org.com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h354c58d55cfae689_0_636"/>
          <p:cNvSpPr/>
          <p:nvPr/>
        </p:nvSpPr>
        <p:spPr>
          <a:xfrm>
            <a:off x="812800" y="4030985"/>
            <a:ext cx="10566300" cy="1335900"/>
          </a:xfrm>
          <a:prstGeom prst="roundRect">
            <a:avLst>
              <a:gd name="adj" fmla="val 7605"/>
            </a:avLst>
          </a:prstGeom>
          <a:solidFill>
            <a:srgbClr val="1421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h354c58d55cfae689_0_636"/>
          <p:cNvSpPr/>
          <p:nvPr/>
        </p:nvSpPr>
        <p:spPr>
          <a:xfrm>
            <a:off x="1041400" y="4234185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單一產品收尾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h354c58d55cfae689_0_636"/>
          <p:cNvSpPr/>
          <p:nvPr/>
        </p:nvSpPr>
        <p:spPr>
          <a:xfrm>
            <a:off x="1041400" y="4472942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namespace &lt;product&gt;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h354c58d55cfae689_0_636"/>
          <p:cNvSpPr/>
          <p:nvPr/>
        </p:nvSpPr>
        <p:spPr>
          <a:xfrm>
            <a:off x="1041400" y="4711700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C96A8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8C96A8"/>
                </a:solidFill>
                <a:latin typeface="Courier New"/>
                <a:ea typeface="Courier New"/>
                <a:cs typeface="Courier New"/>
                <a:sym typeface="Courier New"/>
              </a:rPr>
              <a:t># 整門課結束：刪掉教學 Gateway 一次收尾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h354c58d55cfae689_0_636"/>
          <p:cNvSpPr/>
          <p:nvPr/>
        </p:nvSpPr>
        <p:spPr>
          <a:xfrm>
            <a:off x="1041400" y="4950458"/>
            <a:ext cx="10412400" cy="2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CF3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ECF3"/>
                </a:solidFill>
                <a:latin typeface="Courier New"/>
                <a:ea typeface="Courier New"/>
                <a:cs typeface="Courier New"/>
                <a:sym typeface="Courier New"/>
              </a:rPr>
              <a:t>kubectl delete -f dev-gateway.yaml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1 </a:t>
            </a:r>
            <a:r>
              <a:rPr lang="zh-TW" altLang="en-US" dirty="0"/>
              <a:t>站 </a:t>
            </a:r>
            <a:r>
              <a:rPr lang="en-US" altLang="zh-TW" dirty="0"/>
              <a:t>· draw.io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TW" altLang="en-US" dirty="0"/>
              <a:t>無狀態的起點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是開源的圖表繪製工具， 可用於繪製架構圖、流程圖、心智圖等，本身是純前端的無狀態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應用（</a:t>
            </a:r>
            <a:r>
              <a:rPr lang="en-US" altLang="zh-TW" sz="1600" dirty="0" err="1">
                <a:solidFill>
                  <a:schemeClr val="bg2"/>
                </a:solidFill>
              </a:rPr>
              <a:t>jgraph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en-US" altLang="zh-TW" sz="1600" dirty="0" err="1">
                <a:solidFill>
                  <a:schemeClr val="bg2"/>
                </a:solidFill>
              </a:rPr>
              <a:t>drawio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映像），不需要資料庫、不需要任何持久化儲存。</a:t>
            </a:r>
          </a:p>
        </p:txBody>
      </p:sp>
    </p:spTree>
    <p:extLst>
      <p:ext uri="{BB962C8B-B14F-4D97-AF65-F5344CB8AC3E}">
        <p14:creationId xmlns:p14="http://schemas.microsoft.com/office/powerpoint/2010/main" val="380872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1/3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47708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9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Deployment 會開 2 個 replica，每個 request 100m cpu；這個配額至少要能同時容納這兩個 Pod，且要跟同檔案裡的 limits.cpu: "2" 級距相稱（進階提示：太小會讓第二個 Pod 卡在 Pending，可對照 manifest-buggy/ 的除錯題感受這個症狀）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≥ Deployment 裡容器實際填的 limits.cpu，否則 Pod 會被 LimitRange 擋掉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≤ Deployment 裡容器實際填的 requests.memory，否則 Pod 會被 LimitRange 擋掉（下限擋掉輕量容器是本教材真的踩過的坑）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Deployment 要開幾個 Pod 副本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spec.replicas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HPA 的 minReplicas 搭配得上，架構圖上畫了幾個 Pod？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510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2/3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6507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draw.io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draw.io 的官方 Docker Hub 映像名稱 + 版本 tag，架構圖與本檔案上方教學註解都有寫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Service 的 targetPort: http 這個 named port 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這裡可以直接引用上面 ports 陣列裡取的 name，不用重複寫數字（跟 livenessProbe 那組保持一致寫法）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Linux capability 的「全部捨棄」該怎麼寫？（提示：全大寫的一個字）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285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實作：填空（3/3）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20 格（第 3/3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54941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03-service.yaml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HPA 要控制哪個 Deployment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scaleTargetRef.name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HPA 要控制哪個 Deployment？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HPA 最多能擴到幾個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maxReplicas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架構圖標了 HPA 的擴縮範圍，上限是多少？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05-hpa.yaml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CPU 使用率超過多少百分比要觸發擴容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metrics[0].resource.target.averageUtilization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架構圖上有寫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設定這條 NetworkPolicy 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allow-ingress-from-gateway.spec.podSelector.matchLabels.app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allow-ingress-from-gateway.spec.ingress[0].ports[0].port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__FILL_ME_8__ 應該是同一個號碼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36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replicas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image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jgraph/drawio:24.7.17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containerPort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readiness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drop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29598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"drawio.nexai.org.com"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scaleTargetRef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maxReplicas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averageUtilization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drawio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77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是 Running，透過 Gateway 連線卻得到 503 / connection refused。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drawio -n drawio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永遠 0/1 Ready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但 Ready 一直是 0，Events 出現 probe 失敗。錯的不是 containerPort，是引用它的地方。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狀態看起來正常，實際流量卻失敗。backendRefs 的號碼該對應 Service 的哪個 port？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drawio -n drawio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第二個 Pod 卡在 Pending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replicas=2 的第二隻一直起不來，Events 看到 exceeded quota。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drawio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611072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12517C"/>
                </a:solidFill>
                <a:latin typeface="+mj-lt"/>
              </a:rPr>
              <a:t>第 1 站 · draw.io</a:t>
            </a:r>
            <a:endParaRPr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03-service.yaml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drawio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要跟 Pod label 完全一致；Service 只認 label。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永遠 0/1 Ready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8081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readinessProbe port: http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probe 直接引用 named port，containerPort 改了也不會跟著錯。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04-httproute.yaml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backendRefs 填 Service 的 port，不是 containerPort。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第二個 Pod 卡在 Pending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"1"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個 Pod × 100m 就超過；HPA 最多 5 × 100m = 500m，抓 1 留餘裕。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51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2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filebrowser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RWX vs</a:t>
            </a:r>
            <a:r>
              <a:rPr lang="zh-TW" altLang="en-US" dirty="0"/>
              <a:t> </a:t>
            </a:r>
            <a:r>
              <a:rPr lang="en-US" altLang="zh-TW" dirty="0"/>
              <a:t>RWO</a:t>
            </a:r>
            <a:r>
              <a:rPr lang="zh-TW" altLang="en-US" dirty="0"/>
              <a:t>，有狀態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是一個網頁版檔案管理器， 提供瀏覽、上傳、下載、預覽，並整合 </a:t>
            </a:r>
            <a:r>
              <a:rPr lang="en-US" altLang="zh-TW" sz="1600" dirty="0" err="1">
                <a:solidFill>
                  <a:schemeClr val="bg2"/>
                </a:solidFill>
              </a:rPr>
              <a:t>onlyoffice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做線上 編輯 </a:t>
            </a:r>
            <a:r>
              <a:rPr lang="en-US" altLang="zh-TW" sz="1600" dirty="0">
                <a:solidFill>
                  <a:schemeClr val="bg2"/>
                </a:solidFill>
              </a:rPr>
              <a:t>Word / Excel / PPT</a:t>
            </a:r>
            <a:r>
              <a:rPr lang="zh-TW" altLang="en-US" sz="1600" dirty="0">
                <a:solidFill>
                  <a:schemeClr val="bg2"/>
                </a:solidFill>
              </a:rPr>
              <a:t>。</a:t>
            </a:r>
            <a:endParaRPr lang="en-US" altLang="zh-TW" sz="1600" dirty="0">
              <a:solidFill>
                <a:schemeClr val="bg2"/>
              </a:solidFill>
            </a:endParaRPr>
          </a:p>
          <a:p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（實際跑的映像是社群 </a:t>
            </a:r>
            <a:r>
              <a:rPr lang="en-US" altLang="zh-TW" sz="1400" dirty="0">
                <a:solidFill>
                  <a:schemeClr val="bg2"/>
                </a:solidFill>
              </a:rPr>
              <a:t>fork 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Quantum</a:t>
            </a:r>
            <a:r>
              <a:rPr lang="zh-TW" altLang="en-US" sz="1400" dirty="0">
                <a:solidFill>
                  <a:schemeClr val="bg2"/>
                </a:solidFill>
              </a:rPr>
              <a:t>，</a:t>
            </a:r>
            <a:r>
              <a:rPr lang="en-US" altLang="zh-TW" sz="1400" dirty="0" err="1">
                <a:solidFill>
                  <a:schemeClr val="bg2"/>
                </a:solidFill>
              </a:rPr>
              <a:t>gtstef</a:t>
            </a:r>
            <a:r>
              <a:rPr lang="en-US" altLang="zh-TW" sz="1400" dirty="0">
                <a:solidFill>
                  <a:schemeClr val="bg2"/>
                </a:solidFill>
              </a:rPr>
              <a:t>/filebrowser:1.5.6-stable</a:t>
            </a:r>
            <a:r>
              <a:rPr lang="zh-TW" altLang="en-US" sz="1400" dirty="0">
                <a:solidFill>
                  <a:schemeClr val="bg2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14561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1/4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235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設定整個 namespace 最多能同時申請多少 PVC 總儲存空間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ResourceQuota.hard.requests.storage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看 02-pvc.yaml 兩顆 PVC 各申請多少 storage，加總後再留一點擴容餘裕（詳見上面「資源該給多少」章節）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設定單一容器最多能要多少記憶體（上限）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LimitRange.max.memory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必須 ≥ Deployment 容器實際填的 limits.memory，否則 Pod 會被 LimitRange 擋掉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filebrowser-srv 這顆 PVC 要能被多個 Pod 同時掛載讀寫，該選哪一種存取模式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filebrowser-srv.spec.accessModes[0]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這顆 PVC 放的是使用者實際檔案，將來要支援多 Pod 同時讀寫；本產品說明段已經寫了答案是哪一種模式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filebrowser-srv 該接哪一個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filebrowser-srv.spec.storageClassName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要支援上一題選的存取模式，叢集裡哪個 StorageClass 是 CephFS（檔案系統型、支援多寫）？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83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2/4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3059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filebrowser-db 放的是 sqlite 資料庫，只能有一個行程寫入，該選哪一種存取模式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filebrowser-db.spec.accessModes[0]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跟上面 filebrowser-srv 的選擇正好相反，為什麼？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filebrowser-db 該接哪一個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filebrowser-db.spec.storageClassName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要支援上一題選的存取模式，叢集裡哪個 StorageClass 是 Ceph RBD（區塊儲存、單寫）？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關掉啟動時對外檢查新版本的功能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data."config.yaml".server.disableUpdateCheck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檔案上方的教學註解完整解釋了這個踩過的坑（開機卡 31 秒），該填 true 還是 false？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93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filebrowser 後端要用叢集內部哪個網址呼叫自己（給 OnlyOffice Document Server 回頭抓檔案用）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data."config.yaml".server.internalUrl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格式是 http://&lt;Service 名稱&gt;.&lt;namespace&gt;.svc.cluster.local，對照 05-service.yaml 跟 00-namespace.yaml 填的值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設定檔案來源要對應到容器裡的哪個掛載路徑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data."config.yaml".server.sources[0].path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04-deployment.yaml 的 volumeMounts，filebrowser-srv 這顆 PVC 掛在容器內的哪個路徑？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Deployment 要開幾個 Pod 副本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spec.replicas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sqlite 資料庫不支援多個行程同時寫入，這個產品說明段已經講了答案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85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3/4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3157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設定滾動更新策略要用哪一種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spec.strategy.type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draw.io 用的 RollingUpdate 不一樣——因為 RWO 的 filebrowser-db 同時間只能被一個節點掛載，若新舊 Pod 同時存在會搶不到volume，該用哪個策略先把舊 Pod 整個砍掉，再建立新的？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FileBrowser Quantum 官方穩定線容器映像的名稱與版本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../README.md 開頭已經寫了目前用的正式版映像 tag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Service 的 targetPort 這個 named port、還有 ConfigMap 裡 server.port 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可以直接引用上面 ports 陣列裡取的 name，不用重複寫數字（跟 livenessProbe 那組保持一致寫法）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Linux capability 的「全部捨棄」該怎麼寫？（提示：全大寫的一個字）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的除錯題就是在考類似的坑）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996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4/4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6507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05-service.yaml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allow-ingress-from-gateway 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spec.ingress[0].ports[0].port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__FILL_ME_15__ 應該是同一個號碼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allow-egress-filebrowser-to-onlyoffice 這條 egress 規則要放行到哪個 namespace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spec.egress[0].to[0].namespaceSelector.matchLabels."kubernetes.io/metadata.name"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filebrowser 要主動呼叫哪個產品的 Document Server 才能做 OnlyOffice 整合？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18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3934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storage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20Gi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disableUpdateCheck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internalUrl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http://filebrowser.filebrowser.svc.cluster.local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sources.path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/srv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replicas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strategy.type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Recreate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6656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gtstef/filebrowser:1.5.6-stable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drop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"filebrowser.nexai.org.com"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ingress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1301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其中一顆 PVC 遲遲不 Bound，Events 提到 provisioning / access mode。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-n filebrowser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filebrowser -n filebrowser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找不到設定檔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卡在 ContainerCreating，或一啟動就報錯找不到設定檔 / 某個 key。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filebrowser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下一次更新才卡住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第一次 apply 完全正常；之後改 image tag 或任何欄位，新 Pod 就卡住。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rollout status deploy/filebrowser -n filebrowser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546667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45991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rook-ceph-block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filebrowser-srv: rook-cephfs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RWX 需要檔案系統型的 CephFS；RBD 區塊儲存不支援多節點寫入。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file-browser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filebrowser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找不到設定檔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03-configmap.yaml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config.yml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data key: config.yaml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Deployment 用 subPath: config.yaml 掛載，ConfigMap 的 key 要同名。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下一次更新才卡住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RollingUpdate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strategy.type: Recreate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RWO 的 filebrowser-db 只能掛一個節點，舊 Pod 要先完全終止釋放 volume。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637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延伸：踩坑案例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5F6A450C-5DB3-485A-99B2-B6834A839237}"/>
              </a:ext>
            </a:extLst>
          </p:cNvPr>
          <p:cNvGrpSpPr/>
          <p:nvPr/>
        </p:nvGrpSpPr>
        <p:grpSpPr>
          <a:xfrm>
            <a:off x="579808" y="1877696"/>
            <a:ext cx="3616510" cy="2908200"/>
            <a:chOff x="815975" y="1877696"/>
            <a:chExt cx="3616510" cy="2908200"/>
          </a:xfrm>
        </p:grpSpPr>
        <p:sp>
          <p:nvSpPr>
            <p:cNvPr id="24" name="Google Shape;319;h354c58d55cfae689_0_408">
              <a:extLst>
                <a:ext uri="{FF2B5EF4-FFF2-40B4-BE49-F238E27FC236}">
                  <a16:creationId xmlns:a16="http://schemas.microsoft.com/office/drawing/2014/main" id="{48A86278-F8EE-4375-B9C5-52E80503EE30}"/>
                </a:ext>
              </a:extLst>
            </p:cNvPr>
            <p:cNvSpPr/>
            <p:nvPr/>
          </p:nvSpPr>
          <p:spPr>
            <a:xfrm>
              <a:off x="815975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0;h354c58d55cfae689_0_408">
              <a:extLst>
                <a:ext uri="{FF2B5EF4-FFF2-40B4-BE49-F238E27FC236}">
                  <a16:creationId xmlns:a16="http://schemas.microsoft.com/office/drawing/2014/main" id="{E592CDA7-1BDB-4796-A0BD-E43EE5B02EE5}"/>
                </a:ext>
              </a:extLst>
            </p:cNvPr>
            <p:cNvSpPr/>
            <p:nvPr/>
          </p:nvSpPr>
          <p:spPr>
            <a:xfrm>
              <a:off x="1021079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容器</a:t>
              </a:r>
              <a:r>
                <a:rPr lang="en-US" sz="1600" b="1" i="0" u="none" strike="noStrike" cap="none" dirty="0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600" b="1" i="0" u="none" strike="noStrike" cap="none" dirty="0" err="1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FATAL：找不到設定檔</a:t>
              </a: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21;h354c58d55cfae689_0_408">
              <a:extLst>
                <a:ext uri="{FF2B5EF4-FFF2-40B4-BE49-F238E27FC236}">
                  <a16:creationId xmlns:a16="http://schemas.microsoft.com/office/drawing/2014/main" id="{3B7CFD9F-2FF7-48B2-9B40-4A4566312CE0}"/>
                </a:ext>
              </a:extLst>
            </p:cNvPr>
            <p:cNvSpPr/>
            <p:nvPr/>
          </p:nvSpPr>
          <p:spPr>
            <a:xfrm>
              <a:off x="1021079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22;h354c58d55cfae689_0_408">
              <a:extLst>
                <a:ext uri="{FF2B5EF4-FFF2-40B4-BE49-F238E27FC236}">
                  <a16:creationId xmlns:a16="http://schemas.microsoft.com/office/drawing/2014/main" id="{D61766E5-EC37-4FCD-A140-2CC824AAAEAF}"/>
                </a:ext>
              </a:extLst>
            </p:cNvPr>
            <p:cNvSpPr/>
            <p:nvPr/>
          </p:nvSpPr>
          <p:spPr>
            <a:xfrm>
              <a:off x="1021079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image 的 entrypoint 不轉發 -c 參數，只認官方預設路徑。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323;h354c58d55cfae689_0_408">
              <a:extLst>
                <a:ext uri="{FF2B5EF4-FFF2-40B4-BE49-F238E27FC236}">
                  <a16:creationId xmlns:a16="http://schemas.microsoft.com/office/drawing/2014/main" id="{E47C01AB-7599-4D83-B682-00428EDC9C50}"/>
                </a:ext>
              </a:extLst>
            </p:cNvPr>
            <p:cNvSpPr/>
            <p:nvPr/>
          </p:nvSpPr>
          <p:spPr>
            <a:xfrm>
              <a:off x="1021079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324;h354c58d55cfae689_0_408">
              <a:extLst>
                <a:ext uri="{FF2B5EF4-FFF2-40B4-BE49-F238E27FC236}">
                  <a16:creationId xmlns:a16="http://schemas.microsoft.com/office/drawing/2014/main" id="{056EB0A9-99D9-4EC8-A035-7F835CE3DE42}"/>
                </a:ext>
              </a:extLst>
            </p:cNvPr>
            <p:cNvSpPr/>
            <p:nvPr/>
          </p:nvSpPr>
          <p:spPr>
            <a:xfrm>
              <a:off x="1021079" y="3573779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不跟 entrypoint 對抗：用 subPath 把 ConfigMap 疊到預設路徑的 config.yaml。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2F291005-DDD3-4C0E-BF66-BFF0B1D4BB43}"/>
              </a:ext>
            </a:extLst>
          </p:cNvPr>
          <p:cNvGrpSpPr/>
          <p:nvPr/>
        </p:nvGrpSpPr>
        <p:grpSpPr>
          <a:xfrm>
            <a:off x="4405789" y="1877696"/>
            <a:ext cx="3616510" cy="2908200"/>
            <a:chOff x="4405789" y="1877696"/>
            <a:chExt cx="3616510" cy="2908200"/>
          </a:xfrm>
        </p:grpSpPr>
        <p:sp>
          <p:nvSpPr>
            <p:cNvPr id="30" name="Google Shape;325;h354c58d55cfae689_0_408">
              <a:extLst>
                <a:ext uri="{FF2B5EF4-FFF2-40B4-BE49-F238E27FC236}">
                  <a16:creationId xmlns:a16="http://schemas.microsoft.com/office/drawing/2014/main" id="{5473ADFE-74D4-478A-94EB-236877C7EA35}"/>
                </a:ext>
              </a:extLst>
            </p:cNvPr>
            <p:cNvSpPr/>
            <p:nvPr/>
          </p:nvSpPr>
          <p:spPr>
            <a:xfrm>
              <a:off x="4405789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6;h354c58d55cfae689_0_408">
              <a:extLst>
                <a:ext uri="{FF2B5EF4-FFF2-40B4-BE49-F238E27FC236}">
                  <a16:creationId xmlns:a16="http://schemas.microsoft.com/office/drawing/2014/main" id="{A0C04AB1-3E1A-4AAB-B5F1-9858F54665B7}"/>
                </a:ext>
              </a:extLst>
            </p:cNvPr>
            <p:cNvSpPr/>
            <p:nvPr/>
          </p:nvSpPr>
          <p:spPr>
            <a:xfrm>
              <a:off x="4610893" y="2082800"/>
              <a:ext cx="3272768" cy="55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編輯器顯示「目前無法存取該檔案」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7;h354c58d55cfae689_0_408">
              <a:extLst>
                <a:ext uri="{FF2B5EF4-FFF2-40B4-BE49-F238E27FC236}">
                  <a16:creationId xmlns:a16="http://schemas.microsoft.com/office/drawing/2014/main" id="{FAB7DD50-EC90-4084-9EC0-4C086BAC722B}"/>
                </a:ext>
              </a:extLst>
            </p:cNvPr>
            <p:cNvSpPr/>
            <p:nvPr/>
          </p:nvSpPr>
          <p:spPr>
            <a:xfrm>
              <a:off x="4610893" y="26873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28;h354c58d55cfae689_0_408">
              <a:extLst>
                <a:ext uri="{FF2B5EF4-FFF2-40B4-BE49-F238E27FC236}">
                  <a16:creationId xmlns:a16="http://schemas.microsoft.com/office/drawing/2014/main" id="{B87436AB-1D25-41B6-B623-7D3A7FC4AD50}"/>
                </a:ext>
              </a:extLst>
            </p:cNvPr>
            <p:cNvSpPr/>
            <p:nvPr/>
          </p:nvSpPr>
          <p:spPr>
            <a:xfrm>
              <a:off x="4610893" y="29768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document.url 用了瀏覽器網址；onlyoffice 回頭抓檔案的方向也沒放行。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329;h354c58d55cfae689_0_408">
              <a:extLst>
                <a:ext uri="{FF2B5EF4-FFF2-40B4-BE49-F238E27FC236}">
                  <a16:creationId xmlns:a16="http://schemas.microsoft.com/office/drawing/2014/main" id="{46A1F355-63FE-485D-AF95-E96856150DB2}"/>
                </a:ext>
              </a:extLst>
            </p:cNvPr>
            <p:cNvSpPr/>
            <p:nvPr/>
          </p:nvSpPr>
          <p:spPr>
            <a:xfrm>
              <a:off x="4610893" y="3548379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30;h354c58d55cfae689_0_408">
              <a:extLst>
                <a:ext uri="{FF2B5EF4-FFF2-40B4-BE49-F238E27FC236}">
                  <a16:creationId xmlns:a16="http://schemas.microsoft.com/office/drawing/2014/main" id="{D622DF67-263B-4189-9524-FBBA7464441C}"/>
                </a:ext>
              </a:extLst>
            </p:cNvPr>
            <p:cNvSpPr/>
            <p:nvPr/>
          </p:nvSpPr>
          <p:spPr>
            <a:xfrm>
              <a:off x="4610893" y="3837942"/>
              <a:ext cx="3272768" cy="768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設定 server.internalUrl，並補上 onlyoffice → filebrowser 的 NetworkPolicy。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CF287CD5-670F-4200-B1C6-A6786F189BD8}"/>
              </a:ext>
            </a:extLst>
          </p:cNvPr>
          <p:cNvGrpSpPr/>
          <p:nvPr/>
        </p:nvGrpSpPr>
        <p:grpSpPr>
          <a:xfrm>
            <a:off x="8227403" y="1877696"/>
            <a:ext cx="3616510" cy="2908200"/>
            <a:chOff x="7995682" y="1877696"/>
            <a:chExt cx="3616510" cy="2908200"/>
          </a:xfrm>
        </p:grpSpPr>
        <p:sp>
          <p:nvSpPr>
            <p:cNvPr id="57" name="Google Shape;331;h354c58d55cfae689_0_408">
              <a:extLst>
                <a:ext uri="{FF2B5EF4-FFF2-40B4-BE49-F238E27FC236}">
                  <a16:creationId xmlns:a16="http://schemas.microsoft.com/office/drawing/2014/main" id="{6C45B7C9-B126-43B1-B6A3-15023F90005D}"/>
                </a:ext>
              </a:extLst>
            </p:cNvPr>
            <p:cNvSpPr/>
            <p:nvPr/>
          </p:nvSpPr>
          <p:spPr>
            <a:xfrm>
              <a:off x="7995682" y="1877696"/>
              <a:ext cx="3616510" cy="2908200"/>
            </a:xfrm>
            <a:prstGeom prst="roundRect">
              <a:avLst>
                <a:gd name="adj" fmla="val 3384"/>
              </a:avLst>
            </a:prstGeom>
            <a:solidFill>
              <a:srgbClr val="FDFCF9"/>
            </a:solidFill>
            <a:ln w="9525" cap="flat" cmpd="sng">
              <a:solidFill>
                <a:srgbClr val="DEDAD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2;h354c58d55cfae689_0_408">
              <a:extLst>
                <a:ext uri="{FF2B5EF4-FFF2-40B4-BE49-F238E27FC236}">
                  <a16:creationId xmlns:a16="http://schemas.microsoft.com/office/drawing/2014/main" id="{FB4FDDBA-12CA-4E66-ACE5-4836B1C171F8}"/>
                </a:ext>
              </a:extLst>
            </p:cNvPr>
            <p:cNvSpPr/>
            <p:nvPr/>
          </p:nvSpPr>
          <p:spPr>
            <a:xfrm>
              <a:off x="8200786" y="2082800"/>
              <a:ext cx="3272768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4213D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14213D"/>
                  </a:solidFill>
                  <a:latin typeface="Arial"/>
                  <a:ea typeface="Arial"/>
                  <a:cs typeface="Arial"/>
                  <a:sym typeface="Arial"/>
                </a:rPr>
                <a:t>每次開機卡 31 秒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333;h354c58d55cfae689_0_408">
              <a:extLst>
                <a:ext uri="{FF2B5EF4-FFF2-40B4-BE49-F238E27FC236}">
                  <a16:creationId xmlns:a16="http://schemas.microsoft.com/office/drawing/2014/main" id="{F83FCA74-BFBD-4702-8469-466D78FCABF5}"/>
                </a:ext>
              </a:extLst>
            </p:cNvPr>
            <p:cNvSpPr/>
            <p:nvPr/>
          </p:nvSpPr>
          <p:spPr>
            <a:xfrm>
              <a:off x="8200786" y="2423164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原因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334;h354c58d55cfae689_0_408">
              <a:extLst>
                <a:ext uri="{FF2B5EF4-FFF2-40B4-BE49-F238E27FC236}">
                  <a16:creationId xmlns:a16="http://schemas.microsoft.com/office/drawing/2014/main" id="{4D4ED0FF-923A-4653-8EBD-D7F0CB0290DE}"/>
                </a:ext>
              </a:extLst>
            </p:cNvPr>
            <p:cNvSpPr/>
            <p:nvPr/>
          </p:nvSpPr>
          <p:spPr>
            <a:xfrm>
              <a:off x="8200786" y="2712721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啟動時同步檢查 GitHub 新版本，連線被 NetworkPolicy 悄悄丟棄。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335;h354c58d55cfae689_0_408">
              <a:extLst>
                <a:ext uri="{FF2B5EF4-FFF2-40B4-BE49-F238E27FC236}">
                  <a16:creationId xmlns:a16="http://schemas.microsoft.com/office/drawing/2014/main" id="{8047A49A-FD97-47D8-859B-E73A231AAB60}"/>
                </a:ext>
              </a:extLst>
            </p:cNvPr>
            <p:cNvSpPr/>
            <p:nvPr/>
          </p:nvSpPr>
          <p:spPr>
            <a:xfrm>
              <a:off x="8200786" y="3284221"/>
              <a:ext cx="3272768" cy="23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6F6A"/>
                </a:buClr>
                <a:buSzPts val="1200"/>
                <a:buFont typeface="Arial"/>
                <a:buNone/>
              </a:pPr>
              <a:r>
                <a:rPr lang="en-US" sz="1200" b="1" i="0" u="none" strike="noStrike" cap="none">
                  <a:solidFill>
                    <a:srgbClr val="1B6F6A"/>
                  </a:solidFill>
                  <a:latin typeface="Arial"/>
                  <a:ea typeface="Arial"/>
                  <a:cs typeface="Arial"/>
                  <a:sym typeface="Arial"/>
                </a:rPr>
                <a:t>解法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336;h354c58d55cfae689_0_408">
              <a:extLst>
                <a:ext uri="{FF2B5EF4-FFF2-40B4-BE49-F238E27FC236}">
                  <a16:creationId xmlns:a16="http://schemas.microsoft.com/office/drawing/2014/main" id="{2F649A39-74EB-4F83-9E42-1211A20DBB2E}"/>
                </a:ext>
              </a:extLst>
            </p:cNvPr>
            <p:cNvSpPr/>
            <p:nvPr/>
          </p:nvSpPr>
          <p:spPr>
            <a:xfrm>
              <a:off x="8200786" y="3573779"/>
              <a:ext cx="3272768" cy="5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5568"/>
                </a:buClr>
                <a:buSzPts val="1300"/>
                <a:buFont typeface="Arial"/>
                <a:buNone/>
              </a:pPr>
              <a:r>
                <a:rPr lang="en-US" sz="1300" b="0" i="0" u="none" strike="noStrike" cap="none">
                  <a:solidFill>
                    <a:srgbClr val="4A5568"/>
                  </a:solidFill>
                  <a:latin typeface="Arial"/>
                  <a:ea typeface="Arial"/>
                  <a:cs typeface="Arial"/>
                  <a:sym typeface="Arial"/>
                </a:rPr>
                <a:t>server.disableUpdateCheck: true，開機時間降到 2 秒內。</a:t>
              </a:r>
              <a:endPara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217;h354c58d55cfae689_0_309">
            <a:extLst>
              <a:ext uri="{FF2B5EF4-FFF2-40B4-BE49-F238E27FC236}">
                <a16:creationId xmlns:a16="http://schemas.microsoft.com/office/drawing/2014/main" id="{3F23EB91-77FF-4B23-B77F-EC6EF97F1270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2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b="1" dirty="0" err="1">
                <a:solidFill>
                  <a:srgbClr val="12517C"/>
                </a:solidFill>
                <a:latin typeface="+mj-lt"/>
              </a:rPr>
              <a:t>filebrowser</a:t>
            </a:r>
            <a:endParaRPr lang="en-US" b="1" dirty="0">
              <a:solidFill>
                <a:srgbClr val="12517C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80638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3 </a:t>
            </a:r>
            <a:r>
              <a:rPr lang="zh-TW" altLang="en-US" dirty="0"/>
              <a:t>站 </a:t>
            </a:r>
            <a:r>
              <a:rPr lang="en-US" altLang="zh-TW" dirty="0"/>
              <a:t>· 	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en-US" altLang="zh-TW" dirty="0"/>
              <a:t>App </a:t>
            </a:r>
            <a:r>
              <a:rPr lang="zh-TW" altLang="en-US" dirty="0"/>
              <a:t>與 </a:t>
            </a:r>
            <a:r>
              <a:rPr lang="en-US" altLang="zh-TW" dirty="0"/>
              <a:t>MySQL </a:t>
            </a:r>
            <a:r>
              <a:rPr lang="zh-TW" altLang="en-US" dirty="0"/>
              <a:t>住同一個 </a:t>
            </a:r>
            <a:r>
              <a:rPr lang="en-US" altLang="zh-TW" dirty="0"/>
              <a:t>namespace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是極簡、輕量且現代化的開源討論區</a:t>
            </a:r>
            <a:r>
              <a:rPr lang="en-US" altLang="zh-TW" sz="1600" dirty="0">
                <a:solidFill>
                  <a:schemeClr val="bg2"/>
                </a:solidFill>
              </a:rPr>
              <a:t>/</a:t>
            </a:r>
            <a:r>
              <a:rPr lang="zh-TW" altLang="en-US" sz="1600" dirty="0">
                <a:solidFill>
                  <a:schemeClr val="bg2"/>
                </a:solidFill>
              </a:rPr>
              <a:t>論壇軟體。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mondedie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flarum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509807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394007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flarum 與 mysql 兩個容器的 requests.cpu 加總是多少？這個配額至少要能同時容納兩者，並留一點餘裕（上方「資源該給多少」章節有完整算法）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namespace 裡兩個工作負載（flarum Deployment、mysql StatefulSet）各自的 limits.cpu 哪個比較高？max 至少要蓋過那一個，否則那個 Pod 會建立不起來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設定單一容器最多能要多少記憶體（上限）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同上，但這次兩個工作負載的 limits.memory 剛好一樣高，max 要留多少緩衝？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02-mysql-secret.yaml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Secret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07 號檔案的 flarum Deployment 會用 secretKeyRef 指定這個名字去讀 MYSQL_PASSWORD，兩邊要對得上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836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39928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03-mysql-service.yaml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要變成 Headless（無 ClusterIP）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StatefulSet 要搭配哪種特殊值的 Service，才能讓每個 Pod 拿到穩定的 DNS 名稱？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StatefulSet 要用哪個 Headless Service 提供網路身分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spec.serviceName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03-mysql-service.yaml 建立的 Service 名稱一致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設定容器要從哪個 Secret 讀取一整組環境變數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envFrom[0].secretRef.name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02-mysql-secret.yaml 建立的 Secret 名稱一致（也就是 __FILL_ME_6__ 的答案）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livenessProbe 要等多久才開始檢查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上面教學註解已經寫了實測數字：mysql 第一次 initdb 在這座叢集要跑多久？抓太短會怎樣？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volumeClaimTemplates[0].spec.storageClassName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mysql 資料庫是單一 Pod 寫入，該選 RWO 還是 RWX 的 StorageClass？這座叢集的 RWO StorageClass 叫什麼？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05-flarum-secret.yaml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Secret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07 號檔案的 flarum Deployment 會用 secretKeyRef 指定這個名字去讀 FLARUM_ADMIN_PASS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05-flarum-secret.yaml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 後台管理員的登入密碼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stringData.FLARUM_ADMIN_PASS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只是教學用途，跟 ../../flarum/README.md 寫的預設密碼一致即可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476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39928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flarum-storage 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accessModes[0]（flarum-storage）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只有一個 replica 在寫這些執行期資料（log/cache/session），需要多個節點同時掛載嗎？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flarum-storage 這顆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storageClassName（flarum-storage）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呼應上一題的存取模式，這座叢集哪個 StorageClass 對應 RWO？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flarum-assets 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accessModes[0]（flarum-assets）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上傳的頭像/附加檔未來可能要給多個 Pod 同時讀寫，需要哪種存取模式？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06-flarum-pvc.yaml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flarum-assets 這顆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storageClassName（flarum-assets）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呼應上一題，這座叢集哪個 StorageClass 支援多寫者（RWX）？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決定要不要關閉 K8s 自動注入的 Service 環境變數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spec.template.spec.enableServiceLinks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上面教學註解解釋了 FLARUM_PORT 撞名的坑，這裡該填 true 還是 false？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initContainer 要把目錄的擁有者改成哪個 uid:gid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initContainers[0].command（chown -R 的目標）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要跟主容器實際執行的使用者一致，才不會主容器沒有寫入權限（提示：同檔案 fsGroup 那行寫的號碼，兩處要一致）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設定要連線到哪個資料庫主機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env[DB_HOST].value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 namespace 裡 mysql 的 Service 叫什麼名字？不需要完整 FQDN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889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39928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設定要從哪個 Secret 讀取資料庫密碼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env[DB_PASS].valueFrom.secretKeyRef.name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這是全課程唯一一個「同 namespace 兩個 Secret 互相引用」的例子，密碼實際存在哪個 Secret 物件裡？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設定要從哪個 Secret 讀取後台管理員密碼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env[FLARUM_ADMIN_PASS].valueFrom.secretKeyRef.name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跟上一題是不同的 Secret，答案在 05 號檔案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livenessProbe 要等多久才開始檢查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Flarum 第一次啟動要實際跑完安裝流程（連 MySQL、建表），這個延遲該抓多寬鬆？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flarum-storage 這顆 PVC 要掛到容器內的哪個路徑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volumeMounts[storage].mountPath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只掛「資料類」子目錄，不要整個 /flarum/app（上面教學註解解釋了為什麼），這裡該填哪個路徑？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flarum-assets 這顆 PVC 要掛到容器內的哪個路徑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volumeMounts[assets].mountPath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同上，這次是給使用者上傳頭像/附加檔用的子目錄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08-flarum-service.yaml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07-flarum-deployment.yaml 的 template.metadata.labels.app 必須完全一致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08-flarum-service.yaml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68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35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98570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parentRefs[*].name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底下那份共用資源叫什麼名字（http、https 兩個 parentRefs 都是同一個答案）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是什麼？且要跟 07 號檔案的 FORUM_URL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08-flarum-service.yaml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allow-ingress-to-mysql-from-flarum 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這條規則的名字已經告訴你保護的對象是誰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設定只放行哪個標籤的 Pod 連進 mysql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ingress[0].from[0].podSelector.matchLabels.app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這條規則的名字已經告訴你允許誰連進來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設定只放行進到 mysql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ingress[0].ports[0].port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mysql 對外服務的是哪個號碼？跟 03-mysql-service.yaml 的 port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allow-egress-flarum-to-mysql 這條規則要限制哪些 Pod 的對外流量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這條規則的名字已經告訴你限制的對象是誰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設定這些 Pod 的對外流量只能連到哪個標籤的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egress[0].to[0].podSelector.matchLabels.app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這條規則的名字已經告訴你允許連到誰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604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009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"750m"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Secret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secretRef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delay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Secret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829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FLARUM_ADMIN_PASS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"TrainingAdmin123!"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enableServiceLinks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false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chown uid:gid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991:991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DB_HOST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"mysql"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DB_PASS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mysql-secret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secretRef ADMIN_PASS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flarum-secret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liveness delay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/flarum/app/storage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899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/flarum/app/public/assets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"flarum.nexai.org.com"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from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ingress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mysql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940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mysql 過一陣子就重啟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剛部署看起來正常，之後 CrashLoopBackOff，密碼對也連不進去，只能砍 PVC 重來。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mysql-0 -n flarum</a:t>
            </a:r>
            <a:endParaRPr lang="zh-TW" altLang="en-US" sz="105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flarum 連 DB 認證失敗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起不來，看得到資料庫連線 / 認證錯誤，但 mysql 本身是健康的。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收到沒設定過的埠號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啟動後很快崩潰，錯誤訊息像是監聽的 port 設定對不上。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deploy/flarum -n flarum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程式檔案不見了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flarum 一直不 Ready 或馬上出錯，像是程式碼不見、預期的路徑是空的。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flarum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兩邊 Pod 都健康，套用 10-networkpolicy 之後 flarum 連 mysql 卻 timeout。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nc -zv mysql 3306（在 flarum Pod 內）</a:t>
            </a:r>
            <a:endParaRPr lang="zh-TW" altLang="en-US" sz="11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554530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3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flarum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95692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過一陣子就重啟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04-mysql-statefulset.yaml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20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liveness initialDelaySeconds: 60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第一次 initdb 還沒跑完就被 livenessProbe 砍掉，資料目錄初始化到一半壞掉。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 連 DB 認證失敗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flarum-secret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 secretKeyRef: mysql-secret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MYSQL_PASSWORD 存在 mysql-secret；flarum-secret 只有管理員密碼。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收到沒設定過的埠號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（缺）enableServiceLinks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enableServiceLinks: false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叫 flarum，K8s 自動注入 FLARUM_PORT=tcp://… 蓋掉應用設定。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程式檔案不見了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07-flarum-deployment.yaml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 mountPath: /flarum/app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mountPath: /flarum/app/storage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 PVC 掛到整個 /flarum/app，把 image 裡的程式蓋掉了。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flarum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放行來源的 label 要對到 flarum Pod 真正的 label。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009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4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planka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同樣架構，換成 </a:t>
            </a:r>
            <a:r>
              <a:rPr lang="en-US" altLang="zh-TW" dirty="0"/>
              <a:t>PostgreSQL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是開源、輕量的看板式專案管理工具。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ghcr.io/</a:t>
            </a:r>
            <a:r>
              <a:rPr lang="en-US" altLang="zh-TW" sz="1400" dirty="0" err="1">
                <a:solidFill>
                  <a:schemeClr val="bg2"/>
                </a:solidFill>
              </a:rPr>
              <a:t>plankanban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planka</a:t>
            </a:r>
            <a:r>
              <a:rPr lang="zh-TW" altLang="en-US" sz="1400" dirty="0">
                <a:solidFill>
                  <a:schemeClr val="bg2"/>
                </a:solidFill>
              </a:rPr>
              <a:t> 映像）</a:t>
            </a:r>
          </a:p>
        </p:txBody>
      </p:sp>
    </p:spTree>
    <p:extLst>
      <p:ext uri="{BB962C8B-B14F-4D97-AF65-F5344CB8AC3E}">
        <p14:creationId xmlns:p14="http://schemas.microsoft.com/office/powerpoint/2010/main" val="22696887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42605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README 標題已經告訴你這個產品叫什麼，之後每個檔案的 namespace: 都要跟它一致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namespace 同時跑 postgres（requests.cpu 200m）跟 planka（requests.cpu 150m）兩個元件，配額至少要能同時容納兩者加總（350m），並留一點手動擴充的餘裕（詳見上方「資源判斷」章節）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≥ namespace 裡「limits.cpu 最大」的那個容器；這個 namespace 裡誰的 limits.cpu 最大，postgres 還是 planka？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≤ namespace 裡「requests.memory 最小」的那個容器；這個 namespace 裡誰的 requests.memory 最小？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PostgreSQL 的資料庫密碼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stringData.POSTGRES_PASSWORD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這個密碼之後會被 05-planka-secret.yaml 的 DATABASE_URL 引用，兩邊必須一致；密碼故意不含 @ : / 這類 URI 保留字元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4211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3157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03-postgres-service.yaml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要不要有自己的 ClusterIP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StatefulSet 通常搭配哪一種特殊 Service，讓每個 Pod 有自己穩定的 DNS 名稱，而不是共用一個虛擬 IP？（提示：檔名已經寫了 Headless）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03-postgres-service.yaml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04-postgres-statefulset.yaml 的 template.metadata.labels.app 必須完全一致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StatefulSet 要綁定哪個 Headless Service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spec.serviceName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要對到 03-postgres-service.yaml 的 metadata.name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PostgreSQL 資料目錄實際要放在掛載點底下的哪個子路徑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env[PGDATA].value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不要直接指到 volumeMounts.mountPath 的根目錄——Ceph RBD 格式化成 ext4 後，掛載點根目錄一開始就有一個資料夾，會讓 postgres 的 initdb 誤判「目錄不是空的」而拒絕啟動，指到子目錄可以避開這個問題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liveness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livenessProbe.tcpSocket.port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可以直接引用上面 ports 陣列取的 name，不用重複寫數字 5432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volumeClaimTemplates.spec.accessModes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這顆 PVC 全程只會有 1 個 postgres Pod 掛它，該選單一節點讀寫還是多節點讀寫？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509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841302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設定這顆 PVC 要用叢集裡哪一種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volumeClaimTemplates.spec.storageClassName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資料庫類單寫場景，這座叢集提供的哪一種 StorageClass 對應 Ceph RBD（區塊儲存）？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05-planka-secret.yaml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組出 Planka 連線 PostgreSQL 用的完整連線字串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stringData.DATABASE_URL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格式是 postgresql://&lt;user&gt;:&lt;password&gt;@&lt;host&gt;:&lt;port&gt;/&lt;db&gt;；user/password/db 要跟 02-postgres-secret.yaml 一致，host 直接用 03-postgres-service.yaml 的 Service 名稱即可（同 namespace 不需要 FQDN）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06-planka-pvc.yaml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設定這顆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spec.accessModes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使用者上傳的頭像/附件未來可能要給多個 Pod 同時讀寫，該選哪一種存取模式？（跟 __FILL_ME_12__ 的 postgres PVC 刻意不同，注意對照）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 Planka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官方發布在 ghcr.io（不是 Docker Hub）的映像名稱，本檔案上方教學註解跟 ../README.md 都有提到這個 image 拉取比較慢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設定對外宣告的服務網址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env[BASE_URL].value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這個值要跟 09-httproute.yaml 的 hostnames 一致，Planka 拿它組前端頁面裡的絕對網址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/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跟 08-planka-service.yaml 的 targetPort: http 這個 named port 要對得上（Planka/Sails 預設監聽的 port 號碼比較特別，不是常見的 3000/8080）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81827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56723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readiness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readinessProbe.httpGet.port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可以直接引用上面 ports 陣列取的 name，不用重複寫數字（跟 livenessProbe 那組保持一致寫法）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設定要捨棄全部 Linux capability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securityContext.capabilities.drop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官方 planka image 是用什麼身分啟動的？（提示：不像 postgres 需要先以 root 啟動再降權，這裡可以放心全部捨棄，寫法跟 draw.io 範例的 __FILL_ME_10__ 一樣）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設定容器內部要把 PVC 掛到哪個路徑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volumeMounts[0].mountPath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Planka（Node.js/Sails 應用）會在這個路徑下自己建立 protected/、private/ 等子目錄，不需要 initContainer 預先建立——路徑本身是 Planka 應用程式碼寫死的慣例路徑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07-planka-deployment.yaml 的 template.metadata.labels.app 必須完全一致，否則 Service 找不到任何 Endpoint（manifest-buggy/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6003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30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81869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是什麼？也要跟 __FILL_ME_17__ 填的值一致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08-planka-service.yaml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設定「放行 Gateway 進來的流量」這條規則要保護哪些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allow-ingress-to-planka-from-gateway.spec.podSelector.matchLabels.app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和 07-planka-deployment.yaml 用同一組 label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設定「只放行 planka 連進來」這條規則要保護哪些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allow-ingress-to-postgres-from-planka.spec.podSelector.matchLabels.app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這條規則保護的是資料庫那一邊，該用哪個 app label？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設定「允許連到 postgres」這條 egress 規則要套用在哪些 Pod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allow-egress-planka-to-postgres.spec.podSelector.matchLabels.app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這是一條 egress 規則，套用對象是「要連出去」的那一邊——是 planka 還是 postgres？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設定這條 egress 規則允許連到哪些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allow-egress-planka-to-postgres.spec.egress[0].to[0].podSelector.matchLabels.app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 planka 要連去的目的地，同一個 namespace 裡誰在監聽 5432？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86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30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378808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"1"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128Mi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POSTGRES_PASSWORD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"TrainingPlanka123"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clusterIP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serviceName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PGDATA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/var/lib/postgresql/data/pgdata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3010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DATABASE_URL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"postgresql://planka:TrainingPlanka123@postgres:5432/planka"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ReadWriteMany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image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ghcr.io/plankanban/planka:latest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BASE_URL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"http://planka.nexai.org.com"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containerPort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1337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readiness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drop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ALL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32951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mountPath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/app/data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"planka.nexai.org.com"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to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835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5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postgres-0 起不來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遲遲不 Running 或反覆重啟，initdb 因為「目錄不是空的」拒絕啟動。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planka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planka Pod Running，透過 Gateway 連線得到 503 / connection refused。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planka -n planka</a:t>
            </a:r>
            <a:endParaRPr lang="zh-TW" altLang="en-US" sz="105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容器建立不起來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不是 Running 也不是 CrashLoopBackOff，Events 說找不到某個 Secret 欄位（key）。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pod -n planka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planka 連不到資料庫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兩個 Pod 都 Running、NetworkPolicy 也套上了，但 planka 連 postgres:5432 逾時。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deploy/planka -n planka</a:t>
            </a:r>
            <a:endParaRPr lang="zh-TW" altLang="en-US" sz="11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describe httproute 顯示 Accepted: True，但透過 Gateway 發流量會失敗。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9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planka -n planka</a:t>
            </a:r>
            <a:endParaRPr lang="zh-TW" altLang="en-US" sz="900" dirty="0"/>
          </a:p>
        </p:txBody>
      </p:sp>
      <p:sp>
        <p:nvSpPr>
          <p:cNvPr id="132" name="Tip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5F8FA"/>
          </a:solidFill>
          <a:ln w="9525" cap="flat" cmpd="sng">
            <a:solidFill>
              <a:srgbClr val="D5DEE8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TextBox 133"/>
          <p:cNvSpPr txBox="1"/>
          <p:nvPr/>
        </p:nvSpPr>
        <p:spPr>
          <a:xfrm>
            <a:off x="8292000" y="4040000"/>
            <a:ext cx="3192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除錯順序</a:t>
            </a:r>
            <a:endParaRPr lang="zh-TW" altLang="en-US" sz="16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292000" y="4490000"/>
            <a:ext cx="3192000" cy="1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1. get events：最近發生了什麼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2. describe / logs：找第一手線索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3. exec 進 Pod 測 DNS 與連線</a:t>
            </a:r>
            <a:endParaRPr lang="zh-TW" altLang="en-US" sz="13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4. 最後才 diff ../manifest/ 對答案</a:t>
            </a:r>
            <a:endParaRPr lang="zh-TW" altLang="en-US" sz="1300" dirty="0"/>
          </a:p>
        </p:txBody>
      </p:sp>
    </p:spTree>
    <p:extLst>
      <p:ext uri="{BB962C8B-B14F-4D97-AF65-F5344CB8AC3E}">
        <p14:creationId xmlns:p14="http://schemas.microsoft.com/office/powerpoint/2010/main" val="29751127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planka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5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92460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postgres-0 起不來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04-postgres-statefulset.yaml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/var/lib/postgresql/data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PGDATA: …/data/pgdata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ext4 掛載點根目錄自帶 lost+found，指到子目錄才是空目錄。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08-planka-service.yaml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planka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容器建立不起來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07-planka-deployment.yaml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DATABASE_URI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secretKeyRef.key: DATABASE_URL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拼錯會卡在 CreateContainerConfigError，容器根本不會啟動。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 連不到資料庫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10-networkpolicy.yaml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 podSelector app: planka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 的 ingress 只放行 label 對得上的來源 Pod。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09-httproute.yaml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1337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1337 是 containerPort；backendRefs 要填 Service 的 port。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3746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3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、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4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sz="3200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對照</a:t>
            </a:r>
          </a:p>
        </p:txBody>
      </p:sp>
      <p:graphicFrame>
        <p:nvGraphicFramePr>
          <p:cNvPr id="25" name="Google Shape;405;h354c58d55cfae689_0_491">
            <a:extLst>
              <a:ext uri="{FF2B5EF4-FFF2-40B4-BE49-F238E27FC236}">
                <a16:creationId xmlns:a16="http://schemas.microsoft.com/office/drawing/2014/main" id="{DB1B9760-3F53-4453-B514-A7FC351A39E9}"/>
              </a:ext>
            </a:extLst>
          </p:cNvPr>
          <p:cNvGraphicFramePr/>
          <p:nvPr/>
        </p:nvGraphicFramePr>
        <p:xfrm>
          <a:off x="812800" y="1874521"/>
          <a:ext cx="10566375" cy="3113456"/>
        </p:xfrm>
        <a:graphic>
          <a:graphicData uri="http://schemas.openxmlformats.org/drawingml/2006/table">
            <a:tbl>
              <a:tblPr>
                <a:noFill/>
                <a:tableStyleId>{FE94655B-3E1F-45FA-A986-AC50302866E6}</a:tableStyleId>
              </a:tblPr>
              <a:tblGrid>
                <a:gridCol w="253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項目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flarum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MySQL 8.0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PostgreSQL 16 StatefulSet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映像使用者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啟動再降權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非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root（uid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1000）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 ALL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不行，會啟動失敗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可以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initContainer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需要，先建目錄與權限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不需要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更新策略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Recreate（RWO PVC）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RollingUpdate（RWX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PVC）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 連線設定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DB_HOST / DB_USER / DB_PASS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DATABASE_URL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單一字串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7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NetworkPolicy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 app=flarum 能連 3306</a:t>
                      </a: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213D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只有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app=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planka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u="none" strike="noStrike" cap="none" dirty="0" err="1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能連</a:t>
                      </a:r>
                      <a:r>
                        <a:rPr lang="en-US" sz="1400" u="none" strike="noStrike" cap="none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5432</a:t>
                      </a:r>
                      <a:endParaRPr sz="14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2225" marR="62225" marT="62225" marB="62225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F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4826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5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onlyoffice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重量級工作負載</a:t>
            </a:r>
          </a:p>
          <a:p>
            <a:endParaRPr lang="zh-TW" altLang="en-US" dirty="0"/>
          </a:p>
          <a:p>
            <a:r>
              <a:rPr lang="zh-TW" altLang="en-US" sz="1400" dirty="0">
                <a:solidFill>
                  <a:schemeClr val="bg2"/>
                </a:solidFill>
              </a:rPr>
              <a:t>是強大的線上 </a:t>
            </a:r>
            <a:r>
              <a:rPr lang="en-US" altLang="zh-TW" sz="1400" dirty="0">
                <a:solidFill>
                  <a:schemeClr val="bg2"/>
                </a:solidFill>
              </a:rPr>
              <a:t>Office </a:t>
            </a:r>
            <a:r>
              <a:rPr lang="zh-TW" altLang="en-US" sz="1400" dirty="0">
                <a:solidFill>
                  <a:schemeClr val="bg2"/>
                </a:solidFill>
              </a:rPr>
              <a:t>辦公套件，支援 </a:t>
            </a:r>
            <a:r>
              <a:rPr lang="en-US" altLang="zh-TW" sz="1400" dirty="0">
                <a:solidFill>
                  <a:schemeClr val="bg2"/>
                </a:solidFill>
              </a:rPr>
              <a:t>Word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Excel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PPT </a:t>
            </a:r>
            <a:r>
              <a:rPr lang="zh-TW" altLang="en-US" sz="1400" dirty="0">
                <a:solidFill>
                  <a:schemeClr val="bg2"/>
                </a:solidFill>
              </a:rPr>
              <a:t>的線上即時共同編輯， 可與 </a:t>
            </a:r>
            <a:r>
              <a:rPr lang="en-US" altLang="zh-TW" sz="1400" dirty="0" err="1">
                <a:solidFill>
                  <a:schemeClr val="bg2"/>
                </a:solidFill>
              </a:rPr>
              <a:t>Nextcloud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 err="1">
                <a:solidFill>
                  <a:schemeClr val="bg2"/>
                </a:solidFill>
              </a:rPr>
              <a:t>Filebrowser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等系統整合，官方提供「單容器全包」映像 （</a:t>
            </a:r>
            <a:r>
              <a:rPr lang="en-US" altLang="zh-TW" sz="1400" dirty="0" err="1">
                <a:solidFill>
                  <a:schemeClr val="bg2"/>
                </a:solidFill>
              </a:rPr>
              <a:t>onlyoffice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documentserver</a:t>
            </a:r>
            <a:r>
              <a:rPr lang="zh-TW" altLang="en-US" sz="1400" dirty="0">
                <a:solidFill>
                  <a:schemeClr val="bg2"/>
                </a:solidFill>
              </a:rPr>
              <a:t>），內建自己的 </a:t>
            </a:r>
            <a:r>
              <a:rPr lang="en-US" altLang="zh-TW" sz="1400" dirty="0">
                <a:solidFill>
                  <a:schemeClr val="bg2"/>
                </a:solidFill>
              </a:rPr>
              <a:t>PostgreSQL</a:t>
            </a:r>
            <a:r>
              <a:rPr lang="zh-TW" altLang="en-US" sz="1400" dirty="0">
                <a:solidFill>
                  <a:schemeClr val="bg2"/>
                </a:solidFill>
              </a:rPr>
              <a:t>、</a:t>
            </a:r>
            <a:r>
              <a:rPr lang="en-US" altLang="zh-TW" sz="1400" dirty="0">
                <a:solidFill>
                  <a:schemeClr val="bg2"/>
                </a:solidFill>
              </a:rPr>
              <a:t>Redis</a:t>
            </a:r>
            <a:r>
              <a:rPr lang="zh-TW" altLang="en-US" sz="1400" dirty="0">
                <a:solidFill>
                  <a:schemeClr val="bg2"/>
                </a:solidFill>
              </a:rPr>
              <a:t>、 </a:t>
            </a:r>
            <a:r>
              <a:rPr lang="en-US" altLang="zh-TW" sz="1400" dirty="0">
                <a:solidFill>
                  <a:schemeClr val="bg2"/>
                </a:solidFill>
              </a:rPr>
              <a:t>RabbitMQ</a:t>
            </a:r>
            <a:r>
              <a:rPr lang="zh-TW" altLang="en-US" sz="1400" dirty="0">
                <a:solidFill>
                  <a:schemeClr val="bg2"/>
                </a:solidFill>
              </a:rPr>
              <a:t>，全部包在同一個 </a:t>
            </a:r>
            <a:r>
              <a:rPr lang="en-US" altLang="zh-TW" sz="1400" dirty="0">
                <a:solidFill>
                  <a:schemeClr val="bg2"/>
                </a:solidFill>
              </a:rPr>
              <a:t>container </a:t>
            </a:r>
            <a:r>
              <a:rPr lang="zh-TW" altLang="en-US" sz="1400" dirty="0">
                <a:solidFill>
                  <a:schemeClr val="bg2"/>
                </a:solidFill>
              </a:rPr>
              <a:t>裡執行，不需要外接資料庫。</a:t>
            </a:r>
          </a:p>
        </p:txBody>
      </p:sp>
    </p:spTree>
    <p:extLst>
      <p:ext uri="{BB962C8B-B14F-4D97-AF65-F5344CB8AC3E}">
        <p14:creationId xmlns:p14="http://schemas.microsoft.com/office/powerpoint/2010/main" val="40511435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1/4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45753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Deployment 只有 1 個 replica、requests.cpu: "1"，但同檔案的 pods: "3" 代表 namespace 允許額外的臨時 Pod，配額要留這個空間；詳見上方「資源該給多少」章節第 4 點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≥ Deployment 裡容器實際填的 limits.cpu；本產品是官方建議 2 CPU/4GB 起跳的重量級工作負載，上限該抓多少？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≤ Deployment 裡容器實際填的 requests.memory，否則 Pod 會被 LimitRange 擋掉（下限擋掉輕量容器是本教材真的踩過的坑）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JWT 簽章金鑰的值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stringData.JWT_SECRET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教學用途沒有格式限制，自己取一個字串即可，但要記得這把金鑰之後串接 filebrowser 時對方也要用同一把簽 token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433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2/4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3157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PVC 要用哪一個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這座叢集沒有 default StorageClass，必須明確指定；這個 PVC 是單寫（ReadWriteOnce）場景，該挑哪一種？（提示：training.md 裡有列出這座叢集可用的 StorageClass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設定要申請多少儲存容量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spec.resources.requests.storage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檔案上方教學註解已經寫出實際要申請的容量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設定要把 Pod 排到哪一台 Node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spec.template.spec.nodeSelector."kubernetes.io/hostname"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檔案上方教學註解說了這座叢集哪一台 Node 記憶體用量最低、適合塞下這個吃重的工作負載（此行預設已註解、改以 toleration 為主不指定節點；屬選填，若要練習請取消註解後再填）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設定要容忍（tolerate）哪一個 taint 的 key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tolerations[0].key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目標 Node 身上帶的是哪個廠牌的 GPU taint？（提示：nvidia.com/...）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設定要容忍的 taint value 要等於什麼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tolerations[0].value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對照這台 Node 身上 taint 的實際 value（在 kubectl describe node gpu01 看得到）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設定要容忍的 taint effect 是什麼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tolerations[0].effect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taint 的三種 effect（NoSchedule/PreferNoSchedule/NoExecute）中，這座叢集的 GPU taint 用的是哪一種？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9008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3/4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6507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ONLYOFFICE 官方容器映像的名稱與版本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ONLYOFFICE Document Server 官方 Docker Hub 映像名稱，這裡用的是哪個 tag？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設定是否啟用外掛管理背景程序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env[PLUGINS_ENABLED].value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檔案上方教學註解整段都在講這個環境變數為什麼要關掉，仔細讀完再填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Service 的 targetPort 這個 named port 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readiness 探測要打哪個路徑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readinessProbe.httpGet.path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ONLYOFFICE Document Server 官方內建的健康檢查端點叫什麼名字？（跟 livenessProbe 那組保持一致寫法）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liveness 探測要打哪個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livenessProbe.httpGet.port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可以直接引用上面 ports 陣列裡取的 name，不用重複寫數字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設定資料要掛到容器裡的哪個路徑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volumeMounts[0](data).mountPath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檔案上方教學註解明確寫出了這個「有明確文件、單純的資料路徑」是什麼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88832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實作：填空（4/4）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25 格（第 4/4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214456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05-service.yaml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allow-ingress-from-gateway 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allow-ingress-from-gateway.spec.podSelector.matchLabels.app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設定要放行到哪一個 namespace 的出向流量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allow-egress-onlyoffice-to-filebrowser...namespaceSelector.matchLabels."kubernetes.io/metadata.name"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檔案上方教學註解說明了 Document Server 要主動回頭連哪個系統抓檔案內容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09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25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1024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512Mi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JWT_SECRET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"TrainingOnlyofficeJwtSecret_ChangeMe"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storage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nodeSelector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key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nvidia.com/gpu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value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toleration effect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NoSchedule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67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image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onlyoffice/documentserver:latest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3498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PLUGINS_ENABLED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"false"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containerPort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readiness 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/healthcheck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liveness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mountPath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/var/www/onlyoffice/Data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"onlyoffice.nexai.org.com"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onlyoffice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namespaceSelector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filebrowser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99734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CPU 異常偏高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Running 1/1、功能也正常，但沒人使用時 CPU 仍長時間貼著不低的水位。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top pod -n onlyoffice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PVC 一直卡在 Pending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跟著卡在 Pending / ContainerCreating，Events 說找不到對應的 StorageClass。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pvc onlyoffice-data -n onlyoffice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Running，透過 Gateway 連線得到 503 / connection refused。跟 label 有關。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onlyoffice -n onlyoffice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HTTPRoute Accepted 卻連不到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True，實際流量卻失敗或連不到應用。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onlyoffice -n onlyoffice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402332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5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onlyoffice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CPU 異常偏高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（缺）PLUGINS_ENABLED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PLUGINS_ENABLED: "false"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外掛程序連外網被擋，卡在吃滿 1 核心的重試迴圈。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PVC 一直卡在 Pending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03-pvc.yaml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rook-ceph-blk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storageClassName: rook-ceph-block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叢集沒有 default StorageClass，名字拼錯就永遠不會 provision。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05-service.yaml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onlyofice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onlyoffice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少一個 f，Service 就選不到任何 Pod。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HTTPRoute Accepted 卻連不到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06-httproute.yaml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8080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Service 對外開的是 80，這個 Service 上根本沒有 8080。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6433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6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peertube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三個元件一起協作 </a:t>
            </a:r>
            <a:r>
              <a:rPr lang="en-US" altLang="zh-TW" dirty="0"/>
              <a:t>(PostgreSQL,</a:t>
            </a:r>
            <a:r>
              <a:rPr lang="zh-TW" altLang="en-US" dirty="0"/>
              <a:t> </a:t>
            </a:r>
            <a:r>
              <a:rPr lang="en-US" altLang="zh-TW" dirty="0"/>
              <a:t>Redis, </a:t>
            </a:r>
            <a:r>
              <a:rPr lang="en-US" altLang="zh-TW" dirty="0" err="1"/>
              <a:t>PeerTube</a:t>
            </a:r>
            <a:r>
              <a:rPr lang="en-US" altLang="zh-TW" dirty="0"/>
              <a:t>)</a:t>
            </a:r>
            <a:endParaRPr lang="zh-TW" altLang="en-US" dirty="0"/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 是基於 </a:t>
            </a:r>
            <a:r>
              <a:rPr lang="en-US" altLang="zh-TW" sz="1600" dirty="0" err="1">
                <a:solidFill>
                  <a:schemeClr val="bg2"/>
                </a:solidFill>
              </a:rPr>
              <a:t>ActivityPub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協定與 </a:t>
            </a:r>
            <a:r>
              <a:rPr lang="en-US" altLang="zh-TW" sz="1600" dirty="0">
                <a:solidFill>
                  <a:schemeClr val="bg2"/>
                </a:solidFill>
              </a:rPr>
              <a:t>P2P </a:t>
            </a:r>
            <a:r>
              <a:rPr lang="zh-TW" altLang="en-US" sz="1600" dirty="0">
                <a:solidFill>
                  <a:schemeClr val="bg2"/>
                </a:solidFill>
              </a:rPr>
              <a:t>技術的 去中心化影音分享平台（開源版 </a:t>
            </a:r>
            <a:r>
              <a:rPr lang="en-US" altLang="zh-TW" sz="1600" dirty="0">
                <a:solidFill>
                  <a:schemeClr val="bg2"/>
                </a:solidFill>
              </a:rPr>
              <a:t>YouTube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r>
              <a:rPr lang="zh-TW" altLang="en-US" sz="1400" dirty="0">
                <a:solidFill>
                  <a:schemeClr val="bg2"/>
                </a:solidFill>
              </a:rPr>
              <a:t>（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en-US" altLang="zh-TW" sz="1400" dirty="0" err="1">
                <a:solidFill>
                  <a:schemeClr val="bg2"/>
                </a:solidFill>
              </a:rPr>
              <a:t>chocobozzz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peertube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30496057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1/7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29900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namespace 同時跑 postgres/redis/peertube 三個元件，要把三者的 requests.cpu 加總後再留餘裕，見上面「資源該給多少」章節的計算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Memory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同上，三個元件的 requests.memory 加總後留餘裕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__FILL_ME_5__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最多能建立幾個 PVC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ResourceQuota.hard.persistentvolumeclaims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 namespace 實際會建立幾個 PVC？（提示：不是只有 postgres 有，peertube 本體也有一個）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__FILL_ME_6__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≥ 三個元件裡 limits.cpu 最大的那一個，是哪個元件？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650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2/7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299005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≤ 三個元件裡 requests.memory 最小的那一個，是哪個元件？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PostgreSQL 的登入帳號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stringData.POSTGRES_USER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這個值之後會被 09-peertube-deployment.yaml 的 PEERTUBE_DB_USERNAME 引用，兩邊要對得上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02-postgres-secret.yaml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PostgreSQL 要建立的資料庫名稱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stringData.POSTGRES_DB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這個值之後會被 09-peertube-deployment.yaml 的 PEERTUBE_DB_NAME 引用，兩邊要對得上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幫初始化腳本取檔名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data.&lt;key&gt;（檔名）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官方 postgres image 只認 /docker-entrypoint-initdb.d/ 底下副檔名 .sql／.sh 的檔案，檔名本身沒有強制規則，但要讓人一看就懂用途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PeerTube 官方文件要求的第一個 PostgreSQL extension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SQL 裡的 extension 名稱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做「模糊搜尋」用的那個 extension，README 說明段落有提到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03-postgres-initdb-configmap.yaml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PeerTube 官方文件要求的第二個 PostgreSQL extension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SQL 裡的 extension 名稱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做「去重音搜尋」用的那個 extension，README 說明段落有提到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0675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3/7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56723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要不要配發 ClusterIP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spec.clusterIP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StatefulSet 通常搭配哪一種 Service（讓每個 Pod 有自己的 DNS 記錄，而不是共用一個負載平衡 IP）？填哪個特殊值代表「不要配發」？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05-postgres-statefulset.yaml 的 template.metadata.labels.app 必須完全一致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04-postgres-service.yaml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設定要把 Pod 排到哪一個節點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spec.template.spec.nodeSelector.&lt;key&gt;（節點名稱）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教學重點段落說明了為什麼這三個元件都要排到同一個節點，是哪個節點？（此行預設已註解、改以 toleration 為主不指定節點；屬選填，若要練習請取消註解後再填）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initdb 腳本要掛到容器裡的哪個路徑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volumeMounts[1].mountPath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官方 postgres image 只會自動執行這一個固定路徑底下的初始化腳本，路徑錯了 extension 永遠不會被建立（可對照 manifest-buggy/ 的除錯題感受這個症狀）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initdb volume 要引用哪個 ConfigMap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volumes[0].configMap.name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03-postgres-initdb-configmap.yaml 的 metadata.name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0050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4/7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445753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volumeClaimTemplates[0].spec.storageClassName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這座叢集沒有 default StorageClass，資料庫類單寫場景該選 RWO 還是 RWX 的那個 class？（../README.md 或 ../../training.md 有列出叢集的 StorageClass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postgres 資料需要多少儲存空間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volumeClaimTemplates[0].spec.resources.requests.storage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這是教學用途的小容量配置，抓個位數 Gi 即可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redis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Service.spec.selector.app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跟同檔案 Deployment 的 template.metadata.labels.app 必須完全一致（manifest-buggy/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redis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Service.spec.ports[0].targetPort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設定要把 redis Pod 排到哪一個節點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Deployment.spec.template.spec.nodeSelector.&lt;key&gt;（節點名稱）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__FILL_ME_16__ 應該填同一個節點名稱——三個元件為什麼要排到同一台？（此行預設已註解、改以 toleration 為主不指定節點；屬選填，若要練習請取消註解後再填）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redis 容器內部實際監聽的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Deployment...containers[0].ports[0].containerPort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redis 的預設監聽埠是多少？要跟 __FILL_ME_22__ 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45180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5/7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31577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設定管理員帳號的 Email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stringData.PEERTUBE_ADMIN_EMAIL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這是教學用途的固定值，只有在資料庫全新初始化時才會生效，任意填一個看起來像 email 的字串即可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PeerTube 應用程式連線資料庫要用的密碼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stringData.PEERTUBE_DB_PASSWORD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這個值必須跟 02-postgres-secret.yaml 的 POSTGRES_PASSWORD 完全一致，否則 PeerTube 連得到 postgres 這個位址、但認證會失敗（manifest-buggy/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08-peertube-pvc.yaml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PVC 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__FILL_ME_19__ 填法邏輯一樣，這座叢集沒有 default StorageClass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08-peertube-pvc.yaml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spec.accessModes[0]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檔案上方教學註解解釋了為什麼這裡選單寫而不是多寫共享，該填哪個存取模式？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設定「使用者實際存取網址」用的埠號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env[PEERTUBE_WEBSERVER_PORT].value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這裡要填的是瀏覽器打進來看到的埠號（透過 Gateway 走 https），不是容器內部監聽的埠號——两者是完全不同的兩件事，檔案上方教學註解有詳細解釋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設定「使用者實際存取網址」是否為 https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env[PEERTUBE_WEBSERVER_HTTPS].value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這個產品的 HTTPRoute 只掛了 https 監聽器，這裡該填 "true" 還是 "false"？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58859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實作：填空（6/7）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11" name="Subtitle 11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6/7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508000" y="1400000"/>
          <a:ext cx="11176000" cy="4650741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設定要信任哪些來源的反向代理位址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env[PEERTUBE_TRUST_PROXY].value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PeerTube 預設只信任 loopback（127.0.0.1），但流量是從 Gateway 的 Pod 網路進來的，要額外加上哪個值才能讓 PeerTube 正確判斷來源 IP／協定？（提示：RFC1918 私有位址的意思）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設定要連去哪個 hostname 存取 Redis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env[PEERTUBE_REDIS_HOSTNAME].value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06-redis.yaml 的 Service metadata.name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設定要連去哪個 hostname 存取 PostgreSQL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env[PEERTUBE_DB_HOSTNAME].value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04-postgres-service.yaml 的 Service metadata.name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PeerTube 容器內部實際監聽的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這是容器自己的監聽埠，注意跟 __FILL_ME_29__ 填的「外部埠號」是不同層次的兩個數字，不要填成一樣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設定要掛載哪個 PVC 當作影片儲存空間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volumes[0].persistentVolumeClaim.claimName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08-peertube-pvc.yaml 的 metadata.name 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10-peertube-service.yaml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09-peertube-deployment.yaml 的 template.metadata.labels.app 必須完全一致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10-peertube-service.yaml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6789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實作：填空（7/7）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13" name="Subtitle 11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43 格（第 7/7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4" name="Table 114"/>
          <p:cNvGraphicFramePr>
            <a:graphicFrameLocks noGrp="1"/>
          </p:cNvGraphicFramePr>
          <p:nvPr/>
        </p:nvGraphicFramePr>
        <p:xfrm>
          <a:off x="508000" y="1400000"/>
          <a:ext cx="11176000" cy="450635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10-peertube-service.yaml 裡 Service 對外開的是幾號 port（不是 containerPort，也不是 __FILL_ME_29__ 那個外部埠號）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設定只放行進到 peertube 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allow-ingress-to-peertube-from-gateway.spec.ingress[0].ports[0].port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__FILL_ME_34__ 應該是同一個號碼（NetworkPolicy 管的是實際監聽的容器 port，不是外部埠號）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設定這條規則要保護哪個元件的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allow-ingress-to-postgres-from-peertube.spec.podSelector.matchLabels.app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這條規則的名字已經告訴你它在保護誰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設定要放行「哪個元件」打進來的流量到 redis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allow-ingress-to-redis-from-peertube.spec.ingress[0].from[0].podSelector.matchLabels.app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這條規則的名字已經告訴你放行的來源是誰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6824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43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3592000" cy="40614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memory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3Gi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PVCs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64Mi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POSTGRES_USER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POSTGRES_DB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ConfigMap key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init-extensions.sql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pg_trgm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EXTENSION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unaccent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clusterIP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None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4300000" y="1400000"/>
          <a:ext cx="3592000" cy="467104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nodeSelector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mountPath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configMap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postgres-initdb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storageClass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storage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5Gi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selector.app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targetPort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redis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nodeSelector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gpu01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containerPort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6379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ADMIN_EMAIL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"admin@example.com"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07 · DB_PASSWORD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"TrainingPeertube123"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storageClass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 · accessModes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29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"443"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WEBSERVER_HTTPS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"true"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8092000" y="1400000"/>
          <a:ext cx="3592000" cy="431576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3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6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TRUST_PROXY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'["loopback","linklocal","uniquelocal"]'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32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REDIS_HOSTNAME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"redis"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DB_HOSTNAME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"postgres"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34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containerPort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35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 · claimName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peertube-storage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36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selector.app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37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 · targetPort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38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hostnames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"peertube.nexai.org.com"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39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backendRefs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 · parentRefs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41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ingress port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9000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8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42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podSelector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624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43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 · from podSelector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0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9350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6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資料庫認證失敗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PeerTube Running 且 Ready，註冊或新增影片時 logs 出現 authentication failed。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08" name="Bug card 108"/>
          <p:cNvSpPr/>
          <p:nvPr/>
        </p:nvSpPr>
        <p:spPr>
          <a:xfrm>
            <a:off x="4300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4500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5030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來源 IP / https 判斷異常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4500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網站打得開、一切看似正常，但記錄的來源 IP 或 https 判斷不對，很容易被忽略。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4500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4500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deploy/peertube -n peertube</a:t>
            </a:r>
            <a:endParaRPr lang="zh-TW" altLang="en-US" sz="1000" dirty="0"/>
          </a:p>
        </p:txBody>
      </p:sp>
      <p:sp>
        <p:nvSpPr>
          <p:cNvPr id="114" name="Bug card 114"/>
          <p:cNvSpPr/>
          <p:nvPr/>
        </p:nvSpPr>
        <p:spPr>
          <a:xfrm>
            <a:off x="8092000" y="140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8292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8822000" y="158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migration 缺 extension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8292000" y="213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postgres-0 健康，但 PeerTube 第一次跑 migration 就失敗，提到缺少 extension。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8292000" y="30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8292000" y="33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postgres-0 -n peertube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508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1238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redis 的 Endpoints 是空的</a:t>
            </a:r>
            <a:endParaRPr lang="zh-TW" altLang="en-US" sz="1500" dirty="0"/>
          </a:p>
        </p:txBody>
      </p:sp>
      <p:sp>
        <p:nvSpPr>
          <p:cNvPr id="123" name="TextBox 123"/>
          <p:cNvSpPr txBox="1"/>
          <p:nvPr/>
        </p:nvSpPr>
        <p:spPr>
          <a:xfrm>
            <a:off x="708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redis Pod Ready、ping 也正常，但 PeerTube 連不到 redis，佇列功能出錯。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708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708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redis -n peertube</a:t>
            </a:r>
            <a:endParaRPr lang="zh-TW" altLang="en-US" sz="1000" dirty="0"/>
          </a:p>
        </p:txBody>
      </p:sp>
      <p:sp>
        <p:nvSpPr>
          <p:cNvPr id="126" name="Bug card 126"/>
          <p:cNvSpPr/>
          <p:nvPr/>
        </p:nvSpPr>
        <p:spPr>
          <a:xfrm>
            <a:off x="4300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7" name="Badge 127"/>
          <p:cNvSpPr/>
          <p:nvPr/>
        </p:nvSpPr>
        <p:spPr>
          <a:xfrm>
            <a:off x="4500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lang="zh-TW" altLang="en-US" sz="1400" dirty="0"/>
          </a:p>
        </p:txBody>
      </p:sp>
      <p:sp>
        <p:nvSpPr>
          <p:cNvPr id="128" name="TextBox 128"/>
          <p:cNvSpPr txBox="1"/>
          <p:nvPr/>
        </p:nvSpPr>
        <p:spPr>
          <a:xfrm>
            <a:off x="5030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5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套用 NetworkPolicy 後逾時</a:t>
            </a:r>
            <a:endParaRPr lang="zh-TW" altLang="en-US" sz="1500" dirty="0"/>
          </a:p>
        </p:txBody>
      </p:sp>
      <p:sp>
        <p:nvSpPr>
          <p:cNvPr id="129" name="TextBox 129"/>
          <p:cNvSpPr txBox="1"/>
          <p:nvPr/>
        </p:nvSpPr>
        <p:spPr>
          <a:xfrm>
            <a:off x="4500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套用前一切正常，套用後 PeerTube 連 postgres timeout（不是認證失敗）。</a:t>
            </a:r>
            <a:endParaRPr lang="zh-TW" altLang="en-US" sz="1300" dirty="0"/>
          </a:p>
        </p:txBody>
      </p:sp>
      <p:sp>
        <p:nvSpPr>
          <p:cNvPr id="130" name="TextBox 130"/>
          <p:cNvSpPr txBox="1"/>
          <p:nvPr/>
        </p:nvSpPr>
        <p:spPr>
          <a:xfrm>
            <a:off x="4500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1" name="TextBox 131"/>
          <p:cNvSpPr txBox="1"/>
          <p:nvPr/>
        </p:nvSpPr>
        <p:spPr>
          <a:xfrm>
            <a:off x="4500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networkpolicy -n peertube</a:t>
            </a:r>
            <a:endParaRPr lang="zh-TW" altLang="en-US" sz="1050" dirty="0"/>
          </a:p>
        </p:txBody>
      </p:sp>
      <p:sp>
        <p:nvSpPr>
          <p:cNvPr id="132" name="Bug card 132"/>
          <p:cNvSpPr/>
          <p:nvPr/>
        </p:nvSpPr>
        <p:spPr>
          <a:xfrm>
            <a:off x="8092000" y="3850000"/>
            <a:ext cx="3592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33" name="Badge 133"/>
          <p:cNvSpPr/>
          <p:nvPr/>
        </p:nvSpPr>
        <p:spPr>
          <a:xfrm>
            <a:off x="8292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lang="zh-TW" altLang="en-US" sz="1400" dirty="0"/>
          </a:p>
        </p:txBody>
      </p:sp>
      <p:sp>
        <p:nvSpPr>
          <p:cNvPr id="134" name="TextBox 134"/>
          <p:cNvSpPr txBox="1"/>
          <p:nvPr/>
        </p:nvSpPr>
        <p:spPr>
          <a:xfrm>
            <a:off x="8822000" y="4030000"/>
            <a:ext cx="2662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Gateway 連不到網站</a:t>
            </a:r>
            <a:endParaRPr lang="zh-TW" altLang="en-US" sz="1600" dirty="0"/>
          </a:p>
        </p:txBody>
      </p:sp>
      <p:sp>
        <p:nvSpPr>
          <p:cNvPr id="135" name="TextBox 135"/>
          <p:cNvSpPr txBox="1"/>
          <p:nvPr/>
        </p:nvSpPr>
        <p:spPr>
          <a:xfrm>
            <a:off x="8292000" y="4580000"/>
            <a:ext cx="319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HTTPRoute 顯示 Accepted: True，直接測 Service 正常，透過 Gateway 卻失敗。</a:t>
            </a:r>
            <a:endParaRPr lang="zh-TW" altLang="en-US" sz="1300" dirty="0"/>
          </a:p>
        </p:txBody>
      </p:sp>
      <p:sp>
        <p:nvSpPr>
          <p:cNvPr id="136" name="TextBox 136"/>
          <p:cNvSpPr txBox="1"/>
          <p:nvPr/>
        </p:nvSpPr>
        <p:spPr>
          <a:xfrm>
            <a:off x="8292000" y="554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37" name="TextBox 137"/>
          <p:cNvSpPr txBox="1"/>
          <p:nvPr/>
        </p:nvSpPr>
        <p:spPr>
          <a:xfrm>
            <a:off x="8292000" y="5790000"/>
            <a:ext cx="3192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05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describe httproute -n peertube</a:t>
            </a:r>
            <a:endParaRPr lang="zh-TW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0142590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6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peertube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6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3839509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資料庫認證失敗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07-peertube-secret.yaml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"TrainingPeertubeApp123"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DB_PASSWORD: "TrainingPeertube123"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要跟 02-postgres-secret 的 POSTGRES_PASSWORD 完全一致。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來源 IP / https 判斷異常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09-peertube-deployment.yaml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TRUST_PROXY: 少了 "uniquelocal"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["loopback","linklocal","uniquelocal"]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從 Pod 網路（私有位址）轉進來，要信任 uniquelocal。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7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migration 缺 extension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05-postgres-statefulset.yaml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…/docker-entrypoint-initdb.d/extensions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/docker-entrypoint-initdb.d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官方映像只執行這個目錄第一層的 .sql / .sh，子目錄不會跑。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redis 的 Endpoints 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06-redis.yaml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redis-cache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redis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redis Pod 的 label 一字不差。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套用 NetworkPolicy 後逾時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12-networkpolicy.yaml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5433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postgres ingress port: 5432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放行錯的 port 等於沒放行，封包被悄悄丟棄才會是 timeout。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Gateway 連不到網站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11-httproute.yaml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9000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backendRefs port: 80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9000 是 containerPort；Service 對外開的是 80。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0286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17435-A53F-4895-9524-D8AA0C70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 </a:t>
            </a:r>
            <a:r>
              <a:rPr lang="en-US" altLang="zh-TW" dirty="0"/>
              <a:t>7 </a:t>
            </a:r>
            <a:r>
              <a:rPr lang="zh-TW" altLang="en-US" dirty="0"/>
              <a:t>站 </a:t>
            </a:r>
            <a:r>
              <a:rPr lang="en-US" altLang="zh-TW" dirty="0"/>
              <a:t>· </a:t>
            </a:r>
            <a:r>
              <a:rPr lang="en-US" altLang="zh-TW" dirty="0" err="1"/>
              <a:t>cloudbeaver</a:t>
            </a:r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DB3B10-C2C8-4CF9-9910-5621CDDDD8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3156039"/>
            <a:ext cx="8282570" cy="1853458"/>
          </a:xfrm>
        </p:spPr>
        <p:txBody>
          <a:bodyPr>
            <a:normAutofit/>
          </a:bodyPr>
          <a:lstStyle/>
          <a:p>
            <a:r>
              <a:rPr lang="zh-TW" altLang="en-US" dirty="0"/>
              <a:t>唯一的跨 </a:t>
            </a:r>
            <a:r>
              <a:rPr lang="en-US" altLang="zh-TW" dirty="0"/>
              <a:t>namespace </a:t>
            </a:r>
            <a:r>
              <a:rPr lang="zh-TW" altLang="en-US" dirty="0"/>
              <a:t>存取</a:t>
            </a:r>
          </a:p>
          <a:p>
            <a:endParaRPr lang="zh-TW" altLang="en-US" dirty="0"/>
          </a:p>
          <a:p>
            <a:r>
              <a:rPr lang="zh-TW" altLang="en-US" sz="1600" dirty="0">
                <a:solidFill>
                  <a:schemeClr val="bg2"/>
                </a:solidFill>
              </a:rPr>
              <a:t>是 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 </a:t>
            </a:r>
            <a:r>
              <a:rPr lang="zh-TW" altLang="en-US" sz="1600" dirty="0">
                <a:solidFill>
                  <a:schemeClr val="bg2"/>
                </a:solidFill>
              </a:rPr>
              <a:t>官方推出的 </a:t>
            </a:r>
            <a:r>
              <a:rPr lang="en-US" altLang="zh-TW" sz="1600" dirty="0">
                <a:solidFill>
                  <a:schemeClr val="bg2"/>
                </a:solidFill>
              </a:rPr>
              <a:t>Web </a:t>
            </a:r>
            <a:r>
              <a:rPr lang="zh-TW" altLang="en-US" sz="1600" dirty="0">
                <a:solidFill>
                  <a:schemeClr val="bg2"/>
                </a:solidFill>
              </a:rPr>
              <a:t>版本，同一個 瀏覽器介面可以建立多組資料庫連線、支援 </a:t>
            </a:r>
            <a:r>
              <a:rPr lang="en-US" altLang="zh-TW" sz="1600" dirty="0">
                <a:solidFill>
                  <a:schemeClr val="bg2"/>
                </a:solidFill>
              </a:rPr>
              <a:t>MySQL/PostgreSQL </a:t>
            </a:r>
            <a:r>
              <a:rPr lang="zh-TW" altLang="en-US" sz="1600" dirty="0">
                <a:solidFill>
                  <a:schemeClr val="bg2"/>
                </a:solidFill>
              </a:rPr>
              <a:t>等多種資料庫，是一個 通用的視覺化資料庫管理工具（</a:t>
            </a:r>
            <a:r>
              <a:rPr lang="en-US" altLang="zh-TW" sz="1600" dirty="0" err="1">
                <a:solidFill>
                  <a:schemeClr val="bg2"/>
                </a:solidFill>
              </a:rPr>
              <a:t>DBeaver</a:t>
            </a:r>
            <a:r>
              <a:rPr lang="en-US" altLang="zh-TW" sz="1600" dirty="0">
                <a:solidFill>
                  <a:schemeClr val="bg2"/>
                </a:solidFill>
              </a:rPr>
              <a:t>-like</a:t>
            </a:r>
            <a:r>
              <a:rPr lang="zh-TW" altLang="en-US" sz="1600" dirty="0">
                <a:solidFill>
                  <a:schemeClr val="bg2"/>
                </a:solidFill>
              </a:rPr>
              <a:t>）。</a:t>
            </a:r>
            <a:endParaRPr lang="en-US" altLang="zh-TW" sz="1600" dirty="0">
              <a:solidFill>
                <a:schemeClr val="bg2"/>
              </a:solidFill>
            </a:endParaRPr>
          </a:p>
          <a:p>
            <a:r>
              <a:rPr lang="zh-TW" altLang="en-US" sz="1400" dirty="0">
                <a:solidFill>
                  <a:schemeClr val="bg2"/>
                </a:solidFill>
              </a:rPr>
              <a:t>（ </a:t>
            </a:r>
            <a:r>
              <a:rPr lang="en-US" altLang="zh-TW" sz="1400" dirty="0" err="1">
                <a:solidFill>
                  <a:schemeClr val="bg2"/>
                </a:solidFill>
              </a:rPr>
              <a:t>dbeaver</a:t>
            </a:r>
            <a:r>
              <a:rPr lang="en-US" altLang="zh-TW" sz="1400" dirty="0">
                <a:solidFill>
                  <a:schemeClr val="bg2"/>
                </a:solidFill>
              </a:rPr>
              <a:t>/</a:t>
            </a:r>
            <a:r>
              <a:rPr lang="en-US" altLang="zh-TW" sz="1400" dirty="0" err="1">
                <a:solidFill>
                  <a:schemeClr val="bg2"/>
                </a:solidFill>
              </a:rPr>
              <a:t>cloudbeaver</a:t>
            </a:r>
            <a:r>
              <a:rPr lang="en-US" altLang="zh-TW" sz="1400" dirty="0">
                <a:solidFill>
                  <a:schemeClr val="bg2"/>
                </a:solidFill>
              </a:rPr>
              <a:t> </a:t>
            </a:r>
            <a:r>
              <a:rPr lang="zh-TW" altLang="en-US" sz="1400" dirty="0">
                <a:solidFill>
                  <a:schemeClr val="bg2"/>
                </a:solidFill>
              </a:rPr>
              <a:t>映像）</a:t>
            </a:r>
          </a:p>
        </p:txBody>
      </p:sp>
    </p:spTree>
    <p:extLst>
      <p:ext uri="{BB962C8B-B14F-4D97-AF65-F5344CB8AC3E}">
        <p14:creationId xmlns:p14="http://schemas.microsoft.com/office/powerpoint/2010/main" val="3112812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實作：填空（1/5）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1/5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405904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取名字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metadata.name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這個值之後每個檔案的 namespace: 都要跟它一致，README 標題已經告訴你這個產品叫什麼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00-namespace.yaml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幫這個 namespace 加上分類標籤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labels.training/product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__FILL_ME_1__ 填同一個值即可（本教材慣例：label 值＝namespace 名稱）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096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設定整個 namespace 最多能同時 request 多少 CPU 總量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ResourceQuota.hard.requests.cpu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Deployment 只開 1 個 replica，容器 requests.cpu: 250m；配額至少要蓋過這個量，並留一點給未來可能加的第二個資料庫周邊工具（pods: "3" 已經暗示留了名額）（進階提示：填得太小會讓唯一的 Pod 直接被 quota 擋在門外，連 Pending 都排不進去，可對照 manifest-buggy/ 的除錯題感受這個症狀）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6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設定單一容器最多能要多少 CPU（上限）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LimitRange.max.cpu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≥ Deployment 裡容器實際填的 limits.cpu，否則 Pod 會被 LimitRange 擋掉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設定單一容器最少要 request 多少記憶體（下限）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LimitRange.min.memory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必須 ≤ Deployment 裡容器實際填的 requests.memory，抓太高會擋掉未來想加進這個 namespace 的輕量容器（這門課幫 cloudbeaver 加 Adminer 時真的踩過這個坑）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153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實作：填空（2/5）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3" name="Subtitle 103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2/5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508000" y="1400000"/>
          <a:ext cx="11176000" cy="481869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PVC 的存取模式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spec.accessModes[0]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只有 1 個 replica 會掛這顆 PVC，需要「單一節點可讀寫」還是「多節點共享讀寫」？（跟 filebrowser 那種多 Pod 共享的情境不一樣）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設定要用哪個 StorageClass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spec.storageClassName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這座叢集沒有 default StorageClass，要明確指定；RWO 單寫場景這門課統一用哪個 Ceph StorageClass？（可參考其他資料庫類產品，例如 flarum/planka 的 PVC）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02-pvc.yaml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設定要申請多少容量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spec.resources.requests.storage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只是存帳號/連線設定的 workspace 目錄，不是存實際資料表內容，不需要很大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 CloudBeaver 官方容器映像的名稱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containers[0].image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DBeaver 官方在 Docker Hub 發布的 CloudBeaver 映像叫什麼？檔案上方教學註解與 README 產品說明都有寫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填入容器內部應用程式實際監聽的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containers[0].ports[0].containerPort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04-service.yaml 的 targetPort: http 這個 named port、以及 06-networkpolicy.yaml 放行 Gateway ingress 的那個 port 要三邊對得上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liveness 探測要等待幾秒才開始檢查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livenessProbe.initialDelaySeconds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檔案上方教學註解直接寫了原因：Java 應用冷啟動比 PHP/Node 慢，太早開始檢查會在應用程式還在初始化時就被砍掉；這個值該抓多寬鬆？（比 readinessProbe 的 30 秒還要更長）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408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實作：填空（3/5）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5" name="Subtitle 105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3/5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8000" y="1400000"/>
          <a:ext cx="11176000" cy="460002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workspace 要掛載到容器內的哪個路徑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volumeMounts[0].mountPath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CloudBeaver 的 GlobalConfigurationDir，檔案上方教學註解有寫這個目錄的用途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設定要掛哪一個 PVC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volumes[0].persistentVolumeClaim.claimName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要跟 02-pvc.yaml 裡 metadata.name 完全一致，否則 Pod 會卡在找不到 PVC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2133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觀念題（不是 YAML 值）：這個 container 為什麼沒有 securityContext.capabilities.drop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無對應欄位，寫在旁邊或口頭回答即可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對照 ../../draw.io/manifest/02-deployment.yaml 的 capabilities.drop: [ALL]——CloudBeaver 官方 entrypoint 用 root 身分做了什麼事，才需要保留預設 capability？（提示：跟 mysql/postgres/redis 同一種「先 chown PVC 再降權」模式）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17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Service 要選中哪些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spec.selector.app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Deployment 的 template.metadata.labels.app 必須完全一致，否則 Service 找不到任何 Endpoint（manifest-buggy/ 的除錯題就是在考這個）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Service 要把流量轉去 Pod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spec.ports[0].targetPort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對應到 Pod 上 named port 的名稱，不是數字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設定這個 HTTPRoute 要掛在哪個 Gateway 底下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parentRefs[0].name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../../shared-infra/ 底下那份共用資源叫什麼名字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7118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實作：填空（4/5）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7" name="Subtitle 107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4/5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8000" y="1400000"/>
          <a:ext cx="11176000" cy="3879493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設定對外存取這個服務要用的網域名稱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hostnames[0]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沿用叢集網域慣例：&lt;product&gt;.nexai.org.com，這個 product 是什麼？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__FILL_ME_19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05-httproute.yaml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 HTTPRoute 要把流量轉去 Service 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backendRefs[0].port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看 04-service.yaml 裡 Service 對外開的是幾號 port（不是 containerPort）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__FILL_ME_20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設定「放行 Gateway 進來」這條規則要保護哪些 Pod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allow-ingress-to-cloudbeaver-from-gateway.spec.podSelector.matchLabels.app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和 Service/Deployment 用同一組 label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__FILL_ME_21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設定只放行進到容器的哪個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allow-ingress-to-cloudbeaver-from-gateway.spec.ingress[0].ports[0].port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跟 __FILL_ME_10__ 應該是同一個號碼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__FILL_ME_22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設定「連到三個資料庫」這條 egress 規則要套用在哪些 Pod 上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allow-egress-cloudbeaver-to-databases.spec.podSelector.matchLabels.app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一樣是這個產品的 Pod，和上面幾格填同一個值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70318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實作：填空（5/5）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9" name="Subtitle 109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manifest-incomplete/ · 共 28 格（第 5/5 頁）· 照編號填完再依序 apply，最後 diff -u 對照 ../manifest/</a:t>
            </a:r>
            <a:endParaRPr lang="zh-TW" altLang="en-US" sz="1400" dirty="0"/>
          </a:p>
        </p:txBody>
      </p:sp>
      <p:graphicFrame>
        <p:nvGraphicFramePr>
          <p:cNvPr id="110" name="Table 110"/>
          <p:cNvGraphicFramePr>
            <a:graphicFrameLocks noGrp="1"/>
          </p:cNvGraphicFramePr>
          <p:nvPr/>
        </p:nvGraphicFramePr>
        <p:xfrm>
          <a:off x="508000" y="1400000"/>
          <a:ext cx="11176000" cy="4818698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7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32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編號 / 檔案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題目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34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__FILL_ME_23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設定第一條 egress 規則要放行連到哪個 namespace（flarum）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egress[0].to[0].namespaceSelector.matchLabels."kubernetes.io/metadata.name"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這是這個產品的核心教學重點：不是用自訂 label，是用 K8s 幫每個 namespace 自動加上的內建標籤，值就是 namespace 的名字本身。這條要放行去 flarum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__FILL_ME_24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設定第一條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egress[0].ports[0].port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flarum 那個 mysql 監聽在哪個標準 port？README 上方的資料庫對照表有寫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__FILL_ME_25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設定第二條 egress 規則要放行連到哪個 namespace（planka）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egress[1].to[0].namespaceSelector.matchLabels."kubernetes.io/metadata.name"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 __FILL_ME_23__ 的邏輯，這條要放行去 planka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__FILL_ME_26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設定第二條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egress[1].ports[0].port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planka 那個 postgres 監聽在哪個標準 port？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656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__FILL_ME_27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設定第三條 egress 規則要放行連到哪個 namespace（peertube）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egress[2].to[0].namespaceSelector.matchLabels."kubernetes.io/metadata.name"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同上，這條要放行去 peertube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3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__FILL_ME_28</a:t>
                      </a:r>
                      <a:r>
                        <a:rPr lang="en-US" altLang="zh-TW" sz="1100" b="1" dirty="0">
                          <a:solidFill>
                            <a:srgbClr val="16759A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__ 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100" dirty="0">
                        <a:latin typeface="Consolas" panose="020B0609020204030204" pitchFamily="49" charset="0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b="1" dirty="0">
                          <a:solidFill>
                            <a:srgbClr val="14213D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設定第三條 egress 規則只放行到哪個 port</a:t>
                      </a:r>
                      <a:r>
                        <a:rPr lang="zh-TW" altLang="en-US" sz="1100" b="0" dirty="0">
                          <a:solidFill>
                            <a:srgbClr val="16759A"/>
                          </a:solidFill>
                          <a:latin typeface="+mn-ea"/>
                          <a:ea typeface="+mn-ea"/>
                          <a:cs typeface="Courier New"/>
                          <a:sym typeface="Courier New"/>
                        </a:rPr>
                        <a:t>　egress[2].ports[0].port</a:t>
                      </a:r>
                      <a:endParaRPr lang="zh-TW" altLang="en-US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提示：</a:t>
                      </a: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peertube 那個 postgres 監聽在哪個標準 port？</a:t>
                      </a:r>
                      <a:endParaRPr lang="zh-TW" altLang="en-US" sz="1100" dirty="0">
                        <a:latin typeface="+mn-ea"/>
                        <a:ea typeface="+mn-ea"/>
                      </a:endParaRPr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97718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  <a:latin typeface="+mj-lt"/>
              </a:rPr>
              <a:t>實作：填空 · 解答</a:t>
            </a:r>
            <a:endParaRPr sz="3200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28 格正解 · 標準答案就是 ../manifest/ 同名檔案 · 欄位前的數字是檔案編號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Namespace 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 · label product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quota 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"500m"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max.cpu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"2"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 · min.memory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256Mi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accessModes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ReadWriteOnce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storageClass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rook-ceph-block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02 · storage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2Gi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image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dbeaver/cloudbeaver:latest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containerPort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liveness delay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mountPath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/opt/cloudbeaver/workspace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claimName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cloudbeaver-workspace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03 · 觀念題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不設 drop（需 root chown）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03" name="Table 103"/>
          <p:cNvGraphicFramePr>
            <a:graphicFrameLocks noGrp="1"/>
          </p:cNvGraphicFramePr>
          <p:nvPr/>
        </p:nvGraphicFramePr>
        <p:xfrm>
          <a:off x="6196000" y="1400000"/>
          <a:ext cx="5488000" cy="403620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欄位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正解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selector.app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04 · targetPort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http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parentRefs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dev-gateway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hostnames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"cloudbeaver.nexai.org.com"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05 · backendRefs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ingress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8978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podSelector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cloudbeaver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flarum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3306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planka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namespaceSelector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peertube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06 · egress port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5432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877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manifest-buggy/ · 藏了 4 個錯 · 每個檔案最多一個 · 先整套 apply，再從症狀往回追</a:t>
            </a:r>
            <a:endParaRPr lang="zh-TW" altLang="en-US" sz="1400" dirty="0"/>
          </a:p>
        </p:txBody>
      </p:sp>
      <p:sp>
        <p:nvSpPr>
          <p:cNvPr id="102" name="Bug card 102"/>
          <p:cNvSpPr/>
          <p:nvPr/>
        </p:nvSpPr>
        <p:spPr>
          <a:xfrm>
            <a:off x="508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3" name="Badge 103"/>
          <p:cNvSpPr/>
          <p:nvPr/>
        </p:nvSpPr>
        <p:spPr>
          <a:xfrm>
            <a:off x="708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lang="zh-TW" altLang="en-US" sz="1400" dirty="0"/>
          </a:p>
        </p:txBody>
      </p:sp>
      <p:sp>
        <p:nvSpPr>
          <p:cNvPr id="104" name="TextBox 104"/>
          <p:cNvSpPr txBox="1"/>
          <p:nvPr/>
        </p:nvSpPr>
        <p:spPr>
          <a:xfrm>
            <a:off x="1238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連第一個 Pod 都生不出來</a:t>
            </a:r>
            <a:endParaRPr lang="zh-TW" altLang="en-US" sz="1600" dirty="0"/>
          </a:p>
        </p:txBody>
      </p:sp>
      <p:sp>
        <p:nvSpPr>
          <p:cNvPr id="105" name="TextBox 105"/>
          <p:cNvSpPr txBox="1"/>
          <p:nvPr/>
        </p:nvSpPr>
        <p:spPr>
          <a:xfrm>
            <a:off x="708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只有 1 個 replica，Deployment 卻建不出任何 Pod，Events 看到 exceeded quota。</a:t>
            </a:r>
            <a:endParaRPr lang="zh-TW" altLang="en-US" sz="1300" dirty="0"/>
          </a:p>
        </p:txBody>
      </p:sp>
      <p:sp>
        <p:nvSpPr>
          <p:cNvPr id="106" name="TextBox 106"/>
          <p:cNvSpPr txBox="1"/>
          <p:nvPr/>
        </p:nvSpPr>
        <p:spPr>
          <a:xfrm>
            <a:off x="708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07" name="TextBox 107"/>
          <p:cNvSpPr txBox="1"/>
          <p:nvPr/>
        </p:nvSpPr>
        <p:spPr>
          <a:xfrm>
            <a:off x="708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events -n cloudbeaver</a:t>
            </a:r>
            <a:endParaRPr lang="zh-TW" altLang="en-US" sz="1100" dirty="0"/>
          </a:p>
        </p:txBody>
      </p:sp>
      <p:sp>
        <p:nvSpPr>
          <p:cNvPr id="108" name="Bug card 108"/>
          <p:cNvSpPr/>
          <p:nvPr/>
        </p:nvSpPr>
        <p:spPr>
          <a:xfrm>
            <a:off x="6196000" y="140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09" name="Badge 109"/>
          <p:cNvSpPr/>
          <p:nvPr/>
        </p:nvSpPr>
        <p:spPr>
          <a:xfrm>
            <a:off x="6396000" y="158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lang="zh-TW" altLang="en-US" sz="1400" dirty="0"/>
          </a:p>
        </p:txBody>
      </p:sp>
      <p:sp>
        <p:nvSpPr>
          <p:cNvPr id="110" name="TextBox 110"/>
          <p:cNvSpPr txBox="1"/>
          <p:nvPr/>
        </p:nvSpPr>
        <p:spPr>
          <a:xfrm>
            <a:off x="6926000" y="158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CrashLoopBackOff：permission</a:t>
            </a:r>
            <a:endParaRPr lang="zh-TW" altLang="en-US" sz="1600" dirty="0"/>
          </a:p>
        </p:txBody>
      </p:sp>
      <p:sp>
        <p:nvSpPr>
          <p:cNvPr id="111" name="TextBox 111"/>
          <p:cNvSpPr txBox="1"/>
          <p:nvPr/>
        </p:nvSpPr>
        <p:spPr>
          <a:xfrm>
            <a:off x="6396000" y="213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容器一起來就死，logs 出現權限相關錯誤。官方 entrypoint 需不需要 root 去動 PVC？</a:t>
            </a:r>
            <a:endParaRPr lang="zh-TW" altLang="en-US" sz="1300" dirty="0"/>
          </a:p>
        </p:txBody>
      </p:sp>
      <p:sp>
        <p:nvSpPr>
          <p:cNvPr id="112" name="TextBox 112"/>
          <p:cNvSpPr txBox="1"/>
          <p:nvPr/>
        </p:nvSpPr>
        <p:spPr>
          <a:xfrm>
            <a:off x="6396000" y="30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3" name="TextBox 113"/>
          <p:cNvSpPr txBox="1"/>
          <p:nvPr/>
        </p:nvSpPr>
        <p:spPr>
          <a:xfrm>
            <a:off x="6396000" y="33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logs deploy/cloudbeaver -n cloudbeaver --previous</a:t>
            </a:r>
            <a:endParaRPr lang="zh-TW" altLang="en-US" sz="1100" dirty="0"/>
          </a:p>
        </p:txBody>
      </p:sp>
      <p:sp>
        <p:nvSpPr>
          <p:cNvPr id="114" name="Bug card 114"/>
          <p:cNvSpPr/>
          <p:nvPr/>
        </p:nvSpPr>
        <p:spPr>
          <a:xfrm>
            <a:off x="508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15" name="Badge 115"/>
          <p:cNvSpPr/>
          <p:nvPr/>
        </p:nvSpPr>
        <p:spPr>
          <a:xfrm>
            <a:off x="708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lang="zh-TW" altLang="en-US" sz="1400" dirty="0"/>
          </a:p>
        </p:txBody>
      </p:sp>
      <p:sp>
        <p:nvSpPr>
          <p:cNvPr id="116" name="TextBox 116"/>
          <p:cNvSpPr txBox="1"/>
          <p:nvPr/>
        </p:nvSpPr>
        <p:spPr>
          <a:xfrm>
            <a:off x="1238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Endpoints 永遠是空的</a:t>
            </a:r>
            <a:endParaRPr lang="zh-TW" altLang="en-US" sz="1600" dirty="0"/>
          </a:p>
        </p:txBody>
      </p:sp>
      <p:sp>
        <p:nvSpPr>
          <p:cNvPr id="117" name="TextBox 117"/>
          <p:cNvSpPr txBox="1"/>
          <p:nvPr/>
        </p:nvSpPr>
        <p:spPr>
          <a:xfrm>
            <a:off x="708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Pod Running 且 1/1 Ready，透過 Gateway 連線得到 503 / connection refused。</a:t>
            </a:r>
            <a:endParaRPr lang="zh-TW" altLang="en-US" sz="1300" dirty="0"/>
          </a:p>
        </p:txBody>
      </p:sp>
      <p:sp>
        <p:nvSpPr>
          <p:cNvPr id="118" name="TextBox 118"/>
          <p:cNvSpPr txBox="1"/>
          <p:nvPr/>
        </p:nvSpPr>
        <p:spPr>
          <a:xfrm>
            <a:off x="708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19" name="TextBox 119"/>
          <p:cNvSpPr txBox="1"/>
          <p:nvPr/>
        </p:nvSpPr>
        <p:spPr>
          <a:xfrm>
            <a:off x="708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get endpoints cloudbeaver -n cloudbeaver</a:t>
            </a:r>
            <a:endParaRPr lang="zh-TW" altLang="en-US" sz="1100" dirty="0"/>
          </a:p>
        </p:txBody>
      </p:sp>
      <p:sp>
        <p:nvSpPr>
          <p:cNvPr id="120" name="Bug card 120"/>
          <p:cNvSpPr/>
          <p:nvPr/>
        </p:nvSpPr>
        <p:spPr>
          <a:xfrm>
            <a:off x="6196000" y="3850000"/>
            <a:ext cx="5488000" cy="225000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9525" cap="flat" cmpd="sng">
            <a:solidFill>
              <a:srgbClr val="DEDAD0"/>
            </a:solidFill>
            <a:prstDash val="solid"/>
            <a:round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endParaRPr lang="zh-TW" altLang="en-US"/>
          </a:p>
        </p:txBody>
      </p:sp>
      <p:sp>
        <p:nvSpPr>
          <p:cNvPr id="121" name="Badge 121"/>
          <p:cNvSpPr/>
          <p:nvPr/>
        </p:nvSpPr>
        <p:spPr>
          <a:xfrm>
            <a:off x="6396000" y="4030000"/>
            <a:ext cx="380000" cy="380000"/>
          </a:xfrm>
          <a:prstGeom prst="ellipse">
            <a:avLst/>
          </a:prstGeom>
          <a:solidFill>
            <a:srgbClr val="12517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lang="zh-TW" altLang="en-US" sz="1400" dirty="0"/>
          </a:p>
        </p:txBody>
      </p:sp>
      <p:sp>
        <p:nvSpPr>
          <p:cNvPr id="122" name="TextBox 122"/>
          <p:cNvSpPr txBox="1"/>
          <p:nvPr/>
        </p:nvSpPr>
        <p:spPr>
          <a:xfrm>
            <a:off x="6926000" y="4030000"/>
            <a:ext cx="4558000" cy="3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600" b="1" dirty="0">
                <a:solidFill>
                  <a:srgbClr val="14213D"/>
                </a:solidFill>
                <a:latin typeface="Arial"/>
                <a:ea typeface="Arial"/>
                <a:cs typeface="Arial"/>
                <a:sym typeface="Arial"/>
              </a:rPr>
              <a:t>三個 DB 只連得到兩個</a:t>
            </a:r>
            <a:endParaRPr lang="zh-TW" altLang="en-US" sz="1600" dirty="0"/>
          </a:p>
        </p:txBody>
      </p:sp>
      <p:sp>
        <p:nvSpPr>
          <p:cNvPr id="123" name="TextBox 123"/>
          <p:cNvSpPr txBox="1"/>
          <p:nvPr/>
        </p:nvSpPr>
        <p:spPr>
          <a:xfrm>
            <a:off x="6396000" y="4580000"/>
            <a:ext cx="5088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3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在 Pod 裡用 /dev/tcp 測試，第三個資料庫卡住逾時（不是立刻被拒絕）。</a:t>
            </a:r>
            <a:endParaRPr lang="zh-TW" altLang="en-US" sz="1300" dirty="0"/>
          </a:p>
        </p:txBody>
      </p:sp>
      <p:sp>
        <p:nvSpPr>
          <p:cNvPr id="124" name="TextBox 124"/>
          <p:cNvSpPr txBox="1"/>
          <p:nvPr/>
        </p:nvSpPr>
        <p:spPr>
          <a:xfrm>
            <a:off x="6396000" y="554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B6F6A"/>
                </a:solidFill>
                <a:latin typeface="Arial"/>
                <a:ea typeface="Arial"/>
                <a:cs typeface="Arial"/>
                <a:sym typeface="Arial"/>
              </a:rPr>
              <a:t>先查</a:t>
            </a:r>
            <a:endParaRPr lang="zh-TW" altLang="en-US" sz="1200" dirty="0"/>
          </a:p>
        </p:txBody>
      </p:sp>
      <p:sp>
        <p:nvSpPr>
          <p:cNvPr id="125" name="TextBox 125"/>
          <p:cNvSpPr txBox="1"/>
          <p:nvPr/>
        </p:nvSpPr>
        <p:spPr>
          <a:xfrm>
            <a:off x="6396000" y="5790000"/>
            <a:ext cx="5088000" cy="2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100" b="0" dirty="0">
                <a:solidFill>
                  <a:srgbClr val="14213D"/>
                </a:solidFill>
                <a:latin typeface="Courier New"/>
                <a:ea typeface="Courier New"/>
                <a:cs typeface="Courier New"/>
                <a:sym typeface="Courier New"/>
              </a:rPr>
              <a:t>kubectl exec -it deploy/cloudbeaver -n cloudbeaver -- sh</a:t>
            </a:r>
            <a:endParaRPr lang="zh-TW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1962450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17;h354c58d55cfae689_0_309">
            <a:extLst>
              <a:ext uri="{FF2B5EF4-FFF2-40B4-BE49-F238E27FC236}">
                <a16:creationId xmlns:a16="http://schemas.microsoft.com/office/drawing/2014/main" id="{FF163B4D-D3FA-4BCB-AA1F-C146291BDC48}"/>
              </a:ext>
            </a:extLst>
          </p:cNvPr>
          <p:cNvSpPr/>
          <p:nvPr/>
        </p:nvSpPr>
        <p:spPr>
          <a:xfrm>
            <a:off x="508000" y="355600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sz="3200" b="1" dirty="0">
                <a:solidFill>
                  <a:srgbClr val="12517C"/>
                </a:solidFill>
              </a:rPr>
              <a:t>實作：藏錯 · 解答</a:t>
            </a:r>
          </a:p>
        </p:txBody>
      </p:sp>
      <p:sp>
        <p:nvSpPr>
          <p:cNvPr id="35" name="Google Shape;217;h354c58d55cfae689_0_309">
            <a:extLst>
              <a:ext uri="{FF2B5EF4-FFF2-40B4-BE49-F238E27FC236}">
                <a16:creationId xmlns:a16="http://schemas.microsoft.com/office/drawing/2014/main" id="{E35856F5-F4DA-4A95-8C22-02B4F4F3F8AB}"/>
              </a:ext>
            </a:extLst>
          </p:cNvPr>
          <p:cNvSpPr/>
          <p:nvPr/>
        </p:nvSpPr>
        <p:spPr>
          <a:xfrm>
            <a:off x="508000" y="51436"/>
            <a:ext cx="11511300" cy="4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第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7 </a:t>
            </a:r>
            <a:r>
              <a:rPr lang="zh-TW" altLang="en-US" b="1" dirty="0">
                <a:solidFill>
                  <a:srgbClr val="12517C"/>
                </a:solidFill>
                <a:latin typeface="+mj-lt"/>
              </a:rPr>
              <a:t>站 </a:t>
            </a:r>
            <a:r>
              <a:rPr lang="en-US" altLang="zh-TW" b="1" dirty="0">
                <a:solidFill>
                  <a:srgbClr val="12517C"/>
                </a:solidFill>
                <a:latin typeface="+mj-lt"/>
              </a:rPr>
              <a:t>· </a:t>
            </a:r>
            <a:r>
              <a:rPr lang="en-US" altLang="zh-TW" b="1" dirty="0" err="1">
                <a:solidFill>
                  <a:srgbClr val="12517C"/>
                </a:solidFill>
                <a:latin typeface="+mj-lt"/>
              </a:rPr>
              <a:t>cloudbeaver</a:t>
            </a:r>
            <a:endParaRPr lang="en-US" altLang="zh-TW" b="1" dirty="0">
              <a:solidFill>
                <a:srgbClr val="12517C"/>
              </a:solidFill>
              <a:latin typeface="+mj-lt"/>
            </a:endParaRPr>
          </a:p>
        </p:txBody>
      </p:sp>
      <p:sp>
        <p:nvSpPr>
          <p:cNvPr id="101" name="Subtitle 101"/>
          <p:cNvSpPr txBox="1"/>
          <p:nvPr/>
        </p:nvSpPr>
        <p:spPr>
          <a:xfrm>
            <a:off x="508000" y="985000"/>
            <a:ext cx="11176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400" b="0" dirty="0">
                <a:solidFill>
                  <a:srgbClr val="4A5568"/>
                </a:solidFill>
                <a:latin typeface="Arial"/>
                <a:ea typeface="Arial"/>
                <a:cs typeface="Arial"/>
                <a:sym typeface="Arial"/>
              </a:rPr>
              <a:t>4 個錯 · 修完用四個綠燈驗收：Pod Ready、有 endpoints、HTTPRoute Accepted + ResolvedRefs、curl 拿到真內容</a:t>
            </a:r>
            <a:endParaRPr lang="zh-TW" altLang="en-US" sz="14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508000" y="1400000"/>
          <a:ext cx="11176000" cy="226712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4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0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08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症狀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檔案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錯誤 → 修正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為什麼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solidFill>
                      <a:srgbClr val="ECE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連第一個 Pod 都生不出來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01-resourcequota-limitrange.yaml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"100m"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requests.cpu: "500m"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容器 requests.cpu 是 250m，配額 100m 讓 ReplicaSet 直接被拒。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CrashLoopBackOff：permission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03-deployment.yaml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securityContext: drop [ALL]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移除這段 securityContext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entrypoint 先用 root chown PVC 再降權，drop ALL 會讓這一步失敗。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Endpoints 永遠是空的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04-service.yaml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selector.app: cloudbeaver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selector 必須和 Pod label 一字不差。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01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6759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三個 DB 只連得到兩個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50" b="0" dirty="0">
                          <a:solidFill>
                            <a:srgbClr val="4A556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06-networkpolicy.yaml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B26A1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錯  </a:t>
                      </a:r>
                      <a:r>
                        <a:rPr lang="zh-TW" altLang="en-US" sz="1050" b="0" dirty="0">
                          <a:solidFill>
                            <a:srgbClr val="B26A12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peertube-app</a:t>
                      </a:r>
                      <a:endParaRPr lang="zh-TW" altLang="en-US" sz="1050"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1B6F6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改  </a:t>
                      </a:r>
                      <a:r>
                        <a:rPr lang="zh-TW" altLang="en-US" sz="1050" b="1" dirty="0">
                          <a:solidFill>
                            <a:srgbClr val="1B6F6A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metadata.name: peertube</a:t>
                      </a:r>
                      <a:endParaRPr lang="zh-TW" altLang="en-US" sz="105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0" dirty="0">
                          <a:solidFill>
                            <a:srgbClr val="4A55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namespaceSelector 指到不存在的 namespace，等於沒放行。</a:t>
                      </a:r>
                      <a:endParaRPr lang="zh-TW" altLang="en-US" sz="1100" dirty="0"/>
                    </a:p>
                  </a:txBody>
                  <a:tcPr marL="72720" marR="72720" anchor="ctr">
                    <a:lnL w="12700" cap="flat" cmpd="sng">
                      <a:solidFill>
                        <a:srgbClr val="C5C7C9"/>
                      </a:solidFill>
                      <a:prstDash val="solid"/>
                      <a:round/>
                    </a:lnL>
                    <a:lnR w="12700" cap="flat" cmpd="sng">
                      <a:solidFill>
                        <a:srgbClr val="C5C7C9"/>
                      </a:solidFill>
                      <a:prstDash val="solid"/>
                      <a:round/>
                    </a:lnR>
                    <a:lnT w="12700" cap="flat" cmpd="sng">
                      <a:solidFill>
                        <a:srgbClr val="C5C7C9"/>
                      </a:solidFill>
                      <a:prstDash val="solid"/>
                      <a:round/>
                    </a:lnT>
                    <a:lnB w="12700" cap="flat" cmpd="sng">
                      <a:solidFill>
                        <a:srgbClr val="C5C7C9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228693"/>
      </p:ext>
    </p:extLst>
  </p:cSld>
  <p:clrMapOvr>
    <a:masterClrMapping/>
  </p:clrMapOvr>
</p:sld>
</file>

<file path=ppt/theme/theme1.xml><?xml version="1.0" encoding="utf-8"?>
<a:theme xmlns:a="http://schemas.openxmlformats.org/drawingml/2006/main" name="1._AIC conference_light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_AIC conference_Dark_BG">
  <a:themeElements>
    <a:clrScheme name="Presentation_02">
      <a:dk1>
        <a:sysClr val="windowText" lastClr="000000"/>
      </a:dk1>
      <a:lt1>
        <a:srgbClr val="FFFFFF"/>
      </a:lt1>
      <a:dk2>
        <a:srgbClr val="000000"/>
      </a:dk2>
      <a:lt2>
        <a:srgbClr val="FFFFFF"/>
      </a:lt2>
      <a:accent1>
        <a:srgbClr val="D8D8D8"/>
      </a:accent1>
      <a:accent2>
        <a:srgbClr val="B2B2B2"/>
      </a:accent2>
      <a:accent3>
        <a:srgbClr val="B2B2B2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_AIC Presentation_BG">
  <a:themeElements>
    <a:clrScheme name="presentation_01">
      <a:dk1>
        <a:sysClr val="windowText" lastClr="000000"/>
      </a:dk1>
      <a:lt1>
        <a:sysClr val="window" lastClr="FFFFFF"/>
      </a:lt1>
      <a:dk2>
        <a:srgbClr val="000000"/>
      </a:dk2>
      <a:lt2>
        <a:srgbClr val="E7E6E6"/>
      </a:lt2>
      <a:accent1>
        <a:srgbClr val="00ABEB"/>
      </a:accent1>
      <a:accent2>
        <a:srgbClr val="D7000F"/>
      </a:accent2>
      <a:accent3>
        <a:srgbClr val="949495"/>
      </a:accent3>
      <a:accent4>
        <a:srgbClr val="4FBAA1"/>
      </a:accent4>
      <a:accent5>
        <a:srgbClr val="85DFFF"/>
      </a:accent5>
      <a:accent6>
        <a:srgbClr val="8BD1C0"/>
      </a:accent6>
      <a:hlink>
        <a:srgbClr val="48A1FA"/>
      </a:hlink>
      <a:folHlink>
        <a:srgbClr val="949495"/>
      </a:folHlink>
    </a:clrScheme>
    <a:fontScheme name="presentation_01">
      <a:majorFont>
        <a:latin typeface="Calibri"/>
        <a:ea typeface="微軟正黑體"/>
        <a:cs typeface=""/>
      </a:majorFont>
      <a:minorFont>
        <a:latin typeface="Calibri Light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AIC 課程 ppt Template_Light</Template>
  <TotalTime>487</TotalTime>
  <Words>26539</Words>
  <Application>Microsoft Office PowerPoint</Application>
  <PresentationFormat>寬螢幕</PresentationFormat>
  <Paragraphs>2293</Paragraphs>
  <Slides>67</Slides>
  <Notes>27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67</vt:i4>
      </vt:variant>
    </vt:vector>
  </HeadingPairs>
  <TitlesOfParts>
    <vt:vector size="76" baseType="lpstr">
      <vt:lpstr>Calibri</vt:lpstr>
      <vt:lpstr>Consolas</vt:lpstr>
      <vt:lpstr>微軟正黑體</vt:lpstr>
      <vt:lpstr>Courier New</vt:lpstr>
      <vt:lpstr>Arial</vt:lpstr>
      <vt:lpstr>Calibri Light</vt:lpstr>
      <vt:lpstr>1._AIC conference_light_BG</vt:lpstr>
      <vt:lpstr>2._AIC conference_Dark_BG</vt:lpstr>
      <vt:lpstr>3._AIC Presentation_BG</vt:lpstr>
      <vt:lpstr>PowerPoint 簡報</vt:lpstr>
      <vt:lpstr>PowerPoint 簡報</vt:lpstr>
      <vt:lpstr>PowerPoint 簡報</vt:lpstr>
      <vt:lpstr>PowerPoint 簡報</vt:lpstr>
      <vt:lpstr>第 1 站 · draw.io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2 站 · filebrowser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3 站 ·  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4 站 · planka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5 站 · onlyoffice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6 站 · peertube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第 7 站 · cloudbeaver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PptxGenJS</dc:creator>
  <cp:lastModifiedBy>Ann Lee[李旻恩]</cp:lastModifiedBy>
  <cp:revision>54</cp:revision>
  <dcterms:created xsi:type="dcterms:W3CDTF">2026-09-24T10:08:04Z</dcterms:created>
  <dcterms:modified xsi:type="dcterms:W3CDTF">2026-09-29T10:03:42Z</dcterms:modified>
</cp:coreProperties>
</file>