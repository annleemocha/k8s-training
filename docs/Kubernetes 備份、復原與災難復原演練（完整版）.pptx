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62" r:id="rId2"/>
    <p:sldMasterId id="2147483672" r:id="rId3"/>
  </p:sldMasterIdLst>
  <p:notesMasterIdLst>
    <p:notesMasterId r:id="rId15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</p:sldIdLst>
  <p:sldSz cx="12192000" cy="6858000"/>
  <p:notesSz cx="6858000" cy="12192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629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4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63" Type="http://schemas.openxmlformats.org/officeDocument/2006/relationships/slide" Target="slides/slide60.xml"/><Relationship Id="rId84" Type="http://schemas.openxmlformats.org/officeDocument/2006/relationships/slide" Target="slides/slide81.xml"/><Relationship Id="rId138" Type="http://schemas.openxmlformats.org/officeDocument/2006/relationships/slide" Target="slides/slide135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53" Type="http://schemas.openxmlformats.org/officeDocument/2006/relationships/slide" Target="slides/slide50.xml"/><Relationship Id="rId74" Type="http://schemas.openxmlformats.org/officeDocument/2006/relationships/slide" Target="slides/slide71.xml"/><Relationship Id="rId128" Type="http://schemas.openxmlformats.org/officeDocument/2006/relationships/slide" Target="slides/slide125.xml"/><Relationship Id="rId149" Type="http://schemas.openxmlformats.org/officeDocument/2006/relationships/slide" Target="slides/slide146.xml"/><Relationship Id="rId5" Type="http://schemas.openxmlformats.org/officeDocument/2006/relationships/slide" Target="slides/slide2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43" Type="http://schemas.openxmlformats.org/officeDocument/2006/relationships/slide" Target="slides/slide40.xml"/><Relationship Id="rId64" Type="http://schemas.openxmlformats.org/officeDocument/2006/relationships/slide" Target="slides/slide61.xml"/><Relationship Id="rId118" Type="http://schemas.openxmlformats.org/officeDocument/2006/relationships/slide" Target="slides/slide115.xml"/><Relationship Id="rId139" Type="http://schemas.openxmlformats.org/officeDocument/2006/relationships/slide" Target="slides/slide13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50" Type="http://schemas.openxmlformats.org/officeDocument/2006/relationships/slide" Target="slides/slide147.xml"/><Relationship Id="rId155" Type="http://schemas.openxmlformats.org/officeDocument/2006/relationships/presProps" Target="presProps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slide" Target="slides/slide105.xml"/><Relationship Id="rId124" Type="http://schemas.openxmlformats.org/officeDocument/2006/relationships/slide" Target="slides/slide121.xml"/><Relationship Id="rId129" Type="http://schemas.openxmlformats.org/officeDocument/2006/relationships/slide" Target="slides/slide126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40" Type="http://schemas.openxmlformats.org/officeDocument/2006/relationships/slide" Target="slides/slide137.xml"/><Relationship Id="rId145" Type="http://schemas.openxmlformats.org/officeDocument/2006/relationships/slide" Target="slides/slide14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slide" Target="slides/slide111.xml"/><Relationship Id="rId119" Type="http://schemas.openxmlformats.org/officeDocument/2006/relationships/slide" Target="slides/slide116.xml"/><Relationship Id="rId44" Type="http://schemas.openxmlformats.org/officeDocument/2006/relationships/slide" Target="slides/slide41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130" Type="http://schemas.openxmlformats.org/officeDocument/2006/relationships/slide" Target="slides/slide127.xml"/><Relationship Id="rId135" Type="http://schemas.openxmlformats.org/officeDocument/2006/relationships/slide" Target="slides/slide132.xml"/><Relationship Id="rId151" Type="http://schemas.openxmlformats.org/officeDocument/2006/relationships/slide" Target="slides/slide148.xml"/><Relationship Id="rId156" Type="http://schemas.openxmlformats.org/officeDocument/2006/relationships/viewProps" Target="viewProps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120" Type="http://schemas.openxmlformats.org/officeDocument/2006/relationships/slide" Target="slides/slide117.xml"/><Relationship Id="rId125" Type="http://schemas.openxmlformats.org/officeDocument/2006/relationships/slide" Target="slides/slide122.xml"/><Relationship Id="rId141" Type="http://schemas.openxmlformats.org/officeDocument/2006/relationships/slide" Target="slides/slide138.xml"/><Relationship Id="rId146" Type="http://schemas.openxmlformats.org/officeDocument/2006/relationships/slide" Target="slides/slide14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15" Type="http://schemas.openxmlformats.org/officeDocument/2006/relationships/slide" Target="slides/slide112.xml"/><Relationship Id="rId131" Type="http://schemas.openxmlformats.org/officeDocument/2006/relationships/slide" Target="slides/slide128.xml"/><Relationship Id="rId136" Type="http://schemas.openxmlformats.org/officeDocument/2006/relationships/slide" Target="slides/slide133.xml"/><Relationship Id="rId157" Type="http://schemas.openxmlformats.org/officeDocument/2006/relationships/theme" Target="theme/theme1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52" Type="http://schemas.openxmlformats.org/officeDocument/2006/relationships/slide" Target="slides/slide14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126" Type="http://schemas.openxmlformats.org/officeDocument/2006/relationships/slide" Target="slides/slide123.xml"/><Relationship Id="rId147" Type="http://schemas.openxmlformats.org/officeDocument/2006/relationships/slide" Target="slides/slide14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121" Type="http://schemas.openxmlformats.org/officeDocument/2006/relationships/slide" Target="slides/slide118.xml"/><Relationship Id="rId142" Type="http://schemas.openxmlformats.org/officeDocument/2006/relationships/slide" Target="slides/slide139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slide" Target="slides/slide113.xml"/><Relationship Id="rId137" Type="http://schemas.openxmlformats.org/officeDocument/2006/relationships/slide" Target="slides/slide134.xml"/><Relationship Id="rId158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32" Type="http://schemas.openxmlformats.org/officeDocument/2006/relationships/slide" Target="slides/slide129.xml"/><Relationship Id="rId153" Type="http://schemas.openxmlformats.org/officeDocument/2006/relationships/slide" Target="slides/slide150.xml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27" Type="http://schemas.openxmlformats.org/officeDocument/2006/relationships/slide" Target="slides/slide12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52" Type="http://schemas.openxmlformats.org/officeDocument/2006/relationships/slide" Target="slides/slide49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122" Type="http://schemas.openxmlformats.org/officeDocument/2006/relationships/slide" Target="slides/slide119.xml"/><Relationship Id="rId143" Type="http://schemas.openxmlformats.org/officeDocument/2006/relationships/slide" Target="slides/slide140.xml"/><Relationship Id="rId148" Type="http://schemas.openxmlformats.org/officeDocument/2006/relationships/slide" Target="slides/slide145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26" Type="http://schemas.openxmlformats.org/officeDocument/2006/relationships/slide" Target="slides/slide23.xml"/><Relationship Id="rId47" Type="http://schemas.openxmlformats.org/officeDocument/2006/relationships/slide" Target="slides/slide44.xml"/><Relationship Id="rId68" Type="http://schemas.openxmlformats.org/officeDocument/2006/relationships/slide" Target="slides/slide65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33" Type="http://schemas.openxmlformats.org/officeDocument/2006/relationships/slide" Target="slides/slide130.xml"/><Relationship Id="rId154" Type="http://schemas.openxmlformats.org/officeDocument/2006/relationships/notesMaster" Target="notesMasters/notesMaster1.xml"/><Relationship Id="rId16" Type="http://schemas.openxmlformats.org/officeDocument/2006/relationships/slide" Target="slides/slide13.xml"/><Relationship Id="rId37" Type="http://schemas.openxmlformats.org/officeDocument/2006/relationships/slide" Target="slides/slide34.xml"/><Relationship Id="rId58" Type="http://schemas.openxmlformats.org/officeDocument/2006/relationships/slide" Target="slides/slide55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123" Type="http://schemas.openxmlformats.org/officeDocument/2006/relationships/slide" Target="slides/slide120.xml"/><Relationship Id="rId144" Type="http://schemas.openxmlformats.org/officeDocument/2006/relationships/slide" Target="slides/slide141.xml"/><Relationship Id="rId90" Type="http://schemas.openxmlformats.org/officeDocument/2006/relationships/slide" Target="slides/slide87.xml"/><Relationship Id="rId27" Type="http://schemas.openxmlformats.org/officeDocument/2006/relationships/slide" Target="slides/slide24.xml"/><Relationship Id="rId48" Type="http://schemas.openxmlformats.org/officeDocument/2006/relationships/slide" Target="slides/slide45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34" Type="http://schemas.openxmlformats.org/officeDocument/2006/relationships/slide" Target="slides/slide13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4370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這是完整版教材，涵蓋 dr/ 目錄九個單元的全部內容，不設時間限制，可依班級狀況分成兩到三個半天上課。這個單元跟前面的部署工作坊不同：不是部署一個應用，而是把應用弄壞，再救回來。所有 Velero 備份與還原步驟都在真實叢集上跑過，投影片上的輸出是 2026 年 9 月 23 日實際擷取的結果。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先講清楚三件事。第一，Velero 相關操作都是真的跑過的，學員看到的輸出不是想像。第二，etcd 還原和叢集重建只給 runbook，因為這座叢集是共用的，還原 etcd 會讓所有租戶回到過去。第三，整門課的判斷標準是資料，不是狀態欄位。最下面這句話會在單元 5 和單元 9 被反覆驗證。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九個單元的核心問題。每個單元都用一個問題開場，結束時學員要能回答它。7 和 8 是 runbook，不在共用叢集上執行；6 和 9 的 yaml 已經驗證過，由講師上課時決定是否套用。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災難的範圍由小到大：一個應用、control plane、整座叢集，每一層用的工具和流程都不同。建議節奏是先把 1 到 4 走完一次完整的救援，讓學員建立信心，再用單元 5 打破「Completed 就是成功」的直覺。最後單元 9 把前面學到的東西變成每天自動執行的機制。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這張圖要讓學員記住三條備份路徑：Velero 備份資源 manifest、node-agent 把 CSI 快照內容用 kopia 上傳、etcd CronJob 上傳 snapshot，三條最後都寫到叢集外的 SeaweedFS。為什麼這座叢集一定要開 snapshotMoveData？因為 Ceph 的 OSD 就是叢集節點的磁碟，CSI Snapshot 只存在 Ceph 裡，叢集整個消失時快照也會一起消失。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這些都是直接用 kubectl 和 velero 查到的，不是假設。特別提醒兩件事：一是 Secret 有靜態加密，所以 etcd 還原時一定要有加密金鑰；二是既有的 daily-full-backup 排程其實有問題，單元 9 會揭曉。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在正式上課前先打這支預防針。這座叢集有 Rancher Fleet，它的 CRD 也叫 schedules。如果學員用 kubectl get schedules 查，會拿到 Fleet 的空清單，以為 Velero 沒有排程。所有腳本都要寫完整的資源名稱。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dr-demo 是我們整門課要保護的應用：一個 PostgreSQL 用 RBD 區塊儲存，再加上一組 CephFS 共享檔案。四支腳本會重複使用：baseline 留基準、write-postgres 寫驗證資料、check-data 用資料驗證還原、app-disaster 模擬災難。app-disaster 會先確認有備份才允許刪除，避免真的把資料弄丟。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這是整門課的縮影：確認儲存可用、部署並寫入資料、備份、製造災難、還原、用資料驗證。後面每個單元都是把其中一步拆開來講清楚。可以先讓學員看一次全貌，再進入單元 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 1 是觀念加唯讀觀察。核心問題：「備份 Kubernetes」到底要備份什麼？各自住在哪裡？用什麼工具？哪一種備份能解決哪一種災難？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 dr-demo 為例，同一個 PostgreSQL 應用其實由兩種性質完全不同的東西組成。左邊是叢集狀態，住在 etcd，通常可以從 Git 重新產生；右邊是應用資料，住在 Ceph，丟了就沒了。兩者要用不同的工具備份。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PVC 是申請單，PV 是對應關係，實際的區塊裝置在 Ceph 裡。etcd 只記得 PVC 對應到哪一顆 image，不知道 image 裡面有什麼。這是整門課最重要的觀念之一。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etcd 是 Kubernetes 唯一的資料庫，只有 API Server 會直接讀寫它。所有 kubectl get 看得到的東西，最後都是 etcd 裡的一筆 key/value。但它沒有 PV 資料，也沒有自己的憑證和加密金鑰，這些都要另外備份。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兩種 StorageClass 在備份上的做法一樣，都是 CSI Snapshot 加 Data Mover。這裡的數字後面會一直用到：postgres-data 約 47.8MB，shared-data 只有 45 bytes。最後這個警告很重要：reclaimPolicy 是 Delete，刪 namespace 就是刪資料。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備份一定要能回答：如果整座叢集，包含 Ceph，都不見了，備份還在嗎？只有叢集外的 Object Storage 四種情境都活得下來。Object Storage 在架構中扮演三個角色：故障隔離、共同語言、可攜性。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這是實測的 bucket 結構。backups 目錄放資源，kopia 目錄放 PV 資料，restores 放還原紀錄。單元 2 會實際用一個不經過 Velero 的 Pod 直接列出這些檔案，確認備份真的寫到叢集外。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Velero 最擅長的是應用層級：誤刪、資料寫壞、搬遷、以及整座叢集重建後把應用倒回來。它不能處理 control plane 本身壞掉，因為 Velero 自己就跑在叢集裡，需要 API Server。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etcd snapshot 是整個 etcd 資料庫在某一刻的完整、一致複本。它是 etcd 失去 quorum 時的唯一解，但對單一 namespace 來說太粗，而且完全沒有 PV 資料。兩者互補。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「備份成功」只證明 Velero 把被要求備份的東西寫進 Object Storage。中間任何一環沒想到，都會變成 Completed 的備份，救不回來的應用。這張表是後面單元的預告，每一列都會實際重現。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這些都是唯讀指令，可以讓學員直接在課堂上跑。第一組指令讓學員親眼看到 PVC、PV、Ceph image 之間的對應；第二組確認 reclaimPolicy 是 Delete；第三、四組為後面的單元暖身。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三個問題對應三個觀念。Q1：Git 只有資源描述，沒有資料。Q2：etcd 還原會讓整座叢集回到過去，所有租戶都受影響。Q3：快照和資料在同一個故障域，Ceph 壞了或叢集消失時快照一起消失。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 2 的核心問題：備份為什麼一定要放叢集外？怎麼確認真的寫出去了？實機部分是 SeaweedFS 加 BSL。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這是一個看起來很合理、實際上很危險的設計。這座叢集早期真的這樣做過：用 Rook 開 Ceph RGW bucket 當備份目的地。問題在於備份和被保護的東西在同一個故障域，只有誤刪 namespace 這種最小的災難救得回來。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三個原則：故障域分開、權限域分開、不依賴被保護的系統。第二點常被忽略：如果勒索軟體拿到 cluster-admin，而 Velero 的 S3 帳號有刪除 bucket 的權限，備份一樣會被清掉。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完整的安裝步驟在 dr/seaweedfs/README.md，投影片只列檢查點。特別提醒 RequiresMountsFor：如果硬碟沒掛上，服務就不要啟動，否則資料會默默寫進根目錄，重開機後掛上硬碟反而看不到。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Velero 的 AWS plugin 用標準 AWS credentials 格式。velero namespace 裡有兩個 Secret：cloud-credentials 是連 S3 的帳密；velero-repo-credentials 是 kopia repository 的加密密碼。後者是單元 8 的關鍵，新叢集如果產生不同的密碼，就讀不出舊叢集上傳的 PV 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輪替密碼的步驟。重點是 velero server 和 node-agent 兩個都要重啟，否則會出現資源備份成功、Volume 上傳失敗的混合狀態。輪替後一定要跑一次小備份驗證。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這是這座叢集實際的安裝參數，整理在 install-velero.sh，單元 8 重建叢集時會重用。三個關鍵旗標：EnableCSI 啟用 CSI 快照、use-node-agent 啟用 Data Mover 需要的 DaemonSet、uploader-type kopia。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這是一個典型的「順序錯了就出事」的操作。如果先在備份機上擋掉 8333，而 BSL 還是指向 8333，Velero 會立刻 Unavailable，接下來所有排程備份都失敗。正確順序是先切 BSL、確認、測試，最後才關舊的 port。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Available 代表 Velero 連得上 bucket。lastSyncedTime 很重要：Velero 會定期把 bucket 裡的備份清單同步回叢集，這就是單元 8 重建叢集時，新叢集能自動看到舊備份的原因。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Available 只代表連得上。要確認真的寫出去，就不要透過 Velero，直接去 S3 看。這是單元 3 備份完成後的實測輸出：backups 目錄有資源 tar.gz，kopia 目錄有 dr-demo 的 PV 資料，約 37MB，是 kopia 壓縮去重後的大小。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最後一步是確認備份內容能被讀出來，而不是只有檔案存在。順便帶出資安重點：tar.gz 裡的 Secret 只是 base64 編碼，任何能讀 bucket 的人都能拿到所有密碼。這也是為什麼前面強調權限域要分開。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六個最常見的錯誤。除錯的原則是縮小範圍：先用 s3-check Pod 拿同一組帳密直接測 S3，如果這樣也失敗，就是帳密或網路問題，跟 Velero 無關。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練習 1 驗證權限分離，被拒絕才是正確的。練習 2 的唯讀 BSL 會在單元 8 用到：新叢集接上舊 bucket 時先設成唯讀，避免誤刪舊備份。練習 3 是不透過 Velero 驗證備份內容。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 3 的核心問題：用 Velero UI 建立備份之後，怎麼判斷它真的完成了？這個單元會實際跑一次備份，並建立一份八項的檢查清單。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備份前先確認資料是對的，這是之後所有比對的基準。baseline.sh 會留下叢集的資源清單，單元 7 和單元 8 會用它做還原後的差異比對。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本課程用 OTWLD Velero UI 0.10.2，網址 https://velero.nexai.org.com。UI 是逐步精靈，每一步都對應 Backup CR 的一個欄位。欄位名稱可能隨版本不同，但背後產生的永遠是同一個 Backup 物件。Snapshot Move Data 一定要開。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是方便的輸入介面，但判斷依據永遠是 CR 本身。送出之後，第一件事是用 kubectl 看 UI 實際產生了什麼，跟 backup-dr-demo.yaml 對照。另外要提醒學員 UI 的權限是 cluster-admin。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三種常見寫法。應用層級備份用 namespace 當邊界最安全。全叢集備份要排除系統元件，原因是基礎元件應該用自己的安裝程序重建。這裡先埋一個伏筆：線上排程沒有排除 velero namespace，單元 9 會看到後果。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includeClusterResources 是最容易被誤用的欄位。不設定時只帶上相關的 PV 和 CRD，實測 19 個物件；設成 true 會帶上整座叢集所有 cluster 資源，921 個。舊備份還原時產生 188 個 warning，重要的警告會被淹沒。除非真的要搬整座叢集的設定，否則應用層級備份不要設 true。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 2026-09-23 的實測結果。用 app=postgres 備份，拿到的是一堆 ReplicaSet 和 Pod，沒有 Deployment、沒有 Secret、沒有 Service。備份狀態是 Completed，但還原後只有沒人管的 Pod，沒有帳密。原因是 Deployment 自己沒有貼 label，只有 Pod template 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Velero 處理 PV 資料有三種方式。第一種只拍快照，快照留在 Ceph 裡，叢集消失就沒了。第二種先拍快照再上傳，這是本叢集的做法。第三種直接讀檔案系統，不需要 CSI，但讀取期間資料可能還在變動，不是時間點快照。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Mover 分六步。關鍵是先拍快照再上傳，所以上傳的內容固定在同一個時間點。上傳完成後，Velero 會刪掉暫時 PVC 和 Ceph 上的快照，只保留 S3 上的那份。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DataUpload 物件記錄每個 PVC 的上傳結果。shared-data 只有 45 bytes，正好等於 dr-test.txt 的大小。BYTES 是判斷資料有沒有真的被搬走最直接的數字：如果是 0，或跟實際資料量差太多，就要懷疑。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八種 Phase。最需要注意的是 Completed 不代表可用，只代表沒有 error，仍然要做完成檢查清單。PartiallyFailed 一律不能當作可用備份。WaitingForPluginOperations 代表資源已經備份，但 Data Mover 還在上傳。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會讓狀態變成 PartiallyFailed，很容易被注意到。Warning 不會改變狀態，仍然是 Completed，所以很容易被忽略。規則是：只要 warnings 大於 0，一定要用 describe 打開來看。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左邊是摘要：範圍、Data Mover 開啟、19 個物件全部備份。右邊是 Volume 區塊：兩個 PVC 都有 Data Movement，大小和 DataUpload 一致，Result 是 succeeded。這些就是完成檢查清單要看的欄位。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八項檢查缺一不可。前七項都是看狀態和數字，只有第 8 項是真的去還原並驗證資料。單元 5 會示範前七項全部打勾、第八項卻失敗的情況，所以第八項不能省。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四個練習。練習 2 讓學員親手修正 label 規範。練習 3 讓學員看到沒有 Data Mover 時，備份只剩下留在 Ceph 裡的快照。練習 4 是估算：98 秒乘以 1000 倍大約 27 小時，遠超過 4 小時預設值，要調整。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 4 的核心問題：怎麼證明資料真的救回來，而不是只有 Pod Running？這個單元會實際還原到新的 namespace，並用資料驗證。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先把定義講清楚。Pod Running 只代表容器起來了，不代表資料回來了。整個單元的驗證都是在回答同一個問題：災難前的那筆資料，現在查得到嗎？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原地還原是真正的災難復原，但有一個常見誤判：如果原應用其實還在，同名資源會被跳過，看起來像還原成功，其實什麼都沒動。還原到新 namespace 幾乎沒有風險，適合演練和比對。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在備份清單選 dr-course-backup-01，按 Restore。精靈的每一步對應 Restore CR 的欄位。送出後一樣先用 kubectl get restore -o yaml 確認 CR。yaml 版本在 restore-to-new-namespace.yaml。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一份備份可以只還原其中一部分。最常見的實戰用法是從每日全叢集備份只救回一個 namespace。單元 5 情境 2 會示範只補還原 Secret 就把應用救起來。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restorePVs 決定 PV 資料要不要回來。設成 false 時 PVC 還是會被還原，但會由 StorageClass 佈建一顆空的磁碟，Pod 會正常 Running。這是單元 5 情境 1 的根源。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Velero 還原不是把 etcd 倒回去，而是透過 API Server 逐一建立資源，所以叢集上所有的規則都會生效。順序是固定的：先被依賴的先建。Namespace 比 Pod 先建立這件事，在單元 8 會幫我們避開一個 Cilium 的陷阱。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還原結果：19 個物件全部還原，兩個 PVC 的 bytes 跟備份時一致。兩個 warning 都是「已存在，跳過」，是正常的。這也說明為什麼要逐一看 warning：大部分是雜訊，但要看過才知道。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這些細節都是教學重點。PV 名稱和 ClusterIP 都會變，所以應用不能寫死 IP。已結束的 Pod 不會被還原。cephfs-test 沒有被還原是因為備份當下它們已經不存在，這提醒我們：備份只能還原備份當下存在的東西。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資源層面的檢查：Pod、Service、PVC、Secret。全部通過也只代表骨架回來了，還沒有證明資料回來。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查資料表，DR-TEST-DB-001 在。注意 created_at 是 9 月 9 日，比這次備份早兩週，證明這是災難前就存在的資料。這個「不可能自動重生」的原則，在單元 5 情境 1 會變得非常重要。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CephFS 的驗證有一個陷阱：cephfs-test-1 每次啟動都會重寫 dr-test.txt。如果用它來驗證，就算資料沒有還原，它也會自己寫一份，讓你誤以為成功。所以要用一個只讀的臨時 Pod。原則是：驗證工具本身不能產生被驗證的資料。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前面三項檢查都包裝在 check-data.sh 裡。它有結束碼，全過回 0，任一失敗回 1，所以單元 9 的自動化 Restore Test 可以直接重用。人工演練和自動化用同一支腳本，標準才會一致。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五層判斷標準，每往下一層越接近應用本身。前三層都是 Kubernetes 說的，只有第四層資料查得到才證明救回來了。最後一層要由業務方確認，因為只有他們知道哪一筆資料在，才代表真的沒事。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練習 2 讓學員直觀理解 RPO：備份之後寫入的資料，還原後一定不在。練習 3 由講師示範完整災難流程，順便量出實測 RTO。練習 4 示範原地還原的誤判：同名資源被跳過，資料不會被覆蓋。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 5 的核心問題：備份顯示 Completed，為什麼還是救不回來？五個情境全部在真實叢集上重現過。這個單元要放在學員對 Completed 就是成功產生信心之後。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刻意設計：一個 PostgreSQL 同時依賴 PVC、Secret、ConfigMap。部署後寫入三筆訂單，這三筆只存在 PVC 裡。SEED-0001 是 ConfigMap 裡的初始化 SQL 產生的，這個區別在情境 1 非常關鍵。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四份備份，範圍不同，但 velero backup get 看起來一模一樣：全部 Completed、0 errors、0 warnings。Velero 不會知道你的應用需要什麼。接下來每個情境都還原到獨立的 namespace，不影響來源。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這是全單元最危險的情境，因為每一項表面檢查都通過：Restore Completed、Pod Running、PVC Bound、table 存在、甚至有一筆資料。但三筆業務訂單全部消失。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為什麼看起來正常？因為 PostgreSQL 官方 image 看到空的資料目錄會自動 initdb，再執行 ConfigMap 裡的初始化 SQL，把 table 和種子資料都建回來。所以驗證一定要查不可能自動重生的資料，這就是單元 4 強調 created_at 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PVC 已經 Bound，資料也已經還原，但容器啟動不了，因為 envFrom 引用的 Secret 不存在。修復方法很漂亮：只從完整備份補還原 Secret，其他部分完全不動，kubelet 會自動重試成功，不用重建 Pod。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跟 Secret 遺失的症狀不同：當作 volume 掛載時，Pod 會卡在 ContainerCreating，事件是 FailedMount。有趣的是這個 ConfigMap 在資料回來後根本用不到，但 Pod spec 宣告了要掛載，kubelet 就會一直等。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已經 Bound 的 PVC 不受影響，因為 PV 不依賴 SC 物件存在。但還原時需要 StorageClass 佈建新的磁碟，找不到就會 Pending。實測時加了 3 分鐘的 timeout，不然會卡 4 小時才失敗。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Velero 的 change-storage-class 用一個有特定 label 的 ConfigMap 定義舊名到新名的對應。套用後還原就成功了。但它是全域設定，會影響之後所有的還原，用完要刪。而且 legacy-data 裡的檔案其實有問題。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這不是原本設計的情境，是實測時踩到的真實問題。檔案存在，但內容是空的。原因是寫入 15 秒後就拍了快照，ext4 已經提交了檔案存在這件事，但檔案內容還在 page cache 裡。PostgreSQL 沒事，因為它每次 COMMIT 都會 fsync。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為了確認原因做了對照實驗：寫入檔案後立刻備份，一次沒有 hook、一次有 sync hook。沒有 hook 的是 0 bytes，有 hook 的內容完整。Hook 可以寫在 Backup spec 裡，也可以寫在 Pod template 的 annotation 上，後者不用每份備份都寫一次。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四個等級。什麼都不做是 crash-consistent，對本身會 fsync 的資料庫勉強可以接受。一般應用至少要 sync hook。正式環境資料庫建議用資料庫原生的備份方式，達到 application-consistent。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Velero 以 namespace 為邊界，但應用的依賴常常跨出這個邊界。這些例子都來自本課程前面部署過的七個產品。Cilium 那一條特別注意：它在 Pod 建立時計算身分，namespace label 要比 Pod 先存在。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這些都是本課程七個產品開發過程中實際遇過、還原後會重現的情境。所以單元 4 判斷標準的最後一層是應用功能正常：登入、讀一筆舊資料、寫一筆新資料、從外部網址連得到。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這張表可以印給學員當還原除錯的速查表。左邊是症狀，中間是第一個要懷疑的原因，右邊是確認方式。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練習 4 的腳本會在單元 9 的練習中接進自動化 Restore Test。清理時記得用 velero backup delete，它會同時刪掉 S3 上的檔案。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 6 的核心問題：etcd snapshot 跟 Velero 差在哪？什麼時候用哪個？本單元的 yaml 與線上 etcd-backup namespace 完全一致，線上目前是 suspend，由講師上課時決定是否啟用。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只有 API Server 直接讀寫 etcd，其他元件都經過 API Server。etcd 掛了，kubectl 全部失敗，但已經在跑的容器不會馬上停，這是 control plane 災難的典型特徵。三個成員可以容忍一個故障。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這些是從 etcd-k8s01 的 Pod spec 查到的實際設定。三個重點：stacked 拓樸代表三台都要處理；憑證和加密金鑰都不在 snapshot 裡；VIP 在還原期間會漂移，所以要有節點 console 存取權。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這一頁的輸出請講師課前自己跑一次。撰寫文件時的自動化環境不允許直接對 etcd 執行指令，因為會接觸到叢集憑證。記下 DB 大小，用來估算 snapshot 大小和還原時間。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snapshot 是線上操作，不用停 etcd。要注意工具的分工：etcdctl 負責連線拍 snapshot，etcdutl 負責離線的 status 和 restore。很多舊教材寫 etcdctl snapshot restore，在 3.6 已經移除了。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要把 snapshot 還原成可用的叢集，還需要這四類檔案。最容易漏的是加密金鑰：少了它，還原後 API Server 讀不出任何 Secret。backup-control-plane-files.sh 會把這些檔案加密打包，要在每台 control-plane 上執行。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kubeadm 預設教學常把 snapshot 存在 control-plane 本機，這是錯誤示範。本課程的 CronJob 用 emptyDir 暫存，上傳後就刪除，不在節點上留副本。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頻率由 RPO 決定。本叢集經常部署，建議每 6 小時到每日，重大變更前再手動拍一次，例如升級 K8s、升級 CNI、大量刪改 CRD 前。snapshot 通常只有數十到數百 MB，保留成本很低，寧可多留。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這張表是單元 6 最重要的一頁。etcd snapshot 是整座叢集的原子性時間點，不需要叢集活著，但全有或全無、沒有 PV 資料。Velero 粒度細、有 PV 資料、可以搬到別的叢集，但需要 API Server。兩者互補。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決策樹分三條線。API Server 不能用：先看 etcd 還有沒有 quorum，只壞一台就替換成員，不需要還原。API Server 能用：看影響範圍，一個應用用 Velero，大量 cluster 資源被刪才考慮 etcd 還原。整座叢集不見：乾淨重建加 Velero。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七個具體情境。特別強調第三列：三台 etcd 壞一台，兩者都不用，替換成員就好，因為還有 quorum。能不還原 etcd 就不要還原。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以下會改變線上狀態，請講師在課堂上確認後操作。重點是 create job --from=cronjob 可以在不解除 suspend 的情況下手動跑一次。確認三個容器的 log、確認 S3 上有檔案之後，才決定要不要每天自動跑。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跟 Velero 一樣，有 snapshot 不等於能還原。可以在任何一台 Linux 上下載 snapshot，用 etcdutl 驗證三個層次：status 通過、restore 解得開、起一個臨時 etcd 讀得到 key。這完全不碰線上 etcd。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練習 1：拿掉 hostNetwork，127.0.0.1 會連到 Pod 自己，而不是節點上的 etcd。練習 3 是現況推演：沒有 etcd snapshot，只能重建叢集再用 Velero 還原應用，而且單元 9 會告訴你這些每日備份也有問題。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 7 是 runbook，不在本課程的共用叢集上執行。etcd 還原會讓整座叢集，包含其他租戶，回到 snapshot 的時間點。請在專用的 lab 叢集練習，或由講師以投影片、錄影示範。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先講清楚風險和練習方式。情境是三台 etcd 資料同時損壞，失去 quorum。只壞一台或只壞一個應用都不是這個單元要處理的。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在單 control-plane 的 lab 叢集上模擬。第一步很重要：snapshot 之後先建一個 after-snapshot namespace，還原後它不應該存在，用來確認時間點正確。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兩種狀況的症狀不一樣。etcd 停止時 API Server 會反覆重啟；etcd 被清空時 API Server 正常運作，但什麼資源都查不到。共同點是服務還在，但什麼都不能改。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plane 災難時 kubectl 不能用，第一步永遠是上節點，用 crictl 和 journalctl 看 etcd 和 API Server 的狀態與 log。這也是為什麼安全確認清單裡有一項是「有節點 console 存取權」。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etcd 還原是整座叢集最高風險的操作。正式環境執行前逐項確認並留下紀錄。第一項最重要：真的需要還原嗎？第四項和第六項是最常出錯的地方。最後一項兩人作業，因為高壓下最容易漏步驟。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五個步驟，每一步都要三台都完成才能進下一步。這是 stacked etcd 還原最重要的紀律。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 Pod 由 kubelet 監看 manifests 目錄，把 manifest 移走就等於停止。不要用 crictl stop，kubelet 會馬上重新啟動它。確認 crictl ps 沒有輸出才繼續。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三台都用同一個 snapshot、同一個 token。腳本會先把舊資料目錄搬走而不是刪除，然後用 etcdutl snapshot restore 產生新的資料目錄。下一頁說明每個參數。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initial-cluster-token 最關鍵：三台必須相同，而且要跟舊叢集不同，避免跟殘留的舊成員互相加入。另外學員常會問 kubeadm 產生的 etcd.yaml 裡 initial-cluster 只有自己，這沒關係，資料目錄存在時這些參數會被忽略。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先只啟動 etcd，確認三個成員都健康、只有一個 leader，才啟動 API Server 和其他元件。最後重啟 kubelet，讓它重新同步狀態。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先確認 API Server 的 readyz 和 livez，再確認節點。然後一定要做 Secret 解密驗證，這一步最容易忽略：讀得出 Secret 內容，才代表加密金鑰是對的。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驗證三件事：時間點正確、資源跟 baseline 一致、應用資料正確。特別注意右邊這個混合狀態：etcd 回到過去，但 Ceph 上的 PV 資料停在現在，這會造成下一頁的副作用。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還原後的副作用主要來自 etcd 和 Ceph 的時間點不一致：孤兒 PV 和斷掉的 PV。Velero 的備份清單不用擔心，它會從 bucket 自動同步回來。最後一定要做事後檢討，更新 runbook。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四個練習都要在自己的 lab 叢集做，不是課程共用叢集。練習 2 會讓學員親眼看到加密金鑰對不上時，整座叢集有多少東西會壞掉。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 8 是 runbook，不在共用叢集上執行。建議用另一組 VM 建一座 DR 叢集實際演練一次，或由講師以錄影示範。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這是最嚴重的災難：整座叢集消失，而且因為 Ceph 住在叢集節點上，所有 PV 資料也一起消失。這時候只剩下叢集外的東西。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逐項盤點。最容易被忽略的是 velero-repo-credentials：它存在叢集內的 Secret，叢集消失它就沒了，而沒有它就讀不出 S3 上的 PV 資料。備份都在，卻打不開。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這八項必須在災難發生前就存在叢集外。練習 3 會請學員盤點自己公司現在有幾項是真的存在叢集外的。最後一項常被忽略：runbook 如果放在叢集裡的 Wiki，災難時就看不到了。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這是依本叢集 2026-09-23 實際狀態整理的重建清單。注意 Secret 加密金鑰：跟單元 7 不同，新叢集可以產生新金鑰，因為資料是用 Velero 重建，不是用舊的 etcd。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StorageClass 名稱必須跟舊叢集相同，因為 Velero 備份裡每個 PVC 都寫著 storageClassName。這就是單元 5 情境 4 在真實災難中的樣子。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十個步驟。原則是基礎元件用自己的安裝方式重建，應用才用 Velero 還原。第 6 步特別標成警告色：一定要先還原 repo 密碼，再安裝 Velero。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plane 重建用標準的 kubeadm 流程。要特別注意 kube-proxy：原叢集兩種都有，重建時要先決定用哪一種。gpu01 的 taint 別忘了，onlyoffice 和 peertube 靠它排程。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基礎元件按順序裝：Cilium、Gateway API、Rook-Ceph、CSI Snapshot。每一步都有檢查點，全部通過才進下一步。最後的小測試很重要：確認 VolumeSnapshot 能用，否則 Velero 還原 PV 時才發現就太晚了。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順序很重要：先還原 kopia repo 密碼，再安裝 Velero。如果反過來，Velero 會自己產生新密碼，資源會還原成功，但 PV 資料失敗。建議先把 BSL 設成唯讀，避免新叢集的 TTL 清理誤刪舊備份。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用每日全叢集備份，依相依順序分批還原。第二批 cloudbeaver 要等第一批的資料庫都回來。系統 namespace 永遠不從備份還原。注意：這裡用的每日備份在單元 9 會發現有問題，所以真實演練前一定要先修好排程。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每一批做完都要檢查 restore 狀態、異常 Pod、HTTPRoute 是否 Accepted、DataDownload 是否完成。全部完成後別忘了把 BSL 改回可寫入。最後記錄實際 RTO 和實際 RPO，回饋到單元 9 的 DR Policy。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直覺上 etcd snapshot 就是整座叢集，但放到新機器上會遇到一連串問題：舊節點、舊 Ceph image ID、舊憑證、舊的基礎元件狀態。所以叢集整個不見時，乾淨重建加 Velero 才是可預期的流程。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練習 3 是最有價值的一題，請學員回公司後實際盤點。練習 4 的答案包括 DNS 紀錄、HTTPRoute hostname、憑證 SAN、防火牆規則、外部系統的白名單等。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單元 9 的核心問題：怎麼讓備份每天自動跑、失敗會通知、而且定期驗證能還原？依課程決定，本單元的 Schedule 與 CronJob 只提供 yaml，撰寫時不套用；腳本本身已在真實叢集上實際執行過。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這是撰寫這個單元時對線上排程做檢查發現的兩個真實問題。第一個是備份根本沒產生，第二個是備份產生了但救不回來。兩個問題都持續了好幾天，沒有任何人發現。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三份備份之間有五天的空白。原因沒有查明，同期間 Velero Pod 被重建過幾次。但重點是沒有人知道：因為沒有失敗，所以只做失敗通知的監控完全無效。這時候實際 RPO 是 5 天，不是 24 小時。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restore-test.sh 對最新的每日備份做還原測試，結果 PartiallyFailed，PV 資料還原失敗。原因是排程沒有排除 velero namespace，每份備份都把其他備份的 DataUpload 物件也帶進去。還原時同一個 PVC 找到三筆上傳紀錄，無法判斷用哪一筆。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同一支腳本改用單元 3 的 dr-course-backup-01，只備份 dr-demo，就完全正常，一分鐘內通過。這證明問題出在每日備份的範圍，而不是還原流程。這就是 Restore Test 重要性最好的實例。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線上排程和建議版本的差異只有兩個欄位：排除 velero 等系統 namespace，排除暫時性物件。排除 velero 就能修正問題 2。useOwnerReferencesInBackup 要維持 false，否則刪除 Schedule 會把所有備份一起刪掉。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等價的 CLI 和三個常用操作。pause 很常用，但維護完忘記 unpause 是很常見的無聲失敗，所以 backup-check 會檢查排程有沒有被暫停。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分級保留是常見做法。容量不用太擔心，kopia 會去重，實測 dr-demo 的 47.8MB 資料在 S3 上只占約 37MB。陷阱是問題 1 那種備份停掉的情況：TTL 照常刪舊備份，停得夠久，最後一份好的也會被刪。所以監控最新成功備份距今多久，比設定 TTL 更重要。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三層各自回答一個問題。Schedule 負責產生，backup-check 每天檢查最新一份的狀態，restore-test 每週真的還原一次。三層的結果都送到通知，而且成功也要通知。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六項檢查，任何一項失敗就發失敗通知並讓 Job 失敗。26 小時這一項抓得到問題 1。右邊是實測：正常、模擬備份太舊、模擬排程不見了。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如果只在失敗時通知，那檢查程式自己沒跑，例如 CronJob 被刪、節點資源不足排不上、webhook 失效，就會被當成一切正常。每天固定收到一則成功訊息，某天沒收到就是訊號。注意 backup-check 抓不到問題 2，那份備份的每一個狀態欄位都是完美的，只有 Restore Test 抓得到。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四種驗證方式，一層比一層深。看 UI 兩個問題都抓不到；backup-check 只抓得到問題 1；只有 Restore Test 兩個都抓得到。人工 DR 演練還能發現 runbook、人員、權限這些流程上的問題。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七個步驟。三個設計重點：固定的目的地 namespace 加上只在該 namespace 內的權限；只刪自己還原的東西，用 restore-name label；驗證資料而不是狀態，直接重用單元 4 的 check-data.sh。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RPO 看的是過去：最後一次成功備份到災難發生之間的資料會遺失，由備份頻率決定。RTO 看的是未來：從災難發生到服務恢復要多久，由還原流程決定。問題 1 讓這座叢集的實際 RPO 從 24 小時變成 5 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這些實測數字只是技術操作的時間，是 RTO 的下限。真實的 RTO 還要加上偵測、決策、找人、驗收的時間，這些只有實際演練才量得出來。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 Policy 把前面所有的技術做法變成公司的承諾。九個項目，最重要的是分級：不是所有應用都需要一樣的 RPO 和 RTO。練習 1 會請學員替自己公司的三個應用填這張表。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RPO 和 RTO 是業務方根據停機和遺失資料的代價決定的，IT 負責做到並且用演練證明。沒有演練過的 RTO 只是一個願望。這句話可以當作整門課的結論。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以下會修改線上狀態，請講師確認後操作。第一步修正排程後立刻產生一份新的每日備份，第四步立刻跑 restore-test，預期這次用新的每日備份能 Completed、四項 PASS。這就是問題 2 修好的證明。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練習 5 沒有標準答案，適合分組討論。提示方向：修正排程不會改變已經存在的備份；可以考慮只還原資源、把 PV 資料另外處理，或評估是否能手動清理備份內多餘的 DataUpload 紀錄後再還原。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九個單元各濃縮成一句話，可以帶著學員一起回顧。如果學員只記得一句，希望是最後一句。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八項檢查清單，前四項是技術準備，後四項是制度。請學員回公司後逐項打勾，打不了勾的就是下一步要做的事。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這些教學物件是刻意保留的，方便講師和學員對照。清除時要記得兩件事：刪 namespace 就是刪 PV 資料；刪備份一律用 velero backup delete。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課程結束，感謝參與。開放提問。後面附錄是工具參考，供學員課後查閱。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附錄 A 整理 SeaweedFS 備份機的安裝重點，完整步驟在 dr/seaweedfs/README.md。最後一定要做 reboot test，確認備份機自己也能在災難後自動恢復。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附錄 B 是 Velero UI 的安裝與安全建議。能登入 UI 的人等同有 cluster-admin，所以帳號一定要控管。叢集裡另外還有一套 vui，本課程不使用，不要搞混。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附錄 C 整理 etcdctl 和 etcdutl 的分工與常用參數。最常見的錯誤是用舊教材的 etcdctl snapshot restore，在 3.6 已經移除，要改用 etcdutl。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附錄 D 是 dr 目錄的結構，每個單元的 yaml、腳本和 runbook 都在對應的目錄裡。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341833" y="1169179"/>
            <a:ext cx="7543920" cy="1853458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3" hasCustomPrompt="1"/>
          </p:nvPr>
        </p:nvSpPr>
        <p:spPr>
          <a:xfrm>
            <a:off x="341313" y="3156209"/>
            <a:ext cx="7544338" cy="150812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altLang="zh-TW" dirty="0"/>
              <a:t>Text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4" hasCustomPrompt="1"/>
          </p:nvPr>
        </p:nvSpPr>
        <p:spPr>
          <a:xfrm>
            <a:off x="341313" y="4757511"/>
            <a:ext cx="7599489" cy="112077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1" y="6364896"/>
            <a:ext cx="1269744" cy="33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645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341832" y="1169009"/>
            <a:ext cx="8282111" cy="1853458"/>
          </a:xfrm>
        </p:spPr>
        <p:txBody>
          <a:bodyPr anchor="b">
            <a:normAutofit/>
          </a:bodyPr>
          <a:lstStyle>
            <a:lvl1pPr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3" hasCustomPrompt="1"/>
          </p:nvPr>
        </p:nvSpPr>
        <p:spPr>
          <a:xfrm>
            <a:off x="341313" y="3156039"/>
            <a:ext cx="8282570" cy="150812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aseline="0">
                <a:solidFill>
                  <a:schemeClr val="bg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1" y="6364896"/>
            <a:ext cx="1269744" cy="33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015923"/>
      </p:ext>
    </p:extLst>
  </p:cSld>
  <p:clrMapOvr>
    <a:masterClrMapping/>
  </p:clrMapOvr>
  <p:hf sldNum="0" hdr="0" ftr="0" dt="0"/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73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solidFill>
                  <a:srgbClr val="595757"/>
                </a:solidFill>
              </a:defRPr>
            </a:lvl1pPr>
            <a:lvl2pPr>
              <a:defRPr baseline="0">
                <a:solidFill>
                  <a:srgbClr val="595757"/>
                </a:solidFill>
              </a:defRPr>
            </a:lvl2pPr>
            <a:lvl3pPr>
              <a:defRPr baseline="0">
                <a:solidFill>
                  <a:srgbClr val="595757"/>
                </a:solidFill>
              </a:defRPr>
            </a:lvl3pPr>
            <a:lvl4pPr>
              <a:defRPr sz="1600" baseline="0">
                <a:solidFill>
                  <a:srgbClr val="595757"/>
                </a:solidFill>
              </a:defRPr>
            </a:lvl4pPr>
            <a:lvl5pPr>
              <a:defRPr sz="1600" baseline="0">
                <a:solidFill>
                  <a:srgbClr val="595757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-794584" y="223519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236263"/>
      </p:ext>
    </p:extLst>
  </p:cSld>
  <p:clrMapOvr>
    <a:masterClrMapping/>
  </p:clrMapOvr>
  <p:hf sldNum="0" hdr="0" ftr="0" dt="0"/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70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41831" y="1264778"/>
            <a:ext cx="5682732" cy="4896740"/>
          </a:xfrm>
        </p:spPr>
        <p:txBody>
          <a:bodyPr/>
          <a:lstStyle>
            <a:lvl1pPr>
              <a:defRPr baseline="0">
                <a:solidFill>
                  <a:srgbClr val="595757"/>
                </a:solidFill>
              </a:defRPr>
            </a:lvl1pPr>
            <a:lvl2pPr>
              <a:defRPr baseline="0">
                <a:solidFill>
                  <a:srgbClr val="595757"/>
                </a:solidFill>
              </a:defRPr>
            </a:lvl2pPr>
            <a:lvl3pPr>
              <a:defRPr baseline="0">
                <a:solidFill>
                  <a:srgbClr val="595757"/>
                </a:solidFill>
              </a:defRPr>
            </a:lvl3pPr>
            <a:lvl4pPr>
              <a:defRPr baseline="0">
                <a:solidFill>
                  <a:srgbClr val="595757"/>
                </a:solidFill>
              </a:defRPr>
            </a:lvl4pPr>
            <a:lvl5pPr>
              <a:defRPr baseline="0">
                <a:solidFill>
                  <a:srgbClr val="595757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67438" y="1264778"/>
            <a:ext cx="5685577" cy="4896740"/>
          </a:xfrm>
        </p:spPr>
        <p:txBody>
          <a:bodyPr/>
          <a:lstStyle>
            <a:lvl1pPr>
              <a:defRPr baseline="0">
                <a:solidFill>
                  <a:srgbClr val="595757"/>
                </a:solidFill>
              </a:defRPr>
            </a:lvl1pPr>
            <a:lvl2pPr>
              <a:defRPr baseline="0">
                <a:solidFill>
                  <a:srgbClr val="595757"/>
                </a:solidFill>
              </a:defRPr>
            </a:lvl2pPr>
            <a:lvl3pPr>
              <a:defRPr baseline="0">
                <a:solidFill>
                  <a:srgbClr val="595757"/>
                </a:solidFill>
              </a:defRPr>
            </a:lvl3pPr>
            <a:lvl4pPr>
              <a:defRPr baseline="0">
                <a:solidFill>
                  <a:srgbClr val="595757"/>
                </a:solidFill>
              </a:defRPr>
            </a:lvl4pPr>
            <a:lvl5pPr>
              <a:defRPr baseline="0">
                <a:solidFill>
                  <a:srgbClr val="595757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-794584" y="223519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535954"/>
      </p:ext>
    </p:extLst>
  </p:cSld>
  <p:clrMapOvr>
    <a:masterClrMapping/>
  </p:clrMapOvr>
  <p:hf sldNum="0" hdr="0" ftr="0" dt="0"/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5" pos="3795">
          <p15:clr>
            <a:srgbClr val="FBAE40"/>
          </p15:clr>
        </p15:guide>
        <p15:guide id="6" pos="3885">
          <p15:clr>
            <a:srgbClr val="FBAE40"/>
          </p15:clr>
        </p15:guide>
        <p15:guide id="7" orient="horz" pos="370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內容版面配置區 5"/>
          <p:cNvSpPr>
            <a:spLocks noGrp="1"/>
          </p:cNvSpPr>
          <p:nvPr>
            <p:ph sz="quarter" idx="4"/>
          </p:nvPr>
        </p:nvSpPr>
        <p:spPr>
          <a:xfrm>
            <a:off x="6816725" y="1899358"/>
            <a:ext cx="5036289" cy="4253613"/>
          </a:xfrm>
        </p:spPr>
        <p:txBody>
          <a:bodyPr/>
          <a:lstStyle>
            <a:lvl1pPr>
              <a:defRPr sz="2000" b="0" i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="0" i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="0" i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="0" i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="0" i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0147"/>
            <a:ext cx="5033444" cy="452927"/>
          </a:xfrm>
        </p:spPr>
        <p:txBody>
          <a:bodyPr anchor="b"/>
          <a:lstStyle>
            <a:lvl1pPr marL="0" indent="0">
              <a:buNone/>
              <a:defRPr sz="24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1899358"/>
            <a:ext cx="5033445" cy="4253613"/>
          </a:xfrm>
        </p:spPr>
        <p:txBody>
          <a:bodyPr/>
          <a:lstStyle>
            <a:lvl1pPr>
              <a:defRPr sz="20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8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16725" y="1270145"/>
            <a:ext cx="5036289" cy="452929"/>
          </a:xfrm>
        </p:spPr>
        <p:txBody>
          <a:bodyPr anchor="b"/>
          <a:lstStyle>
            <a:lvl1pPr marL="0" indent="0">
              <a:buNone/>
              <a:defRPr sz="24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-794584" y="223519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06150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526682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2071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</a:p>
        </p:txBody>
      </p:sp>
    </p:spTree>
    <p:extLst>
      <p:ext uri="{BB962C8B-B14F-4D97-AF65-F5344CB8AC3E}">
        <p14:creationId xmlns:p14="http://schemas.microsoft.com/office/powerpoint/2010/main" val="319399754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41830" y="553131"/>
            <a:ext cx="11511185" cy="711647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441063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1991686"/>
            <a:ext cx="3597782" cy="4169832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文字版面配置區 2"/>
          <p:cNvSpPr>
            <a:spLocks noGrp="1"/>
          </p:cNvSpPr>
          <p:nvPr>
            <p:ph type="body" idx="13"/>
          </p:nvPr>
        </p:nvSpPr>
        <p:spPr>
          <a:xfrm>
            <a:off x="8255234" y="1441063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2" name="內容版面配置區 3"/>
          <p:cNvSpPr>
            <a:spLocks noGrp="1"/>
          </p:cNvSpPr>
          <p:nvPr>
            <p:ph sz="half" idx="14"/>
          </p:nvPr>
        </p:nvSpPr>
        <p:spPr>
          <a:xfrm>
            <a:off x="8255233" y="1991686"/>
            <a:ext cx="3597782" cy="4169832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3" name="文字版面配置區 2"/>
          <p:cNvSpPr>
            <a:spLocks noGrp="1"/>
          </p:cNvSpPr>
          <p:nvPr>
            <p:ph type="body" idx="15"/>
          </p:nvPr>
        </p:nvSpPr>
        <p:spPr>
          <a:xfrm>
            <a:off x="4298531" y="1441063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4" name="內容版面配置區 3"/>
          <p:cNvSpPr>
            <a:spLocks noGrp="1"/>
          </p:cNvSpPr>
          <p:nvPr>
            <p:ph sz="half" idx="16"/>
          </p:nvPr>
        </p:nvSpPr>
        <p:spPr>
          <a:xfrm>
            <a:off x="4298530" y="1991686"/>
            <a:ext cx="3597782" cy="4169832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-794584" y="223519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18371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內容版面配置區 4"/>
          <p:cNvSpPr>
            <a:spLocks noGrp="1"/>
          </p:cNvSpPr>
          <p:nvPr>
            <p:ph sz="quarter" idx="13"/>
          </p:nvPr>
        </p:nvSpPr>
        <p:spPr>
          <a:xfrm>
            <a:off x="5637230" y="1136591"/>
            <a:ext cx="6215786" cy="445235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060" y="6042204"/>
            <a:ext cx="1284816" cy="722619"/>
          </a:xfrm>
          <a:prstGeom prst="rect">
            <a:avLst/>
          </a:prstGeom>
        </p:spPr>
      </p:pic>
      <p:sp>
        <p:nvSpPr>
          <p:cNvPr id="12" name="文字方塊 11"/>
          <p:cNvSpPr txBox="1"/>
          <p:nvPr/>
        </p:nvSpPr>
        <p:spPr>
          <a:xfrm>
            <a:off x="341311" y="3405955"/>
            <a:ext cx="2888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RTF</a:t>
            </a:r>
            <a:r>
              <a:rPr lang="zh-TW" altLang="en-US" sz="32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 </a:t>
            </a:r>
            <a:r>
              <a:rPr lang="en-US" altLang="zh-TW" sz="32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NOW</a:t>
            </a:r>
            <a:endParaRPr lang="zh-TW" altLang="en-US" sz="3200" baseline="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341312" y="4052286"/>
            <a:ext cx="1987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Q&amp;A</a:t>
            </a:r>
            <a:endParaRPr lang="zh-TW" altLang="en-US" sz="2400" baseline="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4" name="文字版面配置區 2"/>
          <p:cNvSpPr>
            <a:spLocks noGrp="1"/>
          </p:cNvSpPr>
          <p:nvPr>
            <p:ph type="body" idx="15"/>
          </p:nvPr>
        </p:nvSpPr>
        <p:spPr>
          <a:xfrm>
            <a:off x="5637230" y="554565"/>
            <a:ext cx="4056551" cy="452927"/>
          </a:xfrm>
        </p:spPr>
        <p:txBody>
          <a:bodyPr anchor="b"/>
          <a:lstStyle>
            <a:lvl1pPr marL="0" indent="0">
              <a:buNone/>
              <a:defRPr sz="2400" b="1" baseline="0">
                <a:solidFill>
                  <a:srgbClr val="12517C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cxnSp>
        <p:nvCxnSpPr>
          <p:cNvPr id="9" name="直線接點 8"/>
          <p:cNvCxnSpPr/>
          <p:nvPr/>
        </p:nvCxnSpPr>
        <p:spPr>
          <a:xfrm>
            <a:off x="444381" y="3982149"/>
            <a:ext cx="188404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-794584" y="223519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51588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2"/>
            <a:ext cx="12192003" cy="685800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855262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316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 hasCustomPrompt="1"/>
          </p:nvPr>
        </p:nvSpPr>
        <p:spPr>
          <a:xfrm>
            <a:off x="341833" y="1169179"/>
            <a:ext cx="7669748" cy="1853458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13" name="內容版面配置區 4"/>
          <p:cNvSpPr>
            <a:spLocks noGrp="1"/>
          </p:cNvSpPr>
          <p:nvPr>
            <p:ph sz="quarter" idx="14" hasCustomPrompt="1"/>
          </p:nvPr>
        </p:nvSpPr>
        <p:spPr>
          <a:xfrm>
            <a:off x="341313" y="5282739"/>
            <a:ext cx="7670173" cy="89610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14" name="內容版面配置區 7"/>
          <p:cNvSpPr>
            <a:spLocks noGrp="1"/>
          </p:cNvSpPr>
          <p:nvPr>
            <p:ph sz="quarter" idx="13" hasCustomPrompt="1"/>
          </p:nvPr>
        </p:nvSpPr>
        <p:spPr>
          <a:xfrm>
            <a:off x="341313" y="3156209"/>
            <a:ext cx="7670173" cy="1508125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  <p:cxnSp>
        <p:nvCxnSpPr>
          <p:cNvPr id="15" name="Straight Connector 6">
            <a:extLst>
              <a:ext uri="{FF2B5EF4-FFF2-40B4-BE49-F238E27FC236}">
                <a16:creationId xmlns:a16="http://schemas.microsoft.com/office/drawing/2014/main" id="{AB14B325-37EE-2D47-9D73-848E4457D5C0}"/>
              </a:ext>
            </a:extLst>
          </p:cNvPr>
          <p:cNvCxnSpPr>
            <a:cxnSpLocks/>
          </p:cNvCxnSpPr>
          <p:nvPr userDrawn="1"/>
        </p:nvCxnSpPr>
        <p:spPr>
          <a:xfrm>
            <a:off x="280988" y="6236456"/>
            <a:ext cx="1690425" cy="0"/>
          </a:xfrm>
          <a:prstGeom prst="line">
            <a:avLst/>
          </a:prstGeom>
          <a:ln w="28575">
            <a:solidFill>
              <a:srgbClr val="EAEDED">
                <a:alpha val="3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1" y="6364896"/>
            <a:ext cx="1269744" cy="33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794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1263192"/>
            <a:ext cx="9699477" cy="4666268"/>
          </a:xfrm>
          <a:prstGeom prst="rect">
            <a:avLst/>
          </a:prstGeom>
          <a:gradFill flip="none" rotWithShape="1">
            <a:gsLst>
              <a:gs pos="0">
                <a:srgbClr val="4F2199">
                  <a:alpha val="60000"/>
                </a:srgbClr>
              </a:gs>
              <a:gs pos="100000">
                <a:srgbClr val="4F2199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標題 1"/>
          <p:cNvSpPr>
            <a:spLocks noGrp="1"/>
          </p:cNvSpPr>
          <p:nvPr>
            <p:ph type="title" hasCustomPrompt="1"/>
          </p:nvPr>
        </p:nvSpPr>
        <p:spPr>
          <a:xfrm>
            <a:off x="341832" y="1169009"/>
            <a:ext cx="9357645" cy="1853458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3" hasCustomPrompt="1"/>
          </p:nvPr>
        </p:nvSpPr>
        <p:spPr>
          <a:xfrm>
            <a:off x="341313" y="3156039"/>
            <a:ext cx="9358164" cy="150812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  <a:lvl2pPr marL="32400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1206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baseline="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41831" y="1275122"/>
            <a:ext cx="11511185" cy="4818029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sz="1600" baseline="0"/>
            </a:lvl4pPr>
            <a:lvl5pPr>
              <a:defRPr sz="1600" baseline="0"/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文字方塊 4"/>
          <p:cNvSpPr txBox="1"/>
          <p:nvPr userDrawn="1"/>
        </p:nvSpPr>
        <p:spPr>
          <a:xfrm>
            <a:off x="-794584" y="28317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7937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41831" y="1278694"/>
            <a:ext cx="5682732" cy="488282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67438" y="1278694"/>
            <a:ext cx="5685577" cy="488282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文字方塊 5"/>
          <p:cNvSpPr txBox="1"/>
          <p:nvPr userDrawn="1"/>
        </p:nvSpPr>
        <p:spPr>
          <a:xfrm>
            <a:off x="-794584" y="28317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33609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5" pos="3795">
          <p15:clr>
            <a:srgbClr val="FBAE40"/>
          </p15:clr>
        </p15:guide>
        <p15:guide id="6" pos="3885">
          <p15:clr>
            <a:srgbClr val="FBAE40"/>
          </p15:clr>
        </p15:guide>
        <p15:guide id="7" orient="horz" pos="370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內容版面配置區 5"/>
          <p:cNvSpPr>
            <a:spLocks noGrp="1"/>
          </p:cNvSpPr>
          <p:nvPr>
            <p:ph sz="quarter" idx="4"/>
          </p:nvPr>
        </p:nvSpPr>
        <p:spPr>
          <a:xfrm>
            <a:off x="6816725" y="2001908"/>
            <a:ext cx="5036289" cy="415960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5251"/>
            <a:ext cx="5033444" cy="452927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2001908"/>
            <a:ext cx="5033445" cy="415960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16725" y="1275249"/>
            <a:ext cx="5036289" cy="452929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8" name="文字方塊 7"/>
          <p:cNvSpPr txBox="1"/>
          <p:nvPr userDrawn="1"/>
        </p:nvSpPr>
        <p:spPr>
          <a:xfrm>
            <a:off x="-794584" y="28317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741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95284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2071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</a:p>
        </p:txBody>
      </p:sp>
    </p:spTree>
    <p:extLst>
      <p:ext uri="{BB962C8B-B14F-4D97-AF65-F5344CB8AC3E}">
        <p14:creationId xmlns:p14="http://schemas.microsoft.com/office/powerpoint/2010/main" val="13142198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006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1991686"/>
            <a:ext cx="3597782" cy="4161286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文字版面配置區 2"/>
          <p:cNvSpPr>
            <a:spLocks noGrp="1"/>
          </p:cNvSpPr>
          <p:nvPr>
            <p:ph type="body" idx="13"/>
          </p:nvPr>
        </p:nvSpPr>
        <p:spPr>
          <a:xfrm>
            <a:off x="8255234" y="127006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7" name="內容版面配置區 3"/>
          <p:cNvSpPr>
            <a:spLocks noGrp="1"/>
          </p:cNvSpPr>
          <p:nvPr>
            <p:ph sz="half" idx="14"/>
          </p:nvPr>
        </p:nvSpPr>
        <p:spPr>
          <a:xfrm>
            <a:off x="8255233" y="1991686"/>
            <a:ext cx="3597782" cy="4161286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8" name="文字版面配置區 2"/>
          <p:cNvSpPr>
            <a:spLocks noGrp="1"/>
          </p:cNvSpPr>
          <p:nvPr>
            <p:ph type="body" idx="15"/>
          </p:nvPr>
        </p:nvSpPr>
        <p:spPr>
          <a:xfrm>
            <a:off x="4298531" y="127006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9" name="內容版面配置區 3"/>
          <p:cNvSpPr>
            <a:spLocks noGrp="1"/>
          </p:cNvSpPr>
          <p:nvPr>
            <p:ph sz="half" idx="16"/>
          </p:nvPr>
        </p:nvSpPr>
        <p:spPr>
          <a:xfrm>
            <a:off x="4298530" y="1991686"/>
            <a:ext cx="3597782" cy="4161286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-794584" y="28317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5446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3571621" y="0"/>
            <a:ext cx="8620379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341311" y="1997466"/>
            <a:ext cx="2888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RTF</a:t>
            </a:r>
            <a:r>
              <a:rPr lang="zh-TW" altLang="en-US" sz="3600" b="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 </a:t>
            </a:r>
            <a:r>
              <a:rPr lang="en-US" altLang="zh-TW" sz="3600" b="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NOW</a:t>
            </a:r>
            <a:endParaRPr lang="zh-TW" altLang="en-US" sz="3600" b="0" baseline="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/>
            </a:lvl1pPr>
          </a:lstStyle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5" name="文字方塊 14"/>
          <p:cNvSpPr txBox="1"/>
          <p:nvPr userDrawn="1"/>
        </p:nvSpPr>
        <p:spPr>
          <a:xfrm>
            <a:off x="341312" y="2707259"/>
            <a:ext cx="1987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Q&amp;A</a:t>
            </a:r>
            <a:endParaRPr lang="zh-TW" altLang="en-US" sz="2400" baseline="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cxnSp>
        <p:nvCxnSpPr>
          <p:cNvPr id="13" name="直線接點 12"/>
          <p:cNvCxnSpPr/>
          <p:nvPr userDrawn="1"/>
        </p:nvCxnSpPr>
        <p:spPr>
          <a:xfrm>
            <a:off x="444381" y="2577808"/>
            <a:ext cx="1884040" cy="0"/>
          </a:xfrm>
          <a:prstGeom prst="line">
            <a:avLst/>
          </a:prstGeom>
          <a:ln w="28575">
            <a:solidFill>
              <a:srgbClr val="EAEDED">
                <a:alpha val="3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內容版面配置區 4"/>
          <p:cNvSpPr>
            <a:spLocks noGrp="1"/>
          </p:cNvSpPr>
          <p:nvPr>
            <p:ph sz="quarter" idx="14"/>
          </p:nvPr>
        </p:nvSpPr>
        <p:spPr>
          <a:xfrm>
            <a:off x="3933826" y="2705100"/>
            <a:ext cx="7919190" cy="2895600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2" name="文字版面配置區 2"/>
          <p:cNvSpPr>
            <a:spLocks noGrp="1"/>
          </p:cNvSpPr>
          <p:nvPr>
            <p:ph type="body" idx="15"/>
          </p:nvPr>
        </p:nvSpPr>
        <p:spPr>
          <a:xfrm>
            <a:off x="3933826" y="1997466"/>
            <a:ext cx="5759956" cy="452927"/>
          </a:xfrm>
        </p:spPr>
        <p:txBody>
          <a:bodyPr anchor="b"/>
          <a:lstStyle>
            <a:lvl1pPr marL="0" indent="0">
              <a:buNone/>
              <a:defRPr sz="2400" b="1" baseline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1" y="6364896"/>
            <a:ext cx="1269744" cy="338871"/>
          </a:xfrm>
          <a:prstGeom prst="rect">
            <a:avLst/>
          </a:prstGeom>
        </p:spPr>
      </p:pic>
      <p:sp>
        <p:nvSpPr>
          <p:cNvPr id="16" name="文字方塊 15"/>
          <p:cNvSpPr txBox="1"/>
          <p:nvPr userDrawn="1"/>
        </p:nvSpPr>
        <p:spPr>
          <a:xfrm>
            <a:off x="-794584" y="28317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286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3951807" y="2269982"/>
            <a:ext cx="7901210" cy="755229"/>
          </a:xfrm>
        </p:spPr>
        <p:txBody>
          <a:bodyPr anchor="ctr">
            <a:normAutofit/>
          </a:bodyPr>
          <a:lstStyle>
            <a:lvl1pPr>
              <a:defRPr sz="4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341832" y="5778123"/>
            <a:ext cx="9357645" cy="58677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2" y="2192224"/>
            <a:ext cx="2886702" cy="1623567"/>
          </a:xfrm>
          <a:prstGeom prst="rect">
            <a:avLst/>
          </a:prstGeom>
        </p:spPr>
      </p:pic>
      <p:cxnSp>
        <p:nvCxnSpPr>
          <p:cNvPr id="8" name="直線接點 7"/>
          <p:cNvCxnSpPr/>
          <p:nvPr userDrawn="1"/>
        </p:nvCxnSpPr>
        <p:spPr>
          <a:xfrm>
            <a:off x="3552825" y="1962333"/>
            <a:ext cx="0" cy="1944167"/>
          </a:xfrm>
          <a:prstGeom prst="line">
            <a:avLst/>
          </a:prstGeom>
          <a:ln w="28575">
            <a:solidFill>
              <a:srgbClr val="EAED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內容版面配置區 9"/>
          <p:cNvSpPr>
            <a:spLocks noGrp="1"/>
          </p:cNvSpPr>
          <p:nvPr>
            <p:ph sz="quarter" idx="14" hasCustomPrompt="1"/>
          </p:nvPr>
        </p:nvSpPr>
        <p:spPr>
          <a:xfrm>
            <a:off x="3951288" y="3107987"/>
            <a:ext cx="7900987" cy="15970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rgbClr val="595757"/>
                </a:solidFill>
              </a:defRPr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041768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/>
          <p:cNvSpPr/>
          <p:nvPr userDrawn="1"/>
        </p:nvSpPr>
        <p:spPr>
          <a:xfrm>
            <a:off x="7973933" y="-381565"/>
            <a:ext cx="4793309" cy="4793309"/>
          </a:xfrm>
          <a:prstGeom prst="ellipse">
            <a:avLst/>
          </a:prstGeom>
          <a:gradFill flip="none" rotWithShape="1">
            <a:gsLst>
              <a:gs pos="35000">
                <a:srgbClr val="ACECEF"/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 userDrawn="1"/>
        </p:nvSpPr>
        <p:spPr>
          <a:xfrm>
            <a:off x="6429081" y="-60372"/>
            <a:ext cx="2403835" cy="2403835"/>
          </a:xfrm>
          <a:prstGeom prst="ellipse">
            <a:avLst/>
          </a:prstGeom>
          <a:gradFill flip="none" rotWithShape="1">
            <a:gsLst>
              <a:gs pos="19000">
                <a:srgbClr val="ACECEF"/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41832" y="1160463"/>
            <a:ext cx="9357645" cy="1853458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41832" y="3152004"/>
            <a:ext cx="9357645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595757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644511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73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內容版面配置區 5"/>
          <p:cNvSpPr>
            <a:spLocks noGrp="1"/>
          </p:cNvSpPr>
          <p:nvPr>
            <p:ph sz="quarter" idx="12"/>
          </p:nvPr>
        </p:nvSpPr>
        <p:spPr>
          <a:xfrm>
            <a:off x="341313" y="1273324"/>
            <a:ext cx="11510962" cy="487964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方塊 4"/>
          <p:cNvSpPr txBox="1"/>
          <p:nvPr userDrawn="1"/>
        </p:nvSpPr>
        <p:spPr>
          <a:xfrm>
            <a:off x="-794584" y="374733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3984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41831" y="1271366"/>
            <a:ext cx="5682732" cy="4890152"/>
          </a:xfrm>
        </p:spPr>
        <p:txBody>
          <a:bodyPr/>
          <a:lstStyle>
            <a:lvl1pPr>
              <a:defRPr>
                <a:solidFill>
                  <a:srgbClr val="595757"/>
                </a:solidFill>
              </a:defRPr>
            </a:lvl1pPr>
            <a:lvl2pPr>
              <a:defRPr>
                <a:solidFill>
                  <a:srgbClr val="595757"/>
                </a:solidFill>
              </a:defRPr>
            </a:lvl2pPr>
            <a:lvl3pPr>
              <a:defRPr>
                <a:solidFill>
                  <a:srgbClr val="595757"/>
                </a:solidFill>
              </a:defRPr>
            </a:lvl3pPr>
            <a:lvl4pPr>
              <a:defRPr>
                <a:solidFill>
                  <a:srgbClr val="595757"/>
                </a:solidFill>
              </a:defRPr>
            </a:lvl4pPr>
            <a:lvl5pPr>
              <a:defRPr>
                <a:solidFill>
                  <a:srgbClr val="595757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67438" y="1271366"/>
            <a:ext cx="5685577" cy="4890152"/>
          </a:xfrm>
        </p:spPr>
        <p:txBody>
          <a:bodyPr/>
          <a:lstStyle>
            <a:lvl1pPr>
              <a:defRPr>
                <a:solidFill>
                  <a:srgbClr val="595757"/>
                </a:solidFill>
              </a:defRPr>
            </a:lvl1pPr>
            <a:lvl2pPr>
              <a:defRPr>
                <a:solidFill>
                  <a:srgbClr val="595757"/>
                </a:solidFill>
              </a:defRPr>
            </a:lvl2pPr>
            <a:lvl3pPr>
              <a:defRPr>
                <a:solidFill>
                  <a:srgbClr val="595757"/>
                </a:solidFill>
              </a:defRPr>
            </a:lvl3pPr>
            <a:lvl4pPr>
              <a:defRPr>
                <a:solidFill>
                  <a:srgbClr val="595757"/>
                </a:solidFill>
              </a:defRPr>
            </a:lvl4pPr>
            <a:lvl5pPr>
              <a:defRPr>
                <a:solidFill>
                  <a:srgbClr val="595757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文字方塊 7"/>
          <p:cNvSpPr txBox="1"/>
          <p:nvPr userDrawn="1"/>
        </p:nvSpPr>
        <p:spPr>
          <a:xfrm>
            <a:off x="-794584" y="374733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7379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5" pos="3795">
          <p15:clr>
            <a:srgbClr val="FBAE40"/>
          </p15:clr>
        </p15:guide>
        <p15:guide id="6" pos="3885">
          <p15:clr>
            <a:srgbClr val="FBAE40"/>
          </p15:clr>
        </p15:guide>
        <p15:guide id="7" orient="horz" pos="370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內容版面配置區 5"/>
          <p:cNvSpPr>
            <a:spLocks noGrp="1"/>
          </p:cNvSpPr>
          <p:nvPr>
            <p:ph sz="quarter" idx="4"/>
          </p:nvPr>
        </p:nvSpPr>
        <p:spPr>
          <a:xfrm>
            <a:off x="6816725" y="1899358"/>
            <a:ext cx="5036289" cy="4253614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0146"/>
            <a:ext cx="5033444" cy="452927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rgbClr val="2E75B6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1899358"/>
            <a:ext cx="5033445" cy="4253614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16725" y="1270144"/>
            <a:ext cx="5036289" cy="452929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rgbClr val="4FB99F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8" name="文字方塊 7"/>
          <p:cNvSpPr txBox="1"/>
          <p:nvPr userDrawn="1"/>
        </p:nvSpPr>
        <p:spPr>
          <a:xfrm>
            <a:off x="-794584" y="374733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7839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18556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2071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</a:p>
        </p:txBody>
      </p:sp>
    </p:spTree>
    <p:extLst>
      <p:ext uri="{BB962C8B-B14F-4D97-AF65-F5344CB8AC3E}">
        <p14:creationId xmlns:p14="http://schemas.microsoft.com/office/powerpoint/2010/main" val="67238374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014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1820768"/>
            <a:ext cx="3597782" cy="434074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文字版面配置區 2"/>
          <p:cNvSpPr>
            <a:spLocks noGrp="1"/>
          </p:cNvSpPr>
          <p:nvPr>
            <p:ph type="body" idx="13"/>
          </p:nvPr>
        </p:nvSpPr>
        <p:spPr>
          <a:xfrm>
            <a:off x="8255234" y="127014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7" name="內容版面配置區 3"/>
          <p:cNvSpPr>
            <a:spLocks noGrp="1"/>
          </p:cNvSpPr>
          <p:nvPr>
            <p:ph sz="half" idx="14"/>
          </p:nvPr>
        </p:nvSpPr>
        <p:spPr>
          <a:xfrm>
            <a:off x="8255233" y="1820768"/>
            <a:ext cx="3597782" cy="434074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8" name="文字版面配置區 2"/>
          <p:cNvSpPr>
            <a:spLocks noGrp="1"/>
          </p:cNvSpPr>
          <p:nvPr>
            <p:ph type="body" idx="15"/>
          </p:nvPr>
        </p:nvSpPr>
        <p:spPr>
          <a:xfrm>
            <a:off x="4298531" y="127014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9" name="內容版面配置區 3"/>
          <p:cNvSpPr>
            <a:spLocks noGrp="1"/>
          </p:cNvSpPr>
          <p:nvPr>
            <p:ph sz="half" idx="16"/>
          </p:nvPr>
        </p:nvSpPr>
        <p:spPr>
          <a:xfrm>
            <a:off x="4298530" y="1820768"/>
            <a:ext cx="3597782" cy="434074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-794584" y="374733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259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文字方塊 13"/>
          <p:cNvSpPr txBox="1"/>
          <p:nvPr userDrawn="1"/>
        </p:nvSpPr>
        <p:spPr>
          <a:xfrm>
            <a:off x="341311" y="546901"/>
            <a:ext cx="2888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RTF</a:t>
            </a:r>
            <a:r>
              <a:rPr lang="zh-TW" altLang="en-US" sz="3200" b="1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 </a:t>
            </a:r>
            <a:r>
              <a:rPr lang="en-US" altLang="zh-TW" sz="3200" b="1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NOW</a:t>
            </a:r>
            <a:endParaRPr lang="zh-TW" altLang="en-US" sz="3200" b="1" baseline="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1" name="直線接點 10"/>
          <p:cNvCxnSpPr/>
          <p:nvPr userDrawn="1"/>
        </p:nvCxnSpPr>
        <p:spPr>
          <a:xfrm>
            <a:off x="444381" y="1127243"/>
            <a:ext cx="1884040" cy="0"/>
          </a:xfrm>
          <a:prstGeom prst="line">
            <a:avLst/>
          </a:prstGeom>
          <a:ln w="28575">
            <a:solidFill>
              <a:srgbClr val="EAED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 userDrawn="1"/>
        </p:nvSpPr>
        <p:spPr>
          <a:xfrm>
            <a:off x="10919042" y="547593"/>
            <a:ext cx="933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Q&amp;A</a:t>
            </a:r>
            <a:endParaRPr lang="zh-TW" altLang="en-US" sz="2800" baseline="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89" y="6155414"/>
            <a:ext cx="1315236" cy="493214"/>
          </a:xfrm>
          <a:prstGeom prst="rect">
            <a:avLst/>
          </a:prstGeom>
        </p:spPr>
      </p:pic>
      <p:sp>
        <p:nvSpPr>
          <p:cNvPr id="8" name="內容版面配置區 7"/>
          <p:cNvSpPr>
            <a:spLocks noGrp="1"/>
          </p:cNvSpPr>
          <p:nvPr>
            <p:ph sz="quarter" idx="13"/>
          </p:nvPr>
        </p:nvSpPr>
        <p:spPr>
          <a:xfrm>
            <a:off x="3566355" y="1471613"/>
            <a:ext cx="8285920" cy="4406900"/>
          </a:xfrm>
        </p:spPr>
        <p:txBody>
          <a:bodyPr anchor="ctr"/>
          <a:lstStyle>
            <a:lvl1pPr marL="0" indent="0">
              <a:buNone/>
              <a:defRPr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914400" indent="0">
              <a:buNone/>
              <a:defRPr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371600" indent="0">
              <a:buNone/>
              <a:defRPr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1828800" indent="0">
              <a:buNone/>
              <a:defRPr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9" name="文字版面配置區 2"/>
          <p:cNvSpPr>
            <a:spLocks noGrp="1"/>
          </p:cNvSpPr>
          <p:nvPr>
            <p:ph type="body" idx="15"/>
          </p:nvPr>
        </p:nvSpPr>
        <p:spPr>
          <a:xfrm>
            <a:off x="336044" y="1471613"/>
            <a:ext cx="2894266" cy="4406900"/>
          </a:xfrm>
        </p:spPr>
        <p:txBody>
          <a:bodyPr anchor="ctr"/>
          <a:lstStyle>
            <a:lvl1pPr marL="0" indent="0">
              <a:buNone/>
              <a:defRPr sz="2400" b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-794584" y="374733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77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25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685" t="45009"/>
          <a:stretch/>
        </p:blipFill>
        <p:spPr>
          <a:xfrm>
            <a:off x="-9427" y="-9427"/>
            <a:ext cx="2746474" cy="2635082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89" y="6321270"/>
            <a:ext cx="1315236" cy="493214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341831" y="194964"/>
            <a:ext cx="11511185" cy="711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64779"/>
            <a:ext cx="11511185" cy="4886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text</a:t>
            </a:r>
            <a:endParaRPr lang="zh-TW" altLang="en-US" dirty="0"/>
          </a:p>
          <a:p>
            <a:pPr lvl="1"/>
            <a:r>
              <a:rPr lang="en-US" altLang="zh-TW" dirty="0"/>
              <a:t>text</a:t>
            </a:r>
            <a:endParaRPr lang="zh-TW" altLang="en-US" dirty="0"/>
          </a:p>
          <a:p>
            <a:pPr lvl="2"/>
            <a:r>
              <a:rPr lang="en-US" altLang="zh-TW" dirty="0"/>
              <a:t>text</a:t>
            </a:r>
            <a:endParaRPr lang="zh-TW" altLang="en-US" dirty="0"/>
          </a:p>
          <a:p>
            <a:pPr lvl="3"/>
            <a:r>
              <a:rPr lang="en-US" altLang="zh-TW" dirty="0"/>
              <a:t>text</a:t>
            </a:r>
            <a:endParaRPr lang="zh-TW" altLang="en-US" dirty="0"/>
          </a:p>
          <a:p>
            <a:pPr lvl="4"/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109816" y="63648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</a:lstStyle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5" name="Straight Connector 6">
            <a:extLst>
              <a:ext uri="{FF2B5EF4-FFF2-40B4-BE49-F238E27FC236}">
                <a16:creationId xmlns:a16="http://schemas.microsoft.com/office/drawing/2014/main" id="{AB14B325-37EE-2D47-9D73-848E4457D5C0}"/>
              </a:ext>
            </a:extLst>
          </p:cNvPr>
          <p:cNvCxnSpPr>
            <a:cxnSpLocks/>
          </p:cNvCxnSpPr>
          <p:nvPr/>
        </p:nvCxnSpPr>
        <p:spPr>
          <a:xfrm>
            <a:off x="280988" y="6236456"/>
            <a:ext cx="11669712" cy="0"/>
          </a:xfrm>
          <a:prstGeom prst="line">
            <a:avLst/>
          </a:prstGeom>
          <a:ln w="28575">
            <a:solidFill>
              <a:srgbClr val="EAED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-729784" y="553132"/>
            <a:ext cx="597324" cy="711646"/>
          </a:xfrm>
          <a:prstGeom prst="rect">
            <a:avLst/>
          </a:prstGeom>
          <a:solidFill>
            <a:srgbClr val="12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-729784" y="1380650"/>
            <a:ext cx="597324" cy="71164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-729784" y="608873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 18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81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124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-729784" y="1436391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 89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87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87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618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rgbClr val="12517C"/>
          </a:solidFill>
          <a:latin typeface="Arial" panose="020B0604020202020204" pitchFamily="34" charset="0"/>
          <a:ea typeface="微軟正黑體" panose="020B0604030504040204" pitchFamily="34" charset="-120"/>
          <a:cs typeface="Arial" panose="020B0604020202020204" pitchFamily="34" charset="0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400" b="0" i="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1pPr>
      <a:lvl2pPr marL="50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2pPr>
      <a:lvl3pPr marL="86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3pPr>
      <a:lvl4pPr marL="1152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4pPr>
      <a:lvl5pPr marL="158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18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82D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341831" y="197309"/>
            <a:ext cx="11511185" cy="711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5121"/>
            <a:ext cx="11511185" cy="4832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Text</a:t>
            </a:r>
            <a:endParaRPr lang="zh-TW" altLang="en-US" dirty="0"/>
          </a:p>
          <a:p>
            <a:pPr lvl="1"/>
            <a:r>
              <a:rPr lang="en-US" altLang="zh-TW" dirty="0"/>
              <a:t>Text</a:t>
            </a:r>
            <a:endParaRPr lang="zh-TW" altLang="en-US" dirty="0"/>
          </a:p>
          <a:p>
            <a:pPr lvl="2"/>
            <a:r>
              <a:rPr lang="en-US" altLang="zh-TW" dirty="0"/>
              <a:t>Text</a:t>
            </a:r>
            <a:endParaRPr lang="zh-TW" altLang="en-US" dirty="0"/>
          </a:p>
          <a:p>
            <a:pPr lvl="3"/>
            <a:r>
              <a:rPr lang="en-US" altLang="zh-TW" dirty="0"/>
              <a:t>Text</a:t>
            </a:r>
            <a:endParaRPr lang="zh-TW" altLang="en-US" dirty="0"/>
          </a:p>
          <a:p>
            <a:pPr lvl="4"/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109816" y="63648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 baseline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</a:lstStyle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B14B325-37EE-2D47-9D73-848E4457D5C0}"/>
              </a:ext>
            </a:extLst>
          </p:cNvPr>
          <p:cNvCxnSpPr>
            <a:cxnSpLocks/>
          </p:cNvCxnSpPr>
          <p:nvPr/>
        </p:nvCxnSpPr>
        <p:spPr>
          <a:xfrm>
            <a:off x="280988" y="6236456"/>
            <a:ext cx="11669712" cy="0"/>
          </a:xfrm>
          <a:prstGeom prst="line">
            <a:avLst/>
          </a:prstGeom>
          <a:ln w="28575">
            <a:solidFill>
              <a:srgbClr val="EAEDED">
                <a:alpha val="3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-729784" y="1373009"/>
            <a:ext cx="597324" cy="13330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-729784" y="1498699"/>
            <a:ext cx="66379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tx1"/>
                </a:solidFill>
              </a:rPr>
              <a:t>R 255</a:t>
            </a:r>
          </a:p>
          <a:p>
            <a:r>
              <a:rPr lang="en-US" altLang="zh-TW" sz="1100" dirty="0">
                <a:solidFill>
                  <a:schemeClr val="tx1"/>
                </a:solidFill>
              </a:rPr>
              <a:t>G 255</a:t>
            </a:r>
          </a:p>
          <a:p>
            <a:r>
              <a:rPr lang="en-US" altLang="zh-TW" sz="1100" dirty="0">
                <a:solidFill>
                  <a:schemeClr val="tx1"/>
                </a:solidFill>
              </a:rPr>
              <a:t>B 255</a:t>
            </a:r>
          </a:p>
          <a:p>
            <a:endParaRPr lang="en-US" altLang="zh-TW" sz="1100" dirty="0">
              <a:solidFill>
                <a:schemeClr val="tx1"/>
              </a:solidFill>
            </a:endParaRPr>
          </a:p>
          <a:p>
            <a:r>
              <a:rPr lang="zh-TW" altLang="en-US" sz="1100" dirty="0">
                <a:solidFill>
                  <a:schemeClr val="tx1"/>
                </a:solidFill>
              </a:rPr>
              <a:t>透明度</a:t>
            </a:r>
            <a:endParaRPr lang="en-US" altLang="zh-TW" sz="1100" dirty="0">
              <a:solidFill>
                <a:schemeClr val="tx1"/>
              </a:solidFill>
            </a:endParaRPr>
          </a:p>
          <a:p>
            <a:r>
              <a:rPr lang="en-US" altLang="zh-TW" sz="1100" dirty="0">
                <a:solidFill>
                  <a:schemeClr val="tx1"/>
                </a:solidFill>
              </a:rPr>
              <a:t>85~100</a:t>
            </a:r>
          </a:p>
          <a:p>
            <a:endParaRPr lang="zh-TW" altLang="en-US" sz="1100" dirty="0">
              <a:solidFill>
                <a:schemeClr val="bg1"/>
              </a:solidFill>
            </a:endParaRPr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1" y="6364896"/>
            <a:ext cx="1269744" cy="338871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-729784" y="605622"/>
            <a:ext cx="597324" cy="7116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-729784" y="661363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tx1"/>
                </a:solidFill>
              </a:rPr>
              <a:t>R 255</a:t>
            </a:r>
          </a:p>
          <a:p>
            <a:r>
              <a:rPr lang="en-US" altLang="zh-TW" sz="1100" dirty="0">
                <a:solidFill>
                  <a:schemeClr val="tx1"/>
                </a:solidFill>
              </a:rPr>
              <a:t>G 255</a:t>
            </a:r>
          </a:p>
          <a:p>
            <a:r>
              <a:rPr lang="en-US" altLang="zh-TW" sz="1100" dirty="0">
                <a:solidFill>
                  <a:schemeClr val="tx1"/>
                </a:solidFill>
              </a:rPr>
              <a:t>B 255</a:t>
            </a:r>
            <a:endParaRPr lang="zh-TW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920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Arial" panose="020B0604020202020204" pitchFamily="34" charset="0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400" b="0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1pPr>
      <a:lvl2pPr marL="50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2pPr>
      <a:lvl3pPr marL="86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3pPr>
      <a:lvl4pPr marL="1152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4pPr>
      <a:lvl5pPr marL="158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18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341831" y="271314"/>
            <a:ext cx="11511185" cy="711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64777"/>
            <a:ext cx="11511185" cy="4886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Text</a:t>
            </a:r>
            <a:endParaRPr lang="zh-TW" altLang="en-US" dirty="0"/>
          </a:p>
          <a:p>
            <a:pPr lvl="1"/>
            <a:r>
              <a:rPr lang="en-US" altLang="zh-TW" dirty="0"/>
              <a:t>Text</a:t>
            </a:r>
            <a:endParaRPr lang="zh-TW" altLang="en-US" dirty="0"/>
          </a:p>
          <a:p>
            <a:pPr lvl="2"/>
            <a:r>
              <a:rPr lang="en-US" altLang="zh-TW" dirty="0"/>
              <a:t>Text</a:t>
            </a:r>
            <a:endParaRPr lang="zh-TW" altLang="en-US" dirty="0"/>
          </a:p>
          <a:p>
            <a:pPr lvl="3"/>
            <a:r>
              <a:rPr lang="en-US" altLang="zh-TW" dirty="0"/>
              <a:t>Text</a:t>
            </a:r>
            <a:endParaRPr lang="zh-TW" altLang="en-US" dirty="0"/>
          </a:p>
          <a:p>
            <a:pPr lvl="4"/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109816" y="63648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</a:lstStyle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-729784" y="605622"/>
            <a:ext cx="597324" cy="711646"/>
          </a:xfrm>
          <a:prstGeom prst="rect">
            <a:avLst/>
          </a:prstGeom>
          <a:solidFill>
            <a:srgbClr val="0056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-729784" y="1380650"/>
            <a:ext cx="597324" cy="71164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-729784" y="661363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 0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86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117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-729784" y="1436391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 89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87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87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-729784" y="2208168"/>
            <a:ext cx="597324" cy="711646"/>
          </a:xfrm>
          <a:prstGeom prst="rect">
            <a:avLst/>
          </a:prstGeom>
          <a:solidFill>
            <a:srgbClr val="4FB9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-729784" y="2263909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</a:t>
            </a:r>
            <a:r>
              <a:rPr lang="zh-TW" altLang="en-US" sz="1100" dirty="0">
                <a:solidFill>
                  <a:schemeClr val="bg1"/>
                </a:solidFill>
              </a:rPr>
              <a:t> </a:t>
            </a:r>
            <a:r>
              <a:rPr lang="en-US" altLang="zh-TW" sz="1100" dirty="0">
                <a:solidFill>
                  <a:schemeClr val="bg1"/>
                </a:solidFill>
              </a:rPr>
              <a:t>79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185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159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-729784" y="2979945"/>
            <a:ext cx="597324" cy="71164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-729784" y="3035686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</a:t>
            </a:r>
            <a:r>
              <a:rPr lang="zh-TW" altLang="en-US" sz="1100" dirty="0">
                <a:solidFill>
                  <a:schemeClr val="bg1"/>
                </a:solidFill>
              </a:rPr>
              <a:t> </a:t>
            </a:r>
            <a:r>
              <a:rPr lang="en-US" altLang="zh-TW" sz="1100" dirty="0">
                <a:solidFill>
                  <a:schemeClr val="bg1"/>
                </a:solidFill>
              </a:rPr>
              <a:t>46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117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182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pic>
        <p:nvPicPr>
          <p:cNvPr id="20" name="圖片 1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89" y="6321270"/>
            <a:ext cx="1315236" cy="493214"/>
          </a:xfrm>
          <a:prstGeom prst="rect">
            <a:avLst/>
          </a:prstGeom>
        </p:spPr>
      </p:pic>
      <p:cxnSp>
        <p:nvCxnSpPr>
          <p:cNvPr id="21" name="Straight Connector 6">
            <a:extLst>
              <a:ext uri="{FF2B5EF4-FFF2-40B4-BE49-F238E27FC236}">
                <a16:creationId xmlns:a16="http://schemas.microsoft.com/office/drawing/2014/main" id="{AB14B325-37EE-2D47-9D73-848E4457D5C0}"/>
              </a:ext>
            </a:extLst>
          </p:cNvPr>
          <p:cNvCxnSpPr>
            <a:cxnSpLocks/>
          </p:cNvCxnSpPr>
          <p:nvPr/>
        </p:nvCxnSpPr>
        <p:spPr>
          <a:xfrm>
            <a:off x="280988" y="6236456"/>
            <a:ext cx="11669712" cy="0"/>
          </a:xfrm>
          <a:prstGeom prst="line">
            <a:avLst/>
          </a:prstGeom>
          <a:ln w="28575">
            <a:solidFill>
              <a:srgbClr val="EAED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9103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baseline="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微軟正黑體" panose="020B0604030504040204" pitchFamily="34" charset="-120"/>
          <a:cs typeface="Arial" panose="020B0604020202020204" pitchFamily="34" charset="0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40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1pPr>
      <a:lvl2pPr marL="50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2pPr>
      <a:lvl3pPr marL="86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3pPr>
      <a:lvl4pPr marL="1152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4pPr>
      <a:lvl5pPr marL="158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67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1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1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8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8000" y="1661160"/>
            <a:ext cx="81102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企業實戰教育訓練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08000" y="2219960"/>
            <a:ext cx="811022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5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備份、復原與</a:t>
            </a:r>
            <a:endParaRPr lang="en-US" sz="5000" dirty="0"/>
          </a:p>
          <a:p>
            <a:pPr marL="0" indent="0" algn="l">
              <a:lnSpc>
                <a:spcPts val="575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災難復原演練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508000" y="3883660"/>
            <a:ext cx="811022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 Application Backup 開始，逐步理解資源、PV 資料、etcd 與整座叢集的復原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8000" y="4726940"/>
            <a:ext cx="81102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完整版 · 9 個單元 · </a:t>
            </a:r>
            <a:r>
              <a:rPr lang="en-US" sz="15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主講人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</a:t>
            </a:r>
            <a:r>
              <a:rPr lang="zh-TW" alt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李旻恩</a:t>
            </a:r>
            <a:endParaRPr lang="en-US" sz="1500" dirty="0"/>
          </a:p>
        </p:txBody>
      </p:sp>
      <p:pic>
        <p:nvPicPr>
          <p:cNvPr id="7" name="Image 1" descr="AIC AIoT Cloud"/>
          <p:cNvPicPr>
            <a:picLocks noChangeAspect="1"/>
          </p:cNvPicPr>
          <p:nvPr/>
        </p:nvPicPr>
        <p:blipFill>
          <a:blip r:embed="rId3"/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這門課要做的事：把應用弄壞，再救回來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3617357" cy="1725295"/>
          </a:xfrm>
          <a:prstGeom prst="roundRect">
            <a:avLst>
              <a:gd name="adj" fmla="val 5705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179830"/>
            <a:ext cx="33556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0880" y="1456690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實際跑過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90880" y="1767840"/>
            <a:ext cx="3355685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 Velero 備份 / 還原步驟都在真實叢集上執行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90880" y="2307590"/>
            <a:ext cx="3355685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投影片上的輸出是 2026-09-23 實際擷取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87282" y="1000125"/>
            <a:ext cx="3617436" cy="1725295"/>
          </a:xfrm>
          <a:prstGeom prst="roundRect">
            <a:avLst>
              <a:gd name="adj" fmla="val 5705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66987" y="1179830"/>
            <a:ext cx="335576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/ 叢集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66987" y="1456690"/>
            <a:ext cx="335576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只給 runbook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466987" y="1767840"/>
            <a:ext cx="3355767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還原（單元 7）與整座叢集重建（單元 8）會影響共用叢集的其他租戶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466987" y="2307590"/>
            <a:ext cx="3355767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只提供步驟與腳本，腳本預設 dry-run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63468" y="1000125"/>
            <a:ext cx="3617357" cy="1725295"/>
          </a:xfrm>
          <a:prstGeom prst="roundRect">
            <a:avLst>
              <a:gd name="adj" fmla="val 5705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43174" y="1179830"/>
            <a:ext cx="33556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判斷標準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43174" y="1456690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用資料驗證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43174" y="1767840"/>
            <a:ext cx="3355685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「還原成功」的定義不是 Pod Running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243174" y="2069465"/>
            <a:ext cx="3355685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而是災難前寫進去的那筆資料，現在查得到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08000" y="2931795"/>
            <a:ext cx="11176000" cy="2973705"/>
          </a:xfrm>
          <a:prstGeom prst="roundRect">
            <a:avLst>
              <a:gd name="adj" fmla="val 3417"/>
            </a:avLst>
          </a:prstGeom>
          <a:solidFill>
            <a:srgbClr val="12517C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" y="3109595"/>
            <a:ext cx="11145012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貫穿整門課的一句話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85800" y="3437255"/>
            <a:ext cx="1114501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D4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備份顯示 Completed，只代表 Velero 把「你要它備份的東西」寫出去了。能不能救回一個可用的應用，只有實際還原、用資料驗證才知道。</a:t>
            </a:r>
            <a:endParaRPr lang="en-US" sz="1400" dirty="0"/>
          </a:p>
        </p:txBody>
      </p:sp>
      <p:pic>
        <p:nvPicPr>
          <p:cNvPr id="22" name="Image 1" descr="AIC AIoT Cloud"/>
          <p:cNvPicPr>
            <a:picLocks noChangeAspect="1"/>
          </p:cNvPicPr>
          <p:nvPr/>
        </p:nvPicPr>
        <p:blipFill>
          <a:blip r:embed="rId3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開場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九個單元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3435350"/>
        </p:xfrm>
        <a:graphic>
          <a:graphicData uri="http://schemas.openxmlformats.org/drawingml/2006/table">
            <a:tbl>
              <a:tblPr/>
              <a:tblGrid>
                <a:gridCol w="558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4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98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核心問題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實機操作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Kubernetes 備份與復原概念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「備份 Kubernetes」到底要備份什麼？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觀念 + 唯讀觀察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建立外部 Backup Storage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備份為什麼一定要放叢集外？怎麼確認真的寫出去？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SeaweedFS + BSL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第一次 Backup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 Velero UI 建立備份，怎麼判斷「真的完成」？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實測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第一次 Restore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怎麼證明資料真的救回來，而不是只有 Pod Running？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實測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 的陷阱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備份顯示 Completed，為什麼還是救不回來？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個情境實測重現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備份與還原策略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snapshot 跟 Velero 差在哪？什麼時候用哪個？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yaml + 講師操作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Plane Disaster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Server 起不來時怎麼從 snapshot 救？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runbook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 Disaster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叢集整個不見，要照什麼順序重建？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runbook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每日備份與 Restore 驗證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怎麼讓備份每天跑、失敗會通知、定期驗證能還原？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yaml + 講師套用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5" name="Image 1" descr="AIC AIoT Cloud"/>
          <p:cNvPicPr>
            <a:picLocks noChangeAspect="1"/>
          </p:cNvPicPr>
          <p:nvPr/>
        </p:nvPicPr>
        <p:blipFill>
          <a:blip r:embed="rId3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開場 · 課程地圖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學習路線：從一個應用到整座叢集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2463800" cy="1145540"/>
          </a:xfrm>
          <a:prstGeom prst="roundRect">
            <a:avLst>
              <a:gd name="adj" fmla="val 859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5480" y="1154430"/>
            <a:ext cx="2219846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→ 4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65480" y="1515111"/>
            <a:ext cx="2219846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第一次救援主線：概念、外部儲存、備份、還原</a:t>
            </a:r>
            <a:endParaRPr lang="en-US" sz="1250" dirty="0"/>
          </a:p>
        </p:txBody>
      </p:sp>
      <p:pic>
        <p:nvPicPr>
          <p:cNvPr id="7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54350" y="1490345"/>
            <a:ext cx="279400" cy="1651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413125" y="1000125"/>
            <a:ext cx="2463800" cy="1145540"/>
          </a:xfrm>
          <a:prstGeom prst="roundRect">
            <a:avLst>
              <a:gd name="adj" fmla="val 859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567430" y="1154430"/>
            <a:ext cx="2219846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567430" y="1515111"/>
            <a:ext cx="2219846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在學員對「Completed 就是成功」有信心後，立刻打破它</a:t>
            </a:r>
            <a:endParaRPr lang="en-US" sz="1250" dirty="0"/>
          </a:p>
        </p:txBody>
      </p:sp>
      <p:pic>
        <p:nvPicPr>
          <p:cNvPr id="11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56300" y="1490345"/>
            <a:ext cx="279400" cy="1651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315075" y="1000125"/>
            <a:ext cx="2463800" cy="1145540"/>
          </a:xfrm>
          <a:prstGeom prst="roundRect">
            <a:avLst>
              <a:gd name="adj" fmla="val 859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469380" y="1154430"/>
            <a:ext cx="2219846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→ 8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469380" y="1515111"/>
            <a:ext cx="2219846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往下一層：etcd、control plane、整座叢集</a:t>
            </a:r>
            <a:endParaRPr lang="en-US" sz="1250" dirty="0"/>
          </a:p>
        </p:txBody>
      </p:sp>
      <p:pic>
        <p:nvPicPr>
          <p:cNvPr id="15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58250" y="1490345"/>
            <a:ext cx="279400" cy="1651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9217025" y="1119188"/>
            <a:ext cx="2463800" cy="907415"/>
          </a:xfrm>
          <a:prstGeom prst="roundRect">
            <a:avLst>
              <a:gd name="adj" fmla="val 10847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9371330" y="1273493"/>
            <a:ext cx="2219846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9371330" y="1634173"/>
            <a:ext cx="2219846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收尾成可以帶回公司的制度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11175" y="2355216"/>
            <a:ext cx="2673350" cy="1876425"/>
          </a:xfrm>
          <a:prstGeom prst="roundRect">
            <a:avLst>
              <a:gd name="adj" fmla="val 5245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90880" y="2534920"/>
            <a:ext cx="2383358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28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應用</a:t>
            </a:r>
            <a:endParaRPr lang="en-US" sz="3200" dirty="0"/>
          </a:p>
        </p:txBody>
      </p:sp>
      <p:sp>
        <p:nvSpPr>
          <p:cNvPr id="21" name="Text 15"/>
          <p:cNvSpPr/>
          <p:nvPr/>
        </p:nvSpPr>
        <p:spPr>
          <a:xfrm>
            <a:off x="690880" y="3088641"/>
            <a:ext cx="2383358" cy="715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 namespace 被誤刪、資料被寫壞 → Velero（單元 3、4、5）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3343275" y="2355216"/>
            <a:ext cx="2673350" cy="1876425"/>
          </a:xfrm>
          <a:prstGeom prst="roundRect">
            <a:avLst>
              <a:gd name="adj" fmla="val 5245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522980" y="2534920"/>
            <a:ext cx="2383358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28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</a:t>
            </a:r>
            <a:endParaRPr lang="en-US" sz="2800" dirty="0"/>
          </a:p>
        </p:txBody>
      </p:sp>
      <p:sp>
        <p:nvSpPr>
          <p:cNvPr id="24" name="Text 18"/>
          <p:cNvSpPr/>
          <p:nvPr/>
        </p:nvSpPr>
        <p:spPr>
          <a:xfrm>
            <a:off x="3522980" y="3091495"/>
            <a:ext cx="238335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壞掉、API Server 起不來 → etcd snapshot（單元 6、7）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175375" y="2355216"/>
            <a:ext cx="2673350" cy="1876425"/>
          </a:xfrm>
          <a:prstGeom prst="roundRect">
            <a:avLst>
              <a:gd name="adj" fmla="val 5245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355080" y="2534920"/>
            <a:ext cx="2383358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28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整座叢集</a:t>
            </a:r>
            <a:endParaRPr lang="en-US" sz="2800" dirty="0"/>
          </a:p>
        </p:txBody>
      </p:sp>
      <p:sp>
        <p:nvSpPr>
          <p:cNvPr id="27" name="Text 21"/>
          <p:cNvSpPr/>
          <p:nvPr/>
        </p:nvSpPr>
        <p:spPr>
          <a:xfrm>
            <a:off x="6355080" y="3088641"/>
            <a:ext cx="238335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機房消失、節點全毀 → 重建 + Velero（單元 8）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9007475" y="2355216"/>
            <a:ext cx="2673350" cy="1876425"/>
          </a:xfrm>
          <a:prstGeom prst="roundRect">
            <a:avLst>
              <a:gd name="adj" fmla="val 5245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9187180" y="2534920"/>
            <a:ext cx="2383358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28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制度</a:t>
            </a:r>
            <a:endParaRPr lang="en-US" sz="2800" dirty="0"/>
          </a:p>
        </p:txBody>
      </p:sp>
      <p:sp>
        <p:nvSpPr>
          <p:cNvPr id="30" name="Text 24"/>
          <p:cNvSpPr/>
          <p:nvPr/>
        </p:nvSpPr>
        <p:spPr>
          <a:xfrm>
            <a:off x="9187180" y="3088641"/>
            <a:ext cx="238335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每天自動跑、會通知、定期驗證 → 單元 9</a:t>
            </a:r>
            <a:endParaRPr lang="en-US" sz="1250" dirty="0"/>
          </a:p>
        </p:txBody>
      </p:sp>
      <p:pic>
        <p:nvPicPr>
          <p:cNvPr id="31" name="Image 4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開場 · 課程地圖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演練環境架構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8000" y="996950"/>
            <a:ext cx="660590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叢集（kubeadm，3 control-plane + gpu01）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11175" y="1315086"/>
            <a:ext cx="3124200" cy="1547495"/>
          </a:xfrm>
          <a:prstGeom prst="roundRect">
            <a:avLst>
              <a:gd name="adj" fmla="val 636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2780" y="1456689"/>
            <a:ext cx="292622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×3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2780" y="1743075"/>
            <a:ext cx="29262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k8s01~03，VIP 10.90.1.80（kube-vip）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2780" y="2035175"/>
            <a:ext cx="292622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kube-apiserver → etcd ×3（stacked，/var/lib/etcd）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794125" y="1315086"/>
            <a:ext cx="3124200" cy="1547495"/>
          </a:xfrm>
          <a:prstGeom prst="roundRect">
            <a:avLst>
              <a:gd name="adj" fmla="val 636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5730" y="1456689"/>
            <a:ext cx="292622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namespace: dr-demo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935730" y="1743075"/>
            <a:ext cx="292622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→ PVC postgres-data（rook-ceph-block，RWO）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935730" y="2263775"/>
            <a:ext cx="292622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cephfs-test-1/2 → PVC shared-data（rook-cephfs，RWX）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11175" y="2970532"/>
            <a:ext cx="3124200" cy="1382395"/>
          </a:xfrm>
          <a:prstGeom prst="roundRect">
            <a:avLst>
              <a:gd name="adj" fmla="val 712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2780" y="3112136"/>
            <a:ext cx="292622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namespace: velero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52780" y="3398521"/>
            <a:ext cx="29262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server（EnableCSI、kopia）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52780" y="3690621"/>
            <a:ext cx="29262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node-agent DaemonSet（Data Mover）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2780" y="3982721"/>
            <a:ext cx="29262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velero-ui（OTWLD）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794125" y="2970532"/>
            <a:ext cx="3124200" cy="1382395"/>
          </a:xfrm>
          <a:prstGeom prst="roundRect">
            <a:avLst>
              <a:gd name="adj" fmla="val 7120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935730" y="3112136"/>
            <a:ext cx="2926220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Rook-Ceph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3935730" y="3398521"/>
            <a:ext cx="29262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 資料在叢集節點自己的磁碟上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935730" y="3690621"/>
            <a:ext cx="292622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CronJob etcd-backup-k8s0x（目前 suspend）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073900" y="1274763"/>
            <a:ext cx="1962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資源 manifest（tar.gz）</a:t>
            </a:r>
            <a:endParaRPr lang="en-US" sz="1200" dirty="0"/>
          </a:p>
        </p:txBody>
      </p:sp>
      <p:pic>
        <p:nvPicPr>
          <p:cNvPr id="23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73900" y="1541463"/>
            <a:ext cx="1270000" cy="1905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073900" y="1770063"/>
            <a:ext cx="1962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 velero/backups/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073900" y="2314575"/>
            <a:ext cx="1962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 Snapshot → kopia</a:t>
            </a:r>
            <a:endParaRPr lang="en-US" sz="1200" dirty="0"/>
          </a:p>
        </p:txBody>
      </p:sp>
      <p:pic>
        <p:nvPicPr>
          <p:cNvPr id="26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73900" y="2581275"/>
            <a:ext cx="1270000" cy="1905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073900" y="2809875"/>
            <a:ext cx="1962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 velero/kopia/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7073900" y="3354388"/>
            <a:ext cx="1962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snapshot</a:t>
            </a:r>
            <a:endParaRPr lang="en-US" sz="1200" dirty="0"/>
          </a:p>
        </p:txBody>
      </p:sp>
      <p:pic>
        <p:nvPicPr>
          <p:cNvPr id="29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73900" y="3621088"/>
            <a:ext cx="1270000" cy="1905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073900" y="3849688"/>
            <a:ext cx="19621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 etcd-backups/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9131300" y="996950"/>
            <a:ext cx="262928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叢集外：備份機 10.90.1.125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9134475" y="1315086"/>
            <a:ext cx="2546350" cy="3037840"/>
          </a:xfrm>
          <a:prstGeom prst="roundRect">
            <a:avLst>
              <a:gd name="adj" fmla="val 3865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9288780" y="1469389"/>
            <a:ext cx="230487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SeaweedFS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9288780" y="1780539"/>
            <a:ext cx="23048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weed mini，S3 :8333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9288780" y="2072639"/>
            <a:ext cx="23048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26.04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9288780" y="2364739"/>
            <a:ext cx="230487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資料：/dev/sdb1 → /backup/seaweedfs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508000" y="4559300"/>
            <a:ext cx="115112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三條備份路徑、一個共同原則：</a:t>
            </a:r>
            <a:r>
              <a:rPr lang="en-US" sz="1350" b="1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最後都要落到叢集外的 Object Storage</a:t>
            </a: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。Ceph 跟叢集住在同一批節點上，所以一律開 </a:t>
            </a:r>
            <a:r>
              <a:rPr lang="en-US" sz="13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snapshotMoveData</a:t>
            </a: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350" dirty="0"/>
          </a:p>
        </p:txBody>
      </p:sp>
      <p:pic>
        <p:nvPicPr>
          <p:cNvPr id="38" name="Image 4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開場 · 演練環境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這座叢集的備份相關事實（2026-09-23 實查）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3632200"/>
        </p:xfrm>
        <a:graphic>
          <a:graphicData uri="http://schemas.openxmlformats.org/drawingml/2006/table">
            <a:tbl>
              <a:tblPr/>
              <a:tblGrid>
                <a:gridCol w="2456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9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項目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實際狀態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Kubernetes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v1.35.7，kubeadm，3 台 control-plane（k8s01~03）+ gpu01，kube-vip VIP 10.90.1.80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3.6.6，stacked（每台 control-plane 上的 static Pod），資料目錄 /var/lib/etcd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 靜態加密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Server 有 --encryption-provider-config → etcd 還原時必須同時有這把金鑰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v1.18.2（velero install CLI），EnableCSI，uploader = kopia，velero-plugin-for-aws:v1.14.2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node-agent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DaemonSet，4 個節點都有（Data Mover 靠它上傳快照內容）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BSL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default，s3Url http://10.90.1.125:8333，bucket velero，s3ForcePathStyle，Available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VolumeSnapshotClass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csi-rbdplugin-snapclass（RBD）、csi-cephfsplugin-snapclass（CephFS）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UI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OTWLD velero-ui 0.10.2，https://velero.nexai.org.com（admin-gateway）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既有排程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daily-full-backup：每天 01:00 UTC、全 namespace、TTL 30 天（問題見單元 9）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備份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etcd-backup namespace 有 3 支 CronJob，上傳 bucket etcd-backups，目前 suspend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5" name="Image 1" descr="AIC AIoT Cloud"/>
          <p:cNvPicPr>
            <a:picLocks noChangeAspect="1"/>
          </p:cNvPicPr>
          <p:nvPr/>
        </p:nvPicPr>
        <p:blipFill>
          <a:blip r:embed="rId3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開場 · 演練環境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先記住一個名稱衝突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6959600" cy="2042160"/>
          </a:xfrm>
          <a:prstGeom prst="roundRect">
            <a:avLst>
              <a:gd name="adj" fmla="val 4975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6749796" cy="146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E4EDF3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velero schedule get                          # </a:t>
            </a:r>
            <a:r>
              <a:rPr lang="en-US" sz="1300" dirty="0">
                <a:solidFill>
                  <a:srgbClr val="E4EDF3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  <a:sym typeface="Wingdings" panose="05000000000000000000" pitchFamily="2" charset="2"/>
              </a:rPr>
              <a:t></a:t>
            </a:r>
            <a:endParaRPr lang="en-US" sz="1300" dirty="0">
              <a:latin typeface="Consolas" panose="020B0609020204030204" pitchFamily="49" charset="0"/>
            </a:endParaRPr>
          </a:p>
          <a:p>
            <a:pPr>
              <a:lnSpc>
                <a:spcPts val="1885"/>
              </a:lnSpc>
            </a:pPr>
            <a:r>
              <a:rPr lang="en-US" sz="1300" dirty="0">
                <a:solidFill>
                  <a:srgbClr val="E4EDF3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kubectl -n velero get schedules.velero.io    # </a:t>
            </a:r>
            <a:r>
              <a:rPr lang="en-US" altLang="zh-TW" sz="1300" dirty="0">
                <a:solidFill>
                  <a:srgbClr val="E4EDF3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  <a:sym typeface="Wingdings" panose="05000000000000000000" pitchFamily="2" charset="2"/>
              </a:rPr>
              <a:t></a:t>
            </a:r>
            <a:endParaRPr lang="en-US" sz="1300" dirty="0">
              <a:latin typeface="Consolas" panose="020B0609020204030204" pitchFamily="49" charset="0"/>
            </a:endParaRPr>
          </a:p>
          <a:p>
            <a:pPr>
              <a:lnSpc>
                <a:spcPts val="1885"/>
              </a:lnSpc>
            </a:pPr>
            <a:r>
              <a:rPr lang="en-US" sz="1300" dirty="0">
                <a:solidFill>
                  <a:srgbClr val="E4EDF3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kubectl -n velero get backups.velero.io      # </a:t>
            </a:r>
            <a:r>
              <a:rPr lang="en-US" altLang="zh-TW" sz="1300" dirty="0">
                <a:solidFill>
                  <a:srgbClr val="E4EDF3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  <a:sym typeface="Wingdings" panose="05000000000000000000" pitchFamily="2" charset="2"/>
              </a:rPr>
              <a:t></a:t>
            </a:r>
            <a:endParaRPr lang="en-US" sz="1300" dirty="0">
              <a:latin typeface="Consolas" panose="020B0609020204030204" pitchFamily="49" charset="0"/>
            </a:endParaRPr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E4EDF3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300" dirty="0">
              <a:latin typeface="Consolas" panose="020B0609020204030204" pitchFamily="49" charset="0"/>
            </a:endParaRPr>
          </a:p>
          <a:p>
            <a:pPr>
              <a:lnSpc>
                <a:spcPts val="1885"/>
              </a:lnSpc>
            </a:pPr>
            <a:r>
              <a:rPr lang="en-US" sz="1300" dirty="0">
                <a:solidFill>
                  <a:srgbClr val="E4EDF3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kubectl -n velero get schedules              # </a:t>
            </a:r>
            <a:r>
              <a:rPr lang="en-US" altLang="zh-TW" sz="1300" dirty="0">
                <a:solidFill>
                  <a:srgbClr val="E4EDF3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  <a:sym typeface="Wingdings" panose="05000000000000000000" pitchFamily="2" charset="2"/>
              </a:rPr>
              <a:t></a:t>
            </a:r>
            <a:endParaRPr lang="en-US" sz="1300" dirty="0">
              <a:latin typeface="Consolas" panose="020B0609020204030204" pitchFamily="49" charset="0"/>
            </a:endParaRPr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E4EDF3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# </a:t>
            </a:r>
            <a:r>
              <a:rPr lang="en-US" sz="1300" dirty="0">
                <a:solidFill>
                  <a:srgbClr val="F2B35C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← 拿到 Fleet 的 schedules.fleet.cattle.io（空的）</a:t>
            </a:r>
            <a:endParaRPr lang="en-US" sz="1300" dirty="0">
              <a:latin typeface="Consolas" panose="020B0609020204030204" pitchFamily="49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623175" y="1000125"/>
            <a:ext cx="4057650" cy="2035810"/>
          </a:xfrm>
          <a:prstGeom prst="roundRect">
            <a:avLst>
              <a:gd name="adj" fmla="val 4835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02880" y="1179832"/>
            <a:ext cx="38091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為什麼要特別講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802880" y="1490982"/>
            <a:ext cx="380918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本叢集裝了 Rancher Fleet，它也有一個叫 </a:t>
            </a:r>
            <a:r>
              <a:rPr lang="en-US" sz="1300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schedules</a:t>
            </a:r>
            <a:r>
              <a:rPr lang="en-US" sz="13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的 CRD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02880" y="2049782"/>
            <a:ext cx="380918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get schedules</a:t>
            </a:r>
            <a:r>
              <a:rPr lang="en-US" sz="13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回傳空清單，讓人誤以為 Velero 沒有排程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02880" y="2608582"/>
            <a:ext cx="38091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撰寫本課程時就被誤導過一次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8000" y="3242311"/>
            <a:ext cx="11176000" cy="2663190"/>
          </a:xfrm>
          <a:prstGeom prst="roundRect">
            <a:avLst>
              <a:gd name="adj" fmla="val 3815"/>
            </a:avLst>
          </a:prstGeom>
          <a:solidFill>
            <a:srgbClr val="12517C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3420111"/>
            <a:ext cx="1114501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規則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5800" y="3731261"/>
            <a:ext cx="111450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D4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所有指令與腳本一律寫完整名稱：</a:t>
            </a:r>
            <a:r>
              <a:rPr lang="en-US" sz="1400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schedules.velero.io</a:t>
            </a:r>
            <a:r>
              <a:rPr lang="en-US" sz="1400" dirty="0">
                <a:solidFill>
                  <a:srgbClr val="D4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en-US" sz="1400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backups.velero.io</a:t>
            </a:r>
            <a:r>
              <a:rPr lang="en-US" sz="1400" dirty="0">
                <a:solidFill>
                  <a:srgbClr val="D4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en-US" sz="1400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restores.velero.io</a:t>
            </a:r>
            <a:r>
              <a:rPr lang="en-US" sz="1400" dirty="0">
                <a:solidFill>
                  <a:srgbClr val="D4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，或直接用 </a:t>
            </a:r>
            <a:r>
              <a:rPr lang="en-US" sz="1400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</a:t>
            </a:r>
            <a:r>
              <a:rPr lang="en-US" sz="1400" dirty="0">
                <a:solidFill>
                  <a:srgbClr val="D4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CLI。</a:t>
            </a:r>
            <a:endParaRPr lang="en-US" sz="1400" dirty="0"/>
          </a:p>
        </p:txBody>
      </p:sp>
      <p:pic>
        <p:nvPicPr>
          <p:cNvPr id="14" name="Image 1" descr="AIC AIoT Cloud"/>
          <p:cNvPicPr>
            <a:picLocks noChangeAspect="1"/>
          </p:cNvPicPr>
          <p:nvPr/>
        </p:nvPicPr>
        <p:blipFill>
          <a:blip r:embed="rId3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開場 · 演練環境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受害者應用：dr-demo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6568440" cy="2404745"/>
        </p:xfrm>
        <a:graphic>
          <a:graphicData uri="http://schemas.openxmlformats.org/drawingml/2006/table">
            <a:tbl>
              <a:tblPr/>
              <a:tblGrid>
                <a:gridCol w="223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4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05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資源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名稱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備註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Namespace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dr-demo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postgres-secret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 帳密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 / Service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16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PVC（RBD，RWO）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postgres-data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資料庫檔案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PVC（CephFS，RWX）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shared-data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dr-test.txt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cephfs-test-1 / 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寫入 / 讀取 CephFS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7242175" y="1000125"/>
            <a:ext cx="4438650" cy="789940"/>
          </a:xfrm>
          <a:prstGeom prst="roundRect">
            <a:avLst>
              <a:gd name="adj" fmla="val 1246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383780" y="1141732"/>
            <a:ext cx="428010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script/baseline.sh</a:t>
            </a:r>
            <a:endParaRPr lang="en-US" sz="1300" dirty="0">
              <a:latin typeface="Consolas" panose="020B0609020204030204" pitchFamily="49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7383780" y="1419861"/>
            <a:ext cx="428010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演練前留存叢集基準紀錄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7242175" y="1885314"/>
            <a:ext cx="4438650" cy="789940"/>
          </a:xfrm>
          <a:prstGeom prst="roundRect">
            <a:avLst>
              <a:gd name="adj" fmla="val 1246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83780" y="2026921"/>
            <a:ext cx="428010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script/write-postgres.sh</a:t>
            </a:r>
            <a:endParaRPr lang="en-US" sz="1300" dirty="0">
              <a:latin typeface="Consolas" panose="020B0609020204030204" pitchFamily="49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383780" y="2305050"/>
            <a:ext cx="428010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寫入 DB 驗證資料 DR-TEST-DB-001（可重複執行）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242175" y="2770507"/>
            <a:ext cx="4438650" cy="789940"/>
          </a:xfrm>
          <a:prstGeom prst="roundRect">
            <a:avLst>
              <a:gd name="adj" fmla="val 12460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383780" y="2912111"/>
            <a:ext cx="428010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script/check-data.sh</a:t>
            </a:r>
            <a:endParaRPr lang="en-US" sz="1300" dirty="0">
              <a:latin typeface="Consolas" panose="020B0609020204030204" pitchFamily="49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383780" y="3190239"/>
            <a:ext cx="428010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用實際資料驗證還原：PASS / FAIL + 結束碼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242175" y="3655696"/>
            <a:ext cx="4438650" cy="789940"/>
          </a:xfrm>
          <a:prstGeom prst="roundRect">
            <a:avLst>
              <a:gd name="adj" fmla="val 12460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383780" y="3797300"/>
            <a:ext cx="428010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8A4B00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script/app-disaster.sh</a:t>
            </a:r>
            <a:endParaRPr lang="en-US" sz="1300" dirty="0">
              <a:latin typeface="Consolas" panose="020B0609020204030204" pitchFamily="49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7383780" y="4075429"/>
            <a:ext cx="428010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模擬應用災難：先確認有備份才允許刪除</a:t>
            </a:r>
            <a:endParaRPr lang="en-US" sz="1200" dirty="0"/>
          </a:p>
        </p:txBody>
      </p:sp>
      <p:pic>
        <p:nvPicPr>
          <p:cNvPr id="17" name="Image 1" descr="AIC AIoT Cloud"/>
          <p:cNvPicPr>
            <a:picLocks noChangeAspect="1"/>
          </p:cNvPicPr>
          <p:nvPr/>
        </p:nvPicPr>
        <p:blipFill>
          <a:blip r:embed="rId3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開場 · 演練環境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快速開始：一次完整的救援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4473575"/>
          </a:xfrm>
          <a:prstGeom prst="roundRect">
            <a:avLst>
              <a:gd name="adj" fmla="val 2271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4168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8FB3CC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# 0. 前置：外部 Backup Storage 與 Velero 已就緒（單元 2）</a:t>
            </a:r>
            <a:endParaRPr lang="en-US" sz="1250" dirty="0">
              <a:latin typeface="Consolas" panose="020B0609020204030204" pitchFamily="49" charset="0"/>
            </a:endParaRPr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velero backup-location get              # PHASE 要是 Available</a:t>
            </a:r>
            <a:endParaRPr lang="en-US" sz="1250" dirty="0">
              <a:latin typeface="Consolas" panose="020B0609020204030204" pitchFamily="49" charset="0"/>
            </a:endParaRPr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250" dirty="0">
              <a:latin typeface="Consolas" panose="020B0609020204030204" pitchFamily="49" charset="0"/>
            </a:endParaRPr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8FB3CC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# 1. 部署受害者應用並寫入驗證資料</a:t>
            </a:r>
            <a:endParaRPr lang="en-US" sz="1250" dirty="0">
              <a:latin typeface="Consolas" panose="020B0609020204030204" pitchFamily="49" charset="0"/>
            </a:endParaRPr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kubectl apply -f dr/manifest/</a:t>
            </a:r>
            <a:endParaRPr lang="en-US" sz="1250" dirty="0">
              <a:latin typeface="Consolas" panose="020B0609020204030204" pitchFamily="49" charset="0"/>
            </a:endParaRPr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kubectl -n dr-demo rollout status deploy/postgres</a:t>
            </a:r>
            <a:endParaRPr lang="en-US" sz="1250" dirty="0">
              <a:latin typeface="Consolas" panose="020B0609020204030204" pitchFamily="49" charset="0"/>
            </a:endParaRPr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./dr/script/write-postgres.sh</a:t>
            </a:r>
            <a:endParaRPr lang="en-US" sz="1250" dirty="0">
              <a:latin typeface="Consolas" panose="020B0609020204030204" pitchFamily="49" charset="0"/>
            </a:endParaRPr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./dr/script/check-data.sh               # 3 項全 PASS</a:t>
            </a:r>
            <a:endParaRPr lang="en-US" sz="1250" dirty="0">
              <a:latin typeface="Consolas" panose="020B0609020204030204" pitchFamily="49" charset="0"/>
            </a:endParaRPr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250" dirty="0">
              <a:latin typeface="Consolas" panose="020B0609020204030204" pitchFamily="49" charset="0"/>
            </a:endParaRPr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8FB3CC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# 2. 備份（UI 操作見單元 3；等價 CLI 如下）</a:t>
            </a:r>
            <a:endParaRPr lang="en-US" sz="1250" dirty="0">
              <a:latin typeface="Consolas" panose="020B0609020204030204" pitchFamily="49" charset="0"/>
            </a:endParaRPr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velero backup create dr-demo-backup-01 --include-namespaces dr-demo --snapshot-move-data --wait</a:t>
            </a:r>
            <a:endParaRPr lang="en-US" sz="1250" dirty="0">
              <a:latin typeface="Consolas" panose="020B0609020204030204" pitchFamily="49" charset="0"/>
            </a:endParaRPr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250" dirty="0">
              <a:latin typeface="Consolas" panose="020B0609020204030204" pitchFamily="49" charset="0"/>
            </a:endParaRPr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8FB3CC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# 3. 災難</a:t>
            </a:r>
            <a:endParaRPr lang="en-US" sz="1250" dirty="0">
              <a:latin typeface="Consolas" panose="020B0609020204030204" pitchFamily="49" charset="0"/>
            </a:endParaRPr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./dr/script/app-disaster.sh</a:t>
            </a:r>
            <a:endParaRPr lang="en-US" sz="1250" dirty="0">
              <a:latin typeface="Consolas" panose="020B0609020204030204" pitchFamily="49" charset="0"/>
            </a:endParaRPr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250" dirty="0">
              <a:latin typeface="Consolas" panose="020B0609020204030204" pitchFamily="49" charset="0"/>
            </a:endParaRPr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8FB3CC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# 4. 還原 + 用資料驗證</a:t>
            </a:r>
            <a:endParaRPr lang="en-US" sz="1250" dirty="0">
              <a:latin typeface="Consolas" panose="020B0609020204030204" pitchFamily="49" charset="0"/>
            </a:endParaRPr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velero restore create --from-backup dr-demo-backup-01 --wait</a:t>
            </a:r>
            <a:endParaRPr lang="en-US" sz="1250" dirty="0">
              <a:latin typeface="Consolas" panose="020B0609020204030204" pitchFamily="49" charset="0"/>
            </a:endParaRPr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Consolas" panose="020B0609020204030204" pitchFamily="49" charset="0"/>
                <a:ea typeface="Microsoft JhengHei UI Light" panose="020B0304030504040204" pitchFamily="34" charset="-120"/>
                <a:cs typeface="JetBrains Mono" pitchFamily="34" charset="-120"/>
              </a:rPr>
              <a:t>./dr/script/check-data.sh</a:t>
            </a:r>
            <a:endParaRPr lang="en-US" sz="1250" dirty="0">
              <a:latin typeface="Consolas" panose="020B0609020204030204" pitchFamily="49" charset="0"/>
            </a:endParaRPr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3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開場 · 演練環境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8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81225"/>
            <a:ext cx="9156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3298825"/>
            <a:ext cx="9156700" cy="6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3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備份與復原概念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508000" y="4140839"/>
            <a:ext cx="798116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191639"/>
            <a:ext cx="518716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58516" y="4164967"/>
            <a:ext cx="615174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先把「備份 Kubernetes」拆開：要備份什麼、住在哪、用什麼救。</a:t>
            </a:r>
            <a:endParaRPr lang="en-US" sz="1600" dirty="0"/>
          </a:p>
        </p:txBody>
      </p:sp>
      <p:pic>
        <p:nvPicPr>
          <p:cNvPr id="8" name="Image 1" descr="AIC AIoT Cloud"/>
          <p:cNvPicPr>
            <a:picLocks noChangeAspect="1"/>
          </p:cNvPicPr>
          <p:nvPr/>
        </p:nvPicPr>
        <p:blipFill>
          <a:blip r:embed="rId4"/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Resource 與 Application Data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2626995"/>
        </p:xfrm>
        <a:graphic>
          <a:graphicData uri="http://schemas.openxmlformats.org/drawingml/2006/table">
            <a:tbl>
              <a:tblPr/>
              <a:tblGrid>
                <a:gridCol w="2009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7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79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Kubernetes Resource（叢集狀態）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Data（應用資料）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例子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Deployment、Service、Secret、ConfigMap、PVC 物件、HTTPRoute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的資料表、CephFS 上的 dr-test.txt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長什麼樣子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YAML / JSON，幾 KB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資料庫檔案、使用者上傳的檔案，可能數百 GB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住在哪裡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 背後的儲存系統：Ceph RBD / CephFS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誰寫進去的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管理者 kubectl apply、Controller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應用程式在執行期間寫入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能不能重新產生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通常可以：Git 裡有 yaml，GitOps 重新套用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不行。訂單、使用者資料丟了就是丟了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備份工具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Velero（資源）、etcd snapshot（整個叢集狀態）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Volume 備份、應用自己的 dump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1 · 備份與復原概念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裡只有描述，沒有內容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4350" y="1003300"/>
            <a:ext cx="6337300" cy="2029460"/>
          </a:xfrm>
          <a:prstGeom prst="roundRect">
            <a:avLst>
              <a:gd name="adj" fmla="val 5945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5960" y="1184914"/>
            <a:ext cx="615330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etcd（叢集狀態）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99135" y="1503046"/>
            <a:ext cx="2929890" cy="472440"/>
          </a:xfrm>
          <a:prstGeom prst="roundRect">
            <a:avLst>
              <a:gd name="adj" fmla="val 20833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8040" y="1631950"/>
            <a:ext cx="275224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postgres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736975" y="1503046"/>
            <a:ext cx="2929890" cy="472440"/>
          </a:xfrm>
          <a:prstGeom prst="roundRect">
            <a:avLst>
              <a:gd name="adj" fmla="val 20833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65880" y="1631950"/>
            <a:ext cx="275224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postgres-secret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99135" y="2083439"/>
            <a:ext cx="2929890" cy="764540"/>
          </a:xfrm>
          <a:prstGeom prst="roundRect">
            <a:avLst>
              <a:gd name="adj" fmla="val 1287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8040" y="2212342"/>
            <a:ext cx="275224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postgres-data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8040" y="2490471"/>
            <a:ext cx="27522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只是一張申請單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736975" y="2083439"/>
            <a:ext cx="2929890" cy="764540"/>
          </a:xfrm>
          <a:prstGeom prst="roundRect">
            <a:avLst>
              <a:gd name="adj" fmla="val 1287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65880" y="2212342"/>
            <a:ext cx="275224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 pvc-85e4…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865880" y="2490471"/>
            <a:ext cx="27522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指向 Ceph 的哪一顆 image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158275" y="1764029"/>
            <a:ext cx="102504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volumeHandle</a:t>
            </a:r>
            <a:endParaRPr lang="en-US" sz="1200" dirty="0"/>
          </a:p>
        </p:txBody>
      </p:sp>
      <p:pic>
        <p:nvPicPr>
          <p:cNvPr id="17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073900" y="2043429"/>
            <a:ext cx="1143000" cy="2286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439150" y="1003300"/>
            <a:ext cx="3238500" cy="2029460"/>
          </a:xfrm>
          <a:prstGeom prst="roundRect">
            <a:avLst>
              <a:gd name="adj" fmla="val 5945"/>
            </a:avLst>
          </a:prstGeom>
          <a:solidFill>
            <a:srgbClr val="FFFFFF"/>
          </a:solidFill>
          <a:ln w="12700">
            <a:solidFill>
              <a:srgbClr val="B9D9E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620760" y="1184914"/>
            <a:ext cx="296153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Ceph（實際資料）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623935" y="1503046"/>
            <a:ext cx="2868930" cy="1344930"/>
          </a:xfrm>
          <a:prstGeom prst="roundRect">
            <a:avLst>
              <a:gd name="adj" fmla="val 7318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803640" y="1682750"/>
            <a:ext cx="258480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RBD image csi-vol-xxxx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8803640" y="1977392"/>
            <a:ext cx="2584806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的檔案真正在這裡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508000" y="3242314"/>
            <a:ext cx="11176000" cy="2663190"/>
          </a:xfrm>
          <a:prstGeom prst="roundRect">
            <a:avLst>
              <a:gd name="adj" fmla="val 3815"/>
            </a:avLst>
          </a:prstGeom>
          <a:solidFill>
            <a:srgbClr val="12517C"/>
          </a:solidFill>
          <a:ln/>
        </p:spPr>
      </p:sp>
      <p:sp>
        <p:nvSpPr>
          <p:cNvPr id="24" name="Text 20"/>
          <p:cNvSpPr/>
          <p:nvPr/>
        </p:nvSpPr>
        <p:spPr>
          <a:xfrm>
            <a:off x="685800" y="3420114"/>
            <a:ext cx="1114501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一句話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85800" y="3731264"/>
            <a:ext cx="1114501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D4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裡只有「這裡應該有一個 10Gi 的 PVC」這個描述。只備份 etcd 或 YAML，救回來的是一個空殼。單元 5 情境 1 會實際重現「Pod Running、table 也在，但訂單全不見」。</a:t>
            </a:r>
            <a:endParaRPr lang="en-US" sz="1400" dirty="0"/>
          </a:p>
        </p:txBody>
      </p:sp>
      <p:pic>
        <p:nvPicPr>
          <p:cNvPr id="26" name="Image 2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1 · 備份與復原概念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保存什麼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6350000" cy="2306320"/>
          </a:xfrm>
          <a:prstGeom prst="roundRect">
            <a:avLst>
              <a:gd name="adj" fmla="val 4405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61219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裡的 key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1200" y="1451614"/>
            <a:ext cx="6121908" cy="1572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/registry/deployments/dr-demo/postgres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/registry/secrets/dr-demo/postgres-secret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/registry/persistentvolumeclaims/dr-demo/postgres-data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/registry/persistentvolumes/pvc-85e449cf-...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/registry/namespaces/dr-demo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/registry/leases/kube-system/...      </a:t>
            </a:r>
            <a:r>
              <a:rPr lang="en-US" sz="1200" dirty="0">
                <a:solidFill>
                  <a:srgbClr val="F2B35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← 連 leader election 都在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/registry/velero.io/backups/velero/... </a:t>
            </a:r>
            <a:r>
              <a:rPr lang="en-US" sz="1200" dirty="0">
                <a:solidFill>
                  <a:srgbClr val="F2B35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← CRD 物件也在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013575" y="1000125"/>
            <a:ext cx="4667250" cy="1096010"/>
          </a:xfrm>
          <a:prstGeom prst="roundRect">
            <a:avLst>
              <a:gd name="adj" fmla="val 898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67880" y="1154429"/>
            <a:ext cx="448939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167880" y="1465579"/>
            <a:ext cx="4489399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 namespace、資源、CRD 物件、RBAC、Node 物件、Lease、Event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013575" y="2204089"/>
            <a:ext cx="4667250" cy="1096010"/>
          </a:xfrm>
          <a:prstGeom prst="roundRect">
            <a:avLst>
              <a:gd name="adj" fmla="val 8980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67880" y="2358392"/>
            <a:ext cx="448939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167880" y="2669542"/>
            <a:ext cx="4489399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容器 image、PV 裡的資料、節點上的檔案、etcd 憑證（/etc/kubernetes/pki）、Secret 加密金鑰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11175" y="3509646"/>
            <a:ext cx="11169650" cy="2392680"/>
          </a:xfrm>
          <a:prstGeom prst="roundRect">
            <a:avLst>
              <a:gd name="adj" fmla="val 4114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0880" y="3689350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本叢集有開 Secret 靜態加密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90880" y="4000500"/>
            <a:ext cx="1113454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裡的 Secret 是密文。只有 snapshot、沒有 </a:t>
            </a:r>
            <a:r>
              <a:rPr lang="en-US" sz="130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/etc/kubernetes/encryption-config.yaml</a:t>
            </a:r>
            <a:r>
              <a:rPr lang="en-US" sz="13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，還原後 API Server 讀不出任何 Secret。單元 6 會把這把金鑰列為必須跟 snapshot 一起備份的項目。</a:t>
            </a:r>
            <a:endParaRPr lang="en-US" sz="1300" dirty="0"/>
          </a:p>
        </p:txBody>
      </p:sp>
      <p:pic>
        <p:nvPicPr>
          <p:cNvPr id="1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1 · 備份與復原概念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/ PV 與實際資料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1374140"/>
        </p:xfrm>
        <a:graphic>
          <a:graphicData uri="http://schemas.openxmlformats.org/drawingml/2006/table">
            <a:tbl>
              <a:tblPr/>
              <a:tblGrid>
                <a:gridCol w="3349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12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物件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在哪裡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內容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PersistentVolumeClaim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「我要 10Gi、RWO、rook-ceph-block」的申請單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PersistentVolume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「這張申請單綁到 Ceph 上 csi-vol-xxxx」的對應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實際的區塊裝置 / 檔案系統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Ceph（叢集節點的硬碟）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應用程式真正寫入的資料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2594610"/>
          <a:ext cx="11165840" cy="990600"/>
        </p:xfrm>
        <a:graphic>
          <a:graphicData uri="http://schemas.openxmlformats.org/drawingml/2006/table">
            <a:tbl>
              <a:tblPr/>
              <a:tblGrid>
                <a:gridCol w="2233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1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49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26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StorageClass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類型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存取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備份方式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dr-demo 實例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rook-ceph-block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 RBD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RWO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CSI Snapshot → Data Mover 上傳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postgres-data，47,876,961 bytes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rook-cephfs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CephFS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RWX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CSI Snapshot → Data Mover 上傳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shared-data，45 bytes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1"/>
          <p:cNvSpPr/>
          <p:nvPr/>
        </p:nvSpPr>
        <p:spPr>
          <a:xfrm>
            <a:off x="511175" y="3791589"/>
            <a:ext cx="11169650" cy="2110740"/>
          </a:xfrm>
          <a:prstGeom prst="roundRect">
            <a:avLst>
              <a:gd name="adj" fmla="val 4663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690880" y="3971292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reclaimPolicy 是 Delete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690880" y="4282442"/>
            <a:ext cx="1113454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刪掉 PVC 或整個 namespace 時，Ceph 上的 image / subvolume 會一起被刪。「不小心刪 namespace」在這座叢集上等於資料立刻消失，沒有資源回收筒。</a:t>
            </a:r>
            <a:endParaRPr lang="en-US" sz="1300" dirty="0"/>
          </a:p>
        </p:txBody>
      </p:sp>
      <p:pic>
        <p:nvPicPr>
          <p:cNvPr id="9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1 · 備份與復原概念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備份放在哪裡，決定它能活過哪種災難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1374140"/>
        </p:xfrm>
        <a:graphic>
          <a:graphicData uri="http://schemas.openxmlformats.org/drawingml/2006/table">
            <a:tbl>
              <a:tblPr/>
              <a:tblGrid>
                <a:gridCol w="3796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3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6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65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存放位置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 掛了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Namespace 被刪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 壞掉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整座叢集消失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只有 CSI Snapshot（存在 Ceph 裡）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可以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視 deletionPolicy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不行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不行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PVC 裡另外放一份 dump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可以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不行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不行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不行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叢集外的 Object Storage（S3）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可以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可以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可以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可以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11175" y="2587625"/>
            <a:ext cx="3617357" cy="1423670"/>
          </a:xfrm>
          <a:prstGeom prst="roundRect">
            <a:avLst>
              <a:gd name="adj" fmla="val 6913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90880" y="2767329"/>
            <a:ext cx="33556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 1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90880" y="3044192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故障隔離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90880" y="3355342"/>
            <a:ext cx="3355685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跟叢集不同機器、不同磁碟（本課：10.90.1.125 的 /dev/sdb1）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287282" y="2587625"/>
            <a:ext cx="3617436" cy="1423670"/>
          </a:xfrm>
          <a:prstGeom prst="roundRect">
            <a:avLst>
              <a:gd name="adj" fmla="val 6913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466987" y="2767329"/>
            <a:ext cx="335576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 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466987" y="3044192"/>
            <a:ext cx="335576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共同語言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466987" y="3355342"/>
            <a:ext cx="3355767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Velero、etcd 腳本、資料庫 dump 都會講 S3 API，一套儲存收全部種類的備份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063468" y="2587625"/>
            <a:ext cx="3617357" cy="1423670"/>
          </a:xfrm>
          <a:prstGeom prst="roundRect">
            <a:avLst>
              <a:gd name="adj" fmla="val 6913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43174" y="2767329"/>
            <a:ext cx="33556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 3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243174" y="3044192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可攜性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8243174" y="3355342"/>
            <a:ext cx="3355685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新叢集只要指向同一個 bucket，就能看到舊叢集的所有備份（單元 8 的關鍵）</a:t>
            </a:r>
            <a:endParaRPr lang="en-US" sz="1250" dirty="0"/>
          </a:p>
        </p:txBody>
      </p:sp>
      <p:pic>
        <p:nvPicPr>
          <p:cNvPr id="17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1 · 備份與復原概念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在 bucket 裡的實際結構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1324610"/>
          </a:xfrm>
          <a:prstGeom prst="roundRect">
            <a:avLst>
              <a:gd name="adj" fmla="val 7670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1019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s3://velero/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├── backups/&lt;備份名稱&gt;/   </a:t>
            </a:r>
            <a:r>
              <a:rPr lang="en-US" sz="1350" dirty="0">
                <a:solidFill>
                  <a:srgbClr val="F2B35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← 資源 manifest tar.gz、log、resource-list、volumeinfo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├── restores/&lt;還原名稱&gt;/  </a:t>
            </a:r>
            <a:r>
              <a:rPr lang="en-US" sz="1350" dirty="0">
                <a:solidFill>
                  <a:srgbClr val="F2B35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← 還原 log 與結果</a:t>
            </a:r>
            <a:endParaRPr lang="en-US" sz="1350" dirty="0"/>
          </a:p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└── kopia/&lt;namespace&gt;/   </a:t>
            </a:r>
            <a:r>
              <a:rPr lang="en-US" sz="1350" dirty="0">
                <a:solidFill>
                  <a:srgbClr val="F2B35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← Data Mover 上傳的 PV 資料（kopia repository，去重、加密）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11175" y="2527933"/>
            <a:ext cx="3617357" cy="1384935"/>
          </a:xfrm>
          <a:prstGeom prst="roundRect">
            <a:avLst>
              <a:gd name="adj" fmla="val 710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880" y="2707642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backups/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0880" y="3018792"/>
            <a:ext cx="3355685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每份備份一個目錄。tar.gz 裡是所有 K8s 資源的 JSON；其他檔案是 log、資源清單與 Volume 資訊。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87282" y="2527933"/>
            <a:ext cx="3617436" cy="1384935"/>
          </a:xfrm>
          <a:prstGeom prst="roundRect">
            <a:avLst>
              <a:gd name="adj" fmla="val 7107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66987" y="2707642"/>
            <a:ext cx="335576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kopia/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466987" y="3018792"/>
            <a:ext cx="3355767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namespace 分目錄的 kopia repository。去重後只存增量，並用 velero-repo-credentials 加密。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063468" y="2527933"/>
            <a:ext cx="3617357" cy="1384935"/>
          </a:xfrm>
          <a:prstGeom prst="roundRect">
            <a:avLst>
              <a:gd name="adj" fmla="val 710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43174" y="2707642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restores/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43174" y="3018792"/>
            <a:ext cx="3355685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每次還原的 log 與結果，方便事後追查為什麼 PartiallyFailed。</a:t>
            </a:r>
            <a:endParaRPr lang="en-US" sz="1250" dirty="0"/>
          </a:p>
        </p:txBody>
      </p:sp>
      <p:pic>
        <p:nvPicPr>
          <p:cNvPr id="1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1 · 備份與復原概念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能解決什麼問題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2404745"/>
        </p:xfrm>
        <a:graphic>
          <a:graphicData uri="http://schemas.openxmlformats.org/drawingml/2006/table">
            <a:tbl>
              <a:tblPr/>
              <a:tblGrid>
                <a:gridCol w="4019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9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情境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適不適合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原因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誤刪一個 namespace / 應用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最適合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可以只還原那一個 namespace，不影響其他人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應用資料被寫壞（錯誤的 migration）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適合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 PV 資料到指定時間點，可還原到另一個 namespace 比對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把應用搬到另一座叢集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適合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新叢集接上同一個 BSL 即可還原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整座叢集消失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搭配重建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先重建空叢集 + 基礎元件，再用 Velero 還原應用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資料損壞、control plane 起不來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不適合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跑在叢集裡，API Server 掛了它也無能為力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回到「整座叢集某個時間點」的精確狀態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不擅長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逐一重建資源，不是原子性的時間點快照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3615060"/>
            <a:ext cx="115112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透過 </a:t>
            </a:r>
            <a:r>
              <a:rPr lang="en-US" sz="1350" b="1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API</a:t>
            </a: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工作（讀 / 寫資源），不直接碰 etcd。</a:t>
            </a:r>
            <a:endParaRPr lang="en-US" sz="135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1 · 備份與復原概念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Backup 能解決什麼問題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2061210"/>
        </p:xfrm>
        <a:graphic>
          <a:graphicData uri="http://schemas.openxmlformats.org/drawingml/2006/table">
            <a:tbl>
              <a:tblPr/>
              <a:tblGrid>
                <a:gridCol w="4466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12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情境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適不適合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原因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資料損壞 / 多數成員掛掉失去 quorum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唯一解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從 snapshot 重建 etcd 叢集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大量 cluster-scoped 資源被刪（CRD、ClusterRole…）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適合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整座叢集回到 snapshot 時間點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只想救回一個 namespace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太粗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全叢集回到過去，其他團隊在那之後的變更全部消失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救回 PV 裡的資料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不行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裡根本沒有 PV 資料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還原到別的叢集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不建議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綁著原叢集的憑證、Node、IP、ServiceAccount token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11175" y="3274702"/>
            <a:ext cx="11169650" cy="2627630"/>
          </a:xfrm>
          <a:prstGeom prst="roundRect">
            <a:avLst>
              <a:gd name="adj" fmla="val 3746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90880" y="3454400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互補，不是二選一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90880" y="3765550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保護「應用」，etcd snapshot 保護「叢集本身」。單元 6 會把兩者放在一起比較，並給出決策樹。</a:t>
            </a:r>
            <a:endParaRPr lang="en-US" sz="1300" dirty="0"/>
          </a:p>
        </p:txBody>
      </p:sp>
      <p:pic>
        <p:nvPicPr>
          <p:cNvPr id="8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1 · 備份與復原概念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為什麼「有備份」不等於「一定能還原」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2748280"/>
        </p:xfrm>
        <a:graphic>
          <a:graphicData uri="http://schemas.openxmlformats.org/drawingml/2006/table">
            <a:tbl>
              <a:tblPr/>
              <a:tblGrid>
                <a:gridCol w="3349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3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斷點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症狀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在哪裡實測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沒備份 Volume 資料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 Running、table 在，但業務資料全空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5 情境 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排除了 Secret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CreateContainerConfigError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5 情境 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排除了 ConfigMap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 卡在 ContainerCreating（FailedMount）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5 情境 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目標叢集沒有同名 StorageClass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PVC 永遠 Pending，Restore PartiallyFailed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5 情境 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快照前資料還在記憶體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檔案存在但 0 bytes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5 情境 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備份放在叢集裡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叢集一掛，備份也跟著沒了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從沒演練過還原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真的出事才發現少憑證、少步驟，RTO 遠超預期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3958592"/>
            <a:ext cx="1151128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 的 5 個情境，Velero Backup </a:t>
            </a:r>
            <a:r>
              <a:rPr lang="en-US" sz="1350" b="1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全部顯示 Completed、0 errors、0 warnings</a:t>
            </a: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。能證明備份有用的只有一件事：定期實際還原，並用資料驗證。</a:t>
            </a:r>
            <a:endParaRPr lang="en-US" sz="135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1 · 備份與復原概念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課堂觀察練習（唯讀）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3202940"/>
          </a:xfrm>
          <a:prstGeom prst="roundRect">
            <a:avLst>
              <a:gd name="adj" fmla="val 3172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2898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(1) 同一個應用，Resource 在 etcd、Data 在 Ceph：找出 PVC 對應到哪顆 Ceph image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-n dr-demo get pvc postgres-data -o jsonpath='{.spec.volumeName}{"\n"}'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get pv &lt;上一行的 PV 名稱&gt; -o jsonpath='{.spec.csi.volumeHandle}{"\n"}'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(2) 看 PV 的 reclaimPolicy：刪 namespace 會不會連資料一起刪？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get pv -o custom-columns=PV:.metadata.name,CLAIM:.spec.claimRef.name,\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NS:.spec.claimRef.namespace,POLICY:.spec.persistentVolumeReclaimPolicy | grep dr-demo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(3) 叢集裡有哪些 VolumeSnapshotClass（Velero CSI 備份靠它們）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get volumesnapshotclass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(4) Velero 把備份放在哪裡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 backup-location get</a:t>
            </a:r>
            <a:endParaRPr lang="en-US" sz="120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1 · 備份與復原概念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問題討論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3617357" cy="1864995"/>
          </a:xfrm>
          <a:prstGeom prst="roundRect">
            <a:avLst>
              <a:gd name="adj" fmla="val 527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179835"/>
            <a:ext cx="33556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GITOPS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0880" y="1456692"/>
            <a:ext cx="3355685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90880" y="1850392"/>
            <a:ext cx="335568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如果只有 GitOps，所有 yaml 都在 Git，還需要 Velero 嗎？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90880" y="2428242"/>
            <a:ext cx="3355685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提示：Git 裡有 PostgreSQL 的資料嗎？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287282" y="1000125"/>
            <a:ext cx="3617436" cy="1864995"/>
          </a:xfrm>
          <a:prstGeom prst="roundRect">
            <a:avLst>
              <a:gd name="adj" fmla="val 527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66987" y="1179835"/>
            <a:ext cx="335576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66987" y="1456692"/>
            <a:ext cx="3355767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466987" y="1850392"/>
            <a:ext cx="335576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如果只有 etcd snapshot，誤刪 dr-demo 之後能只救回 dr-demo 嗎？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466987" y="2428242"/>
            <a:ext cx="33557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代價是什麼？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063468" y="1000125"/>
            <a:ext cx="3617357" cy="1864995"/>
          </a:xfrm>
          <a:prstGeom prst="roundRect">
            <a:avLst>
              <a:gd name="adj" fmla="val 5277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43174" y="1179835"/>
            <a:ext cx="33556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MOVER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43174" y="1456692"/>
            <a:ext cx="3355685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243174" y="1850392"/>
            <a:ext cx="3355685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 Snapshot 已經在 Ceph 裡了，為什麼還要 snapshotMoveData 搬到 SeaweedFS？</a:t>
            </a:r>
            <a:endParaRPr lang="en-US" sz="1350" dirty="0"/>
          </a:p>
        </p:txBody>
      </p:sp>
      <p:pic>
        <p:nvPicPr>
          <p:cNvPr id="18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1 · 備份與復原概念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8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81225"/>
            <a:ext cx="9156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3298825"/>
            <a:ext cx="9156700" cy="6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3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建立外部 Backup Storage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508000" y="4140833"/>
            <a:ext cx="798116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191633"/>
            <a:ext cx="518716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58516" y="4164967"/>
            <a:ext cx="52324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備份的第一條規則：備份不能跟被備份的東西一起死掉。</a:t>
            </a:r>
            <a:endParaRPr lang="en-US" sz="1600" dirty="0"/>
          </a:p>
        </p:txBody>
      </p:sp>
      <p:pic>
        <p:nvPicPr>
          <p:cNvPr id="8" name="Image 1" descr="AIC AIoT Cloud"/>
          <p:cNvPicPr>
            <a:picLocks noChangeAspect="1"/>
          </p:cNvPicPr>
          <p:nvPr/>
        </p:nvPicPr>
        <p:blipFill>
          <a:blip r:embed="rId4"/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在叢集裡開一個 MinIO 不就好了？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2061210"/>
        </p:xfrm>
        <a:graphic>
          <a:graphicData uri="http://schemas.openxmlformats.org/drawingml/2006/table">
            <a:tbl>
              <a:tblPr/>
              <a:tblGrid>
                <a:gridCol w="3349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3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3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災難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備份在叢集內 Ceph RGW / MinIO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備份在叢集外 SeaweedFS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誤刪 namespace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救得回來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救得回來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 故障（OSD 大量損壞）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備份跟資料一起壞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沒影響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損壞、API Server 起不來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 資料可能還在，但 MinIO / RGW 也靠叢集才能跑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沒影響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整座叢集重灌 / 機房失火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一起消失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若在另一個機房更好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勒索軟體拿到 cluster-admin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一個 kubectl delete 就清光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 視 S3 帳號權限而定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3271527"/>
            <a:ext cx="115112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這座叢集真的有 </a:t>
            </a:r>
            <a:r>
              <a:rPr lang="en-US" sz="130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rook-ceph-retain-bucket</a:t>
            </a: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StorageClass，早期測試備份 </a:t>
            </a:r>
            <a:r>
              <a:rPr lang="en-US" sz="130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test-ceph-rgw-final</a:t>
            </a: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就是這樣做的。</a:t>
            </a:r>
            <a:endParaRPr lang="en-US" sz="130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2 · 外部 Backup Storage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Storage 的三個原則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3617357" cy="1878965"/>
          </a:xfrm>
          <a:prstGeom prst="roundRect">
            <a:avLst>
              <a:gd name="adj" fmla="val 5238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179835"/>
            <a:ext cx="33556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原則 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0880" y="1456692"/>
            <a:ext cx="3355685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不同的故障域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90880" y="1800858"/>
            <a:ext cx="3355685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不同機器、不同磁碟，最好不同機房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90880" y="2121533"/>
            <a:ext cx="3355685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3-2-1：3 份資料、2 種媒介、1 份異地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287282" y="1000125"/>
            <a:ext cx="3617436" cy="1878965"/>
          </a:xfrm>
          <a:prstGeom prst="roundRect">
            <a:avLst>
              <a:gd name="adj" fmla="val 5238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66987" y="1179835"/>
            <a:ext cx="335576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原則 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66987" y="1456692"/>
            <a:ext cx="3355767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不同的權限域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466987" y="1800858"/>
            <a:ext cx="33557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叢集的 cluster-admin 不應該能刪掉備份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466987" y="2121533"/>
            <a:ext cx="33557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的 S3 帳號只給需要的權限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466987" y="2442208"/>
            <a:ext cx="33557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 由另一個管理者帳號建立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063468" y="1000125"/>
            <a:ext cx="3617357" cy="1878965"/>
          </a:xfrm>
          <a:prstGeom prst="roundRect">
            <a:avLst>
              <a:gd name="adj" fmla="val 5238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43174" y="1179835"/>
            <a:ext cx="33556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原則 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43174" y="1456692"/>
            <a:ext cx="3355685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不依賴被保護的系統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243174" y="1800858"/>
            <a:ext cx="335568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Storage 自己要能獨立開機、獨立登入、獨立驗證</a:t>
            </a:r>
            <a:endParaRPr lang="en-US" sz="1350" dirty="0"/>
          </a:p>
        </p:txBody>
      </p:sp>
      <p:pic>
        <p:nvPicPr>
          <p:cNvPr id="19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2 · 外部 Backup Storage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SeaweedFS 備份機：關鍵檢查點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2194560"/>
        </p:xfrm>
        <a:graphic>
          <a:graphicData uri="http://schemas.openxmlformats.org/drawingml/2006/table">
            <a:tbl>
              <a:tblPr/>
              <a:tblGrid>
                <a:gridCol w="2903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6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6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步驟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檢查點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為什麼重要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獨立硬碟掛在 /backup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 -h /backup 顯示 /dev/sdb1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確認資料沒寫到系統碟 /dev/sda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systemd RequiresMountsFor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硬碟沒掛上時服務不會啟動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避免「硬碟沒掛，資料默默寫進根目錄」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兩組 S3 帳號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seaweed-admin（管理）、velero-backup（只能存取 velero bucket）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權限分離：Velero 不能建立 / 刪除 bucket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管理者先建立 bucket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s3 mb s3://velero 以 admin 身分執行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帳號執行 mb 會得到 AccessDenied（實測）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reboot 測試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重開機後 systemctl is-active seaweedfs = active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備份機自己也要能在災難後自動恢復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3404877"/>
            <a:ext cx="1151128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跑在叢集外的 Ubuntu 26.04 </a:t>
            </a:r>
            <a:r>
              <a:rPr lang="en-US" sz="130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10.90.1.125</a:t>
            </a: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</a:t>
            </a:r>
            <a:r>
              <a:rPr lang="en-US" sz="130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weed mini</a:t>
            </a: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單機全功能模式。另有 </a:t>
            </a:r>
            <a:r>
              <a:rPr lang="en-US" sz="130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etcd-backups</a:t>
            </a: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bucket（單元 6），建議用</a:t>
            </a:r>
            <a:r>
              <a:rPr lang="en-US" sz="1300" b="1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另一組</a:t>
            </a: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只能存取它的 S3 帳號。完整安裝見附錄 A。</a:t>
            </a:r>
            <a:endParaRPr lang="en-US" sz="130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2 · 外部 Backup Storage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 Velero Credentials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6451600" cy="1503680"/>
          </a:xfrm>
          <a:prstGeom prst="roundRect">
            <a:avLst>
              <a:gd name="adj" fmla="val 6757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62265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建立認證檔（不要進版控）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1200" y="1451608"/>
            <a:ext cx="6226556" cy="90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cd dr/02-backup-storage/velero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cp credentials-velero.example credentials-velero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vi credentials-velero     # 填入 velero-backup 的 secretKey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chmod 600 credentials-velero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8000" y="2602235"/>
            <a:ext cx="6451600" cy="1282700"/>
          </a:xfrm>
          <a:prstGeom prst="roundRect">
            <a:avLst>
              <a:gd name="adj" fmla="val 7921"/>
            </a:avLst>
          </a:prstGeom>
          <a:solidFill>
            <a:srgbClr val="0F2E45"/>
          </a:solidFill>
          <a:ln/>
        </p:spPr>
      </p:sp>
      <p:sp>
        <p:nvSpPr>
          <p:cNvPr id="8" name="Text 5"/>
          <p:cNvSpPr/>
          <p:nvPr/>
        </p:nvSpPr>
        <p:spPr>
          <a:xfrm>
            <a:off x="711200" y="2767335"/>
            <a:ext cx="62265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credentials 格式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1200" y="3056892"/>
            <a:ext cx="6226556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[default]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aws_access_key_id=velero-backup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aws_secret_access_key=&lt;velero 的 secretKey&gt;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115175" y="1000125"/>
            <a:ext cx="4565650" cy="1423670"/>
          </a:xfrm>
          <a:prstGeom prst="roundRect">
            <a:avLst>
              <a:gd name="adj" fmla="val 6913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94880" y="1179835"/>
            <a:ext cx="4332427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12517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cloud-credentials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294880" y="1466217"/>
            <a:ext cx="4332427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install --secret-file</a:t>
            </a: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存成的 Secret（key：cloud），Velero server 與 node-agent 都會掛載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115175" y="2531752"/>
            <a:ext cx="4565650" cy="1423670"/>
          </a:xfrm>
          <a:prstGeom prst="roundRect">
            <a:avLst>
              <a:gd name="adj" fmla="val 6913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94880" y="2711450"/>
            <a:ext cx="4332427" cy="191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22"/>
              </a:lnSpc>
              <a:buNone/>
            </a:pPr>
            <a:r>
              <a:rPr lang="en-US" sz="1017" b="1" dirty="0">
                <a:solidFill>
                  <a:srgbClr val="8A4B00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velero-repo-credentials</a:t>
            </a:r>
            <a:endParaRPr lang="en-US" sz="1017" dirty="0"/>
          </a:p>
        </p:txBody>
      </p:sp>
      <p:sp>
        <p:nvSpPr>
          <p:cNvPr id="15" name="Text 12"/>
          <p:cNvSpPr/>
          <p:nvPr/>
        </p:nvSpPr>
        <p:spPr>
          <a:xfrm>
            <a:off x="7294880" y="2940683"/>
            <a:ext cx="4332427" cy="379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70"/>
              </a:lnSpc>
              <a:buNone/>
            </a:pPr>
            <a:r>
              <a:rPr lang="en-US" sz="118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kopia repository 的加密密碼，第一次用 Data Mover 時自動產生</a:t>
            </a:r>
            <a:endParaRPr lang="en-US" sz="1180" dirty="0"/>
          </a:p>
        </p:txBody>
      </p:sp>
      <p:sp>
        <p:nvSpPr>
          <p:cNvPr id="16" name="Text 13"/>
          <p:cNvSpPr/>
          <p:nvPr/>
        </p:nvSpPr>
        <p:spPr>
          <a:xfrm>
            <a:off x="7294880" y="3358195"/>
            <a:ext cx="4332427" cy="202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4"/>
              </a:lnSpc>
              <a:buNone/>
            </a:pPr>
            <a:r>
              <a:rPr lang="en-US" sz="949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新叢集若產生</a:t>
            </a:r>
            <a:r>
              <a:rPr lang="en-US" sz="949" b="1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</a:t>
            </a:r>
            <a:r>
              <a:rPr lang="en-US" sz="949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的密碼，就讀不出舊的 PV 資料</a:t>
            </a:r>
            <a:endParaRPr lang="en-US" sz="949" dirty="0"/>
          </a:p>
        </p:txBody>
      </p:sp>
      <p:sp>
        <p:nvSpPr>
          <p:cNvPr id="17" name="Text 14"/>
          <p:cNvSpPr/>
          <p:nvPr/>
        </p:nvSpPr>
        <p:spPr>
          <a:xfrm>
            <a:off x="7294880" y="3598701"/>
            <a:ext cx="4332427" cy="202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4"/>
              </a:lnSpc>
              <a:buNone/>
            </a:pPr>
            <a:r>
              <a:rPr lang="en-US" sz="949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要跟 S3 帳密一起另外保存在叢集外</a:t>
            </a:r>
            <a:endParaRPr lang="en-US" sz="949" dirty="0"/>
          </a:p>
        </p:txBody>
      </p:sp>
      <p:pic>
        <p:nvPicPr>
          <p:cNvPr id="18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2 · 外部 Backup Storage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更換 credentials（例如輪替密碼）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1527175"/>
          </a:xfrm>
          <a:prstGeom prst="roundRect">
            <a:avLst>
              <a:gd name="adj" fmla="val 6653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1222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-n velero create secret generic cloud-credentials \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--from-file=cloud=./credentials-velero --dry-run=client -o yaml | kubectl apply -f -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-n velero rollout restart deploy/velero</a:t>
            </a:r>
            <a:endParaRPr lang="en-US" sz="1300" dirty="0"/>
          </a:p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-n velero rollout restart ds/node-agent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11175" y="2730500"/>
            <a:ext cx="55054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880" y="291021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為什麼兩個都要重啟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0880" y="3221360"/>
            <a:ext cx="530042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server 和 node-agent 都掛載同一個 Secret，只重啟其中一個，Data Mover 上傳會用舊帳密失敗。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5375" y="2730500"/>
            <a:ext cx="5505450" cy="1165860"/>
          </a:xfrm>
          <a:prstGeom prst="roundRect">
            <a:avLst>
              <a:gd name="adj" fmla="val 8442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291021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輪替後立刻驗證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355080" y="3221360"/>
            <a:ext cx="530042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backup-location get</a:t>
            </a:r>
            <a:r>
              <a:rPr lang="en-US" sz="13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仍是 Available，再跑一份小備份確認能寫入。</a:t>
            </a:r>
            <a:endParaRPr lang="en-US" sz="1300" dirty="0"/>
          </a:p>
        </p:txBody>
      </p:sp>
      <p:pic>
        <p:nvPicPr>
          <p:cNvPr id="12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2 · 外部 Backup Storage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Backup Storage Location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6959600" cy="3271520"/>
          </a:xfrm>
          <a:prstGeom prst="roundRect">
            <a:avLst>
              <a:gd name="adj" fmla="val 3106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67497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install-velero.sh（單元 8 重建時重用）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1200" y="1451608"/>
            <a:ext cx="6749796" cy="267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 install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--provider aws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--plugins velero/velero-plugin-for-aws:v1.14.2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--bucket velero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--secret-file ./credentials-velero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--backup-location-config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region=us-east-1,s3ForcePathStyle="true",\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s3Url=http://10.90.1.125:8333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--features=EnableCSI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--use-node-agent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--uploader-type kopia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--wait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620000" y="996950"/>
            <a:ext cx="4064000" cy="3271520"/>
          </a:xfrm>
          <a:prstGeom prst="roundRect">
            <a:avLst>
              <a:gd name="adj" fmla="val 3106"/>
            </a:avLst>
          </a:prstGeom>
          <a:solidFill>
            <a:srgbClr val="0F2E45"/>
          </a:solidFill>
          <a:ln/>
        </p:spPr>
      </p:sp>
      <p:sp>
        <p:nvSpPr>
          <p:cNvPr id="8" name="Text 5"/>
          <p:cNvSpPr/>
          <p:nvPr/>
        </p:nvSpPr>
        <p:spPr>
          <a:xfrm>
            <a:off x="7823200" y="1162050"/>
            <a:ext cx="37673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產生的 BSL：bsl-default.yaml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23200" y="1451608"/>
            <a:ext cx="3767328" cy="2014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spec: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provider: aws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default: true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objectStorage: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bucket: velero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config: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region: us-east-1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s3ForcePathStyle: "true"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s3Url: http://10.90.1.125:8333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8000" y="4471677"/>
            <a:ext cx="115112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BSL 就是「Velero 要把備份寫到哪裡」的設定物件。自建 S3 一律加 </a:t>
            </a:r>
            <a:r>
              <a:rPr lang="en-US" sz="130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s3ForcePathStyle: "true"</a:t>
            </a: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300" dirty="0"/>
          </a:p>
        </p:txBody>
      </p:sp>
      <p:pic>
        <p:nvPicPr>
          <p:cNvPr id="11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2 · 外部 Backup Storage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還是 HTTPS？切換順序很重要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8000" y="996950"/>
            <a:ext cx="115112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線上目前是 HTTP 直連 8333。SeaweedFS 已建好 Nginx + TLS（</a:t>
            </a:r>
            <a:r>
              <a:rPr lang="en-US" sz="13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https://s3-seaweedfs.nexai.org.com</a:t>
            </a: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）與防火牆規則。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11175" y="1460500"/>
            <a:ext cx="2463800" cy="1079500"/>
          </a:xfrm>
          <a:prstGeom prst="roundRect">
            <a:avLst>
              <a:gd name="adj" fmla="val 9118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5480" y="1614810"/>
            <a:ext cx="221984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套用 HTTPS BSL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65480" y="1909452"/>
            <a:ext cx="2219846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apply -f velero/bsl-https.yaml（填入 caCert）</a:t>
            </a:r>
            <a:endParaRPr lang="en-US" sz="1250" dirty="0"/>
          </a:p>
        </p:txBody>
      </p:sp>
      <p:pic>
        <p:nvPicPr>
          <p:cNvPr id="8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54350" y="1917700"/>
            <a:ext cx="279400" cy="1651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13125" y="1579563"/>
            <a:ext cx="2463800" cy="841375"/>
          </a:xfrm>
          <a:prstGeom prst="roundRect">
            <a:avLst>
              <a:gd name="adj" fmla="val 11698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567430" y="1733872"/>
            <a:ext cx="221984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確認 Available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567430" y="2028515"/>
            <a:ext cx="2219846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backup-location get</a:t>
            </a:r>
            <a:endParaRPr lang="en-US" sz="1250" dirty="0"/>
          </a:p>
        </p:txBody>
      </p:sp>
      <p:pic>
        <p:nvPicPr>
          <p:cNvPr id="12" name="Image 2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6300" y="1917700"/>
            <a:ext cx="279400" cy="1651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315075" y="1579563"/>
            <a:ext cx="2463800" cy="841375"/>
          </a:xfrm>
          <a:prstGeom prst="roundRect">
            <a:avLst>
              <a:gd name="adj" fmla="val 11698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469380" y="1733872"/>
            <a:ext cx="221984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小備份驗證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469380" y="2028515"/>
            <a:ext cx="2219846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跑一次小備份，確認能寫入</a:t>
            </a:r>
            <a:endParaRPr lang="en-US" sz="1250" dirty="0"/>
          </a:p>
        </p:txBody>
      </p:sp>
      <p:pic>
        <p:nvPicPr>
          <p:cNvPr id="16" name="Image 3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58250" y="1917700"/>
            <a:ext cx="279400" cy="1651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9217025" y="1579563"/>
            <a:ext cx="2463800" cy="841375"/>
          </a:xfrm>
          <a:prstGeom prst="roundRect">
            <a:avLst>
              <a:gd name="adj" fmla="val 11698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9371330" y="1733872"/>
            <a:ext cx="221984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最後才關 8333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9371330" y="2028515"/>
            <a:ext cx="2219846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在備份機上 ufw deny 8333/tcp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11175" y="2749550"/>
            <a:ext cx="11169650" cy="3152775"/>
          </a:xfrm>
          <a:prstGeom prst="roundRect">
            <a:avLst>
              <a:gd name="adj" fmla="val 3122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90880" y="2929260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順序錯了會怎樣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90880" y="3240410"/>
            <a:ext cx="1113454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先開防火牆、BSL 還沒切換 → Velero 立刻變成 Unavailable，所有備份失敗。</a:t>
            </a:r>
            <a:endParaRPr lang="en-US" sz="1350" dirty="0"/>
          </a:p>
        </p:txBody>
      </p:sp>
      <p:pic>
        <p:nvPicPr>
          <p:cNvPr id="23" name="Image 4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2 · 外部 Backup Storage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 Velero → Object Storage 的連線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2024380"/>
          </a:xfrm>
          <a:prstGeom prst="roundRect">
            <a:avLst>
              <a:gd name="adj" fmla="val 5019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1719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$ velero backup-location get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NAME     PROVIDER  BUCKET/PREFIX  PHASE      LAST VALIDATED                 ACCESS MODE  DEFAULT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default  aws       velero         Available  2026-09-23 16:54:49 +0800 CST  ReadWrite    true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$ kubectl -n velero get bsl default -o jsonpath='{.status}' | python3 -m json.tool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{ "lastSyncedTime": "2026-09-23T08:11:00Z",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"lastValidationTime": "2026-09-23T08:10:18Z",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"phase": "Available" }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11175" y="3227710"/>
            <a:ext cx="3617357" cy="1113790"/>
          </a:xfrm>
          <a:prstGeom prst="roundRect">
            <a:avLst>
              <a:gd name="adj" fmla="val 883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880" y="3407408"/>
            <a:ext cx="3355685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PHASE = Available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90880" y="3685542"/>
            <a:ext cx="3355685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每分鐘驗證一次能否存取 bucket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87282" y="3227710"/>
            <a:ext cx="3617436" cy="1113790"/>
          </a:xfrm>
          <a:prstGeom prst="roundRect">
            <a:avLst>
              <a:gd name="adj" fmla="val 8837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66987" y="3407408"/>
            <a:ext cx="335576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lastSyncedTime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466987" y="3685542"/>
            <a:ext cx="3355767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定期把 bucket 裡的備份清單同步回叢集，新叢集接上同一個 bucket 會自動看到舊備份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063468" y="3227710"/>
            <a:ext cx="3617357" cy="1113790"/>
          </a:xfrm>
          <a:prstGeom prst="roundRect">
            <a:avLst>
              <a:gd name="adj" fmla="val 883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43174" y="3407408"/>
            <a:ext cx="3355685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Unavailable 時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43174" y="3685542"/>
            <a:ext cx="3355685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-n velero logs deploy/velero | grep -i "backup storage location"</a:t>
            </a:r>
            <a:endParaRPr lang="en-US" sz="1250" dirty="0"/>
          </a:p>
        </p:txBody>
      </p:sp>
      <p:pic>
        <p:nvPicPr>
          <p:cNvPr id="1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2 · 外部 Backup Storage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「連得上」不等於「真的寫出去了」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7213600" cy="3372803"/>
          </a:xfrm>
          <a:prstGeom prst="roundRect">
            <a:avLst>
              <a:gd name="adj" fmla="val 3012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70114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s3-check Pod 實測輸出（節錄）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1200" y="1451608"/>
            <a:ext cx="7011416" cy="2778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== backups/dr-course-backup-01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449  dr-course-backup-01-itemoperations.json.gz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12381  dr-course-backup-01-logs.gz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392  dr-course-backup-01-resource-list.json.gz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636  dr-course-backup-01-volumeinfo.json.gz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15508  dr-course-backup-01.tar.gz </a:t>
            </a:r>
            <a:r>
              <a:rPr lang="en-US" sz="1150" dirty="0">
                <a:solidFill>
                  <a:srgbClr val="F2B35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← 所有 K8s 資源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3681  velero-backup.json         </a:t>
            </a:r>
            <a:r>
              <a:rPr lang="en-US" sz="1150" dirty="0">
                <a:solidFill>
                  <a:srgbClr val="F2B35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← Backup CR 本身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== kopia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PRE dr-demo/     </a:t>
            </a:r>
            <a:r>
              <a:rPr lang="en-US" sz="1150" dirty="0">
                <a:solidFill>
                  <a:srgbClr val="F2B35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← dr-demo 的 PV 資料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PRE dr-pitfall/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== kopia/dr-demo size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Total Objects: 365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Total Size: 37285283  </a:t>
            </a:r>
            <a:r>
              <a:rPr lang="en-US" sz="1150" dirty="0">
                <a:solidFill>
                  <a:srgbClr val="F2B35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← 約 37MB（去重後）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877175" y="1000125"/>
            <a:ext cx="3803650" cy="1629251"/>
          </a:xfrm>
          <a:prstGeom prst="roundRect">
            <a:avLst>
              <a:gd name="adj" fmla="val 604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31480" y="1154435"/>
            <a:ext cx="359989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不透過 Velero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31480" y="1465585"/>
            <a:ext cx="359989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s3-check-pod.yaml，拿 Velero 自己的 credentials 只做 ls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31480" y="1986285"/>
            <a:ext cx="359989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apply → logs -f → delete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77175" y="2737321"/>
            <a:ext cx="3803650" cy="1629251"/>
          </a:xfrm>
          <a:prstGeom prst="roundRect">
            <a:avLst>
              <a:gd name="adj" fmla="val 604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31480" y="2891631"/>
            <a:ext cx="359989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也看實體硬碟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031480" y="3202781"/>
            <a:ext cx="359989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10.90.1.125 上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031480" y="3494881"/>
            <a:ext cx="359989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 -h /backup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031480" y="3786981"/>
            <a:ext cx="359989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 du -sh /backup/seaweedfs</a:t>
            </a:r>
            <a:endParaRPr lang="en-US" sz="1200" dirty="0"/>
          </a:p>
        </p:txBody>
      </p:sp>
      <p:pic>
        <p:nvPicPr>
          <p:cNvPr id="1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2 · 外部 Backup Storage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確認備份內容能被讀出來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1435100"/>
          </a:xfrm>
          <a:prstGeom prst="roundRect">
            <a:avLst>
              <a:gd name="adj" fmla="val 7080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 backup download dr-course-backup-01 -o /tmp/dr-course-backup-01.tar.gz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tar tzf /tmp/dr-course-backup-01.tar.gz | head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resources/persistentvolumeclaims/namespaces/dr-demo/postgres-data.json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resources/secrets/namespaces/dr-demo/postgres-secret.json   </a:t>
            </a:r>
            <a:r>
              <a:rPr lang="en-US" sz="1200" dirty="0">
                <a:solidFill>
                  <a:srgbClr val="F2B35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← Secret 是 base64，不是加密！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resources/deployments.apps/namespaces/dr-demo/postgres.json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11175" y="2638425"/>
            <a:ext cx="11169650" cy="3263900"/>
          </a:xfrm>
          <a:prstGeom prst="roundRect">
            <a:avLst>
              <a:gd name="adj" fmla="val 3016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880" y="2818135"/>
            <a:ext cx="11134547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資安重點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0880" y="3145805"/>
            <a:ext cx="1113454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 tar.gz 裡的 Secret 只是 base64：能讀 bucket 的人就能讀到所有 Secret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90880" y="3466480"/>
            <a:ext cx="1113454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所以 bucket 權限要收緊、HTTPS 要開、備份機要擋防火牆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90880" y="3787155"/>
            <a:ext cx="1113454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 資料則由 kopia 用 velero-repo-credentials 加密</a:t>
            </a:r>
            <a:endParaRPr lang="en-US" sz="1350" dirty="0"/>
          </a:p>
        </p:txBody>
      </p:sp>
      <p:pic>
        <p:nvPicPr>
          <p:cNvPr id="11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2 · 外部 Backup Storage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常見錯誤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2524760"/>
        </p:xfrm>
        <a:graphic>
          <a:graphicData uri="http://schemas.openxmlformats.org/drawingml/2006/table">
            <a:tbl>
              <a:tblPr/>
              <a:tblGrid>
                <a:gridCol w="3573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6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6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症狀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解法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BSL Unavailable，log 出現 AccessDenied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credentials 錯，或帳號沒有該 bucket 權限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 s3-check-pod 同一組帳密測 ls，縮小範圍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NoSuchBucket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bucket 沒事先建立（velero 帳號不能建）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 seaweed-admin 執行 aws s3 mb s3://velero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SignatureDoesNotMatch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reverse proxy 改寫 Host；或 externalUrl 與 s3Url 不一致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Nginx proxy_set_header Host $host；兩邊 URL 完全一致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x509: certificate signed by unknown authority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HTTPS 自簽憑證，Velero 不信任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BSL objectStorage.caCert 填 Root CA 的 base64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dial tcp 10.90.1.125:8333: i/o timeout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防火牆擋住，或走 HTTPS 但 BSL 還是 8333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照「HTTP 還是 HTTPS」的切換順序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忘記 s3ForcePathStyle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SDK 用 velero.10.90.1.125 這種 virtual-host 網址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自建 S3 一律加 s3ForcePathStyle: "true"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2 · 外部 Backup Storage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3617357" cy="2345690"/>
          </a:xfrm>
          <a:prstGeom prst="roundRect">
            <a:avLst>
              <a:gd name="adj" fmla="val 419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179835"/>
            <a:ext cx="33556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權限域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0880" y="1456705"/>
            <a:ext cx="3355685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90880" y="1800870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velero-backup 帳號嘗試 </a:t>
            </a:r>
            <a:r>
              <a:rPr lang="en-US" sz="130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s3 mb s3://test</a:t>
            </a: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，確認被拒絕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90880" y="2359670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為什麼這是「好」的結果？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87282" y="1000125"/>
            <a:ext cx="3617436" cy="2345690"/>
          </a:xfrm>
          <a:prstGeom prst="roundRect">
            <a:avLst>
              <a:gd name="adj" fmla="val 419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66987" y="1179835"/>
            <a:ext cx="335576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唯讀 BSL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66987" y="1456705"/>
            <a:ext cx="3355767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2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466987" y="1800870"/>
            <a:ext cx="335576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bsl-readonly：default: false、accessMode: ReadOnly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466987" y="2359670"/>
            <a:ext cx="335576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backup create x --storage-location readonly</a:t>
            </a: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會發生什麼？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466987" y="2918470"/>
            <a:ext cx="335576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做完記得刪除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63468" y="1000125"/>
            <a:ext cx="3617357" cy="2345690"/>
          </a:xfrm>
          <a:prstGeom prst="roundRect">
            <a:avLst>
              <a:gd name="adj" fmla="val 419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43174" y="1179835"/>
            <a:ext cx="33556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直接看 S3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43174" y="1456705"/>
            <a:ext cx="3355685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3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243174" y="1800870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bucket 裡找到單元 3 備份的 resource-list.json.gz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243174" y="2359670"/>
            <a:ext cx="335568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下載解壓，對照 </a:t>
            </a:r>
            <a:r>
              <a:rPr lang="en-US" sz="130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backup describe --details</a:t>
            </a: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的 Resource List</a:t>
            </a:r>
            <a:endParaRPr lang="en-US" sz="1300" dirty="0"/>
          </a:p>
        </p:txBody>
      </p:sp>
      <p:pic>
        <p:nvPicPr>
          <p:cNvPr id="20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2 · 外部 Backup Storage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38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81225"/>
            <a:ext cx="9156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3298825"/>
            <a:ext cx="9156700" cy="6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3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第一次 Backup：備份 Application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508000" y="4140845"/>
            <a:ext cx="798116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191645"/>
            <a:ext cx="518716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58516" y="4164980"/>
            <a:ext cx="641892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Velero UI 建立第一份備份，並學會回答：這份備份真的完成了嗎？</a:t>
            </a:r>
            <a:endParaRPr lang="en-US" sz="1600" dirty="0"/>
          </a:p>
        </p:txBody>
      </p:sp>
      <p:pic>
        <p:nvPicPr>
          <p:cNvPr id="8" name="Image 1" descr="AIC AIoT Cloud"/>
          <p:cNvPicPr>
            <a:picLocks noChangeAspect="1"/>
          </p:cNvPicPr>
          <p:nvPr/>
        </p:nvPicPr>
        <p:blipFill>
          <a:blip r:embed="rId4"/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準備：部署 dr-demo 並留下基準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1481138"/>
          </a:xfrm>
          <a:prstGeom prst="roundRect">
            <a:avLst>
              <a:gd name="adj" fmla="val 6860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1176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apply -f dr/manifest/              # 或 kubectl apply -f dr/dr-all-in-one.yaml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-n dr-demo rollout status deploy/postgres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./dr/script/write-postgres.sh              # 寫入 DR-TEST-DB-001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./dr/script/check-data.sh                  # 備份前先確認 3 項全 PASS：之後比對的基準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./dr/script/baseline.sh                    # （建議）留存叢集基準紀錄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11175" y="2684463"/>
            <a:ext cx="55054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880" y="2864172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為什麼備份前就要跑 check-data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0880" y="3175322"/>
            <a:ext cx="530042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備份前 3 項全 PASS，還原後才有東西可以比對。如果備份前就 FAIL，還原後的 FAIL 沒有意義。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5375" y="2684463"/>
            <a:ext cx="5505450" cy="1165860"/>
          </a:xfrm>
          <a:prstGeom prst="roundRect">
            <a:avLst>
              <a:gd name="adj" fmla="val 8442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2864172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為什麼要留 baseline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355080" y="3175322"/>
            <a:ext cx="530042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7 etcd 還原、單元 8 叢集重建時，要拿它比對 Pod、PVC、HTTPRoute 有沒有全部回來。</a:t>
            </a:r>
            <a:endParaRPr lang="en-US" sz="1300" dirty="0"/>
          </a:p>
        </p:txBody>
      </p:sp>
      <p:pic>
        <p:nvPicPr>
          <p:cNvPr id="12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 · 第一次 Backup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UI 精靈 ↔ Backup CR 欄位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3632200"/>
        </p:xfrm>
        <a:graphic>
          <a:graphicData uri="http://schemas.openxmlformats.org/drawingml/2006/table">
            <a:tbl>
              <a:tblPr/>
              <a:tblGrid>
                <a:gridCol w="3349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12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精靈步驟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本課程填什麼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對應 Backup CR 欄位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名稱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dr-demo-backup-01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metadata.name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Namespaces（包含 / 排除）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包含 dr-demo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spec.includedNamespaces / excludedNamespaces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Resources（包含 / 排除）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不填（全部）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spec.includedResources / excludedResources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Cluster-scoped 資源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不設定（自動）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spec.includeClusterResources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 Selector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不填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spec.labelSelector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 快照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開啟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spec.snapshotVolumes: true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Move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開啟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spec.snapshotMoveData: true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 System Backup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關閉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spec.defaultVolumesToFsBackup: false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 Location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spec.storageLocation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720h（30 天）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spec.ttl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 · 第一次 Backup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只是幫你建立 CR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6451600" cy="840740"/>
          </a:xfrm>
          <a:prstGeom prst="roundRect">
            <a:avLst>
              <a:gd name="adj" fmla="val 12085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62265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送出後第一件事：確認 UI 實際產生了什麼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1200" y="1451620"/>
            <a:ext cx="6226556" cy="24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-n velero get backup dr-demo-backup-01 -o yaml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8000" y="1939305"/>
            <a:ext cx="6451600" cy="1503680"/>
          </a:xfrm>
          <a:prstGeom prst="roundRect">
            <a:avLst>
              <a:gd name="adj" fmla="val 6757"/>
            </a:avLst>
          </a:prstGeom>
          <a:solidFill>
            <a:srgbClr val="0F2E45"/>
          </a:solidFill>
          <a:ln/>
        </p:spPr>
      </p:sp>
      <p:sp>
        <p:nvSpPr>
          <p:cNvPr id="8" name="Text 5"/>
          <p:cNvSpPr/>
          <p:nvPr/>
        </p:nvSpPr>
        <p:spPr>
          <a:xfrm>
            <a:off x="711200" y="2104405"/>
            <a:ext cx="622655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等價 CLI（本課程實測使用）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1200" y="2393950"/>
            <a:ext cx="6226556" cy="90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 backup create dr-course-backup-01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--include-namespaces dr-demo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--snapshot-move-data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--wait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115175" y="1000125"/>
            <a:ext cx="4565650" cy="1567498"/>
          </a:xfrm>
          <a:prstGeom prst="roundRect">
            <a:avLst>
              <a:gd name="adj" fmla="val 627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94880" y="1179835"/>
            <a:ext cx="4332427" cy="235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284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與 Velero 的關係</a:t>
            </a:r>
            <a:endParaRPr lang="en-US" sz="1284" dirty="0"/>
          </a:p>
        </p:txBody>
      </p:sp>
      <p:sp>
        <p:nvSpPr>
          <p:cNvPr id="12" name="Text 9"/>
          <p:cNvSpPr/>
          <p:nvPr/>
        </p:nvSpPr>
        <p:spPr>
          <a:xfrm>
            <a:off x="7294880" y="1453282"/>
            <a:ext cx="4332427" cy="429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1"/>
              </a:lnSpc>
              <a:buNone/>
            </a:pPr>
            <a:r>
              <a:rPr lang="en-US" sz="1074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精靈送出 → 在 velero namespace 建立 Backup / Restore / Schedule 物件 → Velero server 執行</a:t>
            </a:r>
            <a:endParaRPr lang="en-US" sz="1074" dirty="0"/>
          </a:p>
        </p:txBody>
      </p:sp>
      <p:sp>
        <p:nvSpPr>
          <p:cNvPr id="13" name="Text 10"/>
          <p:cNvSpPr/>
          <p:nvPr/>
        </p:nvSpPr>
        <p:spPr>
          <a:xfrm>
            <a:off x="7294880" y="1920553"/>
            <a:ext cx="4332427" cy="227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3"/>
              </a:lnSpc>
              <a:buNone/>
            </a:pPr>
            <a:r>
              <a:rPr lang="en-US" sz="1082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掛了，排程備份照跑</a:t>
            </a:r>
            <a:endParaRPr lang="en-US" sz="1082" dirty="0"/>
          </a:p>
        </p:txBody>
      </p:sp>
      <p:sp>
        <p:nvSpPr>
          <p:cNvPr id="14" name="Text 11"/>
          <p:cNvSpPr/>
          <p:nvPr/>
        </p:nvSpPr>
        <p:spPr>
          <a:xfrm>
            <a:off x="7294880" y="2185988"/>
            <a:ext cx="4332427" cy="227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3"/>
              </a:lnSpc>
              <a:buNone/>
            </a:pPr>
            <a:r>
              <a:rPr lang="en-US" sz="1082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server 掛了，UI 按什麼都沒用</a:t>
            </a:r>
            <a:endParaRPr lang="en-US" sz="1082" dirty="0"/>
          </a:p>
        </p:txBody>
      </p:sp>
      <p:sp>
        <p:nvSpPr>
          <p:cNvPr id="15" name="Shape 12"/>
          <p:cNvSpPr/>
          <p:nvPr/>
        </p:nvSpPr>
        <p:spPr>
          <a:xfrm>
            <a:off x="7115175" y="2675582"/>
            <a:ext cx="4565650" cy="1567498"/>
          </a:xfrm>
          <a:prstGeom prst="roundRect">
            <a:avLst>
              <a:gd name="adj" fmla="val 6279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94880" y="2855292"/>
            <a:ext cx="433242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安全提醒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294880" y="3166442"/>
            <a:ext cx="4332427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的 ServiceAccount 綁定 cluster-admin：能登入 UI 的人等同能在叢集裡還原任何東西。帳號要控管，HTTPRoute 只掛 admin-gateway。</a:t>
            </a:r>
            <a:endParaRPr lang="en-US" sz="1250" dirty="0"/>
          </a:p>
        </p:txBody>
      </p:sp>
      <p:pic>
        <p:nvPicPr>
          <p:cNvPr id="18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 · 第一次 Backup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/ Exclude Namespace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1596390"/>
        </p:xfrm>
        <a:graphic>
          <a:graphicData uri="http://schemas.openxmlformats.org/drawingml/2006/table">
            <a:tbl>
              <a:tblPr/>
              <a:tblGrid>
                <a:gridCol w="5136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9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9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寫法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意思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includedNamespaces: [dr-demo]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只備份 dr-demo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應用層級備份（本課主線）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includedNamespaces: [dr-demo, filebrowser]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多個應用一起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有相依關係的一組應用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includedNamespaces: ["*"] + excludedNamespaces: [kube-system, velero, rook-ceph]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全叢集，扣掉系統元件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每日全量備份（單元 9）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11175" y="2809875"/>
            <a:ext cx="11169650" cy="3092450"/>
          </a:xfrm>
          <a:prstGeom prst="roundRect">
            <a:avLst>
              <a:gd name="adj" fmla="val 3183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90880" y="2989585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為什麼要排除 kube-system / velero / rook-ceph？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90880" y="3300735"/>
            <a:ext cx="1113454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這些是基礎元件，重建叢集時應該用它們自己的安裝方式（kubeadm、velero install、Rook Helm）重新建立，而不是從備份把舊狀態倒回去。單元 8 詳細說明順序；單元 9 會看到「沒排除 velero」造成的真實問題。</a:t>
            </a:r>
            <a:endParaRPr lang="en-US" sz="1300" dirty="0"/>
          </a:p>
        </p:txBody>
      </p:sp>
      <p:pic>
        <p:nvPicPr>
          <p:cNvPr id="8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 · 第一次 Backup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/ Exclude Resource 與 includeClusterResources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1177290"/>
          </a:xfrm>
          <a:prstGeom prst="roundRect">
            <a:avLst>
              <a:gd name="adj" fmla="val 8630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872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只要設定、不要資料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 backup create example-c --include-namespaces dr-demo --include-resources secrets,configmaps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全部，但排除 Event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 backup create example-d --include-namespaces dr-demo --exclude-resources events,events.events.k8s.io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11175" y="2380630"/>
            <a:ext cx="3617357" cy="1603693"/>
          </a:xfrm>
          <a:prstGeom prst="roundRect">
            <a:avLst>
              <a:gd name="adj" fmla="val 613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880" y="2560315"/>
            <a:ext cx="3355685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90880" y="3114055"/>
            <a:ext cx="3355685" cy="715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includeClusterResources</a:t>
            </a: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不設定（預設）：只帶上跟被選 namespace 有關的 cluster 資源（PV、CRD）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87282" y="2380630"/>
            <a:ext cx="3617436" cy="1603693"/>
          </a:xfrm>
          <a:prstGeom prst="roundRect">
            <a:avLst>
              <a:gd name="adj" fmla="val 6137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66987" y="2560315"/>
            <a:ext cx="3355767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921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4466987" y="3114055"/>
            <a:ext cx="3355767" cy="715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設成 </a:t>
            </a:r>
            <a:r>
              <a:rPr lang="en-US" sz="12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</a:t>
            </a:r>
            <a:r>
              <a:rPr lang="en-US" sz="125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：整座叢集所有 cluster-scoped 資源（Node、ClusterRole、StorageClass、所有 CRD…）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063468" y="2380630"/>
            <a:ext cx="3617357" cy="1603693"/>
          </a:xfrm>
          <a:prstGeom prst="roundRect">
            <a:avLst>
              <a:gd name="adj" fmla="val 6137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43174" y="2560315"/>
            <a:ext cx="3355685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8243174" y="3114055"/>
            <a:ext cx="3355685" cy="715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那份 true 的舊備份還原時產生的 warnings，幾乎都是「已存在，跳過」，真正重要的警告會被淹沒</a:t>
            </a:r>
            <a:endParaRPr lang="en-US" sz="1250" dirty="0"/>
          </a:p>
        </p:txBody>
      </p:sp>
      <p:pic>
        <p:nvPicPr>
          <p:cNvPr id="1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 · 第一次 Backup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Selector 的陷阱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7086600" cy="3081020"/>
          </a:xfrm>
          <a:prstGeom prst="roundRect">
            <a:avLst>
              <a:gd name="adj" fmla="val 3298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6880606" cy="2354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$ velero backup create example-e 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--include-namespaces dr-demo --selector app=postgres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Resource List: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apps/v1/ReplicaSet:        dr-demo/postgres-54bfb985f9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v1/Pod:                    dr-demo/postgres-54bfb985f9-grjh5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v1/PersistentVolumeClaim:  dr-demo/postgres-data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                         </a:t>
            </a:r>
            <a:r>
              <a:rPr lang="en-US" sz="1150" dirty="0">
                <a:solidFill>
                  <a:srgbClr val="F2B35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← 沒有 label，被 Pod 引用而連帶加入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v1/PersistentVolume:       pvc-85e449cf-...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v1/Namespace:              dr-demo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（沒有 Deployment、Secret、Service、shared-data）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750175" y="1000125"/>
            <a:ext cx="3930650" cy="1483360"/>
          </a:xfrm>
          <a:prstGeom prst="roundRect">
            <a:avLst>
              <a:gd name="adj" fmla="val 6635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04480" y="1154435"/>
            <a:ext cx="3730701" cy="235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284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原因</a:t>
            </a:r>
            <a:endParaRPr lang="en-US" sz="1284" dirty="0"/>
          </a:p>
        </p:txBody>
      </p:sp>
      <p:sp>
        <p:nvSpPr>
          <p:cNvPr id="8" name="Text 5"/>
          <p:cNvSpPr/>
          <p:nvPr/>
        </p:nvSpPr>
        <p:spPr>
          <a:xfrm>
            <a:off x="7904480" y="1427733"/>
            <a:ext cx="3730701" cy="218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24"/>
              </a:lnSpc>
              <a:buNone/>
            </a:pPr>
            <a:r>
              <a:rPr lang="en-US" sz="1016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套用在每一個資源上，不是「選應用」</a:t>
            </a:r>
            <a:endParaRPr lang="en-US" sz="1016" dirty="0"/>
          </a:p>
        </p:txBody>
      </p:sp>
      <p:sp>
        <p:nvSpPr>
          <p:cNvPr id="9" name="Text 6"/>
          <p:cNvSpPr/>
          <p:nvPr/>
        </p:nvSpPr>
        <p:spPr>
          <a:xfrm>
            <a:off x="7904480" y="1684809"/>
            <a:ext cx="3730701" cy="41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36"/>
              </a:lnSpc>
              <a:buNone/>
            </a:pPr>
            <a:r>
              <a:rPr lang="en-US" sz="1024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只有 pod template 有 app=postgres，自己的 metadata.labels 是空的</a:t>
            </a:r>
            <a:endParaRPr lang="en-US" sz="1024" dirty="0"/>
          </a:p>
        </p:txBody>
      </p:sp>
      <p:sp>
        <p:nvSpPr>
          <p:cNvPr id="10" name="Text 7"/>
          <p:cNvSpPr/>
          <p:nvPr/>
        </p:nvSpPr>
        <p:spPr>
          <a:xfrm>
            <a:off x="7904480" y="2135584"/>
            <a:ext cx="3730701" cy="218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24"/>
              </a:lnSpc>
              <a:buNone/>
            </a:pPr>
            <a:r>
              <a:rPr lang="en-US" sz="1016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和 Service 也沒貼 label</a:t>
            </a:r>
            <a:endParaRPr lang="en-US" sz="1016" dirty="0"/>
          </a:p>
        </p:txBody>
      </p:sp>
      <p:sp>
        <p:nvSpPr>
          <p:cNvPr id="11" name="Shape 8"/>
          <p:cNvSpPr/>
          <p:nvPr/>
        </p:nvSpPr>
        <p:spPr>
          <a:xfrm>
            <a:off x="7750175" y="2591445"/>
            <a:ext cx="3930650" cy="1483360"/>
          </a:xfrm>
          <a:prstGeom prst="roundRect">
            <a:avLst>
              <a:gd name="adj" fmla="val 6635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04480" y="2745755"/>
            <a:ext cx="373070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904480" y="3056905"/>
            <a:ext cx="3730701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要用 Label Selector，先建立「所有資源都貼 app.kubernetes.io/instance」的規範；不然用 namespace 當邊界最安全。</a:t>
            </a:r>
            <a:endParaRPr lang="en-US" sz="1200" dirty="0"/>
          </a:p>
        </p:txBody>
      </p:sp>
      <p:pic>
        <p:nvPicPr>
          <p:cNvPr id="14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 · 第一次 Backup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Data Backup 的三種方式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1747520"/>
        </p:xfrm>
        <a:graphic>
          <a:graphicData uri="http://schemas.openxmlformats.org/drawingml/2006/table">
            <a:tbl>
              <a:tblPr/>
              <a:tblGrid>
                <a:gridCol w="2791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8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1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48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98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設定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資料放哪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叢集消失還在嗎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備註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CSI Snapshot（只拍快照）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snapshotVolumes: true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 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不在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最快，但跟資料同一個故障域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CSI Snapshot + Data Mover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snapshotMoveData: true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S3（kopia）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還在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先拍快照取得時間點，再由 node-agent 上傳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File System Backup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defaultVolumesToFsBackup: true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S3（kopia）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還在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直接讀 Pod 掛載目錄；不需 CSI，但不是時間點快照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2957835"/>
            <a:ext cx="11511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這座叢集用</a:t>
            </a:r>
            <a:r>
              <a:rPr lang="en-US" sz="1400" b="1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2 種</a:t>
            </a: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：兼顧時間點一致性與故障域隔離。</a:t>
            </a:r>
            <a:endParaRPr lang="en-US" sz="140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 · 第一次 Backup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Mover 的實際流程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1570514" cy="1454150"/>
          </a:xfrm>
          <a:prstGeom prst="roundRect">
            <a:avLst>
              <a:gd name="adj" fmla="val 676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5480" y="1154435"/>
            <a:ext cx="1312704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建立 VolumeSnapshot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5480" y="1861815"/>
            <a:ext cx="1312704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1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server → Ceph CSI</a:t>
            </a:r>
            <a:endParaRPr lang="en-US" sz="1150" dirty="0"/>
          </a:p>
        </p:txBody>
      </p:sp>
      <p:pic>
        <p:nvPicPr>
          <p:cNvPr id="7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61064" y="1644650"/>
            <a:ext cx="190500" cy="1651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430939" y="1214760"/>
            <a:ext cx="1570593" cy="1024890"/>
          </a:xfrm>
          <a:prstGeom prst="roundRect">
            <a:avLst>
              <a:gd name="adj" fmla="val 9603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585244" y="1369070"/>
            <a:ext cx="131278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ReadyToUse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585244" y="1647205"/>
            <a:ext cx="131278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1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快照完成，取得時間點</a:t>
            </a:r>
            <a:endParaRPr lang="en-US" sz="1150" dirty="0"/>
          </a:p>
        </p:txBody>
      </p:sp>
      <p:pic>
        <p:nvPicPr>
          <p:cNvPr id="11" name="Image 2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80907" y="1644650"/>
            <a:ext cx="190500" cy="1651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350782" y="1107455"/>
            <a:ext cx="1570514" cy="1239520"/>
          </a:xfrm>
          <a:prstGeom prst="roundRect">
            <a:avLst>
              <a:gd name="adj" fmla="val 794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05087" y="1261740"/>
            <a:ext cx="1312704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建立 DataUpload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505087" y="1754510"/>
            <a:ext cx="1312704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1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server → node-agent</a:t>
            </a:r>
            <a:endParaRPr lang="en-US" sz="1150" dirty="0"/>
          </a:p>
        </p:txBody>
      </p:sp>
      <p:pic>
        <p:nvPicPr>
          <p:cNvPr id="15" name="Image 3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00671" y="1644650"/>
            <a:ext cx="190500" cy="1651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70546" y="1214760"/>
            <a:ext cx="1570593" cy="1024890"/>
          </a:xfrm>
          <a:prstGeom prst="roundRect">
            <a:avLst>
              <a:gd name="adj" fmla="val 9603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6424851" y="1369070"/>
            <a:ext cx="131278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暫時 PVC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424851" y="1647205"/>
            <a:ext cx="131278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1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node-agent 從快照建 PVC 並掛載</a:t>
            </a:r>
            <a:endParaRPr lang="en-US" sz="1150" dirty="0"/>
          </a:p>
        </p:txBody>
      </p:sp>
      <p:pic>
        <p:nvPicPr>
          <p:cNvPr id="19" name="Image 4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920514" y="1644650"/>
            <a:ext cx="190500" cy="16510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8190389" y="1214760"/>
            <a:ext cx="1570593" cy="1024890"/>
          </a:xfrm>
          <a:prstGeom prst="roundRect">
            <a:avLst>
              <a:gd name="adj" fmla="val 9603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8344694" y="1369070"/>
            <a:ext cx="131278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kopia 上傳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8344694" y="1647205"/>
            <a:ext cx="131278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1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去重、加密，寫入 SeaweedFS</a:t>
            </a:r>
            <a:endParaRPr lang="en-US" sz="1150" dirty="0"/>
          </a:p>
        </p:txBody>
      </p:sp>
      <p:pic>
        <p:nvPicPr>
          <p:cNvPr id="23" name="Image 5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840357" y="1644650"/>
            <a:ext cx="190500" cy="16510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10110232" y="1214760"/>
            <a:ext cx="1570593" cy="1024890"/>
          </a:xfrm>
          <a:prstGeom prst="roundRect">
            <a:avLst>
              <a:gd name="adj" fmla="val 9603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10264537" y="1369070"/>
            <a:ext cx="131278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清理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10264537" y="1647205"/>
            <a:ext cx="1312783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1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刪除暫時 PVC 與快照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511175" y="2663825"/>
            <a:ext cx="55054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690880" y="2843535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為什麼要先拍快照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690880" y="3154685"/>
            <a:ext cx="530042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上傳可能要幾分鐘到幾小時；先拍快照，上傳的內容就固定在同一個時間點，不受應用繼續寫入影響。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6175375" y="2663825"/>
            <a:ext cx="5505450" cy="1165860"/>
          </a:xfrm>
          <a:prstGeom prst="roundRect">
            <a:avLst>
              <a:gd name="adj" fmla="val 8442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6355080" y="2843535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node-agent 是誰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6355080" y="3154685"/>
            <a:ext cx="530042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DaemonSet，每個節點一個。暫時 PVC 掛在哪個節點，就由那個節點的 node-agent 上傳。</a:t>
            </a:r>
            <a:endParaRPr lang="en-US" sz="1300" dirty="0"/>
          </a:p>
        </p:txBody>
      </p:sp>
      <p:pic>
        <p:nvPicPr>
          <p:cNvPr id="33" name="Image 6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 · 第一次 Backup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觀察 DataUpload：BYTES 是最直接的證據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1600835"/>
          </a:xfrm>
          <a:prstGeom prst="roundRect">
            <a:avLst>
              <a:gd name="adj" fmla="val 6347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129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$ kubectl -n velero get datauploads -l velero.io/backup-name=dr-course-backup-01 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-o custom-columns=NAME:.metadata.name,PVC:.spec.sourcePVC,PHASE:.status.phase,\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BYTES:.status.progress.totalBytes,NODE:.status.node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NAME                       PVC            PHASE      BYTES     NODE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dr-course-backup-01-gl5tr  shared-data    Completed  45        k8s02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dr-course-backup-01-xrdz9  postgres-data  Completed  47876961  k8s01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11175" y="2804170"/>
            <a:ext cx="5505450" cy="1373505"/>
          </a:xfrm>
          <a:prstGeom prst="roundRect">
            <a:avLst>
              <a:gd name="adj" fmla="val 716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880" y="2983880"/>
            <a:ext cx="5300421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bytes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90880" y="3537595"/>
            <a:ext cx="5300421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shared-data</a:t>
            </a: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正好是 dr-test.txt 的大小：DR-TEST-FS-001 加換行 15 bytes，第二行 30 bytes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5375" y="2804170"/>
            <a:ext cx="5505450" cy="1373505"/>
          </a:xfrm>
          <a:prstGeom prst="roundRect">
            <a:avLst>
              <a:gd name="adj" fmla="val 7166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2983880"/>
            <a:ext cx="5300421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47.8 MB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355080" y="3537595"/>
            <a:ext cx="5300421" cy="255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postgres-data</a:t>
            </a:r>
            <a:r>
              <a:rPr lang="en-US" sz="12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的資料庫檔案，在 k8s01 上由 node-agent 上傳</a:t>
            </a:r>
            <a:endParaRPr lang="en-US" sz="1250" dirty="0"/>
          </a:p>
        </p:txBody>
      </p:sp>
      <p:pic>
        <p:nvPicPr>
          <p:cNvPr id="12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 · 第一次 Backup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Phase 一覽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3314065"/>
        </p:xfrm>
        <a:graphic>
          <a:graphicData uri="http://schemas.openxmlformats.org/drawingml/2006/table">
            <a:tbl>
              <a:tblPr/>
              <a:tblGrid>
                <a:gridCol w="3349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3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3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意思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該怎麼辦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/ Queued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等待處理（Velero 一次處理一份備份）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InProgress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正在備份資源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WaitingForPluginOperations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資源已備份，Data Mover 還在上傳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看 DataUpload 進度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Finalizing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收尾（上傳 metadata）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完成，沒有 error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仍要做完成檢查清單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PartiallyFailed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有部分項目失敗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backup describe 看 Errors，不能當作可用備份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整份失敗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backup logs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FailedValidation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參數錯（例如 BSL 不存在）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看 status.validationErrors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 · 第一次 Backup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 與 Error 的差別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5505450" cy="1626870"/>
          </a:xfrm>
          <a:prstGeom prst="roundRect">
            <a:avLst>
              <a:gd name="adj" fmla="val 6050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179835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一定會被看到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0880" y="1456705"/>
            <a:ext cx="530042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90880" y="1850405"/>
            <a:ext cx="530042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某個項目沒備份到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90880" y="2180605"/>
            <a:ext cx="530042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PartiallyFailed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5375" y="1000125"/>
            <a:ext cx="5505450" cy="1626870"/>
          </a:xfrm>
          <a:prstGeom prst="roundRect">
            <a:avLst>
              <a:gd name="adj" fmla="val 6050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1179835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很容易被忽略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55080" y="1456705"/>
            <a:ext cx="530042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355080" y="1850405"/>
            <a:ext cx="530042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備份到了，但有需要注意的地方（例如某個 hook 沒執行）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355080" y="2180605"/>
            <a:ext cx="530042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仍然是 Completed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08000" y="2833365"/>
            <a:ext cx="11176000" cy="993140"/>
          </a:xfrm>
          <a:prstGeom prst="roundRect">
            <a:avLst>
              <a:gd name="adj" fmla="val 10230"/>
            </a:avLst>
          </a:prstGeom>
          <a:solidFill>
            <a:srgbClr val="0F2E45"/>
          </a:solidFill>
          <a:ln/>
        </p:spPr>
      </p:sp>
      <p:sp>
        <p:nvSpPr>
          <p:cNvPr id="15" name="Text 12"/>
          <p:cNvSpPr/>
          <p:nvPr/>
        </p:nvSpPr>
        <p:spPr>
          <a:xfrm>
            <a:off x="711200" y="2998465"/>
            <a:ext cx="11092688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 backup describe dr-course-backup-01             # 摘要（含 Warnings / Errors 區塊）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 backup describe dr-course-backup-01 --details   # 完整資源清單 + Volume 細節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 backup logs dr-course-backup-01 | grep -Ei 'level=(error|warning)'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8000" y="4029720"/>
            <a:ext cx="1151128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+ warnings &gt; 0，一定要打開來看。</a:t>
            </a:r>
            <a:endParaRPr lang="en-US" sz="1500" dirty="0"/>
          </a:p>
        </p:txBody>
      </p:sp>
      <p:pic>
        <p:nvPicPr>
          <p:cNvPr id="17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 · 第一次 Backup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--details 實測輸出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5511800" cy="2447925"/>
          </a:xfrm>
          <a:prstGeom prst="roundRect">
            <a:avLst>
              <a:gd name="adj" fmla="val 4150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5258562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Phase:  Completed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Namespaces: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Included:  dr-demo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Snapshot Move Data:  true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TTL:  720h0m0s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Started:    2026-09-23 16:27:52 +0800 CST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Completed:  2026-09-23 16:29:30 +0800 CST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Total items to be backed up:  19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Items backed up:              19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Backup Item Operations:  2 of 2 completed, 0 failed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172200" y="996950"/>
            <a:ext cx="5511800" cy="2447925"/>
          </a:xfrm>
          <a:prstGeom prst="roundRect">
            <a:avLst>
              <a:gd name="adj" fmla="val 4150"/>
            </a:avLst>
          </a:prstGeom>
          <a:solidFill>
            <a:srgbClr val="0F2E45"/>
          </a:solidFill>
          <a:ln/>
        </p:spPr>
      </p:sp>
      <p:sp>
        <p:nvSpPr>
          <p:cNvPr id="7" name="Text 4"/>
          <p:cNvSpPr/>
          <p:nvPr/>
        </p:nvSpPr>
        <p:spPr>
          <a:xfrm>
            <a:off x="6375400" y="1162050"/>
            <a:ext cx="5258562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Backup Volumes: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CSI Snapshots: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dr-demo/postgres-data: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  Data Movement: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    Moved data Size (bytes): 47876961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    Result: succeeded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dr-demo/shared-data: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  Data Movement: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    Moved data Size (bytes): 45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    Result: succeeded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8000" y="3648075"/>
            <a:ext cx="115112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 Started 到 Completed 花了 </a:t>
            </a:r>
            <a:r>
              <a:rPr lang="en-US" sz="1350" b="1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 秒</a:t>
            </a: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。這個數字會出現在單元 9 的 RTO 參考表。</a:t>
            </a:r>
            <a:endParaRPr lang="en-US" sz="1350" dirty="0"/>
          </a:p>
        </p:txBody>
      </p:sp>
      <p:pic>
        <p:nvPicPr>
          <p:cNvPr id="9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 · 第一次 Backup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備份完成檢查清單：缺一不可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2971800"/>
        </p:xfrm>
        <a:graphic>
          <a:graphicData uri="http://schemas.openxmlformats.org/drawingml/2006/table">
            <a:tbl>
              <a:tblPr/>
              <a:tblGrid>
                <a:gridCol w="558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1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3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檢查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指令 / 位置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本次結果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是 Completed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backup get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Errors = 0，Warnings 已逐一看過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backup describe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0 / 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Items backed up = Total items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describe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19 / 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範圍正確：有 Deployment、Secret、Service、PVC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describe --details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每個 PVC 都在 Backup Volumes，Result = succeeded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describe --details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2 /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Moved data Size 合理（不是 0、跟實際資料量同級）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describe / DataUpload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47.8MB / 45B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檔案真的在叢集外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2 的 s3-check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能還原，而且資料對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下一單元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4182120"/>
            <a:ext cx="115112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8 項是唯一真正能證明備份有用的一項。單元 5 會示範 1~7 全部打勾、第 8 項卻失敗。</a:t>
            </a:r>
            <a:endParaRPr lang="en-US" sz="135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 · 第一次 Backup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5505450" cy="1503680"/>
          </a:xfrm>
          <a:prstGeom prst="roundRect">
            <a:avLst>
              <a:gd name="adj" fmla="val 654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179835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↔ CR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0880" y="1456705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90880" y="1784350"/>
            <a:ext cx="530042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UI 建立一份只包含 dr-demo 的 secrets 和 configmaps 的備份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90880" y="2085975"/>
            <a:ext cx="530042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</a:t>
            </a:r>
            <a:r>
              <a:rPr lang="en-US" sz="12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backup -o yaml</a:t>
            </a: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確認 includedResources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5375" y="1000125"/>
            <a:ext cx="5505450" cy="1503680"/>
          </a:xfrm>
          <a:prstGeom prst="roundRect">
            <a:avLst>
              <a:gd name="adj" fmla="val 654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1179835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55080" y="1456705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55080" y="1784350"/>
            <a:ext cx="530042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--selector app=postgres 備份，對照實測結果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355080" y="2085975"/>
            <a:ext cx="530042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替 Deployment、Secret、Service 補上 label 再備份，比較差異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11175" y="2713360"/>
            <a:ext cx="5505450" cy="1503680"/>
          </a:xfrm>
          <a:prstGeom prst="roundRect">
            <a:avLst>
              <a:gd name="adj" fmla="val 654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0880" y="289307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Mover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90880" y="3169915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90880" y="3497585"/>
            <a:ext cx="530042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snapshotMoveData 關掉備份一次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90880" y="3799210"/>
            <a:ext cx="530042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Volumes 有什麼不同？Ceph 整個壞掉時這份還有用嗎？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175375" y="2713360"/>
            <a:ext cx="5505450" cy="1503680"/>
          </a:xfrm>
          <a:prstGeom prst="roundRect">
            <a:avLst>
              <a:gd name="adj" fmla="val 6546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5080" y="289307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估算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355080" y="3169915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355080" y="3497585"/>
            <a:ext cx="530042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dr-course-backup-01 花了多久？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355080" y="3799210"/>
            <a:ext cx="530042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資料量放大 1000 倍（約 48GB），itemOperationTimeout: 4h 夠不夠？</a:t>
            </a:r>
            <a:endParaRPr lang="en-US" sz="1250" dirty="0"/>
          </a:p>
        </p:txBody>
      </p:sp>
      <p:pic>
        <p:nvPicPr>
          <p:cNvPr id="24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3 · 第一次 Backup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38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1874515"/>
            <a:ext cx="9156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2992115"/>
            <a:ext cx="9156700" cy="1252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3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第一次 Restore：把 Application 救回來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508000" y="4447555"/>
            <a:ext cx="798116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498355"/>
            <a:ext cx="518716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58516" y="4471665"/>
            <a:ext cx="754724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還原成功的定義不是 Pod Running，而是災難前寫進去的那筆資料，現在查得到。</a:t>
            </a:r>
            <a:endParaRPr lang="en-US" sz="1600" dirty="0"/>
          </a:p>
        </p:txBody>
      </p:sp>
      <p:pic>
        <p:nvPicPr>
          <p:cNvPr id="8" name="Image 1" descr="AIC AIoT Cloud"/>
          <p:cNvPicPr>
            <a:picLocks noChangeAspect="1"/>
          </p:cNvPicPr>
          <p:nvPr/>
        </p:nvPicPr>
        <p:blipFill>
          <a:blip r:embed="rId4"/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251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953270"/>
            <a:ext cx="1046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還原成功的定義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6000" y="2456185"/>
            <a:ext cx="10464800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6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不是「Pod Running」，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16000" y="3035300"/>
            <a:ext cx="10464800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6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而是「災難前寫進去的那筆資料，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6000" y="3614415"/>
            <a:ext cx="10464800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6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現在</a:t>
            </a:r>
            <a:r>
              <a:rPr lang="en-US" sz="3200" b="1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查得到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」。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16000" y="4396755"/>
            <a:ext cx="10464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4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這個單元的每一個驗證步驟，都是為了回答這一句話。</a:t>
            </a:r>
            <a:endParaRPr lang="en-US" sz="1600" dirty="0"/>
          </a:p>
        </p:txBody>
      </p:sp>
      <p:pic>
        <p:nvPicPr>
          <p:cNvPr id="7" name="Image 0" descr="AIC AIoT Cloud"/>
          <p:cNvPicPr>
            <a:picLocks noChangeAspect="1"/>
          </p:cNvPicPr>
          <p:nvPr/>
        </p:nvPicPr>
        <p:blipFill>
          <a:blip r:embed="rId3"/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 · 第一次 Restore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兩種還原方式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1939925"/>
        </p:xfrm>
        <a:graphic>
          <a:graphicData uri="http://schemas.openxmlformats.org/drawingml/2006/table">
            <a:tbl>
              <a:tblPr/>
              <a:tblGrid>
                <a:gridCol w="1563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6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6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原地還原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還原到新 namespace（namespaceMapping）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前提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 namespace 已不存在（或資源已刪除）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 namespace 可以還活著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風險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原應用其實還在時，同名資源會被跳過（預設不覆蓋），容易誤判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幾乎沒有：新的 PV、新的 namespace，完全不碰原應用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用途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真正的災難復原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還原演練、比對資料、救回單筆誤刪資料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本課程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講師 demo：app-disaster.sh → 還原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實測（2026-09-23），每位學員都能安全練習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11175" y="3153420"/>
            <a:ext cx="11169650" cy="2748915"/>
          </a:xfrm>
          <a:prstGeom prst="roundRect">
            <a:avLst>
              <a:gd name="adj" fmla="val 3581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90880" y="3333130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上課順序建議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90880" y="3644280"/>
            <a:ext cx="1113454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先用「還原到新 namespace」讓每位學員安全練習，最後由講師 demo 一次「刪掉 dr-demo → 原地還原」的完整災難流程。</a:t>
            </a:r>
            <a:endParaRPr lang="en-US" sz="1350" dirty="0"/>
          </a:p>
        </p:txBody>
      </p:sp>
      <p:pic>
        <p:nvPicPr>
          <p:cNvPr id="8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 · 第一次 Restore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Restore：UI 精靈 ↔ Restore CR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2404745"/>
        </p:xfrm>
        <a:graphic>
          <a:graphicData uri="http://schemas.openxmlformats.org/drawingml/2006/table">
            <a:tbl>
              <a:tblPr/>
              <a:tblGrid>
                <a:gridCol w="3126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3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6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精靈步驟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本課程填什麼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Restore CR 欄位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來源備份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dr-course-backup-01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spec.backupName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Namespaces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dr-demo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spec.includedNamespaces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Namespace Mapping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dr-demo → dr-demo-restore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spec.namespaceMapping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Resources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不填（全部）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spec.includedResources / excludedResources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Restore PVs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開啟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spec.restorePVs: true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已存在資源的處理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spec.existingResourcePolicy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08000" y="3615060"/>
            <a:ext cx="11176000" cy="1503680"/>
          </a:xfrm>
          <a:prstGeom prst="roundRect">
            <a:avLst>
              <a:gd name="adj" fmla="val 6757"/>
            </a:avLst>
          </a:prstGeom>
          <a:solidFill>
            <a:srgbClr val="0F2E45"/>
          </a:solidFill>
          <a:ln/>
        </p:spPr>
      </p:sp>
      <p:sp>
        <p:nvSpPr>
          <p:cNvPr id="6" name="Text 2"/>
          <p:cNvSpPr/>
          <p:nvPr/>
        </p:nvSpPr>
        <p:spPr>
          <a:xfrm>
            <a:off x="711200" y="3780160"/>
            <a:ext cx="110926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等價 CLI（本課實測）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11200" y="4069730"/>
            <a:ext cx="11092688" cy="90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 restore create dr-course-restore-01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--from-backup dr-course-backup-01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--namespace-mappings dr-demo:dr-demo-restore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--restore-volumes=true --wait</a:t>
            </a:r>
            <a:endParaRPr lang="en-US" sz="1200" dirty="0"/>
          </a:p>
        </p:txBody>
      </p:sp>
      <p:pic>
        <p:nvPicPr>
          <p:cNvPr id="8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 · 第一次 Restore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還原指定 Namespace / 資源 / 應用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2098040"/>
          </a:xfrm>
          <a:prstGeom prst="roundRect">
            <a:avLst>
              <a:gd name="adj" fmla="val 4843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179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備份裡有多個 namespace，只還原 dr-demo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 restore create --from-backup daily-full-backup-20260923010055 --include-namespaces dr-demo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只還原某種資源（例如誤刪的 Secret）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 restore create --from-backup dr-demo-backup-01 --include-resources secrets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只還原某個應用（前提：該應用的所有資源都有一致的 label，見單元 3）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 restore create --from-backup dr-demo-backup-01 --selector app.kubernetes.io/instance=postgres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11175" y="3301380"/>
            <a:ext cx="11169650" cy="2600960"/>
          </a:xfrm>
          <a:prstGeom prst="roundRect">
            <a:avLst>
              <a:gd name="adj" fmla="val 3784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880" y="3481065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實戰最常見的用法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0880" y="3792215"/>
            <a:ext cx="1113454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從每日全叢集備份只救回一個 namespace：</a:t>
            </a:r>
            <a:r>
              <a:rPr lang="en-US" sz="1400" b="1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備份做大範圍，還原做小範圍</a:t>
            </a:r>
            <a:r>
              <a:rPr lang="en-US" sz="14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400" dirty="0"/>
          </a:p>
        </p:txBody>
      </p:sp>
      <p:pic>
        <p:nvPicPr>
          <p:cNvPr id="9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 · 第一次 Restore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restorePVs 的用途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1070610"/>
        </p:xfrm>
        <a:graphic>
          <a:graphicData uri="http://schemas.openxmlformats.org/drawingml/2006/table">
            <a:tbl>
              <a:tblPr/>
              <a:tblGrid>
                <a:gridCol w="1786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6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49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restorePVs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PVC 物件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 資料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結果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Mover 從 S3 下載到新的 PV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資料回來了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不還原；StorageClass 動態佈建一顆空的新磁碟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 會 Running，但資料是空的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11175" y="2284090"/>
            <a:ext cx="5505450" cy="1229360"/>
          </a:xfrm>
          <a:prstGeom prst="roundRect">
            <a:avLst>
              <a:gd name="adj" fmla="val 800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90880" y="246380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適合什麼時候用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90880" y="277495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只想還原設定，資料由應用自己的機制（例如資料庫 replication）補回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90880" y="308610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資料量很大，先把應用骨架拉起來，資料另外處理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175375" y="2284090"/>
            <a:ext cx="5505450" cy="1229360"/>
          </a:xfrm>
          <a:prstGeom prst="roundRect">
            <a:avLst>
              <a:gd name="adj" fmla="val 8006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355080" y="246380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危險在哪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355080" y="277495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資料沒回來，但一切看起來都正常。單元 5 情境 1 會完整重現。</a:t>
            </a:r>
            <a:endParaRPr lang="en-US" sz="1300" dirty="0"/>
          </a:p>
        </p:txBody>
      </p:sp>
      <p:pic>
        <p:nvPicPr>
          <p:cNvPr id="12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 · 第一次 Restore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過程中資源如何重新建立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7467600" cy="2387600"/>
          </a:xfrm>
          <a:prstGeom prst="roundRect">
            <a:avLst>
              <a:gd name="adj" fmla="val 4255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72730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固定的還原順序：先被依賴的先建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1200" y="1451620"/>
            <a:ext cx="7273036" cy="179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1. CustomResourceDefinitions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2. Namespaces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3. StorageClasses（若備份內有）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4. VolumeSnapshotClass / Contents / Snapshots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5. DataUploads → PV → PVC  </a:t>
            </a:r>
            <a:r>
              <a:rPr lang="en-US" sz="1200" dirty="0">
                <a:solidFill>
                  <a:srgbClr val="F2B35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← Data Mover 在這裡下載資料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6. ServiceAccounts → Secrets → ConfigMaps → LimitRanges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7. Pods → ReplicaSets → Endpoints → Services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8. 其餘資源（Deployment、HTTPRoute…，依字母順序）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131175" y="1000125"/>
            <a:ext cx="3549650" cy="2381250"/>
          </a:xfrm>
          <a:prstGeom prst="roundRect">
            <a:avLst>
              <a:gd name="adj" fmla="val 4133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10880" y="1179835"/>
            <a:ext cx="32859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不是把 etcd 倒回去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310880" y="1490985"/>
            <a:ext cx="3285947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透過 API Server 逐一 create 每個資源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310880" y="1792610"/>
            <a:ext cx="3285947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所以 admission webhook、ResourceQuota、LimitRange、NetworkPolicy 全部都會生效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310880" y="2332360"/>
            <a:ext cx="3285947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Namespace（含 label）一定比 Pod 先建立</a:t>
            </a:r>
            <a:endParaRPr lang="en-US" sz="1250" dirty="0"/>
          </a:p>
        </p:txBody>
      </p:sp>
      <p:pic>
        <p:nvPicPr>
          <p:cNvPr id="12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 · 第一次 Restore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describe 實測輸出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5511800" cy="2659698"/>
          </a:xfrm>
          <a:prstGeom prst="roundRect">
            <a:avLst>
              <a:gd name="adj" fmla="val 3820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5258562" cy="2354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Phase:                       Completed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Total items to be restored:  19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Items restored:              19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Warnings: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Cluster:  could not restore,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CRD ciliumendpoints.cilium.io already exists.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Namespaces: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dr-demo-restore:  could not restore,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  ConfigMap kube-root-ca.crt already exists.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Namespace mappings:  dr-demo=dr-demo-restore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Restore PVs:  true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172200" y="996950"/>
            <a:ext cx="5511800" cy="2659698"/>
          </a:xfrm>
          <a:prstGeom prst="roundRect">
            <a:avLst>
              <a:gd name="adj" fmla="val 3820"/>
            </a:avLst>
          </a:prstGeom>
          <a:solidFill>
            <a:srgbClr val="0F2E45"/>
          </a:solidFill>
          <a:ln/>
        </p:spPr>
      </p:sp>
      <p:sp>
        <p:nvSpPr>
          <p:cNvPr id="7" name="Text 4"/>
          <p:cNvSpPr/>
          <p:nvPr/>
        </p:nvSpPr>
        <p:spPr>
          <a:xfrm>
            <a:off x="6375400" y="1162050"/>
            <a:ext cx="5258562" cy="1931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Restore Item Operations: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persistentvolumeclaims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dr-demo-restore/postgres-data: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Plugin:   velero.io/csi-pvc-restorer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Phase:    Completed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Progress: 47876961 of 47876961 (Bytes)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dr-demo-restore/shared-data: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Phase:    Completed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Progress: 45 of 45 (Bytes)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11175" y="3863032"/>
            <a:ext cx="11169650" cy="2039302"/>
          </a:xfrm>
          <a:prstGeom prst="roundRect">
            <a:avLst>
              <a:gd name="adj" fmla="val 4826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0880" y="4042742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這兩個 warning 是正常的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0880" y="4353892"/>
            <a:ext cx="11134547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ciliumendpoints CRD 叢集上本來就有；kube-root-ca.crt 是 namespace 建立時自動產生的，Velero 發現已存在就跳過。</a:t>
            </a:r>
            <a:endParaRPr lang="en-US" sz="1250" dirty="0"/>
          </a:p>
        </p:txBody>
      </p:sp>
      <p:pic>
        <p:nvPicPr>
          <p:cNvPr id="11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 · 第一次 Restore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還原後觀察到的細節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2061210"/>
        </p:xfrm>
        <a:graphic>
          <a:graphicData uri="http://schemas.openxmlformats.org/drawingml/2006/table">
            <a:tbl>
              <a:tblPr/>
              <a:tblGrid>
                <a:gridCol w="5359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觀察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原因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 名稱變了：pvc-85e4… → pvc-2707…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Mover 建立新的 PV 再把資料寫進去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ClusterIP 變了：172.31.212.253 → 172.31.248.152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ClusterIP 由叢集重新分配 → 應用一律用 DNS 連線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備份裡有 3 個 postgres Pod，還原後只有 1 個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不還原已結束（Completed / Failed）的 Pod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還原後的 Pod 名稱跟原本一樣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會還原 Pod 物件本身，之後由 ReplicaSet 接手管理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cephfs-test-1/2 沒有被還原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備份當下這兩個裸 Pod 已經不存在 → 備份裡本來就沒有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 · 第一次 Restore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 Pod / Service / PVC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2024380"/>
          </a:xfrm>
          <a:prstGeom prst="roundRect">
            <a:avLst>
              <a:gd name="adj" fmla="val 5019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1719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$ kubectl get pods,svc,pvc -n dr-demo-restore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NAME                           READY  STATUS   RESTARTS  AGE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pod/postgres-54bfb985f9-grjh5  1/1    Running  0         76s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NAME              TYPE       CLUSTER-IP      PORT(S)   AGE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service/postgres  ClusterIP  172.31.248.152  5432/TCP  70s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NAME                                 STATUS  VOLUME           CAPACITY  ACCESS  STORAGECLASS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persistentvolumeclaim/postgres-data  Bound   pvc-2707f55e...  10Gi      RWO     rook-ceph-block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persistentvolumeclaim/shared-data    Bound   pvc-2cc8ab96...  5Gi       RWX     rook-cephfs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11175" y="3227710"/>
            <a:ext cx="7715250" cy="1813560"/>
          </a:xfrm>
          <a:prstGeom prst="roundRect">
            <a:avLst>
              <a:gd name="adj" fmla="val 542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880" y="3407420"/>
            <a:ext cx="757651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資源層面檢查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0880" y="3718570"/>
            <a:ext cx="7576515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Running 且 READY 1/1，RESTARTS 沒有持續增加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90880" y="4020195"/>
            <a:ext cx="7576515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有 Endpoints（get endpointslices）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90880" y="4321820"/>
            <a:ext cx="7576515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全部 Bound，StorageClass 正確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90880" y="4623445"/>
            <a:ext cx="7576515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存在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385175" y="3227710"/>
            <a:ext cx="3295650" cy="1813560"/>
          </a:xfrm>
          <a:prstGeom prst="roundRect">
            <a:avLst>
              <a:gd name="adj" fmla="val 5427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64880" y="3407420"/>
            <a:ext cx="3024327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到這裡為止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564880" y="3735065"/>
            <a:ext cx="3024327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都只證明了「骨架」回來了。</a:t>
            </a:r>
            <a:endParaRPr lang="en-US" sz="1500" dirty="0"/>
          </a:p>
        </p:txBody>
      </p:sp>
      <p:pic>
        <p:nvPicPr>
          <p:cNvPr id="1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 · 第一次 Restore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驗證資料庫資料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1656080"/>
          </a:xfrm>
          <a:prstGeom prst="roundRect">
            <a:avLst>
              <a:gd name="adj" fmla="val 6135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1351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$ kubectl -n dr-demo-restore exec deploy/postgres --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psql -U drtest -d drdemo -c "SELECT * FROM disaster_test;"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id |   test_key     |            test_value             |         created_at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----+----------------+-----------------------------------+----------------------------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1 | DR-TEST-DB-001 | Kubernetes Disaster Recovery Test | 2026-09-09 03:36:10.139213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(1 row)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11175" y="2859410"/>
            <a:ext cx="3790077" cy="1184910"/>
          </a:xfrm>
          <a:prstGeom prst="roundRect">
            <a:avLst>
              <a:gd name="adj" fmla="val 8307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880" y="3039120"/>
            <a:ext cx="3533587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2026-09-09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90880" y="3592835"/>
            <a:ext cx="3533587" cy="255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created_at</a:t>
            </a:r>
            <a:r>
              <a:rPr lang="en-US" sz="12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比這次備份（09-23）早兩週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60002" y="2859410"/>
            <a:ext cx="7220824" cy="1184910"/>
          </a:xfrm>
          <a:prstGeom prst="roundRect">
            <a:avLst>
              <a:gd name="adj" fmla="val 830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39707" y="3039120"/>
            <a:ext cx="706725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這證明了什麼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639707" y="3350270"/>
            <a:ext cx="70672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這是「災難前就存在的資料被救回來」，不是還原後重新產生的。驗證要找</a:t>
            </a:r>
            <a:r>
              <a:rPr lang="en-US" sz="1350" b="1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不可能自動重生</a:t>
            </a: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的資料。</a:t>
            </a:r>
            <a:endParaRPr lang="en-US" sz="1350" dirty="0"/>
          </a:p>
        </p:txBody>
      </p:sp>
      <p:pic>
        <p:nvPicPr>
          <p:cNvPr id="12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 · 第一次 Restore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 CephFS：驗證工具本身不能產生被驗證的資料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7213600" cy="1435100"/>
          </a:xfrm>
          <a:prstGeom prst="roundRect">
            <a:avLst>
              <a:gd name="adj" fmla="val 7080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7011416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$ kubectl -n dr-demo-restore logs cephfs-verify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total 1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-rw-r--r-- 1 root root 45 Sep 19 03:40 dr-test.txt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DR-TEST-FS-001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CephFS Disaster Recovery Test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2569210"/>
          <a:ext cx="7203440" cy="1203960"/>
        </p:xfrm>
        <a:graphic>
          <a:graphicData uri="http://schemas.openxmlformats.org/drawingml/2006/table">
            <a:tbl>
              <a:tblPr/>
              <a:tblGrid>
                <a:gridCol w="2016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1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5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儲存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驗證方式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證明了什麼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RBD postgres-data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 查詢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RBD 快照 → S3 → 新 RBD image 完整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CephFS shared-data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只讀的臨時 Pod 讀檔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CephFS 快照 → S3 → 新 subvolume 完整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877175" y="1000125"/>
            <a:ext cx="3803650" cy="2769870"/>
          </a:xfrm>
          <a:prstGeom prst="roundRect">
            <a:avLst>
              <a:gd name="adj" fmla="val 3553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056880" y="1179835"/>
            <a:ext cx="354756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為什麼要用只讀的臨時 Pod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056880" y="1490985"/>
            <a:ext cx="3547567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cephfs-test-1 每次啟動都會重寫 dr-test.txt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056880" y="1792610"/>
            <a:ext cx="3547567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用它驗證的話，就算資料沒還原，它也會自己寫一份出來，讓你誤以為成功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8056880" y="2332360"/>
            <a:ext cx="3547567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檔案時間 Sep 19 03:40 是原始寫入時間，45 bytes 跟 DataUpload 一致</a:t>
            </a:r>
            <a:endParaRPr lang="en-US" sz="1250" dirty="0"/>
          </a:p>
        </p:txBody>
      </p:sp>
      <p:pic>
        <p:nvPicPr>
          <p:cNvPr id="12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 · 第一次 Restore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check-data.sh：人工與自動化共用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7467600" cy="2693670"/>
          </a:xfrm>
          <a:prstGeom prst="roundRect">
            <a:avLst>
              <a:gd name="adj" fmla="val 3772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7273036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$ ./dr/script/check-data.sh dr-demo-restore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== 1. Kubernetes 資源（namespace: dr-demo-restore）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[PASS] PVC postgres-data Bound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[PASS] PVC shared-data Bound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== 2. PostgreSQL 資料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[PASS] disaster_test 查得到 DR-TEST-DB-001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== 3. CephFS 資料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[PASS] dr-test.txt 含 DR-TEST-FS-001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結果：還原驗證通過 ✅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131175" y="1000125"/>
            <a:ext cx="3549650" cy="1289685"/>
          </a:xfrm>
          <a:prstGeom prst="roundRect">
            <a:avLst>
              <a:gd name="adj" fmla="val 763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10880" y="1179860"/>
            <a:ext cx="32859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有結束碼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310880" y="1491010"/>
            <a:ext cx="328594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全過 0、任一失敗 1，可以直接接進自動化流程。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131175" y="2397770"/>
            <a:ext cx="3549650" cy="1289685"/>
          </a:xfrm>
          <a:prstGeom prst="roundRect">
            <a:avLst>
              <a:gd name="adj" fmla="val 7632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10880" y="2577455"/>
            <a:ext cx="3285947" cy="24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327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 直接重用</a:t>
            </a:r>
            <a:endParaRPr lang="en-US" sz="1327" dirty="0"/>
          </a:p>
        </p:txBody>
      </p:sp>
      <p:sp>
        <p:nvSpPr>
          <p:cNvPr id="11" name="Text 8"/>
          <p:cNvSpPr/>
          <p:nvPr/>
        </p:nvSpPr>
        <p:spPr>
          <a:xfrm>
            <a:off x="8310880" y="2857649"/>
            <a:ext cx="3285947" cy="675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5"/>
              </a:lnSpc>
              <a:buNone/>
            </a:pPr>
            <a:r>
              <a:rPr lang="en-US" sz="1243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每週自動 Restore Test 就是呼叫同一支腳本。同一套驗證標準，人工演練與自動化共用。</a:t>
            </a:r>
            <a:endParaRPr lang="en-US" sz="1243" dirty="0"/>
          </a:p>
        </p:txBody>
      </p:sp>
      <p:pic>
        <p:nvPicPr>
          <p:cNvPr id="12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 · 第一次 Restore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真的還原成功的判斷標準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5708650" cy="790575"/>
          </a:xfrm>
          <a:prstGeom prst="roundRect">
            <a:avLst>
              <a:gd name="adj" fmla="val 1245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129060"/>
            <a:ext cx="561436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Completed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423690"/>
            <a:ext cx="5614365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說它做完了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11175" y="1873250"/>
            <a:ext cx="5708650" cy="790575"/>
          </a:xfrm>
          <a:prstGeom prst="roundRect">
            <a:avLst>
              <a:gd name="adj" fmla="val 1245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002185"/>
            <a:ext cx="561436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Running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296815"/>
            <a:ext cx="5614365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說容器起來了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11175" y="2746375"/>
            <a:ext cx="5708650" cy="790575"/>
          </a:xfrm>
          <a:prstGeom prst="roundRect">
            <a:avLst>
              <a:gd name="adj" fmla="val 1245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875310"/>
            <a:ext cx="561436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Bound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3169940"/>
            <a:ext cx="5614365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儲存說磁碟接上了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11175" y="3619500"/>
            <a:ext cx="5708650" cy="790575"/>
          </a:xfrm>
          <a:prstGeom prst="roundRect">
            <a:avLst>
              <a:gd name="adj" fmla="val 12450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748435"/>
            <a:ext cx="561436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資料查得到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" y="4043065"/>
            <a:ext cx="5614365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只有這一層證明「救回來了」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8000" y="4489450"/>
            <a:ext cx="5715000" cy="786765"/>
          </a:xfrm>
          <a:prstGeom prst="roundRect">
            <a:avLst>
              <a:gd name="adj" fmla="val 12914"/>
            </a:avLst>
          </a:prstGeom>
          <a:solidFill>
            <a:srgbClr val="12517C"/>
          </a:solidFill>
          <a:ln/>
        </p:spPr>
      </p:sp>
      <p:sp>
        <p:nvSpPr>
          <p:cNvPr id="17" name="Text 14"/>
          <p:cNvSpPr/>
          <p:nvPr/>
        </p:nvSpPr>
        <p:spPr>
          <a:xfrm>
            <a:off x="635000" y="4616450"/>
            <a:ext cx="562483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應用功能正常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35000" y="4911080"/>
            <a:ext cx="5624830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D4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登入、讀寫、對外連線：業務方確認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08000" y="5479405"/>
            <a:ext cx="115112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每往下一層，需要的驗證知識就越接近應用本身。還原演練</a:t>
            </a:r>
            <a:r>
              <a:rPr lang="en-US" sz="1350" b="1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一定要有應用負責人參與</a:t>
            </a: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350" dirty="0"/>
          </a:p>
        </p:txBody>
      </p:sp>
      <p:pic>
        <p:nvPicPr>
          <p:cNvPr id="20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 · 第一次 Restore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5505450" cy="1503680"/>
          </a:xfrm>
          <a:prstGeom prst="roundRect">
            <a:avLst>
              <a:gd name="adj" fmla="val 654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17986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安全練習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0880" y="1456680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90880" y="1784350"/>
            <a:ext cx="530042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UI 把 dr-course-backup-01 還原到 dr-demo-&lt;你的名字&gt;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90880" y="2085975"/>
            <a:ext cx="530042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跑 check-data.sh 確認 3 項全 PASS，做完刪掉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5375" y="1000125"/>
            <a:ext cx="5505450" cy="1503680"/>
          </a:xfrm>
          <a:prstGeom prst="roundRect">
            <a:avLst>
              <a:gd name="adj" fmla="val 654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117986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55080" y="1456680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55080" y="1784350"/>
            <a:ext cx="530042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新增一筆 DR-TEST-DB-002，不要重新備份，再還原一次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355080" y="2085975"/>
            <a:ext cx="530042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查得到 002 嗎？這在 RPO 上代表什麼？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11175" y="2713385"/>
            <a:ext cx="5505450" cy="1741805"/>
          </a:xfrm>
          <a:prstGeom prst="roundRect">
            <a:avLst>
              <a:gd name="adj" fmla="val 5651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0880" y="289307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90880" y="3169940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3（講師 demo）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90880" y="3497610"/>
            <a:ext cx="530042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app-disaster.sh 刪除 dr-demo → restore-dr-demo.yaml 原地還原 → check-data.sh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90880" y="4037360"/>
            <a:ext cx="530042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記錄從刪除到驗證通過花了幾分鐘：這就是實測 RTO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175375" y="2713385"/>
            <a:ext cx="5505450" cy="1741805"/>
          </a:xfrm>
          <a:prstGeom prst="roundRect">
            <a:avLst>
              <a:gd name="adj" fmla="val 565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5080" y="289307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原地還原的誤判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355080" y="3169940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355080" y="3497610"/>
            <a:ext cx="530042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dr-demo 還活著時，不用 namespaceMapping 直接還原同一份備份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355080" y="3799235"/>
            <a:ext cx="5300421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有幾個？資料有沒有被覆蓋？為什麼？</a:t>
            </a:r>
            <a:endParaRPr lang="en-US" sz="1250" dirty="0"/>
          </a:p>
        </p:txBody>
      </p:sp>
      <p:pic>
        <p:nvPicPr>
          <p:cNvPr id="24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 · 第一次 Restore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38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1874540"/>
            <a:ext cx="9156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2992140"/>
            <a:ext cx="9156700" cy="1252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3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的陷阱：有備份但不一定救得回來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508000" y="4447530"/>
            <a:ext cx="798116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498330"/>
            <a:ext cx="518716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58516" y="4471690"/>
            <a:ext cx="782668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每一份備份都是 Completed、0 errors、0 warnings，但全部救不回一個可用的應用。</a:t>
            </a:r>
            <a:endParaRPr lang="en-US" sz="1600" dirty="0"/>
          </a:p>
        </p:txBody>
      </p:sp>
      <p:pic>
        <p:nvPicPr>
          <p:cNvPr id="8" name="Image 1" descr="AIC AIoT Cloud"/>
          <p:cNvPicPr>
            <a:picLocks noChangeAspect="1"/>
          </p:cNvPicPr>
          <p:nvPr/>
        </p:nvPicPr>
        <p:blipFill>
          <a:blip r:embed="rId4"/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設計：一個 PostgreSQL 依賴三樣東西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2076450" cy="1142365"/>
          </a:xfrm>
          <a:prstGeom prst="roundRect">
            <a:avLst>
              <a:gd name="adj" fmla="val 861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2780" y="1141760"/>
            <a:ext cx="18470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依賴 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2780" y="1418580"/>
            <a:ext cx="1847037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52780" y="1762770"/>
            <a:ext cx="1847037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695575" y="1000125"/>
            <a:ext cx="2076450" cy="1142365"/>
          </a:xfrm>
          <a:prstGeom prst="roundRect">
            <a:avLst>
              <a:gd name="adj" fmla="val 861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837180" y="1141760"/>
            <a:ext cx="18470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依賴 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837180" y="1418580"/>
            <a:ext cx="1847037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2837180" y="1762770"/>
            <a:ext cx="1847037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帳密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879975" y="1000125"/>
            <a:ext cx="2076450" cy="1142365"/>
          </a:xfrm>
          <a:prstGeom prst="roundRect">
            <a:avLst>
              <a:gd name="adj" fmla="val 861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1580" y="1141760"/>
            <a:ext cx="184703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依賴 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1580" y="1418580"/>
            <a:ext cx="1847037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021580" y="1762770"/>
            <a:ext cx="1847037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初始化 SQL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08000" y="2272655"/>
            <a:ext cx="664514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少了任何一個，還原後的症狀都不一樣。另外還有一個使用 </a:t>
            </a:r>
            <a:r>
              <a:rPr lang="en-US" sz="130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rook-ceph-block-legacy</a:t>
            </a: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StorageClass 的 legacy-writer（情境 4、5）。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112000" y="996950"/>
            <a:ext cx="4572000" cy="2166620"/>
          </a:xfrm>
          <a:prstGeom prst="roundRect">
            <a:avLst>
              <a:gd name="adj" fmla="val 4689"/>
            </a:avLst>
          </a:prstGeom>
          <a:solidFill>
            <a:srgbClr val="0F2E45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0" y="1162050"/>
            <a:ext cx="42905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部署後寫入業務資料（實測）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315200" y="1451620"/>
            <a:ext cx="4290568" cy="1572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order_no  |     note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------------+----------------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SEED-0001  | initdb 種子資料  </a:t>
            </a:r>
            <a:r>
              <a:rPr lang="en-US" sz="1200" dirty="0">
                <a:solidFill>
                  <a:srgbClr val="F2B35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← ConfigMap 產生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ORDER-1001 | 客戶 A 的訂單    </a:t>
            </a:r>
            <a:r>
              <a:rPr lang="en-US" sz="1200" dirty="0">
                <a:solidFill>
                  <a:srgbClr val="F2B35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← 只在 PVC 裡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ORDER-1002 | 客戶 B 的訂單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ORDER-1003 | 客戶 C 的訂單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(4 rows)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8000" y="3366790"/>
            <a:ext cx="11176000" cy="753745"/>
          </a:xfrm>
          <a:prstGeom prst="roundRect">
            <a:avLst>
              <a:gd name="adj" fmla="val 13479"/>
            </a:avLst>
          </a:prstGeom>
          <a:solidFill>
            <a:srgbClr val="0F2E45"/>
          </a:solidFill>
          <a:ln/>
        </p:spPr>
      </p:sp>
      <p:sp>
        <p:nvSpPr>
          <p:cNvPr id="21" name="Text 18"/>
          <p:cNvSpPr/>
          <p:nvPr/>
        </p:nvSpPr>
        <p:spPr>
          <a:xfrm>
            <a:off x="711200" y="3531890"/>
            <a:ext cx="11092688" cy="448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apply -f dr/05-backup-pitfalls/manifest/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-n dr-pitfall exec -i deploy/postgres -- psql -U shop -d shop &lt; dr/05-backup-pitfalls/business-data.sql</a:t>
            </a:r>
            <a:endParaRPr lang="en-US" sz="1150" dirty="0"/>
          </a:p>
        </p:txBody>
      </p:sp>
      <p:pic>
        <p:nvPicPr>
          <p:cNvPr id="22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 · Backup 的陷阱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四份範圍不同的備份，看起來一模一樣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2659698"/>
          </a:xfrm>
          <a:prstGeom prst="roundRect">
            <a:avLst>
              <a:gd name="adj" fmla="val 3820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2354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 backup create pitfall-full         --include-namespaces dr-pitfall --snapshot-move-data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 backup create pitfall-no-data      --include-namespaces dr-pitfall --snapshot-volumes=false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 backup create pitfall-no-secret    ... --exclude-resources secrets --snapshot-move-data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 backup create pitfall-no-configmap ... --exclude-resources configmaps --snapshot-move-data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$ velero backup get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NAME                  STATUS     ERRORS  WARNINGS  CREATED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pitfall-full          Completed  0       0         2026-09-23 16:33:16 +0800 CST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pitfall-no-configmap  Completed  0       0         2026-09-23 16:35:01 +0800 CST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pitfall-no-data       Completed  0       0         2026-09-23 16:34:02 +0800 CST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pitfall-no-secret     Completed  0       0         2026-09-23 16:34:04 +0800 CST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08000" y="3859857"/>
            <a:ext cx="11176000" cy="2045652"/>
          </a:xfrm>
          <a:prstGeom prst="roundRect">
            <a:avLst>
              <a:gd name="adj" fmla="val 4967"/>
            </a:avLst>
          </a:prstGeom>
          <a:solidFill>
            <a:srgbClr val="12517C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4037657"/>
            <a:ext cx="1114501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不知道你的應用需要什麼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4348807"/>
            <a:ext cx="1114501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D4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只負責「你要它備份的東西有沒有備份到」。範圍對不對只有應用負責人知道，唯一的驗證方法是還原。以下每個情境都用 namespaceMapping 還原到獨立 namespace。</a:t>
            </a:r>
            <a:endParaRPr lang="en-US" sz="1300" dirty="0"/>
          </a:p>
        </p:txBody>
      </p:sp>
      <p:pic>
        <p:nvPicPr>
          <p:cNvPr id="9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 · Backup 的陷阱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59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 1：Resource 有了，但 Data 不存在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508000" y="592882"/>
            <a:ext cx="406400" cy="5312648"/>
          </a:xfrm>
          <a:prstGeom prst="roundRect">
            <a:avLst>
              <a:gd name="adj" fmla="val 25000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757982"/>
            <a:ext cx="50800" cy="50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9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$ velero restore get pitfall-restore-no-data</a:t>
            </a:r>
            <a:endParaRPr lang="en-US" sz="690" dirty="0"/>
          </a:p>
          <a:p>
            <a:pPr marL="0" indent="0" algn="l">
              <a:lnSpc>
                <a:spcPts val="1000"/>
              </a:lnSpc>
              <a:buNone/>
            </a:pPr>
            <a:r>
              <a:rPr lang="en-US" sz="69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STATUS     ERRORS  WARNINGS</a:t>
            </a:r>
            <a:endParaRPr lang="en-US" sz="690" dirty="0"/>
          </a:p>
          <a:p>
            <a:pPr marL="0" indent="0" algn="l">
              <a:lnSpc>
                <a:spcPts val="1000"/>
              </a:lnSpc>
              <a:buNone/>
            </a:pPr>
            <a:r>
              <a:rPr lang="en-US" sz="69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Completed  0       2</a:t>
            </a:r>
            <a:endParaRPr lang="en-US" sz="690" dirty="0"/>
          </a:p>
          <a:p>
            <a:pPr marL="0" indent="0" algn="l">
              <a:lnSpc>
                <a:spcPts val="1000"/>
              </a:lnSpc>
              <a:buNone/>
            </a:pPr>
            <a:r>
              <a:rPr lang="en-US" sz="69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690" dirty="0"/>
          </a:p>
          <a:p>
            <a:pPr marL="0" indent="0" algn="l">
              <a:lnSpc>
                <a:spcPts val="1000"/>
              </a:lnSpc>
              <a:buNone/>
            </a:pPr>
            <a:r>
              <a:rPr lang="en-US" sz="69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$ kubectl get pods,pvc -n dr-pitfall-nodata</a:t>
            </a:r>
            <a:endParaRPr lang="en-US" sz="690" dirty="0"/>
          </a:p>
          <a:p>
            <a:pPr marL="0" indent="0" algn="l">
              <a:lnSpc>
                <a:spcPts val="1000"/>
              </a:lnSpc>
              <a:buNone/>
            </a:pPr>
            <a:r>
              <a:rPr lang="en-US" sz="69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pod/postgres-5bf9b8b7cc-mqdnh  1/1  Running</a:t>
            </a:r>
            <a:endParaRPr lang="en-US" sz="690" dirty="0"/>
          </a:p>
          <a:p>
            <a:pPr marL="0" indent="0" algn="l">
              <a:lnSpc>
                <a:spcPts val="1000"/>
              </a:lnSpc>
              <a:buNone/>
            </a:pPr>
            <a:r>
              <a:rPr lang="en-US" sz="69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persistentvolumeclaim/postgres-data  Bound</a:t>
            </a:r>
            <a:endParaRPr lang="en-US" sz="690" dirty="0"/>
          </a:p>
          <a:p>
            <a:pPr marL="0" indent="0" algn="l">
              <a:lnSpc>
                <a:spcPts val="1000"/>
              </a:lnSpc>
              <a:buNone/>
            </a:pPr>
            <a:r>
              <a:rPr lang="en-US" sz="69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690" dirty="0"/>
          </a:p>
          <a:p>
            <a:pPr marL="0" indent="0" algn="l">
              <a:lnSpc>
                <a:spcPts val="1000"/>
              </a:lnSpc>
              <a:buNone/>
            </a:pPr>
            <a:r>
              <a:rPr lang="en-US" sz="69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$ ... psql -c 'SELECT order_no, note FROM orders;'</a:t>
            </a:r>
            <a:endParaRPr lang="en-US" sz="690" dirty="0"/>
          </a:p>
          <a:p>
            <a:pPr marL="0" indent="0" algn="l">
              <a:lnSpc>
                <a:spcPts val="1000"/>
              </a:lnSpc>
              <a:buNone/>
            </a:pPr>
            <a:r>
              <a:rPr lang="en-US" sz="69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order_no  |     note</a:t>
            </a:r>
            <a:endParaRPr lang="en-US" sz="690" dirty="0"/>
          </a:p>
          <a:p>
            <a:pPr marL="0" indent="0" algn="l">
              <a:lnSpc>
                <a:spcPts val="1000"/>
              </a:lnSpc>
              <a:buNone/>
            </a:pPr>
            <a:r>
              <a:rPr lang="en-US" sz="69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-----------+----------------</a:t>
            </a:r>
            <a:endParaRPr lang="en-US" sz="690" dirty="0"/>
          </a:p>
          <a:p>
            <a:pPr marL="0" indent="0" algn="l">
              <a:lnSpc>
                <a:spcPts val="1000"/>
              </a:lnSpc>
              <a:buNone/>
            </a:pPr>
            <a:r>
              <a:rPr lang="en-US" sz="69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SEED-0001 | initdb 種子資料</a:t>
            </a:r>
            <a:endParaRPr lang="en-US" sz="690" dirty="0"/>
          </a:p>
          <a:p>
            <a:pPr marL="0" indent="0" algn="l">
              <a:lnSpc>
                <a:spcPts val="1000"/>
              </a:lnSpc>
              <a:buNone/>
            </a:pPr>
            <a:r>
              <a:rPr lang="en-US" sz="69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(1 row)</a:t>
            </a:r>
            <a:endParaRPr lang="en-US" sz="69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76960" y="603042"/>
          <a:ext cx="10607040" cy="2404745"/>
        </p:xfrm>
        <a:graphic>
          <a:graphicData uri="http://schemas.openxmlformats.org/drawingml/2006/table">
            <a:tbl>
              <a:tblPr/>
              <a:tblGrid>
                <a:gridCol w="6576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檢查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結果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Restore phase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Completed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Running 1/1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Bound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 能連線、orders table 存在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通過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有資料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有一筆…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業務資料 ORDER-1001~1003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全部消失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7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 · Backup 的陷阱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 1：發生了什麼事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2463800" cy="1334135"/>
          </a:xfrm>
          <a:prstGeom prst="roundRect">
            <a:avLst>
              <a:gd name="adj" fmla="val 737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5480" y="1154460"/>
            <a:ext cx="221984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空磁碟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65480" y="1465610"/>
            <a:ext cx="2219846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備份沒有 Volume 資料 → PVC 由 StorageClass 動態佈建一顆空磁碟</a:t>
            </a:r>
            <a:endParaRPr lang="en-US" sz="1250" dirty="0"/>
          </a:p>
        </p:txBody>
      </p:sp>
      <p:pic>
        <p:nvPicPr>
          <p:cNvPr id="7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54350" y="1584672"/>
            <a:ext cx="279400" cy="1651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413125" y="1119188"/>
            <a:ext cx="2463800" cy="1096010"/>
          </a:xfrm>
          <a:prstGeom prst="roundRect">
            <a:avLst>
              <a:gd name="adj" fmla="val 898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567430" y="1273522"/>
            <a:ext cx="221984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initdb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567430" y="1584672"/>
            <a:ext cx="2219846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官方 postgres image 看到空的資料目錄 → 執行 initdb</a:t>
            </a:r>
            <a:endParaRPr lang="en-US" sz="1250" dirty="0"/>
          </a:p>
        </p:txBody>
      </p:sp>
      <p:pic>
        <p:nvPicPr>
          <p:cNvPr id="11" name="Image 2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6300" y="1584672"/>
            <a:ext cx="279400" cy="1651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315075" y="1000125"/>
            <a:ext cx="2463800" cy="1334135"/>
          </a:xfrm>
          <a:prstGeom prst="roundRect">
            <a:avLst>
              <a:gd name="adj" fmla="val 737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469380" y="1154460"/>
            <a:ext cx="221984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種子資料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469380" y="1465610"/>
            <a:ext cx="2219846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 ConfigMap 的 01-schema.sql → table 重建、種子資料塞回去</a:t>
            </a:r>
            <a:endParaRPr lang="en-US" sz="1250" dirty="0"/>
          </a:p>
        </p:txBody>
      </p:sp>
      <p:pic>
        <p:nvPicPr>
          <p:cNvPr id="15" name="Image 3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58250" y="1584672"/>
            <a:ext cx="279400" cy="1651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9217025" y="1238250"/>
            <a:ext cx="2463800" cy="857885"/>
          </a:xfrm>
          <a:prstGeom prst="roundRect">
            <a:avLst>
              <a:gd name="adj" fmla="val 11473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9371330" y="1392585"/>
            <a:ext cx="221984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看起來正常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9371330" y="1703735"/>
            <a:ext cx="2219846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一個「有資料」的正常資料庫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508000" y="2540645"/>
            <a:ext cx="115112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legacy-writer 也一樣：檔案時間戳記從 </a:t>
            </a:r>
            <a:r>
              <a:rPr lang="en-US" sz="130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08:33:01</a:t>
            </a: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（原始）變成 </a:t>
            </a:r>
            <a:r>
              <a:rPr lang="en-US" sz="130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08:36:07</a:t>
            </a: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（還原後重新寫的）。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11175" y="2994670"/>
            <a:ext cx="11169650" cy="2907665"/>
          </a:xfrm>
          <a:prstGeom prst="roundRect">
            <a:avLst>
              <a:gd name="adj" fmla="val 3385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90880" y="3174355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防範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690880" y="3485505"/>
            <a:ext cx="1113454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驗證腳本要查「災難前才存在、不可能自動重生」的資料（業務資料、時間戳記早於備份時間的紀錄），</a:t>
            </a:r>
            <a:r>
              <a:rPr lang="en-US" sz="1350" b="1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不是查 table 在不在</a:t>
            </a:r>
            <a:r>
              <a:rPr lang="en-US" sz="13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，也不是 </a:t>
            </a:r>
            <a:r>
              <a:rPr lang="en-US" sz="13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count(*) &gt; 0</a:t>
            </a:r>
            <a:r>
              <a:rPr lang="en-US" sz="13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350" dirty="0"/>
          </a:p>
        </p:txBody>
      </p:sp>
      <p:pic>
        <p:nvPicPr>
          <p:cNvPr id="23" name="Image 4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 · Backup 的陷阱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 2：Secret 遺失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5511800" cy="2102168"/>
          </a:xfrm>
          <a:prstGeom prst="roundRect">
            <a:avLst>
              <a:gd name="adj" fmla="val 4833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52585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症狀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1200" y="1451620"/>
            <a:ext cx="5258562" cy="1084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$ kubectl get pods -n dr-pitfall-nosecret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postgres-...  0/1  CreateContainerConfigError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$ kubectl ... get events --field-selector reason=Failed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Error: secret "postgres-secret" not found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172200" y="996950"/>
            <a:ext cx="5511800" cy="2102168"/>
          </a:xfrm>
          <a:prstGeom prst="roundRect">
            <a:avLst>
              <a:gd name="adj" fmla="val 4833"/>
            </a:avLst>
          </a:prstGeom>
          <a:solidFill>
            <a:srgbClr val="0F2E45"/>
          </a:solidFill>
          <a:ln/>
        </p:spPr>
      </p:sp>
      <p:sp>
        <p:nvSpPr>
          <p:cNvPr id="8" name="Text 5"/>
          <p:cNvSpPr/>
          <p:nvPr/>
        </p:nvSpPr>
        <p:spPr>
          <a:xfrm>
            <a:off x="6375400" y="1162050"/>
            <a:ext cx="525856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修復：只從完整備份補還原 Secret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75400" y="1451620"/>
            <a:ext cx="5258562" cy="150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 restore create pitfall-restore-secret-only 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--from-backup pitfall-full 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--include-resources secrets 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--namespace-mappings dr-pitfall:dr-pitfall-nosecret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postgres-...  1/1  Running  </a:t>
            </a:r>
            <a:r>
              <a:rPr lang="en-US" sz="1150" dirty="0">
                <a:solidFill>
                  <a:srgbClr val="F2B35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← kubelet 自動重試成功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ORDER-1001 / 1002 / 1003   </a:t>
            </a:r>
            <a:r>
              <a:rPr lang="en-US" sz="1150" dirty="0">
                <a:solidFill>
                  <a:srgbClr val="F2B35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← 資料完整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11175" y="3305522"/>
            <a:ext cx="11169650" cy="2596833"/>
          </a:xfrm>
          <a:prstGeom prst="roundRect">
            <a:avLst>
              <a:gd name="adj" fmla="val 3790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0880" y="3485207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真實世界的變形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90880" y="3796357"/>
            <a:ext cx="1113454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很多團隊為了「備份檔不要有密碼」刻意排除 Secret，改用 External Secrets / Vault 管理。這是好做法，但</a:t>
            </a:r>
            <a:r>
              <a:rPr lang="en-US" sz="1300" b="1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還原前 Vault 必須先可用，而且 ExternalSecret 物件要在備份裡</a:t>
            </a:r>
            <a:r>
              <a:rPr lang="en-US" sz="13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，否則就是這個情境。</a:t>
            </a:r>
            <a:endParaRPr lang="en-US" sz="1300" dirty="0"/>
          </a:p>
        </p:txBody>
      </p:sp>
      <p:pic>
        <p:nvPicPr>
          <p:cNvPr id="13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 · Backup 的陷阱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 3：ConfigMap 遺失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1600835"/>
          </a:xfrm>
          <a:prstGeom prst="roundRect">
            <a:avLst>
              <a:gd name="adj" fmla="val 6347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1296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$ kubectl get pods,cm -n dr-pitfall-nocm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pod/postgres-5bf9b8b7cc-mqdnh  0/1  ContainerCreating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configmap/kube-root-ca.crt     1                       </a:t>
            </a:r>
            <a:r>
              <a:rPr lang="en-US" sz="1150" dirty="0">
                <a:solidFill>
                  <a:srgbClr val="F2B35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← 只有 K8s 自動產生的那一個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$ kubectl ... get events --field-selector reason=FailedMount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MountVolume.SetUp failed for volume "init-sql" : configmap "postgres-init-sql" not found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2811155"/>
          <a:ext cx="6949440" cy="990600"/>
        </p:xfrm>
        <a:graphic>
          <a:graphicData uri="http://schemas.openxmlformats.org/drawingml/2006/table">
            <a:tbl>
              <a:tblPr/>
              <a:tblGrid>
                <a:gridCol w="2084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4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9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缺什麼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症狀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 / ConfigMap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 / envFrom 引用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CreateContainerConfigError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 / ConfigMap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當作 volume 掛載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ContainerCreating + FailedMount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623175" y="2804170"/>
            <a:ext cx="4057650" cy="1384935"/>
          </a:xfrm>
          <a:prstGeom prst="roundRect">
            <a:avLst>
              <a:gd name="adj" fmla="val 7107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802880" y="2983855"/>
            <a:ext cx="38091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應用執行時不需要 ≠ 還原時可以不要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802880" y="3295005"/>
            <a:ext cx="3809187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這個 ConfigMap 只在第一次 initdb 時有用，資料回來後根本用不到。但 Pod spec 宣告了要掛載，kubelet 就會一直等。</a:t>
            </a:r>
            <a:endParaRPr lang="en-US" sz="1250" dirty="0"/>
          </a:p>
        </p:txBody>
      </p:sp>
      <p:pic>
        <p:nvPicPr>
          <p:cNvPr id="10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 · Backup 的陷阱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 4：StorageClass 不存在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8000" y="996950"/>
            <a:ext cx="115112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真實情境：舊叢集的 SC 叫 </a:t>
            </a:r>
            <a:r>
              <a:rPr lang="en-US" sz="130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ceph-block-ssd</a:t>
            </a: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，新叢集改名為 </a:t>
            </a:r>
            <a:r>
              <a:rPr lang="en-US" sz="130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rook-ceph-block</a:t>
            </a: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。重現：建立 legacy SC → 備份 → 刪除 SC → 還原。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08000" y="1447800"/>
            <a:ext cx="11176000" cy="2659698"/>
          </a:xfrm>
          <a:prstGeom prst="roundRect">
            <a:avLst>
              <a:gd name="adj" fmla="val 3820"/>
            </a:avLst>
          </a:prstGeom>
          <a:solidFill>
            <a:srgbClr val="0F2E45"/>
          </a:solidFill>
          <a:ln/>
        </p:spPr>
      </p:sp>
      <p:sp>
        <p:nvSpPr>
          <p:cNvPr id="6" name="Text 3"/>
          <p:cNvSpPr/>
          <p:nvPr/>
        </p:nvSpPr>
        <p:spPr>
          <a:xfrm>
            <a:off x="711200" y="1612900"/>
            <a:ext cx="11092688" cy="2354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$ kubectl get pvc -n dr-pitfall-nosc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legacy-data    Pending  rook-ceph-block-legacy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postgres-data  Bound    rook-ceph-block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$ kubectl ... describe pvc legacy-data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Warning ProvisioningFailed  storageclass "rook-ceph-block-legacy" not found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$ velero restore describe pitfall-restore-no-sc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Phase:  PartiallyFailed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Errors: ... error to wait for PVC: error to get storage class rook-ceph-block-legacy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Restore Item Operations:  1 of 2 completed successfully, 1 failed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11175" y="4313882"/>
            <a:ext cx="11169650" cy="1588453"/>
          </a:xfrm>
          <a:prstGeom prst="roundRect">
            <a:avLst>
              <a:gd name="adj" fmla="val 6196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880" y="4493568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沒加 --item-operation-timeout 的話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90880" y="4804718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這個 Restore 會卡在 WaitingForPluginOperations 最多 </a:t>
            </a:r>
            <a:r>
              <a:rPr lang="en-US" sz="1300" b="1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小時</a:t>
            </a:r>
            <a:r>
              <a:rPr lang="en-US" sz="13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（預設值）才失敗。</a:t>
            </a:r>
            <a:endParaRPr lang="en-US" sz="1300" dirty="0"/>
          </a:p>
        </p:txBody>
      </p:sp>
      <p:pic>
        <p:nvPicPr>
          <p:cNvPr id="10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 · Backup 的陷阱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 4 解法：change-storage-class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6832600" cy="2747963"/>
          </a:xfrm>
          <a:prstGeom prst="roundRect">
            <a:avLst>
              <a:gd name="adj" fmla="val 3697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6618986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apiVersion: v1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kind: ConfigMap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metadata: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name: change-storage-class-config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namespace: velero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labels: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velero.io/plugin-config: ""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velero.io/change-storage-class: RestoreItemAction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data: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rook-ceph-block-legacy: rook-ceph-block  </a:t>
            </a:r>
            <a:r>
              <a:rPr lang="en-US" sz="1150" dirty="0">
                <a:solidFill>
                  <a:srgbClr val="F2B35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← 舊名 → 新名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493000" y="996950"/>
            <a:ext cx="4191000" cy="1255078"/>
          </a:xfrm>
          <a:prstGeom prst="roundRect">
            <a:avLst>
              <a:gd name="adj" fmla="val 8095"/>
            </a:avLst>
          </a:prstGeom>
          <a:solidFill>
            <a:srgbClr val="0F2E45"/>
          </a:solidFill>
          <a:ln/>
        </p:spPr>
      </p:sp>
      <p:sp>
        <p:nvSpPr>
          <p:cNvPr id="7" name="Text 4"/>
          <p:cNvSpPr/>
          <p:nvPr/>
        </p:nvSpPr>
        <p:spPr>
          <a:xfrm>
            <a:off x="7696200" y="1162050"/>
            <a:ext cx="389813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還原結果：Completed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96200" y="1451620"/>
            <a:ext cx="3898138" cy="66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$ kubectl get pvc -n dr-pitfall-scfixed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legacy-data    Bound  rook-ceph-block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postgres-data  Bound  rook-ceph-block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496175" y="2356793"/>
            <a:ext cx="4184650" cy="1384935"/>
          </a:xfrm>
          <a:prstGeom prst="roundRect">
            <a:avLst>
              <a:gd name="adj" fmla="val 7107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75880" y="2536527"/>
            <a:ext cx="393999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全域設定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675880" y="2847677"/>
            <a:ext cx="3939997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這個 ConfigMap 對之後所有 Restore 都生效。應納入版本控管，用完就刪，不要留一份沒人記得的在叢集裡。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8000" y="3948112"/>
            <a:ext cx="11511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但是：legacy-data 裡的檔案呢？這就帶出了下一個情境。</a:t>
            </a:r>
            <a:endParaRPr lang="en-US" sz="1400" dirty="0"/>
          </a:p>
        </p:txBody>
      </p:sp>
      <p:pic>
        <p:nvPicPr>
          <p:cNvPr id="13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 · Backup 的陷阱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 5：快照拍到還沒寫進磁碟的資料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1177290"/>
          </a:xfrm>
          <a:prstGeom prst="roundRect">
            <a:avLst>
              <a:gd name="adj" fmla="val 8630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872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$ ... -n dr-pitfall-scfixed exec deploy/legacy-writer -- ls -la /data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-rw-r--r-- 1 root root  0 Sep 23 08:33 legacy.txt </a:t>
            </a:r>
            <a:r>
              <a:rPr lang="en-US" sz="1150" dirty="0">
                <a:solidFill>
                  <a:srgbClr val="F2B35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← 0 bytes！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$ ... -n dr-pitfall exec deploy/legacy-writer -- ls -la /data   （來源）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-rw-r--r-- 1 root root 56 Sep 23 08:33 legacy.txt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08000" y="2377430"/>
            <a:ext cx="11176000" cy="1466850"/>
          </a:xfrm>
          <a:prstGeom prst="roundRect">
            <a:avLst>
              <a:gd name="adj" fmla="val 6926"/>
            </a:avLst>
          </a:prstGeom>
          <a:solidFill>
            <a:srgbClr val="0F2E45"/>
          </a:solidFill>
          <a:ln/>
        </p:spPr>
      </p:sp>
      <p:sp>
        <p:nvSpPr>
          <p:cNvPr id="7" name="Text 4"/>
          <p:cNvSpPr/>
          <p:nvPr/>
        </p:nvSpPr>
        <p:spPr>
          <a:xfrm>
            <a:off x="711200" y="2542530"/>
            <a:ext cx="110926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時間軸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1200" y="2832100"/>
            <a:ext cx="11092688" cy="872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08:33:01  legacy-writer 寫入 legacy.txt（56 bytes）→ 資料進入節點的 page cache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08:33:16  velero backup create pitfall-full → 幾秒後拍 CSI 快照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      ├ ext4 journal 每 5 秒提交 → 「檔案存在」已經落盤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      └ 檔案內容（delayed allocation）預設最多 30 秒才寫回 → 快照拍到 0 bytes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11175" y="4050655"/>
            <a:ext cx="11169650" cy="1851660"/>
          </a:xfrm>
          <a:prstGeom prst="roundRect">
            <a:avLst>
              <a:gd name="adj" fmla="val 5316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0880" y="4230390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crash-consistent，不是 application-consistent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90880" y="4541540"/>
            <a:ext cx="11134547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 Snapshot 拍的是區塊裝置，不是應用程式的記憶體，跟突然拔電一樣。PostgreSQL 沒事，是因為每次 COMMIT 都會 fsync；一般應用程式寫檔通常不會。</a:t>
            </a:r>
            <a:endParaRPr lang="en-US" sz="1250" dirty="0"/>
          </a:p>
        </p:txBody>
      </p:sp>
      <p:pic>
        <p:nvPicPr>
          <p:cNvPr id="12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 · Backup 的陷阱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 5：A/B 驗證與 sync hook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5080000" cy="2949258"/>
          </a:xfrm>
          <a:prstGeom prst="roundRect">
            <a:avLst>
              <a:gd name="adj" fmla="val 3445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48138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寫入後立刻備份，還原後比較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11200" y="1451620"/>
            <a:ext cx="4813808" cy="1719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== no-hook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-rw-r--r-- 1 root root  0 Sep 23 08:43 flush-test.txt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== with-hook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-rw-r--r-- 1 root root 48 Sep 23 08:44 flush-test.txt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FLUSH-TEST-HOOK Wed Sep 23 08:44:33 AM UTC 2026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describe pitfall-with-hook: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HooksAttempted: 2, HooksFailed: 0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740400" y="996950"/>
            <a:ext cx="5943600" cy="2949258"/>
          </a:xfrm>
          <a:prstGeom prst="roundRect">
            <a:avLst>
              <a:gd name="adj" fmla="val 3445"/>
            </a:avLst>
          </a:prstGeom>
          <a:solidFill>
            <a:srgbClr val="0F2E45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162050"/>
            <a:ext cx="57033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backup-with-sync-hook.yaml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0" y="1451620"/>
            <a:ext cx="5703316" cy="2354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spec: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hooks: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resources: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  - name: flush-page-cache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    includedNamespaces: ["dr-pitfall"]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    labelSelector: { app in [postgres, legacy-writer] }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    pre: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      - exec: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          command: ["/bin/sh","-c","sync &amp;&amp; echo synced"]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          onError: Fail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          timeout: 30s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8000" y="4149427"/>
            <a:ext cx="11176000" cy="1466850"/>
          </a:xfrm>
          <a:prstGeom prst="roundRect">
            <a:avLst>
              <a:gd name="adj" fmla="val 6926"/>
            </a:avLst>
          </a:prstGeom>
          <a:solidFill>
            <a:srgbClr val="0F2E45"/>
          </a:solidFill>
          <a:ln/>
        </p:spPr>
      </p:sp>
      <p:sp>
        <p:nvSpPr>
          <p:cNvPr id="11" name="Text 8"/>
          <p:cNvSpPr/>
          <p:nvPr/>
        </p:nvSpPr>
        <p:spPr>
          <a:xfrm>
            <a:off x="711200" y="4314527"/>
            <a:ext cx="110926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或寫在 Pod template annotation（不用每份 Backup 都寫）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11200" y="4604097"/>
            <a:ext cx="11092688" cy="872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metadata: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annotations: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pre.hook.backup.velero.io/command: '["/bin/sh", "-c", "sync"]'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pre.hook.backup.velero.io/timeout: 30s</a:t>
            </a:r>
            <a:endParaRPr lang="en-US" sz="1150" dirty="0"/>
          </a:p>
        </p:txBody>
      </p:sp>
      <p:pic>
        <p:nvPicPr>
          <p:cNvPr id="13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 · Backup 的陷阱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一致性等級（由弱到強）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1939925"/>
        </p:xfrm>
        <a:graphic>
          <a:graphicData uri="http://schemas.openxmlformats.org/drawingml/2006/table">
            <a:tbl>
              <a:tblPr/>
              <a:tblGrid>
                <a:gridCol w="4912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9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做法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一致性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適用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什麼都不做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crash-consistent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本身會 fsync 的資料庫（勉強可接受）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sync hook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已寫入的資料都落盤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一般寫檔的應用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fsfreeze --freeze / --unfreeze（pre / post hook）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快照期間檔案系統凍結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需要嚴格時間點一致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資料庫原生：pg_dump、CHECKPOINT、MySQL FLUSH TABLES WITH READ LOCK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application-consistent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正式環境資料庫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3150245"/>
            <a:ext cx="11511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正式環境的資料庫，建議 Velero Volume 備份之外</a:t>
            </a:r>
            <a:r>
              <a:rPr lang="en-US" sz="1400" b="1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再加一份資料庫原生備份</a:t>
            </a: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40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 · Backup 的陷阱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 / Resource Dependency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2311400"/>
        </p:xfrm>
        <a:graphic>
          <a:graphicData uri="http://schemas.openxmlformats.org/drawingml/2006/table">
            <a:tbl>
              <a:tblPr/>
              <a:tblGrid>
                <a:gridCol w="2679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3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3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依賴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例子（本課程 7 個產品）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只還原單一 namespace 會怎樣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跨 namespace 連線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cloudbeaver 連 flarum / planka / peertube 的 DB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cloudbeaver 回來了，但對面的 DB 不在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共用 Gateway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所有 HTTPRoute parentRefs: dev-gateway（default ns）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HTTPRoute 還原成功但 Accepted=False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Namespace label + NetworkPolicy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cloudbeaver 的 namespaceSelector 靠 label 放行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 沒回來 → 流量被擋；Cilium 要 label 比 Pod 先存在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Cluster-scoped 資源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StorageClass、ClusterRole、CRD、IngressClass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預設不會跟著 namespace 備份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CRD 與 Operator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Rook 的 CephCluster、cert-manager 的 Certificate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CRD 在但 Operator 沒跑 → 物件沒人處理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TLS 憑證 Secret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default/gateway-tls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在別的 namespace，不會跟著應用備份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3521720"/>
            <a:ext cx="115112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防範：</a:t>
            </a: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為每個應用寫一張「依賴清單」，演練時逐項確認；或把有依賴關係的 namespace 放進同一份備份。</a:t>
            </a:r>
            <a:endParaRPr lang="en-US" sz="130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 · Backup 的陷阱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後 Pod Running，但 Application 仍然不能用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2739390"/>
        </p:xfrm>
        <a:graphic>
          <a:graphicData uri="http://schemas.openxmlformats.org/drawingml/2006/table">
            <a:tbl>
              <a:tblPr/>
              <a:tblGrid>
                <a:gridCol w="2679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6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963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情境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發生在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症狀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原因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33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「已安裝」標記跟 DB 不同步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flarum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settings table doesn't exist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標記檔在 assets PVC、資料在 mysql PVC，時間點不同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密碼被改過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planka / mysql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password authentication failed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官方 image 只在首次 initdb 套用密碼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一次性管理員密碼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peertube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無法登入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 密碼只在首次啟動印在 log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外部依賴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onlyoffice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 飆高、功能異常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NetworkPolicy 擋住對外連線，背景無限重試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Probe 太嚴格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mysql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recovery 中被 liveness 殺掉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initialDelaySeconds 小於 recovery 時間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DNS / Hostname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瀏覽器連不到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hostname 與新叢集 DNS / Gateway IP 不一致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資料不一致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+ DB 分開存放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檔案有、DB 紀錄沒有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兩個 PVC 快照時間點不同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 · Backup 的陷阱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總整理：還原後的症狀 → 先懷疑什麼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3168650"/>
        </p:xfrm>
        <a:graphic>
          <a:graphicData uri="http://schemas.openxmlformats.org/drawingml/2006/table">
            <a:tbl>
              <a:tblPr/>
              <a:tblGrid>
                <a:gridCol w="3796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9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9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還原後症狀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第一個要懷疑的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怎麼確認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 Running、資料空的或只有預設資料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沒備份 Volume，或 restorePVs: false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describe --details 的 Backup Volumes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CreateContainerConfigError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 引用的 Secret / ConfigMap 不存在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describe pod → Events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ContainerCreating + FailedMount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 掛載的 Secret / ConfigMap / PVC 不存在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PVC Pending + ProvisioningFailed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StorageClass 不存在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get sc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卡在 WaitingForPluginOperations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Mover 下載中，或 PVC 無法 Bound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-n velero get datadownloads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Restore PartiallyFailed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看 Errors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restore logs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檔案在但 0 bytes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快照前資料未落盤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 pre-backup hook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HTTPRoute 沒作用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Gateway 不存在 / 不在同一份還原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httproute status.parents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連不到其他 namespace 的服務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NetworkPolicy / namespace label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get ns --show-labels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 · Backup 的陷阱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練習與清理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6699250" cy="863600"/>
          </a:xfrm>
          <a:prstGeom prst="roundRect">
            <a:avLst>
              <a:gd name="adj" fmla="val 1139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2780" y="1141760"/>
            <a:ext cx="6608521" cy="198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71"/>
              </a:lnSpc>
              <a:buNone/>
            </a:pPr>
            <a:r>
              <a:rPr lang="en-US" sz="1054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1</a:t>
            </a:r>
            <a:endParaRPr lang="en-US" sz="1054" dirty="0"/>
          </a:p>
        </p:txBody>
      </p:sp>
      <p:sp>
        <p:nvSpPr>
          <p:cNvPr id="6" name="Text 3"/>
          <p:cNvSpPr/>
          <p:nvPr/>
        </p:nvSpPr>
        <p:spPr>
          <a:xfrm>
            <a:off x="652780" y="1378843"/>
            <a:ext cx="6608521" cy="368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16"/>
              </a:lnSpc>
              <a:buNone/>
            </a:pPr>
            <a:r>
              <a:rPr lang="en-US" sz="1144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做一份 --exclude-resources persistentvolumeclaims 的備份並還原。症狀跟情境 1 一樣嗎？為什麼？</a:t>
            </a:r>
            <a:endParaRPr lang="en-US" sz="1144" dirty="0"/>
          </a:p>
        </p:txBody>
      </p:sp>
      <p:sp>
        <p:nvSpPr>
          <p:cNvPr id="7" name="Shape 4"/>
          <p:cNvSpPr/>
          <p:nvPr/>
        </p:nvSpPr>
        <p:spPr>
          <a:xfrm>
            <a:off x="511175" y="1958975"/>
            <a:ext cx="6699250" cy="863600"/>
          </a:xfrm>
          <a:prstGeom prst="roundRect">
            <a:avLst>
              <a:gd name="adj" fmla="val 1139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2780" y="2100610"/>
            <a:ext cx="660852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2780" y="2395240"/>
            <a:ext cx="660852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change-storage-class 忘記刪，一個月後同事還原無關的備份，會受影響嗎？（看 data 的 key）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11175" y="2917825"/>
            <a:ext cx="6699250" cy="863600"/>
          </a:xfrm>
          <a:prstGeom prst="roundRect">
            <a:avLst>
              <a:gd name="adj" fmla="val 1139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2780" y="3059460"/>
            <a:ext cx="660852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3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2780" y="3354090"/>
            <a:ext cx="660852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改寫 04-legacy-volume.yaml，用 Pod annotation 加 sync hook，重做 A/B 實驗。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11175" y="3876675"/>
            <a:ext cx="6699250" cy="863600"/>
          </a:xfrm>
          <a:prstGeom prst="roundRect">
            <a:avLst>
              <a:gd name="adj" fmla="val 11397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2780" y="4018310"/>
            <a:ext cx="660852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4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2780" y="4312940"/>
            <a:ext cx="660852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替 dr-pitfall 寫驗證腳本，必須偵測出情境 1：檢查 ORDER-1001 存在，而不是 count(*) &gt; 0。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66000" y="996950"/>
            <a:ext cx="4318000" cy="3746500"/>
          </a:xfrm>
          <a:prstGeom prst="roundRect">
            <a:avLst>
              <a:gd name="adj" fmla="val 2712"/>
            </a:avLst>
          </a:prstGeom>
          <a:solidFill>
            <a:srgbClr val="0F2E45"/>
          </a:solidFill>
          <a:ln/>
        </p:spPr>
      </p:sp>
      <p:sp>
        <p:nvSpPr>
          <p:cNvPr id="17" name="Text 14"/>
          <p:cNvSpPr/>
          <p:nvPr/>
        </p:nvSpPr>
        <p:spPr>
          <a:xfrm>
            <a:off x="7569200" y="1162050"/>
            <a:ext cx="40289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清理（講師 / 課後）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569200" y="1451620"/>
            <a:ext cx="4028948" cy="2354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delete ns dr-pitfall-nodata 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dr-pitfall-nosecret dr-pitfall-nocm 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dr-pitfall-nosc dr-pitfall-scfixed 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--ignore-not-found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delete ns dr-pitfall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delete sc rook-ceph-block-legacy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for b in pitfall-full pitfall-no-data 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pitfall-no-secret pitfall-no-configmap 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pitfall-no-hook pitfall-with-hook; do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velero backup delete "$b" --confirm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done</a:t>
            </a:r>
            <a:endParaRPr lang="en-US" sz="1150" dirty="0"/>
          </a:p>
        </p:txBody>
      </p:sp>
      <p:pic>
        <p:nvPicPr>
          <p:cNvPr id="19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5 · Backup 的陷阱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38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81225"/>
            <a:ext cx="9156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3298825"/>
            <a:ext cx="9156700" cy="6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3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etcd 備份與還原策略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508000" y="4140845"/>
            <a:ext cx="798116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191645"/>
            <a:ext cx="518716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58516" y="4164955"/>
            <a:ext cx="5361739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保護的是應用；etcd snapshot 保護的是叢集本身。</a:t>
            </a:r>
            <a:endParaRPr lang="en-US" sz="1600" dirty="0"/>
          </a:p>
        </p:txBody>
      </p:sp>
      <p:pic>
        <p:nvPicPr>
          <p:cNvPr id="8" name="Image 1" descr="AIC AIoT Cloud"/>
          <p:cNvPicPr>
            <a:picLocks noChangeAspect="1"/>
          </p:cNvPicPr>
          <p:nvPr/>
        </p:nvPicPr>
        <p:blipFill>
          <a:blip r:embed="rId4"/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在 Kubernetes 中扮演什麼角色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1365250" cy="628650"/>
          </a:xfrm>
          <a:prstGeom prst="roundRect">
            <a:avLst>
              <a:gd name="adj" fmla="val 1565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7380" y="1116360"/>
            <a:ext cx="118364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/ Velero / Controller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958975" y="1000125"/>
            <a:ext cx="1365250" cy="628650"/>
          </a:xfrm>
          <a:prstGeom prst="roundRect">
            <a:avLst>
              <a:gd name="adj" fmla="val 1565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75180" y="1116360"/>
            <a:ext cx="11836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06775" y="1000125"/>
            <a:ext cx="1365250" cy="628650"/>
          </a:xfrm>
          <a:prstGeom prst="roundRect">
            <a:avLst>
              <a:gd name="adj" fmla="val 1565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22980" y="1116360"/>
            <a:ext cx="118364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controller-manager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54575" y="1000125"/>
            <a:ext cx="1365250" cy="628650"/>
          </a:xfrm>
          <a:prstGeom prst="roundRect">
            <a:avLst>
              <a:gd name="adj" fmla="val 1565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70780" y="1116360"/>
            <a:ext cx="1183640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kubelet</a:t>
            </a:r>
            <a:endParaRPr lang="en-US" sz="1200" dirty="0"/>
          </a:p>
        </p:txBody>
      </p:sp>
      <p:pic>
        <p:nvPicPr>
          <p:cNvPr id="12" name="Image 1" descr="arrow-down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76600" y="1695450"/>
            <a:ext cx="177800" cy="254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11175" y="2016125"/>
            <a:ext cx="5708650" cy="832485"/>
          </a:xfrm>
          <a:prstGeom prst="roundRect">
            <a:avLst>
              <a:gd name="adj" fmla="val 11823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2780" y="2157760"/>
            <a:ext cx="558820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kube-apiserver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52780" y="2468910"/>
            <a:ext cx="5588203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唯一直接讀寫 etcd 的元件</a:t>
            </a:r>
            <a:endParaRPr lang="en-US" sz="1250" dirty="0"/>
          </a:p>
        </p:txBody>
      </p:sp>
      <p:pic>
        <p:nvPicPr>
          <p:cNvPr id="16" name="Image 2" descr="arrow-down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76600" y="2915295"/>
            <a:ext cx="177800" cy="2540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08000" y="3232795"/>
            <a:ext cx="5715000" cy="828675"/>
          </a:xfrm>
          <a:prstGeom prst="roundRect">
            <a:avLst>
              <a:gd name="adj" fmla="val 12261"/>
            </a:avLst>
          </a:prstGeom>
          <a:solidFill>
            <a:srgbClr val="12517C"/>
          </a:solidFill>
          <a:ln/>
        </p:spPr>
      </p:sp>
      <p:sp>
        <p:nvSpPr>
          <p:cNvPr id="18" name="Text 13"/>
          <p:cNvSpPr/>
          <p:nvPr/>
        </p:nvSpPr>
        <p:spPr>
          <a:xfrm>
            <a:off x="647700" y="3372495"/>
            <a:ext cx="559866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700" y="3683645"/>
            <a:ext cx="5598668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D4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唯一的狀態儲存（Raft 共識的強一致 key/value）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78575" y="1000125"/>
            <a:ext cx="5302250" cy="1475105"/>
          </a:xfrm>
          <a:prstGeom prst="roundRect">
            <a:avLst>
              <a:gd name="adj" fmla="val 667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558280" y="1179860"/>
            <a:ext cx="509112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掛了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558280" y="1491010"/>
            <a:ext cx="5091125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 無法讀寫 → kubectl 全部失敗、Controller 停擺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558280" y="1792635"/>
            <a:ext cx="5091125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已經在跑的容器不會馬上停：kubelet 繼續維持現有 Pod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6378575" y="2583210"/>
            <a:ext cx="5302250" cy="1475105"/>
          </a:xfrm>
          <a:prstGeom prst="roundRect">
            <a:avLst>
              <a:gd name="adj" fmla="val 6672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558280" y="2762895"/>
            <a:ext cx="509112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個成員容忍 1 個故障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558280" y="3074045"/>
            <a:ext cx="5091125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需要多數 = 2 票。2 個同時掛掉 → 失去 quorum → 整個 etcd 不可用。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508000" y="4264670"/>
            <a:ext cx="11511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災難的典型特徵：</a:t>
            </a: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服務還在，但什麼都不能改</a:t>
            </a: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400" dirty="0"/>
          </a:p>
        </p:txBody>
      </p:sp>
      <p:pic>
        <p:nvPicPr>
          <p:cNvPr id="28" name="Image 3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6 · etcd 備份與還原策略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1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這座叢集的 etcd 長什麼樣子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3168650"/>
        </p:xfrm>
        <a:graphic>
          <a:graphicData uri="http://schemas.openxmlformats.org/drawingml/2006/table">
            <a:tbl>
              <a:tblPr/>
              <a:tblGrid>
                <a:gridCol w="2233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9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3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項目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對備份 / 還原的意義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拓樸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stacked：k8s01~03 各跑一個 etcd static Pod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還原時 3 台都要處理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版本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registry.k8s.io/etcd:3.6.6-0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用同版本的 etcdctl / etcdutl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資料目錄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--data-dir=/var/lib/etcd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還原會產生新的資料目錄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URL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https://127.0.0.1:2379、https://10.90.1.8x:2379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備份要在 control-plane 節點上連 127.0.0.1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憑證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/etc/kubernetes/pki/etcd/{ca,server,peer}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連線要 mTLS；憑證本身不在 snapshot 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Pod manifest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/etc/kubernetes/manifests/etcd.yaml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還原時靠「移走 manifest」停止 etcd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Server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--etcd-servers=https://127.0.0.1:2379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每台 API Server 只連本機 etcd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 加密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--encryption-provider-config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裡的 Secret 是密文，金鑰必須另外備份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kube-vip 10.90.1.80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還原期間 API 不通，VIP 會在節點間漂移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6 · etcd 備份與還原策略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講師課前：查看成員狀態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2760980"/>
          </a:xfrm>
          <a:prstGeom prst="roundRect">
            <a:avLst>
              <a:gd name="adj" fmla="val 3680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2456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透過 etcd Pod 執行（etcd image 內含 etcdctl）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-n kube-system exec etcd-k8s01 -- etcdctl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--endpoints=https://10.90.1.81:2379,https://10.90.1.82:2379,https://10.90.1.83:2379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--cacert=/etc/kubernetes/pki/etcd/ca.crt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--cert=/etc/kubernetes/pki/etcd/server.crt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--key=/etc/kubernetes/pki/etcd/server.key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member list -w table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同樣的 TLS 參數，把 member list 換成：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   endpoint status -w table   → 看 leader、DB 大小、raft index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   endpoint health -w table   → 看每個成員是否健康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11175" y="3964335"/>
            <a:ext cx="11169650" cy="1938020"/>
          </a:xfrm>
          <a:prstGeom prst="roundRect">
            <a:avLst>
              <a:gd name="adj" fmla="val 5079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880" y="4144020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講師自行實測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0880" y="4455170"/>
            <a:ext cx="11134547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撰寫文件時權限政策不允許直接對 etcd 執行指令，所以這裡沒有附實測輸出。請課前跑一次並記錄 DB 大小，作為估算備份檔大小與還原時間的依據。</a:t>
            </a:r>
            <a:endParaRPr lang="en-US" sz="1250" dirty="0"/>
          </a:p>
        </p:txBody>
      </p:sp>
      <p:pic>
        <p:nvPicPr>
          <p:cNvPr id="9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6 · etcd 備份與還原策略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1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Snapshot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7213600" cy="3351530"/>
          </a:xfrm>
          <a:prstGeom prst="roundRect">
            <a:avLst>
              <a:gd name="adj" fmla="val 3031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7011416" cy="1719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ETCDCTL_API=3 etcdctl snapshot save /backup/snapshot.db 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--endpoints=https://127.0.0.1:2379 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--cacert=/etc/kubernetes/pki/etcd/ca.crt 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--cert=/etc/kubernetes/pki/etcd/server.crt 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--key=/etc/kubernetes/pki/etcd/server.key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etcdutl snapshot status /backup/snapshot.db --write-out=table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| HASH | REVISION | TOTAL KEYS | TOTAL SIZE |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877175" y="1000125"/>
            <a:ext cx="3803650" cy="1051560"/>
          </a:xfrm>
          <a:prstGeom prst="roundRect">
            <a:avLst>
              <a:gd name="adj" fmla="val 936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18780" y="1141760"/>
            <a:ext cx="362605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線上操作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18780" y="1452910"/>
            <a:ext cx="362605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不需要停 etcd，對叢集幾乎沒有影響；從任一健康成員拍都是完整叢集狀態。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77175" y="2146945"/>
            <a:ext cx="3803650" cy="1051560"/>
          </a:xfrm>
          <a:prstGeom prst="roundRect">
            <a:avLst>
              <a:gd name="adj" fmla="val 9360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18780" y="2288530"/>
            <a:ext cx="362605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etcdctl vs etcdutl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18780" y="2599680"/>
            <a:ext cx="362605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etcdctl 連線做 save；etcdutl 離線做 status / restore。etcdctl snapshot restore 在 3.6 已移除。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77175" y="3293765"/>
            <a:ext cx="3803650" cy="1051560"/>
          </a:xfrm>
          <a:prstGeom prst="roundRect">
            <a:avLst>
              <a:gd name="adj" fmla="val 936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18780" y="3435350"/>
            <a:ext cx="362605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distroless image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018780" y="3746500"/>
            <a:ext cx="362605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官方 etcd image 沒有 shell，所以 CronJob 把「拍 snapshot」和「上傳」拆成兩個容器。</a:t>
            </a:r>
            <a:endParaRPr lang="en-US" sz="1200" dirty="0"/>
          </a:p>
        </p:txBody>
      </p:sp>
      <p:pic>
        <p:nvPicPr>
          <p:cNvPr id="1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6 · etcd 備份與還原策略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只有一半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1717675"/>
        </p:xfrm>
        <a:graphic>
          <a:graphicData uri="http://schemas.openxmlformats.org/drawingml/2006/table">
            <a:tbl>
              <a:tblPr/>
              <a:tblGrid>
                <a:gridCol w="5136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以外必須備份的檔案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少了它會怎樣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/etc/kubernetes/encryption-config.yaml（+ encryption/）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Server 讀不出任何 Secret（Internal error: failed to decrypt）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/etc/kubernetes/pki/ca.*、sa.*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所有 kubeconfig、ServiceAccount token 失效；kubelet 連不上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/etc/kubernetes/pki/etcd/*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成員之間、API Server 到 etcd 的 mTLS 無法建立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/etc/kubernetes/manifests/*.yaml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不知道原本的 API Server / etcd 啟動參數（audit、OIDC、加密…）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08000" y="2927995"/>
            <a:ext cx="11176000" cy="753745"/>
          </a:xfrm>
          <a:prstGeom prst="roundRect">
            <a:avLst>
              <a:gd name="adj" fmla="val 13479"/>
            </a:avLst>
          </a:prstGeom>
          <a:solidFill>
            <a:srgbClr val="0F2E45"/>
          </a:solidFill>
          <a:ln/>
        </p:spPr>
      </p:sp>
      <p:sp>
        <p:nvSpPr>
          <p:cNvPr id="6" name="Text 2"/>
          <p:cNvSpPr/>
          <p:nvPr/>
        </p:nvSpPr>
        <p:spPr>
          <a:xfrm>
            <a:off x="711200" y="3093095"/>
            <a:ext cx="11092688" cy="448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sudo BACKUP_PASSPHRASE_FILE=/root/.cp-backup-pass 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dr/06-etcd-strategy/script/backup-control-plane-files.sh   </a:t>
            </a:r>
            <a:r>
              <a:rPr lang="en-US" sz="1150" dirty="0">
                <a:solidFill>
                  <a:srgbClr val="F2B35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← 在每台 control-plane 上以 root 執行</a:t>
            </a:r>
            <a:endParaRPr lang="en-US" sz="1150" dirty="0"/>
          </a:p>
        </p:txBody>
      </p:sp>
      <p:pic>
        <p:nvPicPr>
          <p:cNvPr id="7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6 · etcd 備份與還原策略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檔案保存位置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6187440" cy="1864360"/>
        </p:xfrm>
        <a:graphic>
          <a:graphicData uri="http://schemas.openxmlformats.org/drawingml/2006/table">
            <a:tbl>
              <a:tblPr/>
              <a:tblGrid>
                <a:gridCol w="3403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4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位置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評價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control-plane 節點本機 /var/lib/etcd-backup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節點壞了一起沒了（常見錯誤示範）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叢集內的 PVC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需要叢集活著才能讀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叢集外 Object Storage（etcd-backups/&lt;node&gt;/）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本課程做法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再複製一份到異地 / 離線媒體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✓✓ 防勒索軟體、防機房災難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858000" y="996950"/>
            <a:ext cx="4826000" cy="1874520"/>
          </a:xfrm>
          <a:prstGeom prst="roundRect">
            <a:avLst>
              <a:gd name="adj" fmla="val 5420"/>
            </a:avLst>
          </a:prstGeom>
          <a:solidFill>
            <a:srgbClr val="0F2E45"/>
          </a:solidFill>
          <a:ln/>
        </p:spPr>
      </p:sp>
      <p:sp>
        <p:nvSpPr>
          <p:cNvPr id="6" name="Text 2"/>
          <p:cNvSpPr/>
          <p:nvPr/>
        </p:nvSpPr>
        <p:spPr>
          <a:xfrm>
            <a:off x="7061200" y="1162050"/>
            <a:ext cx="45521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線上 CronJob 的保存結構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7061200" y="1451620"/>
            <a:ext cx="4552188" cy="872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s3://etcd-backups/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├── k8s01/etcd-snapshot-k8s01-20260923003001.db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├── k8s02/etcd-snapshot-k8s02-20260923003002.db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└── k8s03/etcd-snapshot-k8s03-20260923003001.db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511175" y="3077865"/>
            <a:ext cx="11169650" cy="2824480"/>
          </a:xfrm>
          <a:prstGeom prst="roundRect">
            <a:avLst>
              <a:gd name="adj" fmla="val 3485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90880" y="3257550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不在節點上留副本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90880" y="3568700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暫存在 Pod 的 emptyDir，Pod 結束即刪除。節點上的舊 snapshot 也是敏感資料：裡面有所有 Secret 的密文。</a:t>
            </a:r>
            <a:endParaRPr lang="en-US" sz="1300" dirty="0"/>
          </a:p>
        </p:txBody>
      </p:sp>
      <p:pic>
        <p:nvPicPr>
          <p:cNvPr id="11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6 · etcd 備份與還原策略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12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備份頻率與保留策略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1374140"/>
        </p:xfrm>
        <a:graphic>
          <a:graphicData uri="http://schemas.openxmlformats.org/drawingml/2006/table">
            <a:tbl>
              <a:tblPr/>
              <a:tblGrid>
                <a:gridCol w="3796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3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6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叢集性質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建議頻率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保留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設定很少變動的平台叢集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經常部署的共用叢集（本課程叢集）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 6 小時 ~ 每日，加上重大變更前手動拍一次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天密集 + 每週一份保留 90 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GitOps 完全管理的叢集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每日（Git 才是真相來源）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11175" y="2587625"/>
            <a:ext cx="6953250" cy="1483360"/>
          </a:xfrm>
          <a:prstGeom prst="roundRect">
            <a:avLst>
              <a:gd name="adj" fmla="val 6635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90880" y="2767360"/>
            <a:ext cx="679165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保留策略的陷阱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90880" y="3078510"/>
            <a:ext cx="679165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RETENTION_DAYS=30 的清理在上傳成功之後才跑；CronJob 停了，清理也停了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90880" y="3370610"/>
            <a:ext cx="679165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但上傳一直失敗、清理一直成功，就會把好的全刪光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90880" y="3662710"/>
            <a:ext cx="679165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監控「最新一份備份的時間」比保留天數更重要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620000" y="2584450"/>
            <a:ext cx="4064000" cy="1489710"/>
          </a:xfrm>
          <a:prstGeom prst="roundRect">
            <a:avLst>
              <a:gd name="adj" fmla="val 6820"/>
            </a:avLst>
          </a:prstGeom>
          <a:solidFill>
            <a:srgbClr val="0F2E45"/>
          </a:solidFill>
          <a:ln/>
        </p:spPr>
      </p:sp>
      <p:sp>
        <p:nvSpPr>
          <p:cNvPr id="11" name="Text 7"/>
          <p:cNvSpPr/>
          <p:nvPr/>
        </p:nvSpPr>
        <p:spPr>
          <a:xfrm>
            <a:off x="7823200" y="2749550"/>
            <a:ext cx="376732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重大變更前手動拍一次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823200" y="3039120"/>
            <a:ext cx="3767328" cy="66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-n etcd-backup create job 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--from=cronjob/etcd-backup-k8s01 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etcd-backup-manual-$(date +%Y%m%d%H%M)</a:t>
            </a:r>
            <a:endParaRPr lang="en-US" sz="1150" dirty="0"/>
          </a:p>
        </p:txBody>
      </p:sp>
      <p:pic>
        <p:nvPicPr>
          <p:cNvPr id="13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6 · etcd 備份與還原策略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Backup 與 Velero Backup 的差異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2971800"/>
        </p:xfrm>
        <a:graphic>
          <a:graphicData uri="http://schemas.openxmlformats.org/drawingml/2006/table">
            <a:tbl>
              <a:tblPr/>
              <a:tblGrid>
                <a:gridCol w="2456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46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46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snapshot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Backup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備份什麼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裡的全部 key（整座叢集狀態）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選定範圍的 K8s 資源 + PV 資料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怎麼取得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直接連 etcd（需要 etcd 憑證）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透過 API Server（需要 RBAC 權限）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 資料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沒有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CSI Snapshot + Data Mover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粒度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全有或全無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namespace / 資源種類 / label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一致性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整座叢集同一時間點（原子性）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逐一讀取資源，非原子性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還原影響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整座叢集回到過去，所有租戶受影響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只影響被還原的範圍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需要叢集活著嗎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不需要（就是用來救死掉的叢集）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需要（API Server 要能用）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能還原到別的叢集嗎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不建議（綁 Node、IP、憑證）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設計目標之一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4182120"/>
            <a:ext cx="11511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它們</a:t>
            </a: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互補</a:t>
            </a:r>
            <a:r>
              <a:rPr lang="en-US" sz="1400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，不是二選一。</a:t>
            </a:r>
            <a:endParaRPr lang="en-US" sz="140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6 · etcd 備份與還原策略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2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決策樹：什麼情況用哪一種 Restore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1518295"/>
            <a:ext cx="1593453" cy="425450"/>
          </a:xfrm>
          <a:prstGeom prst="roundRect">
            <a:avLst>
              <a:gd name="adj" fmla="val 17910"/>
            </a:avLst>
          </a:prstGeom>
          <a:solidFill>
            <a:srgbClr val="8A4B00"/>
          </a:solidFill>
          <a:ln/>
        </p:spPr>
      </p:sp>
      <p:sp>
        <p:nvSpPr>
          <p:cNvPr id="5" name="Text 2"/>
          <p:cNvSpPr/>
          <p:nvPr/>
        </p:nvSpPr>
        <p:spPr>
          <a:xfrm>
            <a:off x="635000" y="1607195"/>
            <a:ext cx="1390253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 不能用</a:t>
            </a:r>
            <a:endParaRPr lang="en-US" sz="1300" dirty="0"/>
          </a:p>
        </p:txBody>
      </p:sp>
      <p:pic>
        <p:nvPicPr>
          <p:cNvPr id="6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03053" y="1648470"/>
            <a:ext cx="254000" cy="1651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561828" y="1494780"/>
            <a:ext cx="2660650" cy="472440"/>
          </a:xfrm>
          <a:prstGeom prst="roundRect">
            <a:avLst>
              <a:gd name="adj" fmla="val 20833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690733" y="1623715"/>
            <a:ext cx="2474925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還有多數成員健康嗎？</a:t>
            </a:r>
            <a:endParaRPr lang="en-US" sz="1300" dirty="0"/>
          </a:p>
        </p:txBody>
      </p:sp>
      <p:pic>
        <p:nvPicPr>
          <p:cNvPr id="9" name="Image 2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27253" y="1648470"/>
            <a:ext cx="254000" cy="1651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686028" y="1000125"/>
            <a:ext cx="5994797" cy="695960"/>
          </a:xfrm>
          <a:prstGeom prst="roundRect">
            <a:avLst>
              <a:gd name="adj" fmla="val 141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789533" y="1103660"/>
            <a:ext cx="5961421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有（只壞 1 台）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5789533" y="1373535"/>
            <a:ext cx="5961421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1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替換故障成員：member remove / add，不需要還原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686028" y="1765945"/>
            <a:ext cx="5994797" cy="695960"/>
          </a:xfrm>
          <a:prstGeom prst="roundRect">
            <a:avLst>
              <a:gd name="adj" fmla="val 14142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789533" y="1869430"/>
            <a:ext cx="5961421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 / 資料損壞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5789533" y="2139305"/>
            <a:ext cx="5961421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1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7：etcd snapshot 還原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08000" y="3189635"/>
            <a:ext cx="1428353" cy="425450"/>
          </a:xfrm>
          <a:prstGeom prst="roundRect">
            <a:avLst>
              <a:gd name="adj" fmla="val 17910"/>
            </a:avLst>
          </a:prstGeom>
          <a:solidFill>
            <a:srgbClr val="16759A"/>
          </a:solidFill>
          <a:ln/>
        </p:spPr>
      </p:sp>
      <p:sp>
        <p:nvSpPr>
          <p:cNvPr id="17" name="Text 12"/>
          <p:cNvSpPr/>
          <p:nvPr/>
        </p:nvSpPr>
        <p:spPr>
          <a:xfrm>
            <a:off x="635000" y="3278535"/>
            <a:ext cx="1225153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 能用</a:t>
            </a:r>
            <a:endParaRPr lang="en-US" sz="1300" dirty="0"/>
          </a:p>
        </p:txBody>
      </p:sp>
      <p:pic>
        <p:nvPicPr>
          <p:cNvPr id="18" name="Image 3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037953" y="3319810"/>
            <a:ext cx="254000" cy="1651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396728" y="3166120"/>
            <a:ext cx="2660650" cy="472440"/>
          </a:xfrm>
          <a:prstGeom prst="roundRect">
            <a:avLst>
              <a:gd name="adj" fmla="val 20833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525633" y="3295005"/>
            <a:ext cx="2474925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影響範圍？</a:t>
            </a:r>
            <a:endParaRPr lang="en-US" sz="1300" dirty="0"/>
          </a:p>
        </p:txBody>
      </p:sp>
      <p:pic>
        <p:nvPicPr>
          <p:cNvPr id="21" name="Image 4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62153" y="3319810"/>
            <a:ext cx="254000" cy="1651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5520928" y="2671465"/>
            <a:ext cx="6159897" cy="695960"/>
          </a:xfrm>
          <a:prstGeom prst="roundRect">
            <a:avLst>
              <a:gd name="adj" fmla="val 14142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624433" y="2774950"/>
            <a:ext cx="6131474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一個應用 / namespace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5624433" y="3044825"/>
            <a:ext cx="6131474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1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4：Velero Restore（先還原到新 namespace 比對）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5520928" y="3437285"/>
            <a:ext cx="6159897" cy="695960"/>
          </a:xfrm>
          <a:prstGeom prst="roundRect">
            <a:avLst>
              <a:gd name="adj" fmla="val 141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624433" y="3540770"/>
            <a:ext cx="6131474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大量 cluster 資源被刪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624433" y="3810645"/>
            <a:ext cx="6131474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1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能接受全叢集回到過去 → 單元 7；不能 → 從 Git / Velero 逐項補回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508000" y="4489797"/>
            <a:ext cx="1244600" cy="425450"/>
          </a:xfrm>
          <a:prstGeom prst="roundRect">
            <a:avLst>
              <a:gd name="adj" fmla="val 17910"/>
            </a:avLst>
          </a:prstGeom>
          <a:solidFill>
            <a:srgbClr val="12517C"/>
          </a:solidFill>
          <a:ln/>
        </p:spPr>
      </p:sp>
      <p:sp>
        <p:nvSpPr>
          <p:cNvPr id="29" name="Text 22"/>
          <p:cNvSpPr/>
          <p:nvPr/>
        </p:nvSpPr>
        <p:spPr>
          <a:xfrm>
            <a:off x="635000" y="4578697"/>
            <a:ext cx="104140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整座叢集不見</a:t>
            </a:r>
            <a:endParaRPr lang="en-US" sz="1300" dirty="0"/>
          </a:p>
        </p:txBody>
      </p:sp>
      <p:pic>
        <p:nvPicPr>
          <p:cNvPr id="30" name="Image 5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54200" y="4619972"/>
            <a:ext cx="254000" cy="1651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2209800" y="4339580"/>
            <a:ext cx="9474200" cy="725805"/>
          </a:xfrm>
          <a:prstGeom prst="roundRect">
            <a:avLst>
              <a:gd name="adj" fmla="val 13998"/>
            </a:avLst>
          </a:prstGeom>
          <a:solidFill>
            <a:srgbClr val="12517C"/>
          </a:solidFill>
          <a:ln/>
        </p:spPr>
      </p:sp>
      <p:sp>
        <p:nvSpPr>
          <p:cNvPr id="32" name="Text 24"/>
          <p:cNvSpPr/>
          <p:nvPr/>
        </p:nvSpPr>
        <p:spPr>
          <a:xfrm>
            <a:off x="2324100" y="4453880"/>
            <a:ext cx="952296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8：乾淨重建 + Velero 還原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2324100" y="4732040"/>
            <a:ext cx="9522968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150" dirty="0">
                <a:solidFill>
                  <a:srgbClr val="D4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不要用舊 etcd snapshot 還原到新機器</a:t>
            </a:r>
            <a:endParaRPr lang="en-US" sz="1150" dirty="0"/>
          </a:p>
        </p:txBody>
      </p:sp>
      <p:pic>
        <p:nvPicPr>
          <p:cNvPr id="34" name="Image 6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6 · etcd 備份與還原策略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 → 用哪個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2641600"/>
        </p:xfrm>
        <a:graphic>
          <a:graphicData uri="http://schemas.openxmlformats.org/drawingml/2006/table">
            <a:tbl>
              <a:tblPr/>
              <a:tblGrid>
                <a:gridCol w="4019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9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6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情境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用哪個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為什麼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誤刪 dr-demo namespace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只救一個 namespace，不影響其他團隊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資料被錯誤 migration 寫壞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Velero（restorePVs）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裡沒有 DB 資料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台 etcd 中 1 台硬碟壞掉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兩者都不用：替換成員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其餘 2 台仍有 quorum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台 etcd 資料全部損壞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snapshot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需要 API Server，此時起不來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有人 kubectl delete crd --all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snapshot（若能接受回到過去）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CRD 刪除會連帶刪除所有 CR 物件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K8s 升級失敗，想退回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snapshot（升級前拍的）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整座叢集一致地回到升級前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整座叢集 / 機房消失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重建 + Velero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新機器、新 IP，舊 snapshot 不適用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6 · etcd 備份與還原策略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講師操作：啟用並驗證 etcd 備份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3295015"/>
          </a:xfrm>
          <a:prstGeom prst="roundRect">
            <a:avLst>
              <a:gd name="adj" fmla="val 3083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2990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1. 確認 yaml 與線上一致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apply --dry-run=server -f dr/06-etcd-strategy/manifest/   # unchanged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2. 手動觸發一次（不用改 suspend 也能跑）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-n etcd-backup create job --from=cronjob/etcd-backup-k8s01 etcd-backup-test-01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-n etcd-backup wait --for=condition=complete job/etcd-backup-test-01 --timeout=600s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3. 看三個步驟的 log：-c etcd-snapshot / etcd-snapshot-status / upload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POD=$(kubectl -n etcd-backup get pod -l job-name=etcd-backup-test-01 -o name)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-n etcd-backup logs $POD -c upload     # Uploading ... -&gt; s3://etcd-backups/k8s01/...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4. 確認真的在叢集外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aws --endpoint-url http://10.90.1.125:8333 s3 ls s3://etcd-backups/k8s01/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5. 決定要每天自動跑時才解除 suspend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for n in k8s01 k8s02 k8s03; do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kubectl -n etcd-backup patch cronjob etcd-backup-$n -p '{"spec":{"suspend":false}}'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done</a:t>
            </a:r>
            <a:endParaRPr lang="en-US" sz="115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6 · etcd 備份與還原策略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 snapshot 真的能用（不碰線上 etcd）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1435100"/>
          </a:xfrm>
          <a:prstGeom prst="roundRect">
            <a:avLst>
              <a:gd name="adj" fmla="val 7080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aws --endpoint-url http://10.90.1.125:8333 s3 cp s3://etcd-backups/k8s01/&lt;檔名&gt;.db ./snap.db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etcdutl snapshot status ./snap.db -w table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etcdutl snapshot restore ./snap.db --data-dir /tmp/etcd-verify     # 能解開 = 檔案完整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進一步：用這個資料目錄在本機起一個臨時 etcd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   etcdctl get --prefix --keys-only /registry/namespaces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11175" y="2638425"/>
            <a:ext cx="3617357" cy="1195070"/>
          </a:xfrm>
          <a:prstGeom prst="roundRect">
            <a:avLst>
              <a:gd name="adj" fmla="val 823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880" y="2818160"/>
            <a:ext cx="33556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層次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0880" y="3094980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通過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90880" y="3406130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檔案格式正確、hash 正確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87282" y="2638425"/>
            <a:ext cx="3617436" cy="1195070"/>
          </a:xfrm>
          <a:prstGeom prst="roundRect">
            <a:avLst>
              <a:gd name="adj" fmla="val 823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66987" y="2818160"/>
            <a:ext cx="335576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層次 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466987" y="3094980"/>
            <a:ext cx="335576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解得開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466987" y="3406130"/>
            <a:ext cx="335576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檔案完整，可以產生資料目錄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63468" y="2638425"/>
            <a:ext cx="3617357" cy="1195070"/>
          </a:xfrm>
          <a:prstGeom prst="roundRect">
            <a:avLst>
              <a:gd name="adj" fmla="val 8236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43174" y="2818160"/>
            <a:ext cx="335568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層次 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43174" y="3094980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臨時 etcd 讀得到 key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43174" y="3406130"/>
            <a:ext cx="335568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內容正確：看得到 namespace 清單</a:t>
            </a:r>
            <a:endParaRPr lang="en-US" sz="1300" dirty="0"/>
          </a:p>
        </p:txBody>
      </p:sp>
      <p:pic>
        <p:nvPicPr>
          <p:cNvPr id="18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6 · etcd 備份與還原策略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</a:t>
            </a:r>
            <a:endParaRPr lang="en-US" sz="1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5505450" cy="1440180"/>
          </a:xfrm>
          <a:prstGeom prst="roundRect">
            <a:avLst>
              <a:gd name="adj" fmla="val 683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17986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網路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0880" y="1456680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90880" y="1784350"/>
            <a:ext cx="530042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 CronJob 用 hostNetwork: true？拿掉的話 --endpoints=https://127.0.0.1:2379 會連到哪裡？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5375" y="1000125"/>
            <a:ext cx="5505450" cy="1440180"/>
          </a:xfrm>
          <a:prstGeom prst="roundRect">
            <a:avLst>
              <a:gd name="adj" fmla="val 683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5080" y="117986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加密金鑰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1456680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355080" y="1784350"/>
            <a:ext cx="530042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只保留了 etcd snapshot、沒有 encryption-config.yaml，還原後 kubectl get secret -A 會怎樣？哪些系統元件會跟著壞？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11175" y="2649885"/>
            <a:ext cx="5505450" cy="1440180"/>
          </a:xfrm>
          <a:prstGeom prst="roundRect">
            <a:avLst>
              <a:gd name="adj" fmla="val 6834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0880" y="282957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現況推演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0880" y="3106440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90880" y="3434110"/>
            <a:ext cx="530042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有 daily-full-backup 的舊備份，但 etcd CronJob 是 suspend。今天 3 台 etcd 同時損壞，你能救回什麼？救不回什麼？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175375" y="2649885"/>
            <a:ext cx="5505450" cy="1440180"/>
          </a:xfrm>
          <a:prstGeom prst="roundRect">
            <a:avLst>
              <a:gd name="adj" fmla="val 683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282957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55080" y="3106440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55080" y="3434110"/>
            <a:ext cx="530042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設計你們公司的 etcd 備份策略：頻率、保留、存放位置、誰有權限讀取、多久演練一次還原。</a:t>
            </a:r>
            <a:endParaRPr lang="en-US" sz="1250" dirty="0"/>
          </a:p>
        </p:txBody>
      </p:sp>
      <p:pic>
        <p:nvPicPr>
          <p:cNvPr id="20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6 · etcd 備份與還原策略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38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81225"/>
            <a:ext cx="9156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3298825"/>
            <a:ext cx="9156700" cy="6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3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Disaster：etcd 還原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508000" y="4140845"/>
            <a:ext cx="1605201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191645"/>
            <a:ext cx="1325801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7 · runbook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265601" y="4164955"/>
            <a:ext cx="559392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 起不來時，怎麼從 snapshot 把整座叢集救回來。</a:t>
            </a:r>
            <a:endParaRPr lang="en-US" sz="1600" dirty="0"/>
          </a:p>
        </p:txBody>
      </p:sp>
      <p:pic>
        <p:nvPicPr>
          <p:cNvPr id="8" name="Image 1" descr="AIC AIoT Cloud"/>
          <p:cNvPicPr>
            <a:picLocks noChangeAspect="1"/>
          </p:cNvPicPr>
          <p:nvPr/>
        </p:nvPicPr>
        <p:blipFill>
          <a:blip r:embed="rId4"/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本單元是 runbook，不在共用叢集上執行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5505450" cy="1878965"/>
          </a:xfrm>
          <a:prstGeom prst="roundRect">
            <a:avLst>
              <a:gd name="adj" fmla="val 5238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17986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風險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0880" y="1456680"/>
            <a:ext cx="5300421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90880" y="1800870"/>
            <a:ext cx="5300421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還原會讓整座叢集回到 snapshot 的時間點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90880" y="2121545"/>
            <a:ext cx="5300421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其他租戶（vui、cattle-*、rook-ceph…）在那之後的變更全部消失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75375" y="1000125"/>
            <a:ext cx="5505450" cy="1878965"/>
          </a:xfrm>
          <a:prstGeom prst="roundRect">
            <a:avLst>
              <a:gd name="adj" fmla="val 5238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117986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做法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55080" y="1456680"/>
            <a:ext cx="5300421" cy="30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怎麼練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355080" y="1800870"/>
            <a:ext cx="5300421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kubeadm 建一台單 control-plane VM 當 lab 叢集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355080" y="2121545"/>
            <a:ext cx="5300421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或由講師以投影片 / 錄影示範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355080" y="2442220"/>
            <a:ext cx="5300421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restore-etcd-member.sh 預設 dry-run，加 --execute 才執行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3095615"/>
          <a:ext cx="11165840" cy="873760"/>
        </p:xfrm>
        <a:graphic>
          <a:graphicData uri="http://schemas.openxmlformats.org/drawingml/2006/table">
            <a:tbl>
              <a:tblPr/>
              <a:tblGrid>
                <a:gridCol w="4466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6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3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情境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不是這個單元要處理的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台 etcd 資料同時損壞（儲存故障、誤刪 /var/lib/etcd、錯誤腳本），失去 quorum，API Server 無法運作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用單元 6 的 snapshot + control-plane 檔案，把 etcd 重建回 snapshot 時間點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只壞 1 台 → 替換成員；只壞一個應用 → 單元 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7 · etcd 還原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2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模擬 etcd 資料損壞（僅限 lab 叢集）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2760980"/>
          </a:xfrm>
          <a:prstGeom prst="roundRect">
            <a:avLst>
              <a:gd name="adj" fmla="val 3680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2456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0. 先確定有可用的 snapshot（單元 6）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etcdutl snapshot status /root/snap.db -w table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1. 寫一筆「snapshot 之後」的變更，還原後用來確認時間點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create namespace after-snapshot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2. 模擬資料損壞：停 etcd，把資料目錄搬走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sudo mv /etc/kubernetes/manifests/etcd.yaml /root/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sudo mv /var/lib/etcd /var/lib/etcd.corrupted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sudo mv /root/etcd.yaml /etc/kubernetes/manifests/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etcd 會用空資料目錄重新啟動 = 一座「全新、空白」的 etcd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8000" y="3961160"/>
            <a:ext cx="115112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另一種模擬：直接停掉 etcd（mv etcd.yaml 出去不放回），觀察 API Server「連不到 etcd」的症狀。</a:t>
            </a:r>
            <a:endParaRPr lang="en-US" sz="1300" dirty="0"/>
          </a:p>
        </p:txBody>
      </p:sp>
      <p:pic>
        <p:nvPicPr>
          <p:cNvPr id="7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7 · etcd 還原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12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 異常時會看到什麼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2311400"/>
        </p:xfrm>
        <a:graphic>
          <a:graphicData uri="http://schemas.openxmlformats.org/drawingml/2006/table">
            <a:tbl>
              <a:tblPr/>
              <a:tblGrid>
                <a:gridCol w="2679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3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3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觀察點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停止 / 失去 quorum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資料被清空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get nodes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etcdserver: request timed out，或 connection refused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resources found，或因 RBAC 不見而 Forbidden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Server log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dial tcp 127.0.0.1:2379: connect: connection refused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不斷嘗試重建預設物件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crictl 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kube-apiserver 反覆重啟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正常運作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現有 Pod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繼續運作（kubelet 維持現狀）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繼續運作一段時間，但 Node 物件不存在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對外服務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大多仍可連線（Cilium datapath 已建立）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逐漸異常（Endpoints 消失）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新部署 / 擴縮 / 自我修復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全部停擺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全部停擺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3521720"/>
            <a:ext cx="115112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「服務還在，但 kubectl 什麼都做不了」</a:t>
            </a: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 control plane 災難的特徵，跟「應用掛了」完全不同。</a:t>
            </a:r>
            <a:endParaRPr lang="en-US" sz="135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7 · etcd 還原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12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第一步永遠是：上節點看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1481138"/>
          </a:xfrm>
          <a:prstGeom prst="roundRect">
            <a:avLst>
              <a:gd name="adj" fmla="val 6860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1176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在 control-plane 節點上（不靠 kubectl）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sudo crictl ps -a | grep -E 'etcd|kube-apiserver'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sudo crictl logs --tail 50 $(sudo crictl ps -a --name etcd -q | head -1)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sudo crictl logs --tail 50 $(sudo crictl ps -a --name kube-apiserver -q | head -1)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sudo journalctl -u kubelet --since "10 min ago" | tail -50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11175" y="2684463"/>
            <a:ext cx="5505450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880" y="2864197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為什麼不能靠 kubectl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0880" y="3175347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要經過 API Server，而 API Server 正是壞掉的那個。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5375" y="2684463"/>
            <a:ext cx="5505450" cy="1165860"/>
          </a:xfrm>
          <a:prstGeom prst="roundRect">
            <a:avLst>
              <a:gd name="adj" fmla="val 8442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2864197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需要什麼存取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355080" y="3175347"/>
            <a:ext cx="530042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或節點 console / BMC / VM console。VIP 可能漂移，所以要能直連每台節點。</a:t>
            </a:r>
            <a:endParaRPr lang="en-US" sz="1300" dirty="0"/>
          </a:p>
        </p:txBody>
      </p:sp>
      <p:pic>
        <p:nvPicPr>
          <p:cNvPr id="12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7 · etcd 還原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12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還原前：安全確認事項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3945890"/>
        </p:xfrm>
        <a:graphic>
          <a:graphicData uri="http://schemas.openxmlformats.org/drawingml/2006/table">
            <a:tbl>
              <a:tblPr/>
              <a:tblGrid>
                <a:gridCol w="558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4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353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確認事項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為什麼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真的需要還原嗎？是否只有 1 台壞？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還原會讓全叢集回到過去，能不用就不用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取得變更核准，通知所有租戶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之後所有人的變更都會消失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選定 snapshot：時間點、來源節點、status 通過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損壞發生之前的最後一份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台拿到同一個 snapshot 檔（比對 sha256）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不同 snapshot 會組出分裂的叢集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etcdutl 版本 = 叢集 etcd 版本（3.6.6）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避免資料格式不相容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encryption-config.yaml 與 snapshot 同一時期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金鑰對不上 → 所有 Secret 無法解密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/etc/kubernetes/pki 完整（CA、sa.key、etcd CA）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backup-control-plane-files.sh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保留目前損壞的資料目錄（mv，不要 rm）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失敗時還有退路，也便於鑑識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有節點 console / BMC / VM console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還原過程 API 不通，SSH 是唯一入口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規劃還原後處理：Ceph PV 對帳、GitOps、Velero 同步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見副作用與清理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暫停自動化：CI/CD、GitOps（Fleet）、Velero Schedule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避免寫入半恢復的叢集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兩人作業：一人執行、一人對照 runbook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高壓下最容易漏步驟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7 · etcd 還原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還原流程：每一步 3 台都完成，才進下一步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230015"/>
            <a:ext cx="1924050" cy="1060450"/>
          </a:xfrm>
          <a:prstGeom prst="roundRect">
            <a:avLst>
              <a:gd name="adj" fmla="val 928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5480" y="1384300"/>
            <a:ext cx="16662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停止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5480" y="1678930"/>
            <a:ext cx="166624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台：apiserver / cm / scheduler / etcd</a:t>
            </a:r>
            <a:endParaRPr lang="en-US" sz="1200" dirty="0"/>
          </a:p>
        </p:txBody>
      </p:sp>
      <p:pic>
        <p:nvPicPr>
          <p:cNvPr id="7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14600" y="1677690"/>
            <a:ext cx="228600" cy="1651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822575" y="1115715"/>
            <a:ext cx="1924050" cy="1289050"/>
          </a:xfrm>
          <a:prstGeom prst="roundRect">
            <a:avLst>
              <a:gd name="adj" fmla="val 7635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976880" y="1270000"/>
            <a:ext cx="16662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重建資料目錄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2976880" y="1564630"/>
            <a:ext cx="166624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台：保留舊目錄，從同一個 snapshot restore</a:t>
            </a:r>
            <a:endParaRPr lang="en-US" sz="1200" dirty="0"/>
          </a:p>
        </p:txBody>
      </p:sp>
      <p:pic>
        <p:nvPicPr>
          <p:cNvPr id="11" name="Image 2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26000" y="1677690"/>
            <a:ext cx="228600" cy="1651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133975" y="1344315"/>
            <a:ext cx="1924050" cy="831850"/>
          </a:xfrm>
          <a:prstGeom prst="roundRect">
            <a:avLst>
              <a:gd name="adj" fmla="val 1183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288280" y="1498600"/>
            <a:ext cx="16662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啟動 etcd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288280" y="1793230"/>
            <a:ext cx="166624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台：確認 quorum</a:t>
            </a:r>
            <a:endParaRPr lang="en-US" sz="1200" dirty="0"/>
          </a:p>
        </p:txBody>
      </p:sp>
      <p:pic>
        <p:nvPicPr>
          <p:cNvPr id="15" name="Image 3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137400" y="1677690"/>
            <a:ext cx="228600" cy="1651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445375" y="1000125"/>
            <a:ext cx="1924050" cy="1520190"/>
          </a:xfrm>
          <a:prstGeom prst="roundRect">
            <a:avLst>
              <a:gd name="adj" fmla="val 6475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7599680" y="1154460"/>
            <a:ext cx="16662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啟動 control plane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7599680" y="1680220"/>
            <a:ext cx="166624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台：apiserver / cm / scheduler，重啟 kubelet</a:t>
            </a:r>
            <a:endParaRPr lang="en-US" sz="1200" dirty="0"/>
          </a:p>
        </p:txBody>
      </p:sp>
      <p:pic>
        <p:nvPicPr>
          <p:cNvPr id="19" name="Image 4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48800" y="1677690"/>
            <a:ext cx="228600" cy="16510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9756775" y="1230015"/>
            <a:ext cx="1924050" cy="1060450"/>
          </a:xfrm>
          <a:prstGeom prst="roundRect">
            <a:avLst>
              <a:gd name="adj" fmla="val 9281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9911080" y="1384300"/>
            <a:ext cx="16662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驗證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9911080" y="1678930"/>
            <a:ext cx="166624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Server、資源、應用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11175" y="2729855"/>
            <a:ext cx="11169650" cy="3172460"/>
          </a:xfrm>
          <a:prstGeom prst="roundRect">
            <a:avLst>
              <a:gd name="adj" fmla="val 3102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690880" y="2909590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為什麼一定要同步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90880" y="3220740"/>
            <a:ext cx="1113454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任何一台還在用舊資料目錄跑 etcd，就可能跟新成員互相加入，組出分裂的叢集。</a:t>
            </a:r>
            <a:endParaRPr lang="en-US" sz="1350" dirty="0"/>
          </a:p>
        </p:txBody>
      </p:sp>
      <p:pic>
        <p:nvPicPr>
          <p:cNvPr id="26" name="Image 5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7 · etcd 還原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2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停止 control plane（3 台都做）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2171700"/>
          </a:xfrm>
          <a:prstGeom prst="roundRect">
            <a:avLst>
              <a:gd name="adj" fmla="val 4678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sudo ./restore-etcd-member.sh stop --execute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等於：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sudo mkdir -p /etc/kubernetes/manifests-parked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sudo mv /etc/kubernetes/manifests/{kube-apiserver,kube-controller-manager,kube-scheduler,etcd}.yaml \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    /etc/kubernetes/manifests-parked/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確認都停了（沒有輸出才繼續）</a:t>
            </a:r>
            <a:endParaRPr lang="en-US" sz="125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sudo crictl ps | grep -E 'etcd|kube-apiserver'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11175" y="3375025"/>
            <a:ext cx="11169650" cy="2527300"/>
          </a:xfrm>
          <a:prstGeom prst="roundRect">
            <a:avLst>
              <a:gd name="adj" fmla="val 3894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880" y="3554760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Pod 怎麼停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0880" y="3865910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kubelet 監看 /etc/kubernetes/manifests/，把 manifest 移走就等於停止該 Pod。不要用 crictl stop：kubelet 會馬上把它拉起來。</a:t>
            </a:r>
            <a:endParaRPr lang="en-US" sz="1300" dirty="0"/>
          </a:p>
        </p:txBody>
      </p:sp>
      <p:pic>
        <p:nvPicPr>
          <p:cNvPr id="9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7 · etcd 還原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2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從 snapshot 重建資料目錄（3 台都做）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3295015"/>
          </a:xfrm>
          <a:prstGeom prst="roundRect">
            <a:avLst>
              <a:gd name="adj" fmla="val 3083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2990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sha256sum /root/snap.db                       # 3 台比對，必須一致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sudo RESTORE_TOKEN=etcd-restore-20260923 ./restore-etcd-member.sh restore /root/snap.db --execute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腳本實際執行的內容（k8s01，dry-run 輸出）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[dry-run] etcdutl snapshot status /root/snap.db -w table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[dry-run] mv /var/lib/etcd /var/lib/etcd.before-restore-20260923170233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[dry-run] etcdutl snapshot restore /root/snap.db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        --name k8s01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        --initial-cluster k8s01=https://10.90.1.81:2380,k8s02=https://10.90.1.82:2380,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                          k8s03=https://10.90.1.83:2380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        --initial-advertise-peer-urls https://10.90.1.81:2380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        --initial-cluster-token etcd-restore-test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        --data-dir /var/lib/etcd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[dry-run] chmod 700 /var/lib/etcd</a:t>
            </a:r>
            <a:endParaRPr lang="en-US" sz="115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7 · etcd 還原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2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etcdutl snapshot restore 參數說明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2061210"/>
        </p:xfrm>
        <a:graphic>
          <a:graphicData uri="http://schemas.openxmlformats.org/drawingml/2006/table">
            <a:tbl>
              <a:tblPr/>
              <a:tblGrid>
                <a:gridCol w="3573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927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參數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意義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--name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本成員名稱，必須等於 etcd.yaml 裡的 --name（本叢集 = hostname）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--initial-cluster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完整的 3 成員清單。restore 會把它寫進新的成員資料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--initial-advertise-peer-urls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本成員的 peer URL（本機 IP:2380）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--initial-cluster-token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新叢集識別字串；3 台必須相同，且不同於舊叢集，避免跟殘留的舊成員互相加入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--data-dir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寫到 etcd.yaml 指定的路徑（/var/lib/etcd），這樣 manifest 不用改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11175" y="3274715"/>
            <a:ext cx="11169650" cy="2627630"/>
          </a:xfrm>
          <a:prstGeom prst="roundRect">
            <a:avLst>
              <a:gd name="adj" fmla="val 3746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90880" y="3454400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kubeadm 的 etcd.yaml 只有自己？沒關係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90880" y="3765550"/>
            <a:ext cx="11134547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k8s01 的 --initial-cluster 只有它自己（k8s02/03 是後來 join 的）。資料目錄已經存在時，etcd 會忽略所有 --initial-* 參數，以資料目錄內的成員資訊為準。</a:t>
            </a:r>
            <a:endParaRPr lang="en-US" sz="1250" dirty="0"/>
          </a:p>
        </p:txBody>
      </p:sp>
      <p:pic>
        <p:nvPicPr>
          <p:cNvPr id="8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7 · etcd 還原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12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啟動 etcd 確認 quorum　④ 啟動 control plane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3083243"/>
          </a:xfrm>
          <a:prstGeom prst="roundRect">
            <a:avLst>
              <a:gd name="adj" fmla="val 3295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2778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③ 3 台都做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sudo ./restore-etcd-member.sh start-etcd --execute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3 台都啟動後，在任一台確認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sudo crictl exec $(sudo crictl ps --name etcd -q) etcdctl 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--endpoints=https://10.90.1.81:2379,https://10.90.1.82:2379,https://10.90.1.83:2379 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--cacert=/etc/kubernetes/pki/etcd/ca.crt --cert=/etc/kubernetes/pki/etcd/server.crt 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--key=/etc/kubernetes/pki/etcd/server.key 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endpoint health -w table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3 個都要 HEALTH = true；再用 endpoint status 確認只有一個 IS LEADER = true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④ 3 台都做：移回 apiserver / controller-manager / scheduler，並重啟 kubelet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sudo ./restore-etcd-member.sh start-cp --execute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08000" y="4283422"/>
            <a:ext cx="115112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重啟 kubelet 是為了讓它重新向 API Server 註冊、重新同步 Pod 狀態，避免快取的狀態跟「回到過去」的 etcd 對不上。</a:t>
            </a:r>
            <a:endParaRPr lang="en-US" sz="1300" dirty="0"/>
          </a:p>
        </p:txBody>
      </p:sp>
      <p:pic>
        <p:nvPicPr>
          <p:cNvPr id="7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7 · etcd 還原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12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驗證 API Server 與 Secret 解密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2098040"/>
          </a:xfrm>
          <a:prstGeom prst="roundRect">
            <a:avLst>
              <a:gd name="adj" fmla="val 4843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179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get --raw='/readyz?verbose' | tail -5      # [+]etcd ok ... readyz check passed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get --raw='/livez'                          # ok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get nodes -o wide                           # 4 台 Ready（kubelet 重啟後約 1 分鐘）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-n kube-system get pods -o wide | grep -E 'etcd|apiserver|controller|scheduler'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Secret 解密驗證（本叢集有靜態加密，最容易忽略）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-n dr-demo get secret postgres-secret -o jsonpath='{.data.POSTGRES_USER}' | base64 -d; echo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drtest   </a:t>
            </a:r>
            <a:r>
              <a:rPr lang="en-US" sz="1200" dirty="0">
                <a:solidFill>
                  <a:srgbClr val="F2B35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← 讀得出來 = encryption-config.yaml 的金鑰正確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11175" y="3301355"/>
            <a:ext cx="11169650" cy="2600960"/>
          </a:xfrm>
          <a:prstGeom prst="roundRect">
            <a:avLst>
              <a:gd name="adj" fmla="val 3784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880" y="3481090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看到這個錯誤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0880" y="3792240"/>
            <a:ext cx="1113454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error occurred: ... failed to decrypt</a:t>
            </a:r>
            <a:r>
              <a:rPr lang="en-US" sz="135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金鑰與 snapshot 不符（安全確認 #6）。</a:t>
            </a:r>
            <a:endParaRPr lang="en-US" sz="1350" dirty="0"/>
          </a:p>
        </p:txBody>
      </p:sp>
      <p:pic>
        <p:nvPicPr>
          <p:cNvPr id="9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7 · etcd 還原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12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 Resource 與 Application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7467600" cy="3506788"/>
          </a:xfrm>
          <a:prstGeom prst="roundRect">
            <a:avLst>
              <a:gd name="adj" fmla="val 2897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7273036" cy="3201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7500" lnSpcReduction="20000"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(1) 時間點正確：snapshot 之後建的東西不應存在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get ns after-snapshot   # NotFound </a:t>
            </a:r>
            <a:r>
              <a:rPr lang="en-US" sz="1150" dirty="0">
                <a:solidFill>
                  <a:srgbClr val="F2B35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← 正確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(2) 跟 baseline.sh 輸出比對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./dr/script/baseline.sh ./tmp/after-etcd-restore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diff &lt;(awk '{print $1,$2}' ./tmp/baseline-*/pods.txt | sort) 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&lt;(awk '{print $1,$2}' ./tmp/after-etcd-restore/pods.txt | sort)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(3) 系統元件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get pods -A | grep -vE 'Running|Completed'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get gateway -A        # PROGRAMMED=True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 backup-location get    # Available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(4) 應用：看資料，不是看 Pod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./dr/script/check-data.sh dr-demo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8131175" y="1000125"/>
            <a:ext cx="3549650" cy="3500438"/>
          </a:xfrm>
          <a:prstGeom prst="roundRect">
            <a:avLst>
              <a:gd name="adj" fmla="val 2812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10880" y="1179860"/>
            <a:ext cx="32859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資源回到過去，資料停在現在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310880" y="1491010"/>
            <a:ext cx="3285947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還原不會動到 PV 資料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310880" y="1792635"/>
            <a:ext cx="3285947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dr-demo 在 snapshot 之後寫的資料仍然在 Ceph 裡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310880" y="2332385"/>
            <a:ext cx="3285947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只記得「有這個 PVC」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310880" y="2634010"/>
            <a:ext cx="3285947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常見的混合狀態</a:t>
            </a:r>
            <a:endParaRPr lang="en-US" sz="1250" dirty="0"/>
          </a:p>
        </p:txBody>
      </p:sp>
      <p:pic>
        <p:nvPicPr>
          <p:cNvPr id="12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7 · etcd 還原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12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還原後的副作用與清理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2739390"/>
        </p:xfrm>
        <a:graphic>
          <a:graphicData uri="http://schemas.openxmlformats.org/drawingml/2006/table">
            <a:tbl>
              <a:tblPr/>
              <a:tblGrid>
                <a:gridCol w="3573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3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9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副作用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原因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處理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33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孤兒 PV：Ceph 上有 image，etcd 裡沒有 PV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之後建立的 PVC；etcd 回到過去，Ceph 沒有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比對 ceph rbd ls 與 kubectl get pv，確認後手動清理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斷掉的 PV：etcd 裡有 PV，Ceph 上 image 已刪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之後刪除的 PVC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Pod 掛載失敗；刪 PVC/PV 後由應用或 Velero 補回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 版本回退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之後的部署消失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GitOps（Fleet）重新同步；或重跑 CI/CD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備份清單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之後的 Backup CR 消失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從 bucket 自動同步回來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Lease / leader election 混亂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各元件 lease 回到過去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數分鐘內自動恢復；必要時重啟 cilium-operator、coredns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ServiceAccount token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sa.key 沒變則舊 token 仍有效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若 PKI 也換了，所有 Pod 需重建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恢復自動化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安全確認 #11 暫停的東西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確認叢集穩定後逐一恢復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3949700"/>
            <a:ext cx="11511280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最後做</a:t>
            </a:r>
            <a:r>
              <a:rPr lang="en-US" sz="1250" b="1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事後檢討</a:t>
            </a: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：損壞原因、實際 RTO、snapshot 與事件的時間差（實際 RPO）、runbook 哪裡不清楚，更新文件。</a:t>
            </a:r>
            <a:endParaRPr lang="en-US" sz="125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7 · etcd 還原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12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練習（在自己的 lab 叢集）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5505450" cy="1440180"/>
          </a:xfrm>
          <a:prstGeom prst="roundRect">
            <a:avLst>
              <a:gd name="adj" fmla="val 683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17986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完整流程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0880" y="1456680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90880" y="1784350"/>
            <a:ext cx="530042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kubeadm 建單 control-plane VM，模擬資料損壞並還原（--initial-cluster 只有自己）。記錄從發現到 get nodes 恢復花了幾分鐘。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5375" y="1000125"/>
            <a:ext cx="5505450" cy="1440180"/>
          </a:xfrm>
          <a:prstGeom prst="roundRect">
            <a:avLst>
              <a:gd name="adj" fmla="val 6834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5080" y="117986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金鑰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1456680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355080" y="1784350"/>
            <a:ext cx="530042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故意用一份沒有對應 encryption-config.yaml 的 snapshot（或換一把金鑰），觀察 get secret 的錯誤與哪些 Pod 會壞掉。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11175" y="2649885"/>
            <a:ext cx="5505450" cy="1440180"/>
          </a:xfrm>
          <a:prstGeom prst="roundRect">
            <a:avLst>
              <a:gd name="adj" fmla="val 683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0880" y="282957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孤兒 PV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0880" y="3106440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90880" y="3434110"/>
            <a:ext cx="530042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snapshot 之後建立一個有 PVC 的 Deployment，然後還原 etcd。用 Ceph 工具找出那顆孤兒 RBD image。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175375" y="2649885"/>
            <a:ext cx="5505450" cy="1440180"/>
          </a:xfrm>
          <a:prstGeom prst="roundRect">
            <a:avLst>
              <a:gd name="adj" fmla="val 6834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282957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觀念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55080" y="3106440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55080" y="3434110"/>
            <a:ext cx="5300421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為什麼第 ② 步 3 台要用同一個 --initial-cluster-token，而且要跟原本的叢集不同？</a:t>
            </a:r>
            <a:endParaRPr lang="en-US" sz="1250" dirty="0"/>
          </a:p>
        </p:txBody>
      </p:sp>
      <p:pic>
        <p:nvPicPr>
          <p:cNvPr id="20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7 · etcd 還原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</a:t>
            </a:r>
            <a:endParaRPr lang="en-US" sz="12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138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81225"/>
            <a:ext cx="9156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3298825"/>
            <a:ext cx="9156700" cy="6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3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Disaster：整個叢集消失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508000" y="4140845"/>
            <a:ext cx="1605201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191645"/>
            <a:ext cx="1325801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8 · runbook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265601" y="4164955"/>
            <a:ext cx="334873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叢集整個不見，要照什麼順序重建？</a:t>
            </a:r>
            <a:endParaRPr lang="en-US" sz="1600" dirty="0"/>
          </a:p>
        </p:txBody>
      </p:sp>
      <p:pic>
        <p:nvPicPr>
          <p:cNvPr id="8" name="Image 1" descr="AIC AIoT Cloud"/>
          <p:cNvPicPr>
            <a:picLocks noChangeAspect="1"/>
          </p:cNvPicPr>
          <p:nvPr/>
        </p:nvPicPr>
        <p:blipFill>
          <a:blip r:embed="rId4"/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情境：叢集完全遺失，連 Ceph 一起沒了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5505450" cy="1906270"/>
          </a:xfrm>
          <a:prstGeom prst="roundRect">
            <a:avLst>
              <a:gd name="adj" fmla="val 5163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179860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可能的原因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90880" y="1507480"/>
            <a:ext cx="5300421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機房停電 + 儲存陣列損壞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90880" y="1828155"/>
            <a:ext cx="5300421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虛擬化平台誤刪整組 VM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90880" y="2148830"/>
            <a:ext cx="5300421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勒索軟體加密所有節點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90880" y="2469505"/>
            <a:ext cx="5300421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升級失敗到無法回復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75375" y="1000125"/>
            <a:ext cx="5505450" cy="1906270"/>
          </a:xfrm>
          <a:prstGeom prst="roundRect">
            <a:avLst>
              <a:gd name="adj" fmla="val 5163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55080" y="1179860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模擬方式（DR 演練叢集）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55080" y="1507480"/>
            <a:ext cx="5300421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直接把 4 台節點 VM 全部刪除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355080" y="1828155"/>
            <a:ext cx="5300421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或每一台 kubeadm reset -f 並清空 Ceph OSD 磁碟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8000" y="3112790"/>
            <a:ext cx="11176000" cy="2792730"/>
          </a:xfrm>
          <a:prstGeom prst="roundRect">
            <a:avLst>
              <a:gd name="adj" fmla="val 3638"/>
            </a:avLst>
          </a:prstGeom>
          <a:solidFill>
            <a:srgbClr val="12517C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3290590"/>
            <a:ext cx="11145012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重點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85800" y="3618260"/>
            <a:ext cx="1114501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450" dirty="0">
                <a:solidFill>
                  <a:srgbClr val="D4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這座叢集的 PV 資料存在 Rook-Ceph，而 Ceph 的 OSD 就是叢集節點上的磁碟：</a:t>
            </a:r>
            <a:r>
              <a:rPr lang="en-US" sz="1450" b="1" dirty="0">
                <a:solidFill>
                  <a:srgbClr val="D4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節點消失，所有 PV 資料也跟著消失</a:t>
            </a:r>
            <a:r>
              <a:rPr lang="en-US" sz="1450" dirty="0">
                <a:solidFill>
                  <a:srgbClr val="D4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450" dirty="0"/>
          </a:p>
        </p:txBody>
      </p:sp>
      <p:pic>
        <p:nvPicPr>
          <p:cNvPr id="17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8 · 叢集重建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12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什麼還在、什麼沒了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3485515"/>
        </p:xfrm>
        <a:graphic>
          <a:graphicData uri="http://schemas.openxmlformats.org/drawingml/2006/table">
            <a:tbl>
              <a:tblPr/>
              <a:tblGrid>
                <a:gridCol w="3573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6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6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東西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存放位置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叢集消失後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應用 K8s 資源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沒了 → Velero 備份（S3）還在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應用 PV 資料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Ceph（叢集節點磁碟）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沒了 → 只有 snapshotMoveData 搬到 S3 的那份還在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CSI Snapshot（沒搬出去的）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Ceph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跟著沒了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snapshot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 etcd-backups/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還在（但不適合用在新叢集）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備份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 velero/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還在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所有 manifest（repo、Helm values）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還在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kopia repo 密碼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叢集內 Secret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除非另外保存 → 沒有它讀不出 S3 上的 PV 資料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 credentials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叢集內 Secret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除非另外保存（密碼管理系統）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TLS 憑證（gateway-tls、Root CA）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叢集內 Secret / 產生憑證的機器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 視保存方式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DNS 紀錄（*.nexai.org.com）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DNS 伺服器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若新叢集沿用相同 LB IP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8 · 叢集重建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12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保險箱：災難前就必須存在叢集外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5505450" cy="764540"/>
          </a:xfrm>
          <a:prstGeom prst="roundRect">
            <a:avLst>
              <a:gd name="adj" fmla="val 12874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129060"/>
            <a:ext cx="540506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velero-repo-credentials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407170"/>
            <a:ext cx="540506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kopia repository 密碼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11175" y="1859905"/>
            <a:ext cx="5505450" cy="764540"/>
          </a:xfrm>
          <a:prstGeom prst="roundRect">
            <a:avLst>
              <a:gd name="adj" fmla="val 1287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988840"/>
            <a:ext cx="540506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Velero S3 credentials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266950"/>
            <a:ext cx="540506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credentials-velero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11175" y="2719735"/>
            <a:ext cx="5505450" cy="764540"/>
          </a:xfrm>
          <a:prstGeom prst="roundRect">
            <a:avLst>
              <a:gd name="adj" fmla="val 1287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848620"/>
            <a:ext cx="540506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etcd 備份 S3 credentials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3126730"/>
            <a:ext cx="540506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另一組只能存取 etcd-backups 的帳號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11175" y="3579515"/>
            <a:ext cx="5505450" cy="764540"/>
          </a:xfrm>
          <a:prstGeom prst="roundRect">
            <a:avLst>
              <a:gd name="adj" fmla="val 1287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708400"/>
            <a:ext cx="540506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TLS 憑證與私鑰、Root CA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3986560"/>
            <a:ext cx="540506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gateway-tls 與自簽 CA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75375" y="1000125"/>
            <a:ext cx="5505450" cy="764540"/>
          </a:xfrm>
          <a:prstGeom prst="roundRect">
            <a:avLst>
              <a:gd name="adj" fmla="val 1287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4280" y="1129060"/>
            <a:ext cx="540506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各應用的外部相依資訊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04280" y="1407170"/>
            <a:ext cx="540506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 DB、SMTP、OAuth client secret…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75375" y="1859905"/>
            <a:ext cx="5505450" cy="764540"/>
          </a:xfrm>
          <a:prstGeom prst="roundRect">
            <a:avLst>
              <a:gd name="adj" fmla="val 1287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04280" y="1988840"/>
            <a:ext cx="540506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本 repo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304280" y="2266950"/>
            <a:ext cx="540506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manifest、Helm values、install-velero.sh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175375" y="2719735"/>
            <a:ext cx="5505450" cy="764540"/>
          </a:xfrm>
          <a:prstGeom prst="roundRect">
            <a:avLst>
              <a:gd name="adj" fmla="val 1287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4280" y="2848620"/>
            <a:ext cx="540506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最新的 baseline.sh 輸出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304280" y="3126730"/>
            <a:ext cx="540506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重建後比對用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175375" y="3579515"/>
            <a:ext cx="5505450" cy="764540"/>
          </a:xfrm>
          <a:prstGeom prst="roundRect">
            <a:avLst>
              <a:gd name="adj" fmla="val 12874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04280" y="3708400"/>
            <a:ext cx="540506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runbook 的紙本 / 離線版本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304280" y="3986560"/>
            <a:ext cx="540506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叢集和 Wiki 都掛了時還拿得到</a:t>
            </a:r>
            <a:endParaRPr lang="en-US" sz="1200" dirty="0"/>
          </a:p>
        </p:txBody>
      </p:sp>
      <p:pic>
        <p:nvPicPr>
          <p:cNvPr id="28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8 · 叢集重建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</a:t>
            </a:r>
            <a:endParaRPr lang="en-US" sz="12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重建清單（1/2）：節點、control plane、網路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3035300"/>
        </p:xfrm>
        <a:graphic>
          <a:graphicData uri="http://schemas.openxmlformats.org/drawingml/2006/table">
            <a:tbl>
              <a:tblPr/>
              <a:tblGrid>
                <a:gridCol w="1674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6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47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353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層級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元件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本叢集實際版本 / 設定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重建方式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節點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 / container runtime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Ubuntu 26.04、containerd 2.2.5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PXE / cloud-init / Ansible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plane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Kubernetes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v1.35.7，kubeadm，3 control-plane + 1 worker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kubeadm init / join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VIP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kube-vip，10.90.1.80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kube-vip static Pod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 加密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encryption-config.yaml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產生新金鑰即可（資料由 Velero 重建）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/ OIDC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audit-policy.yaml、auth-config.yaml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從 Git / control-plane 檔案備份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節點設定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gpu01 taint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nvidia.com/gpu=true:NoSchedule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taint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網路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Cilium 1.19.3，kube-proxy-replacement，enable-gateway-api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helm install + 相同 values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 IP Pool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lb-pool：10.90.1.90-94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CiliumLoadBalancerIPPool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Gateway 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GatewayClass cilium；admin / app / user / dev-gateway（.90~.93）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CRDs + dev-gateway.yaml 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8895" marR="48895" marT="48895" marB="4889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8 · 叢集重建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</a:t>
            </a:r>
            <a:endParaRPr lang="en-US" sz="12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重建清單（2/2）：儲存、其他、備份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2739390"/>
        </p:xfrm>
        <a:graphic>
          <a:graphicData uri="http://schemas.openxmlformats.org/drawingml/2006/table">
            <a:tbl>
              <a:tblPr/>
              <a:tblGrid>
                <a:gridCol w="1451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1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96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31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層級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元件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本叢集實際版本 / 設定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重建方式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儲存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Rook-Ceph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operator + CephCluster + CephFilesystem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Rook 安裝程序（不要用 Velero 還原）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StorageClass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rook-ceph-block、rook-cephfs（名稱必須相同）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Rook 範例 yaml，改成相同名稱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33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snapshot-controller + CRDs、csi-rbdplugin-snapclass、csi-cephfsplugin-snapclass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external-snapshotter + Rook 範例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其他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metrics-server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HPA 需要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官方 yaml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Rancher / Fleet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rancher 2.14.3、fleet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視需要（Fleet 可接手 GitOps）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v1.18.2 + aws plugin v1.14.2，EnableCSI，node-agent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install-velero.sh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UI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OTWLD velero-ui 0.10.2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dr/velero-ui/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3949700"/>
            <a:ext cx="11511280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StorageClass 名稱不同 → 單元 5 情境 4（PVC Pending、Restore PartiallyFailed）。真的要換名字，就要事先建立 change-storage-class ConfigMap。</a:t>
            </a:r>
            <a:endParaRPr lang="en-US" sz="125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8 · 叢集重建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</a:t>
            </a:r>
            <a:endParaRPr lang="en-US" sz="12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重建順序總覽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1964690" cy="921385"/>
          </a:xfrm>
          <a:prstGeom prst="roundRect">
            <a:avLst>
              <a:gd name="adj" fmla="val 1068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7380" y="1116360"/>
            <a:ext cx="1784249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 宣告災難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27380" y="1386235"/>
            <a:ext cx="1784249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啟動 DR 流程，取出 DR 保險箱</a:t>
            </a:r>
            <a:endParaRPr lang="en-US" sz="1100" dirty="0"/>
          </a:p>
        </p:txBody>
      </p:sp>
      <p:pic>
        <p:nvPicPr>
          <p:cNvPr id="7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42540" y="1384647"/>
            <a:ext cx="203200" cy="152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812415" y="1104900"/>
            <a:ext cx="1964690" cy="711835"/>
          </a:xfrm>
          <a:prstGeom prst="roundRect">
            <a:avLst>
              <a:gd name="adj" fmla="val 1382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928620" y="1221135"/>
            <a:ext cx="1784249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節點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2928620" y="1491010"/>
            <a:ext cx="1784249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+ containerd</a:t>
            </a:r>
            <a:endParaRPr lang="en-US" sz="1100" dirty="0"/>
          </a:p>
        </p:txBody>
      </p:sp>
      <p:pic>
        <p:nvPicPr>
          <p:cNvPr id="11" name="Image 2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3780" y="1384647"/>
            <a:ext cx="203200" cy="1524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113655" y="1000125"/>
            <a:ext cx="1964690" cy="921385"/>
          </a:xfrm>
          <a:prstGeom prst="roundRect">
            <a:avLst>
              <a:gd name="adj" fmla="val 1068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229860" y="1116360"/>
            <a:ext cx="1784249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kubeadm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229860" y="1386235"/>
            <a:ext cx="1784249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/ join、kube-vip、gpu01 taint</a:t>
            </a:r>
            <a:endParaRPr lang="en-US" sz="1100" dirty="0"/>
          </a:p>
        </p:txBody>
      </p:sp>
      <p:pic>
        <p:nvPicPr>
          <p:cNvPr id="15" name="Image 3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145020" y="1384647"/>
            <a:ext cx="203200" cy="1524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414895" y="1104900"/>
            <a:ext cx="1964690" cy="711835"/>
          </a:xfrm>
          <a:prstGeom prst="roundRect">
            <a:avLst>
              <a:gd name="adj" fmla="val 1382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7531100" y="1221135"/>
            <a:ext cx="1784249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Cilium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7531100" y="1491010"/>
            <a:ext cx="1784249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CNI → 節點變 Ready</a:t>
            </a:r>
            <a:endParaRPr lang="en-US" sz="1100" dirty="0"/>
          </a:p>
        </p:txBody>
      </p:sp>
      <p:pic>
        <p:nvPicPr>
          <p:cNvPr id="19" name="Image 4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46260" y="1384647"/>
            <a:ext cx="203200" cy="15240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9716135" y="1000125"/>
            <a:ext cx="1964690" cy="921385"/>
          </a:xfrm>
          <a:prstGeom prst="roundRect">
            <a:avLst>
              <a:gd name="adj" fmla="val 1068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9832340" y="1116360"/>
            <a:ext cx="1784249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Rook-Ceph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9832340" y="1386235"/>
            <a:ext cx="1784249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 同名、snapshot-controller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11175" y="2080270"/>
            <a:ext cx="1964690" cy="921385"/>
          </a:xfrm>
          <a:prstGeom prst="roundRect">
            <a:avLst>
              <a:gd name="adj" fmla="val 1068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627380" y="2196455"/>
            <a:ext cx="1784249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Gateway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27380" y="2466330"/>
            <a:ext cx="1784249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 IP Pool、Gateway、TLS Secret</a:t>
            </a:r>
            <a:endParaRPr lang="en-US" sz="1100" dirty="0"/>
          </a:p>
        </p:txBody>
      </p:sp>
      <p:pic>
        <p:nvPicPr>
          <p:cNvPr id="26" name="Image 5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42540" y="2464743"/>
            <a:ext cx="203200" cy="15240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2812415" y="2080270"/>
            <a:ext cx="1964690" cy="921385"/>
          </a:xfrm>
          <a:prstGeom prst="roundRect">
            <a:avLst>
              <a:gd name="adj" fmla="val 10682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2928620" y="2196455"/>
            <a:ext cx="1784249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Velero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2928620" y="2466330"/>
            <a:ext cx="1784249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先還原 repo 密碼，再 install（同一 bucket）</a:t>
            </a:r>
            <a:endParaRPr lang="en-US" sz="1100" dirty="0"/>
          </a:p>
        </p:txBody>
      </p:sp>
      <p:pic>
        <p:nvPicPr>
          <p:cNvPr id="30" name="Image 6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3780" y="2464743"/>
            <a:ext cx="203200" cy="152400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5113655" y="2185045"/>
            <a:ext cx="1964690" cy="711835"/>
          </a:xfrm>
          <a:prstGeom prst="roundRect">
            <a:avLst>
              <a:gd name="adj" fmla="val 1382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5229860" y="2301230"/>
            <a:ext cx="1784249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確認舊備份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5229860" y="2571105"/>
            <a:ext cx="1784249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同步出現</a:t>
            </a:r>
            <a:endParaRPr lang="en-US" sz="1100" dirty="0"/>
          </a:p>
        </p:txBody>
      </p:sp>
      <p:pic>
        <p:nvPicPr>
          <p:cNvPr id="34" name="Image 7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145020" y="2464743"/>
            <a:ext cx="203200" cy="152400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7414895" y="2185045"/>
            <a:ext cx="1964690" cy="711835"/>
          </a:xfrm>
          <a:prstGeom prst="roundRect">
            <a:avLst>
              <a:gd name="adj" fmla="val 1382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36" name="Text 26"/>
          <p:cNvSpPr/>
          <p:nvPr/>
        </p:nvSpPr>
        <p:spPr>
          <a:xfrm>
            <a:off x="7531100" y="2301230"/>
            <a:ext cx="1784249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分批 Restore</a:t>
            </a:r>
            <a:endParaRPr lang="en-US" sz="1250" dirty="0"/>
          </a:p>
        </p:txBody>
      </p:sp>
      <p:sp>
        <p:nvSpPr>
          <p:cNvPr id="37" name="Text 27"/>
          <p:cNvSpPr/>
          <p:nvPr/>
        </p:nvSpPr>
        <p:spPr>
          <a:xfrm>
            <a:off x="7531100" y="2571105"/>
            <a:ext cx="1784249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依相依順序</a:t>
            </a:r>
            <a:endParaRPr lang="en-US" sz="1100" dirty="0"/>
          </a:p>
        </p:txBody>
      </p:sp>
      <p:pic>
        <p:nvPicPr>
          <p:cNvPr id="38" name="Image 8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46260" y="2464743"/>
            <a:ext cx="203200" cy="152400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9716135" y="2080270"/>
            <a:ext cx="1964690" cy="921385"/>
          </a:xfrm>
          <a:prstGeom prst="roundRect">
            <a:avLst>
              <a:gd name="adj" fmla="val 10682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9832340" y="2196455"/>
            <a:ext cx="1784249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5"/>
              </a:lnSpc>
              <a:buNone/>
            </a:pPr>
            <a:r>
              <a:rPr lang="en-US" sz="125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驗證</a:t>
            </a:r>
            <a:endParaRPr lang="en-US" sz="1250" dirty="0"/>
          </a:p>
        </p:txBody>
      </p:sp>
      <p:sp>
        <p:nvSpPr>
          <p:cNvPr id="41" name="Text 30"/>
          <p:cNvSpPr/>
          <p:nvPr/>
        </p:nvSpPr>
        <p:spPr>
          <a:xfrm>
            <a:off x="9832340" y="2466330"/>
            <a:ext cx="1784249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 → 切換 DNS → 宣告恢復</a:t>
            </a:r>
            <a:endParaRPr lang="en-US" sz="1100" dirty="0"/>
          </a:p>
        </p:txBody>
      </p:sp>
      <p:sp>
        <p:nvSpPr>
          <p:cNvPr id="42" name="Shape 31"/>
          <p:cNvSpPr/>
          <p:nvPr/>
        </p:nvSpPr>
        <p:spPr>
          <a:xfrm>
            <a:off x="508000" y="3208040"/>
            <a:ext cx="11176000" cy="2697480"/>
          </a:xfrm>
          <a:prstGeom prst="roundRect">
            <a:avLst>
              <a:gd name="adj" fmla="val 3766"/>
            </a:avLst>
          </a:prstGeom>
          <a:solidFill>
            <a:srgbClr val="12517C"/>
          </a:solidFill>
          <a:ln/>
        </p:spPr>
      </p:sp>
      <p:sp>
        <p:nvSpPr>
          <p:cNvPr id="43" name="Text 32"/>
          <p:cNvSpPr/>
          <p:nvPr/>
        </p:nvSpPr>
        <p:spPr>
          <a:xfrm>
            <a:off x="685800" y="3385840"/>
            <a:ext cx="1114501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原則</a:t>
            </a:r>
            <a:endParaRPr lang="en-US" sz="1500" dirty="0"/>
          </a:p>
        </p:txBody>
      </p:sp>
      <p:sp>
        <p:nvSpPr>
          <p:cNvPr id="44" name="Text 33"/>
          <p:cNvSpPr/>
          <p:nvPr/>
        </p:nvSpPr>
        <p:spPr>
          <a:xfrm>
            <a:off x="685800" y="3696990"/>
            <a:ext cx="1114501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D4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基礎元件用它自己的安裝方式重建，應用才用 Velero 還原。</a:t>
            </a:r>
            <a:r>
              <a:rPr lang="en-US" sz="1300" dirty="0">
                <a:solidFill>
                  <a:srgbClr val="D4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Velero 還原 kube-system、rook-ceph、velero，會把舊叢集的節點名稱、IP、憑證一起倒回新叢集，造成難以除錯的問題。</a:t>
            </a:r>
            <a:endParaRPr lang="en-US" sz="1300" dirty="0"/>
          </a:p>
        </p:txBody>
      </p:sp>
      <p:pic>
        <p:nvPicPr>
          <p:cNvPr id="45" name="Image 9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8 · 叢集重建</a:t>
            </a:r>
            <a:endParaRPr lang="en-US" sz="1200" dirty="0"/>
          </a:p>
        </p:txBody>
      </p:sp>
      <p:sp>
        <p:nvSpPr>
          <p:cNvPr id="47" name="Text 3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</a:t>
            </a:r>
            <a:endParaRPr lang="en-US" sz="12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1：Kubernetes Control Plane 重建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3423920"/>
          </a:xfrm>
          <a:prstGeom prst="roundRect">
            <a:avLst>
              <a:gd name="adj" fmla="val 2967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311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在 k8s01（先放好 kube-vip static Pod manifest，VIP 10.90.1.80）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sudo kubeadm init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--control-plane-endpoint 10.90.1.80:6443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--upload-certs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--kubernetes-version v1.35.7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--skip-phases=addon/kube-proxy     # 若沿用 Cilium kube-proxy replacement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k8s02、k8s03：用 init 輸出的 control-plane join 指令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sudo kubeadm join 10.90.1.80:6443 --token ... --discovery-token-ca-cert-hash ...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--control-plane --certificate-key ...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gpu01：worker join，並還原 taint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sudo kubeadm join 10.90.1.80:6443 --token ... --discovery-token-ca-cert-hash ...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taint node gpu01 nvidia.com/gpu=true:NoSchedule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11175" y="4627265"/>
            <a:ext cx="8096250" cy="1127760"/>
          </a:xfrm>
          <a:prstGeom prst="roundRect">
            <a:avLst>
              <a:gd name="adj" fmla="val 8727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880" y="4806950"/>
            <a:ext cx="796894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kube-proxy 要先決定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0880" y="5118100"/>
            <a:ext cx="796894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原叢集同時有 kube-proxy DaemonSet 與 Cilium kube-proxy-replacement。重建時先確認要採用哪一種，並與 Cilium values 一致。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766175" y="4627265"/>
            <a:ext cx="2914650" cy="1127760"/>
          </a:xfrm>
          <a:prstGeom prst="roundRect">
            <a:avLst>
              <a:gd name="adj" fmla="val 8727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45880" y="4806950"/>
            <a:ext cx="263189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此時 NotReady 是正常的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945880" y="5118100"/>
            <a:ext cx="263189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還沒有 CNI。</a:t>
            </a:r>
            <a:endParaRPr lang="en-US" sz="1200" dirty="0"/>
          </a:p>
        </p:txBody>
      </p:sp>
      <p:pic>
        <p:nvPicPr>
          <p:cNvPr id="12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8 · 叢集重建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</a:t>
            </a:r>
            <a:endParaRPr lang="en-US" sz="12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2：CNI / Gateway / Storage 等基礎元件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7213600" cy="3506788"/>
          </a:xfrm>
          <a:prstGeom prst="roundRect">
            <a:avLst>
              <a:gd name="adj" fmla="val 2897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7011416" cy="3201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7500" lnSpcReduction="20000"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CNI：與原叢集相同版本與 values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helm install cilium cilium/cilium --version 1.19.3 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-n kube-system -f cilium-values.yaml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get nodes                  # 全部 Ready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Gateway API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apply -f &lt;gateway-api-standard-install.yaml&gt;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apply -f lb-pool.yaml      # 10.90.1.90-94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-n default create secret tls gateway-tls 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--cert=fullchain.crt --key=tls.key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apply -f dev-gateway.yaml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Rook-Ceph：crds → common → operator → cluster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StorageClass 名稱：rook-ceph-block、rook-cephfs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external-snapshotter + 兩個 VolumeSnapshotClass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877175" y="1000125"/>
            <a:ext cx="3803650" cy="3500438"/>
          </a:xfrm>
          <a:prstGeom prst="roundRect">
            <a:avLst>
              <a:gd name="adj" fmla="val 2812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56880" y="1179860"/>
            <a:ext cx="354756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檢查點（全部通過才進 Step 3）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56880" y="1491010"/>
            <a:ext cx="35475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get nodes：4 台 Ready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056880" y="1783110"/>
            <a:ext cx="354756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gateway -A：PROGRAMMED=True，ADDRESS 與舊叢集相同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56880" y="2303810"/>
            <a:ext cx="35475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sc,volumesnapshotclass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56880" y="2595910"/>
            <a:ext cx="354756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小測試：建 PVC + 拍 VolumeSnapshot，確認 ReadyToUse=true</a:t>
            </a:r>
            <a:endParaRPr lang="en-US" sz="1200" dirty="0"/>
          </a:p>
        </p:txBody>
      </p:sp>
      <p:pic>
        <p:nvPicPr>
          <p:cNvPr id="12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8 · 叢集重建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12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3：重新連接外部 Backup Storage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3506788"/>
          </a:xfrm>
          <a:prstGeom prst="roundRect">
            <a:avLst>
              <a:gd name="adj" fmla="val 2897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3201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7500" lnSpcReduction="20000"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1. 先建立 namespace 與「舊的」repo 密碼 Secret（從 DR 保險箱取出）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create namespace velero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apply -f velero-repo-credentials.yaml     # 災難前匯出的那份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   平時就要匯出：kubectl -n velero get secret velero-repo-credentials -o yaml 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     | grep -vE 'uid|resourceVersion|creationTimestamp' &gt; velero-repo-credentials.yaml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2. 安裝 Velero，指向同一個 bucket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cd dr/02-backup-storage/velero &amp;&amp; ./install-velero.sh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3. 建議先把 BSL 設成唯讀，避免新叢集誤刪 / 誤寫舊備份（TTL 清理也會暫停）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-n velero patch bsl default --type merge -p '{"spec":{"accessMode":"ReadOnly"}}'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4. 確認舊備份自動同步出現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 backup-location get       # Available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 backup get                # daily-full-backup-*、dr-course-backup-01 ...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11175" y="4710113"/>
            <a:ext cx="11169650" cy="1192213"/>
          </a:xfrm>
          <a:prstGeom prst="roundRect">
            <a:avLst>
              <a:gd name="adj" fmla="val 8256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880" y="4889847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順序錯了會怎樣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0880" y="5200997"/>
            <a:ext cx="11134547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沒有先放 velero-repo-credentials → Velero 產生一組新密碼 → Data Mover 無法開啟既有的 kopia repository → </a:t>
            </a:r>
            <a:r>
              <a:rPr lang="en-US" sz="1250" b="1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資源還原成功、PV 資料失敗</a:t>
            </a:r>
            <a:r>
              <a:rPr lang="en-US" sz="125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。又是一個「看起來大致成功」的陷阱。</a:t>
            </a:r>
            <a:endParaRPr lang="en-US" sz="1250" dirty="0"/>
          </a:p>
        </p:txBody>
      </p:sp>
      <p:pic>
        <p:nvPicPr>
          <p:cNvPr id="9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8 · 叢集重建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</a:t>
            </a:r>
            <a:endParaRPr lang="en-US" sz="12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4：依相依順序分批 Velero Restore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735330"/>
          </a:xfrm>
          <a:prstGeom prst="roundRect">
            <a:avLst>
              <a:gd name="adj" fmla="val 13817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430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./dr/08-cluster-rebuild/script/restore-apps-in-order.sh daily-full-backup-20260923010055            # dry-run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./dr/08-cluster-rebuild/script/restore-apps-in-order.sh daily-full-backup-20260923010055 --execute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945670"/>
          <a:ext cx="11165840" cy="1651000"/>
        </p:xfrm>
        <a:graphic>
          <a:graphicData uri="http://schemas.openxmlformats.org/drawingml/2006/table">
            <a:tbl>
              <a:tblPr/>
              <a:tblGrid>
                <a:gridCol w="1563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6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6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批次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namespace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理由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drawio、filebrowser、flarum、planka、onlyoffice、peertube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各自獨立（DB 與 App 在同一個 namespace）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cloudbeaver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跨 namespace 連第 1 批的 DB，要等它們先回來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dr-demo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課程 lab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永不還原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kube-system、velero、rook-ceph、cattle-*、etcd-backup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由各自的安裝程序重建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8000" y="3799830"/>
            <a:ext cx="11511280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小細節：Velero 先還原 Namespace 物件（含 label）再還原 Pod，剛好避開 Cilium「namespace label 要比 Pod 先存在」的陷阱。</a:t>
            </a:r>
            <a:endParaRPr lang="en-US" sz="1250" dirty="0"/>
          </a:p>
        </p:txBody>
      </p:sp>
      <p:pic>
        <p:nvPicPr>
          <p:cNvPr id="8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8 · 叢集重建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2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每一批做完的檢查，以及 Step 5 驗證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1748155"/>
          </a:xfrm>
          <a:prstGeom prst="roundRect">
            <a:avLst>
              <a:gd name="adj" fmla="val 5812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1443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 restore get                                        # Completed，Errors = 0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get pods -A | grep -vE 'Running|Completed'        # 沒有異常 Pod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get httproute -A -o custom-columns=NS:.metadata.namespace,NAME:.metadata.name,\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ACCEPTED:.status.parents[0].conditions[0].status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-n velero get datadownloads | grep -v Completed   # PV 資料都下載完成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全部完成後，把 BSL 改回可寫入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-n velero patch bsl default --type merge -p '{"spec":{"accessMode":"ReadWrite"}}'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2958495"/>
          <a:ext cx="11165840" cy="1901190"/>
        </p:xfrm>
        <a:graphic>
          <a:graphicData uri="http://schemas.openxmlformats.org/drawingml/2006/table">
            <a:tbl>
              <a:tblPr/>
              <a:tblGrid>
                <a:gridCol w="1339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6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9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層級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驗證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平台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節點、CNI、儲存、Gateway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 2 檢查點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資源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每個 namespace 的 Pod / PVC / HTTPRoute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與舊叢集 baseline.sh 輸出比對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dr-demo；flarum / planka / peertube 的 DB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check-data.sh；用 cloudbeaver 查一筆災難前的資料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功能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對外網址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curl -k --resolve &lt;host&gt;:443:10.90.1.93 拿到真實內容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業務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應用負責人驗收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登入、讀舊資料、寫新資料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8 · 叢集重建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</a:t>
            </a:r>
            <a:endParaRPr lang="en-US" sz="12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為什麼不用 etcd snapshot 還原整座叢集？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2141220"/>
        </p:xfrm>
        <a:graphic>
          <a:graphicData uri="http://schemas.openxmlformats.org/drawingml/2006/table">
            <a:tbl>
              <a:tblPr/>
              <a:tblGrid>
                <a:gridCol w="2679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6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問題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說明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 物件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裡是舊節點；新節點名稱 / IP 不同就對不上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PV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 裡的 PV 指向舊 Ceph 的 image ID，新 Ceph 上不存在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憑證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必須連 PKI 一起沿用，否則所有 token / kubeconfig 失效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加密金鑰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必須沿用舊的 encryption-config.yaml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基礎元件狀態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Cilium、Rook 的 CR 描述的是舊環境（舊 OSD、舊 IP）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11175" y="3354685"/>
            <a:ext cx="5505450" cy="927735"/>
          </a:xfrm>
          <a:prstGeom prst="roundRect">
            <a:avLst>
              <a:gd name="adj" fmla="val 1060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90880" y="353447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snapshot 適合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90880" y="3845620"/>
            <a:ext cx="5300421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同一批機器、只是 etcd 壞了（單元 7）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6175375" y="3354685"/>
            <a:ext cx="5505450" cy="927735"/>
          </a:xfrm>
          <a:prstGeom prst="roundRect">
            <a:avLst>
              <a:gd name="adj" fmla="val 10609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355080" y="353447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叢集整個不見時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355080" y="3845620"/>
            <a:ext cx="5300421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乾淨重建 + Velero 還原應用，才是可預期、可重複的流程</a:t>
            </a:r>
            <a:endParaRPr lang="en-US" sz="1350" dirty="0"/>
          </a:p>
        </p:txBody>
      </p:sp>
      <p:pic>
        <p:nvPicPr>
          <p:cNvPr id="11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8 · 叢集重建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</a:t>
            </a:r>
            <a:endParaRPr lang="en-US" sz="12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5505450" cy="1459230"/>
          </a:xfrm>
          <a:prstGeom prst="roundRect">
            <a:avLst>
              <a:gd name="adj" fmla="val 6745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17981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計時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0880" y="1456730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90880" y="1784350"/>
            <a:ext cx="530042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DR 演練叢集照 runbook 做一次，計時每個 Step。哪一步最久？能怎麼縮短？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5375" y="1000125"/>
            <a:ext cx="5505450" cy="1459230"/>
          </a:xfrm>
          <a:prstGeom prst="roundRect">
            <a:avLst>
              <a:gd name="adj" fmla="val 6745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5080" y="117981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密碼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1456730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355080" y="1784350"/>
            <a:ext cx="530042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故意不還原 velero-repo-credentials 就安裝 Velero，然後還原 dr-demo。觀察 Restore 狀態與 DataDownload 錯誤。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11175" y="2668885"/>
            <a:ext cx="5505450" cy="1459230"/>
          </a:xfrm>
          <a:prstGeom prst="roundRect">
            <a:avLst>
              <a:gd name="adj" fmla="val 6745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0880" y="284867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盤點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0880" y="3125490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90880" y="345311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「DR 保險箱」清單，你們公司現在有幾項是真的存在叢集外的？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75375" y="2668885"/>
            <a:ext cx="5505450" cy="1459230"/>
          </a:xfrm>
          <a:prstGeom prst="roundRect">
            <a:avLst>
              <a:gd name="adj" fmla="val 6745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284867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變更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55080" y="3125490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55080" y="3453110"/>
            <a:ext cx="530042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如果新叢集的 LB IP Pool 無法沿用 10.90.1.90-94，還有哪些東西要跟著改？</a:t>
            </a:r>
            <a:endParaRPr lang="en-US" sz="1300" dirty="0"/>
          </a:p>
        </p:txBody>
      </p:sp>
      <p:pic>
        <p:nvPicPr>
          <p:cNvPr id="20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8 · 叢集重建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</a:t>
            </a:r>
            <a:endParaRPr lang="en-US" sz="12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138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6" b="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181225"/>
            <a:ext cx="9156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000" dirty="0"/>
          </a:p>
        </p:txBody>
      </p:sp>
      <p:sp>
        <p:nvSpPr>
          <p:cNvPr id="4" name="Text 1"/>
          <p:cNvSpPr/>
          <p:nvPr/>
        </p:nvSpPr>
        <p:spPr>
          <a:xfrm>
            <a:off x="508000" y="3298825"/>
            <a:ext cx="9156700" cy="6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3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建立每日備份與 Restore 驗證機制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508000" y="4140895"/>
            <a:ext cx="798116" cy="3327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73100" y="4191695"/>
            <a:ext cx="518716" cy="2565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58516" y="4165005"/>
            <a:ext cx="753465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備份不是一個動作，是一個制度：每天自動跑、有問題會叫人、定期證明能還原。</a:t>
            </a:r>
            <a:endParaRPr lang="en-US" sz="1600" dirty="0"/>
          </a:p>
        </p:txBody>
      </p:sp>
      <p:pic>
        <p:nvPicPr>
          <p:cNvPr id="8" name="Image 1" descr="AIC AIoT Cloud"/>
          <p:cNvPicPr>
            <a:picLocks noChangeAspect="1"/>
          </p:cNvPicPr>
          <p:nvPr/>
        </p:nvPicPr>
        <p:blipFill>
          <a:blip r:embed="rId4"/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這座叢集的現況：兩個沒人發現的問題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5505450" cy="2145030"/>
          </a:xfrm>
          <a:prstGeom prst="roundRect">
            <a:avLst>
              <a:gd name="adj" fmla="val 4589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17981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沒產生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0880" y="1456730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 1：連續 5 天沒有備份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90880" y="178435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從 09-15 就是 Enabled、TTL 30 天，應該每天一份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90880" y="209550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09-17 ~ 09-21 完全沒有備份，也沒有失敗紀錄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90880" y="240665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沒有「失敗」可以通知 → 只做失敗通知的監控完全無效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90880" y="271780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五天內沒有任何人知道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75375" y="1000125"/>
            <a:ext cx="5505450" cy="2145030"/>
          </a:xfrm>
          <a:prstGeom prst="roundRect">
            <a:avLst>
              <a:gd name="adj" fmla="val 4589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1179810"/>
            <a:ext cx="53004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救不回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55080" y="1456730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 2：每日備份還原不回 PV 資料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355080" y="178435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三份每日備份都是 Completed、0 errors、0 warnings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355080" y="209550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restore-test.sh 實際還原 → PartiallyFailed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55080" y="240665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如果今天真的要救資料，會在最緊張的時候才發現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8000" y="3351510"/>
            <a:ext cx="1151128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撰寫這個單元時對線上 </a:t>
            </a:r>
            <a:r>
              <a:rPr lang="en-US" sz="13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daily-full-backup</a:t>
            </a:r>
            <a:r>
              <a:rPr lang="en-US" sz="13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做檢查，發現了這兩個真實問題，正好說明這個單元為什麼存在。</a:t>
            </a:r>
            <a:endParaRPr lang="en-US" sz="1350" dirty="0"/>
          </a:p>
        </p:txBody>
      </p:sp>
      <p:pic>
        <p:nvPicPr>
          <p:cNvPr id="18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 · 每日備份與驗證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</a:t>
            </a:r>
            <a:endParaRPr lang="en-US" sz="12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 1：連續 5 天沒有備份，沒有任何告警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2024380"/>
          </a:xfrm>
          <a:prstGeom prst="roundRect">
            <a:avLst>
              <a:gd name="adj" fmla="val 5019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1719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$ kubectl -n velero get backups.velero.io -l velero.io/schedule-name=daily-full-backup 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-o custom-columns=NAME:.metadata.name,PHASE:.status.phase,START:.status.startTimestamp,\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ITEMS:.status.progress.itemsBackedUp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NAME                              PHASE      START                 ITEMS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daily-full-backup-20260916010019  Completed  2026-09-16T01:00:19Z  1484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                                             </a:t>
            </a:r>
            <a:r>
              <a:rPr lang="en-US" sz="1150" dirty="0">
                <a:solidFill>
                  <a:srgbClr val="F2B35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← 09-17 ~ 09-21：什麼都沒有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daily-full-backup-20260922010048  Completed  2026-09-22T01:00:48Z  1629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daily-full-backup-20260923010055  Completed  2026-09-23T01:00:55Z  1687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11175" y="3227685"/>
            <a:ext cx="3790077" cy="1165860"/>
          </a:xfrm>
          <a:prstGeom prst="roundRect">
            <a:avLst>
              <a:gd name="adj" fmla="val 8442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880" y="3407470"/>
            <a:ext cx="3533587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天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90880" y="3961110"/>
            <a:ext cx="3533587" cy="255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沒有備份、沒有失敗紀錄、沒有告警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60002" y="3227685"/>
            <a:ext cx="7220824" cy="1165860"/>
          </a:xfrm>
          <a:prstGeom prst="roundRect">
            <a:avLst>
              <a:gd name="adj" fmla="val 844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39707" y="3407470"/>
            <a:ext cx="706725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原因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639707" y="3718620"/>
            <a:ext cx="706725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本次沒有查明（同期間 Velero Pod 被重建過數次）。重點不是原因，而是</a:t>
            </a:r>
            <a:r>
              <a:rPr lang="en-US" sz="1300" b="1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五天內沒有任何人知道</a:t>
            </a: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300" dirty="0"/>
          </a:p>
        </p:txBody>
      </p:sp>
      <p:pic>
        <p:nvPicPr>
          <p:cNvPr id="12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 · 每日備份與驗證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</a:t>
            </a:r>
            <a:endParaRPr lang="en-US" sz="12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 2：每日備份還原不回 PV 資料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2236152"/>
          </a:xfrm>
          <a:prstGeom prst="roundRect">
            <a:avLst>
              <a:gd name="adj" fmla="val 4544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1931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使用備份：daily-full-backup-20260923010055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Restore restore-test-20260923171023：phase=PartiallyFailed warnings=1 errors=2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❌ [k8s-training] Restore Test 失敗（dr-demo </a:t>
            </a:r>
            <a:r>
              <a:rPr lang="en-US" sz="1150" dirty="0">
                <a:solidFill>
                  <a:srgbClr val="F2B35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← daily-full-backup-20260923010055）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$ velero restore describe restore-test-20260923171023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Errors: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dr-restore-test: error preparing persistentvolumeclaims/dr-restore-test/postgres-data: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... multiple DataUpload result cms found with labels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 velero.io/pvc-namespace-name=dr-demo.postgres-data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11175" y="3439517"/>
            <a:ext cx="6445250" cy="1511935"/>
          </a:xfrm>
          <a:prstGeom prst="roundRect">
            <a:avLst>
              <a:gd name="adj" fmla="val 651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880" y="3619202"/>
            <a:ext cx="626841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原因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0880" y="3930352"/>
            <a:ext cx="6268415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線上排程沒有排除 velero namespace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90880" y="4231977"/>
            <a:ext cx="6268415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每份每日備份把 velero ns 裡其他備份的 DataUpload 物件也備份進去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90880" y="4533602"/>
            <a:ext cx="6268415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同一個 PVC 有 3 筆上傳紀錄，Velero 無法判斷該用哪一筆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112000" y="3436342"/>
            <a:ext cx="4572000" cy="1518285"/>
          </a:xfrm>
          <a:prstGeom prst="roundRect">
            <a:avLst>
              <a:gd name="adj" fmla="val 6692"/>
            </a:avLst>
          </a:prstGeom>
          <a:solidFill>
            <a:srgbClr val="0F2E45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0" y="3601442"/>
            <a:ext cx="429056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8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備份檔內的 DataUpload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0" y="3890962"/>
            <a:ext cx="4290568" cy="835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daily-full-backup-20260922010048-78srp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dr-demo-backup-001-20268105070223-759rx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daily-full-backup-20260923010055-pt5c8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（全部是 dr-demo/postgres-data）</a:t>
            </a:r>
            <a:endParaRPr lang="en-US" sz="1100" dirty="0"/>
          </a:p>
        </p:txBody>
      </p:sp>
      <p:pic>
        <p:nvPicPr>
          <p:cNvPr id="14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 · 每日備份與驗證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endParaRPr lang="en-US" sz="12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同一份流程，換一份備份就完全正常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2024380"/>
          </a:xfrm>
          <a:prstGeom prst="roundRect">
            <a:avLst>
              <a:gd name="adj" fmla="val 5019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1719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使用備份：dr-course-backup-01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Restore restore-test-20260923171119：phase=Completed warnings=1 errors=0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[PASS] PVC postgres-data Bound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[PASS] PVC shared-data Bound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[PASS] disaster_test 查得到 DR-TEST-DB-001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[PASS] dr-test.txt 含 DR-TEST-FS-001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已清除 dr-restore-test 中還原的資源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✅ [k8s-training] Restore Test 通過：dr-demo </a:t>
            </a:r>
            <a:r>
              <a:rPr lang="en-US" sz="1150" dirty="0">
                <a:solidFill>
                  <a:srgbClr val="F2B35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← dr-course-backup-01，資料驗證 PASS，耗時 1 分鐘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08000" y="3224510"/>
            <a:ext cx="11176000" cy="2680970"/>
          </a:xfrm>
          <a:prstGeom prst="roundRect">
            <a:avLst>
              <a:gd name="adj" fmla="val 3790"/>
            </a:avLst>
          </a:prstGeom>
          <a:solidFill>
            <a:srgbClr val="12517C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3402310"/>
            <a:ext cx="1114501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Test 的重要性，最好的實例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3713460"/>
            <a:ext cx="11145012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D4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三份每日備份每一份都顯示 Completed、0 errors、0 warnings。修正方式：排程排除 velero namespace（下一節）。</a:t>
            </a:r>
            <a:endParaRPr lang="en-US" sz="1350" dirty="0"/>
          </a:p>
        </p:txBody>
      </p:sp>
      <p:pic>
        <p:nvPicPr>
          <p:cNvPr id="9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 · 每日備份與驗證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12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Schedule：定時產生 Backup 的範本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2943860"/>
        </p:xfrm>
        <a:graphic>
          <a:graphicData uri="http://schemas.openxmlformats.org/drawingml/2006/table">
            <a:tbl>
              <a:tblPr/>
              <a:tblGrid>
                <a:gridCol w="2679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3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31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欄位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線上 daily-full-backup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建議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原因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1 * * *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01:00 UTC（台灣 09:00）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includedNamespaces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（全部）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["*"]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33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excludedNamespaces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kube-system、kube-public、kube-node-lease、velero、rook-ceph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排除 velero 修正問題 2；其他由安裝程序重建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excludedResources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VolumeSnapshot / Content、Event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還原沒有意義的暫時性物件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snapshotMoveData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資料必須搬出叢集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720h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133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useOwnerReferencesInBackup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 會讓「刪除 Schedule」連帶刪除所有備份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4154190"/>
            <a:ext cx="115112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建議版本在 </a:t>
            </a:r>
            <a:r>
              <a:rPr lang="en-US" sz="130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velero/schedule-daily-full.yaml</a:t>
            </a: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（線上排程的改良版）。</a:t>
            </a:r>
            <a:r>
              <a:rPr lang="en-US" sz="1300" b="1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尚未套用</a:t>
            </a: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，由講師確認後操作。</a:t>
            </a:r>
            <a:endParaRPr lang="en-US" sz="130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 · 每日備份與驗證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</a:t>
            </a:r>
            <a:endParaRPr lang="en-US" sz="12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的 CLI 與常用操作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1877060"/>
          </a:xfrm>
          <a:prstGeom prst="roundRect">
            <a:avLst>
              <a:gd name="adj" fmla="val 5413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1572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 schedule create daily-full-backup --schedule="0 1 * * *"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--exclude-namespaces kube-system,kube-public,kube-node-lease,velero,rook-ceph \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--snapshot-move-data --ttl 720h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 schedule pause daily-full-backup      # 維護期間暫停（別忘了恢復！backup-check 會抓到）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 schedule unpause daily-full-backup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 backup create --from-schedule daily-full-backup   # 立刻用排程的設定跑一次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11175" y="3080445"/>
            <a:ext cx="11169650" cy="2821940"/>
          </a:xfrm>
          <a:prstGeom prst="roundRect">
            <a:avLst>
              <a:gd name="adj" fmla="val 3488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880" y="3260130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再提醒一次名稱衝突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0880" y="3571280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get schedules</a:t>
            </a:r>
            <a:r>
              <a:rPr lang="en-US" sz="13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在本叢集會拿到 Fleet 的空清單。所有腳本一律寫 </a:t>
            </a:r>
            <a:r>
              <a:rPr lang="en-US" sz="1300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schedules.velero.io</a:t>
            </a:r>
            <a:r>
              <a:rPr lang="en-US" sz="13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en-US" sz="1300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backups.velero.io</a:t>
            </a:r>
            <a:r>
              <a:rPr lang="en-US" sz="13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300" dirty="0"/>
          </a:p>
        </p:txBody>
      </p:sp>
      <p:pic>
        <p:nvPicPr>
          <p:cNvPr id="9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 · 每日備份與驗證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12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TTL 與分級保留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1651000"/>
        </p:xfrm>
        <a:graphic>
          <a:graphicData uri="http://schemas.openxmlformats.org/drawingml/2006/table">
            <a:tbl>
              <a:tblPr/>
              <a:tblGrid>
                <a:gridCol w="2903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99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98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497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排程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頻率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同時保留份數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critical-6h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 6 小時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關鍵應用，RPO 6 小時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daily-full-backup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全叢集，RPO 24 小時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weekly-full（練習題）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發現資料被「慢慢改壞」時回溯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monthly-archive（練習題）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365 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稽核 / 法規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11175" y="2864545"/>
            <a:ext cx="5505450" cy="1191260"/>
          </a:xfrm>
          <a:prstGeom prst="roundRect">
            <a:avLst>
              <a:gd name="adj" fmla="val 8262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90880" y="304423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到期自動刪除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90880" y="3355380"/>
            <a:ext cx="530042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CR、S3 上的備份檔、kopia 中不再被引用的資料、還原紀錄。手動刪除用 </a:t>
            </a:r>
            <a:r>
              <a:rPr lang="en-US" sz="120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backup delete</a:t>
            </a: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</a:t>
            </a:r>
            <a:r>
              <a:rPr lang="en-US" sz="120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delete backup</a:t>
            </a: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只刪 CR）。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175375" y="2864545"/>
            <a:ext cx="5505450" cy="1191260"/>
          </a:xfrm>
          <a:prstGeom prst="roundRect">
            <a:avLst>
              <a:gd name="adj" fmla="val 8262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355080" y="304423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保留的陷阱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355080" y="3355380"/>
            <a:ext cx="530042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太短 + 問題太晚發現 → 所有備份都已包含錯誤資料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355080" y="3647480"/>
            <a:ext cx="530042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備份停了但 TTL 照常刪舊備份 → 停得夠久，連最後一份好的也會被刪</a:t>
            </a:r>
            <a:endParaRPr lang="en-US" sz="1200" dirty="0"/>
          </a:p>
        </p:txBody>
      </p:sp>
      <p:pic>
        <p:nvPicPr>
          <p:cNvPr id="12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 · 每日備份與驗證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</a:t>
            </a:r>
            <a:endParaRPr lang="en-US" sz="12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可靠的每日備份需要三層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119188"/>
            <a:ext cx="2463800" cy="1096010"/>
          </a:xfrm>
          <a:prstGeom prst="roundRect">
            <a:avLst>
              <a:gd name="adj" fmla="val 898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5480" y="1273473"/>
            <a:ext cx="221984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產生：Schedule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65480" y="1584623"/>
            <a:ext cx="2219846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01:00 UTC 產生 Backup。有沒有在跑？</a:t>
            </a:r>
            <a:endParaRPr lang="en-US" sz="1250" dirty="0"/>
          </a:p>
        </p:txBody>
      </p:sp>
      <p:pic>
        <p:nvPicPr>
          <p:cNvPr id="7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054350" y="1584623"/>
            <a:ext cx="279400" cy="1651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413125" y="1119188"/>
            <a:ext cx="2463800" cy="1096010"/>
          </a:xfrm>
          <a:prstGeom prst="roundRect">
            <a:avLst>
              <a:gd name="adj" fmla="val 898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567430" y="1273473"/>
            <a:ext cx="221984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檢查：backup-check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567430" y="1584623"/>
            <a:ext cx="2219846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 03:00 UTC。最新一份存在、夠新、成功嗎？</a:t>
            </a:r>
            <a:endParaRPr lang="en-US" sz="1250" dirty="0"/>
          </a:p>
        </p:txBody>
      </p:sp>
      <p:pic>
        <p:nvPicPr>
          <p:cNvPr id="11" name="Image 2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56300" y="1584623"/>
            <a:ext cx="279400" cy="1651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315075" y="1119188"/>
            <a:ext cx="2463800" cy="1096010"/>
          </a:xfrm>
          <a:prstGeom prst="roundRect">
            <a:avLst>
              <a:gd name="adj" fmla="val 898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469380" y="1273473"/>
            <a:ext cx="221984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驗證：restore-test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469380" y="1584623"/>
            <a:ext cx="2219846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每週一 04:00 UTC。真的能還原、資料對嗎？</a:t>
            </a:r>
            <a:endParaRPr lang="en-US" sz="1250" dirty="0"/>
          </a:p>
        </p:txBody>
      </p:sp>
      <p:pic>
        <p:nvPicPr>
          <p:cNvPr id="15" name="Image 3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58250" y="1584623"/>
            <a:ext cx="279400" cy="1651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9217025" y="1000125"/>
            <a:ext cx="2463800" cy="1334135"/>
          </a:xfrm>
          <a:prstGeom prst="roundRect">
            <a:avLst>
              <a:gd name="adj" fmla="val 7377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9371330" y="1154410"/>
            <a:ext cx="221984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通知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9371330" y="1465560"/>
            <a:ext cx="2219846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 ✅ / 失敗 ❌ → 值班人員；「今天沒收到訊息」也是告警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2550855"/>
          <a:ext cx="11165840" cy="1374140"/>
        </p:xfrm>
        <a:graphic>
          <a:graphicData uri="http://schemas.openxmlformats.org/drawingml/2006/table">
            <a:tbl>
              <a:tblPr/>
              <a:tblGrid>
                <a:gridCol w="1786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6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層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回答的問題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本單元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產生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有沒有在跑？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Schedule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檢查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最新一份存在、夠新、成功嗎？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backup-check（每日）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驗證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真的能還原、資料對嗎？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restore-test（每週）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0" name="Image 4" descr="AIC AIoT Cloud"/>
          <p:cNvPicPr>
            <a:picLocks noChangeAspect="1"/>
          </p:cNvPicPr>
          <p:nvPr/>
        </p:nvPicPr>
        <p:blipFill>
          <a:blip r:embed="rId5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 · 每日備份與驗證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</a:t>
            </a:r>
            <a:endParaRPr lang="en-US" sz="12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backup-check：每日檢查 + 通知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6441440" cy="2218055"/>
        </p:xfrm>
        <a:graphic>
          <a:graphicData uri="http://schemas.openxmlformats.org/drawingml/2006/table">
            <a:tbl>
              <a:tblPr/>
              <a:tblGrid>
                <a:gridCol w="3542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8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檢查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為什麼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BSL 是 Available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否則接下來所有備份都會失敗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 Enabled 且沒有 paused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維護時暫停後忘了恢復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找得到 Completed 備份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最新 Completed 距今 ≤ 26 小時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抓得到問題 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最新成功備份 errors = 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最新一次不是 Failed / PartiallyFailed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1117" marR="51117" marT="51117" marB="51117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7112000" y="996950"/>
            <a:ext cx="4572000" cy="2760980"/>
          </a:xfrm>
          <a:prstGeom prst="roundRect">
            <a:avLst>
              <a:gd name="adj" fmla="val 3680"/>
            </a:avLst>
          </a:prstGeom>
          <a:solidFill>
            <a:srgbClr val="0F2E45"/>
          </a:solidFill>
          <a:ln/>
        </p:spPr>
      </p:sp>
      <p:sp>
        <p:nvSpPr>
          <p:cNvPr id="6" name="Text 2"/>
          <p:cNvSpPr/>
          <p:nvPr/>
        </p:nvSpPr>
        <p:spPr>
          <a:xfrm>
            <a:off x="7315200" y="1162050"/>
            <a:ext cx="4290568" cy="2456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$ ./script/backup-check.sh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BSL: default=Available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Schedule daily-full-backup: Enabled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✅ Velero 備份正常：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daily-full-backup-20260923010055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 （8h 前，items 1687/1687）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$ MAX_AGE_HOURS=1 ./script/backup-check.sh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❌ 最新成功備份已經 8 小時（上限 1h）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$ SCHEDULE_NAME=nope ./script/backup-check.sh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❌ Schedule nope 狀態異常：NotFound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08000" y="3961110"/>
            <a:ext cx="11511280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本身</a:t>
            </a:r>
            <a:r>
              <a:rPr lang="en-US" sz="1250" b="1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</a:t>
            </a: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內建通知。backup-check.sh 呼叫 webhook，Slack / Mattermost / Google Chat 都接受 </a:t>
            </a:r>
            <a:r>
              <a:rPr lang="en-US" sz="12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{"text": "..."}</a:t>
            </a: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250" dirty="0"/>
          </a:p>
        </p:txBody>
      </p:sp>
      <p:pic>
        <p:nvPicPr>
          <p:cNvPr id="8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 · 每日備份與驗證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</a:t>
            </a:r>
            <a:endParaRPr lang="en-US" sz="12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1251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090440"/>
            <a:ext cx="1046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為什麼成功也要通知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6000" y="2593380"/>
            <a:ext cx="10464800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6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每天固定收到一則 ✅，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16000" y="3172520"/>
            <a:ext cx="10464800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60"/>
              </a:lnSpc>
              <a:buNone/>
            </a:pPr>
            <a:r>
              <a:rPr lang="en-US" sz="3200" b="1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某天沒收到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，就是訊號。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6000" y="3954760"/>
            <a:ext cx="104648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4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只在失敗時通知，「檢查程式自己沒跑」就會被當成一切正常。進一步可接 Healthchecks.io 或 Uptime Kuma 的心跳監控（dead man's switch）。</a:t>
            </a:r>
            <a:endParaRPr lang="en-US" sz="1600" dirty="0"/>
          </a:p>
        </p:txBody>
      </p:sp>
      <p:pic>
        <p:nvPicPr>
          <p:cNvPr id="6" name="Image 0" descr="AIC AIoT Cloud"/>
          <p:cNvPicPr>
            <a:picLocks noChangeAspect="1"/>
          </p:cNvPicPr>
          <p:nvPr/>
        </p:nvPicPr>
        <p:blipFill>
          <a:blip r:embed="rId3"/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 · 每日備份與驗證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</a:t>
            </a:r>
            <a:endParaRPr lang="en-US" sz="12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Test 的重要性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1717675"/>
        </p:xfrm>
        <a:graphic>
          <a:graphicData uri="http://schemas.openxmlformats.org/drawingml/2006/table">
            <a:tbl>
              <a:tblPr/>
              <a:tblGrid>
                <a:gridCol w="3349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6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98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98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驗證方式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能發現什麼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問題 1（沒產生）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問題 2（救不回）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看 UI / velero backup get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Phase、errors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抓不到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抓不到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backup-check（每日）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沒產生、太舊、失敗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抓得到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抓不到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自動 Restore Test（每週）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還原流程、PV 資料、應用資料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抓得到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抓得到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人工 DR 演練（每季 / 每半年）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runbook、人員、權限、RTO、跨團隊協作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抓得到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抓得到 + 流程問題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08000" y="2928045"/>
            <a:ext cx="115112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1 節的問題 2，每一個狀態欄位都是完美的。</a:t>
            </a:r>
            <a:r>
              <a:rPr lang="en-US" sz="1400" b="1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只有真的還原一次，才抓得到。</a:t>
            </a:r>
            <a:endParaRPr lang="en-US" sz="140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 · 每日備份與驗證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</a:t>
            </a:r>
            <a:endParaRPr lang="en-US" sz="12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restore-test.sh 的流程與設計重點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8000" y="996950"/>
            <a:ext cx="664514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8000" y="1286570"/>
            <a:ext cx="6645148" cy="1747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 algn="l">
              <a:lnSpc>
                <a:spcPts val="1938"/>
              </a:lnSpc>
              <a:buSzPct val="100000"/>
              <a:buFontTx/>
              <a:buAutoNum type="arabicPeriod"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找出排程最新一份</a:t>
            </a:r>
            <a:r>
              <a:rPr lang="en-US" sz="1250" b="1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包含目標 namespace</a:t>
            </a: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的 Completed 備份</a:t>
            </a:r>
            <a:endParaRPr lang="en-US" sz="1250" dirty="0"/>
          </a:p>
          <a:p>
            <a:pPr marL="190500" indent="-190500" algn="l">
              <a:lnSpc>
                <a:spcPts val="1938"/>
              </a:lnSpc>
              <a:buSzPct val="100000"/>
              <a:buFontTx/>
              <a:buAutoNum type="arabicPeriod"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Restore：dr-demo → dr-restore-test（不碰正在運作的應用）</a:t>
            </a:r>
            <a:endParaRPr lang="en-US" sz="1250" dirty="0"/>
          </a:p>
          <a:p>
            <a:pPr marL="190500" indent="-190500" algn="l">
              <a:lnSpc>
                <a:spcPts val="1938"/>
              </a:lnSpc>
              <a:buSzPct val="100000"/>
              <a:buFontTx/>
              <a:buAutoNum type="arabicPeriod"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 Restore 結束；不是 Completed 直接失敗</a:t>
            </a:r>
            <a:endParaRPr lang="en-US" sz="1250" dirty="0"/>
          </a:p>
          <a:p>
            <a:pPr marL="190500" indent="-190500" algn="l">
              <a:lnSpc>
                <a:spcPts val="1938"/>
              </a:lnSpc>
              <a:buSzPct val="100000"/>
              <a:buFontTx/>
              <a:buAutoNum type="arabicPeriod"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等所有 Deployment Ready</a:t>
            </a:r>
            <a:endParaRPr lang="en-US" sz="1250" dirty="0"/>
          </a:p>
          <a:p>
            <a:pPr marL="190500" indent="-190500" algn="l">
              <a:lnSpc>
                <a:spcPts val="1938"/>
              </a:lnSpc>
              <a:buSzPct val="100000"/>
              <a:buFontTx/>
              <a:buAutoNum type="arabicPeriod"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 check-data.sh dr-restore-test</a:t>
            </a:r>
            <a:endParaRPr lang="en-US" sz="1250" dirty="0"/>
          </a:p>
          <a:p>
            <a:pPr marL="190500" indent="-190500" algn="l">
              <a:lnSpc>
                <a:spcPts val="1938"/>
              </a:lnSpc>
              <a:buSzPct val="100000"/>
              <a:buFontTx/>
              <a:buAutoNum type="arabicPeriod"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通過 → 依 restore-name label 清除；失敗 → 保留現場</a:t>
            </a:r>
            <a:endParaRPr lang="en-US" sz="1250" dirty="0"/>
          </a:p>
          <a:p>
            <a:pPr marL="190500" indent="-190500" algn="l">
              <a:lnSpc>
                <a:spcPts val="1938"/>
              </a:lnSpc>
              <a:buSzPct val="100000"/>
              <a:buFontTx/>
              <a:buAutoNum type="arabicPeriod"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通知結果與耗時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115175" y="1000125"/>
            <a:ext cx="4565650" cy="1018540"/>
          </a:xfrm>
          <a:prstGeom prst="roundRect">
            <a:avLst>
              <a:gd name="adj" fmla="val 9663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56780" y="1141710"/>
            <a:ext cx="441091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固定目的地 + namespace 內的 Role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256780" y="1419920"/>
            <a:ext cx="441091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dr-restore-test 事先建立，RBAC 只在那個 namespace 給 exec / 建 Pod / 刪除權限，不需要叢集層級的危險權限。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115175" y="2113955"/>
            <a:ext cx="4565650" cy="1018540"/>
          </a:xfrm>
          <a:prstGeom prst="roundRect">
            <a:avLst>
              <a:gd name="adj" fmla="val 9663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56780" y="2255540"/>
            <a:ext cx="441091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只刪自己還原的東西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256780" y="2533650"/>
            <a:ext cx="441091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替每個還原出來的資源貼上 velero.io/restore-name，清除時用這個 label。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115175" y="3227685"/>
            <a:ext cx="4565650" cy="1018540"/>
          </a:xfrm>
          <a:prstGeom prst="roundRect">
            <a:avLst>
              <a:gd name="adj" fmla="val 9663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56780" y="3369370"/>
            <a:ext cx="441091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驗證資料，不是驗證狀態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256780" y="3647480"/>
            <a:ext cx="441091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驗證腳本就是單元 4 的 check-data.sh。可用 BACKUP_NAME=&lt;name&gt; 手動演練。</a:t>
            </a:r>
            <a:endParaRPr lang="en-US" sz="1200" dirty="0"/>
          </a:p>
        </p:txBody>
      </p:sp>
      <p:pic>
        <p:nvPicPr>
          <p:cNvPr id="1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 · 每日備份與驗證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</a:t>
            </a:r>
            <a:endParaRPr lang="en-US" sz="12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RPO 與 RTO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1898650" cy="497840"/>
          </a:xfrm>
          <a:prstGeom prst="roundRect">
            <a:avLst>
              <a:gd name="adj" fmla="val 19770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2780" y="1141710"/>
            <a:ext cx="16662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最後一次成功備份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469071" y="1055390"/>
            <a:ext cx="312635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300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資料遺失 = RPO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514600" y="1353840"/>
            <a:ext cx="3035300" cy="88900"/>
          </a:xfrm>
          <a:prstGeom prst="roundRect">
            <a:avLst>
              <a:gd name="adj" fmla="val 50000"/>
            </a:avLst>
          </a:prstGeom>
          <a:solidFill>
            <a:srgbClr val="F2B35C"/>
          </a:solidFill>
          <a:ln/>
        </p:spPr>
      </p:sp>
      <p:sp>
        <p:nvSpPr>
          <p:cNvPr id="8" name="Shape 5"/>
          <p:cNvSpPr/>
          <p:nvPr/>
        </p:nvSpPr>
        <p:spPr>
          <a:xfrm>
            <a:off x="5654675" y="1000125"/>
            <a:ext cx="1390650" cy="497840"/>
          </a:xfrm>
          <a:prstGeom prst="roundRect">
            <a:avLst>
              <a:gd name="adj" fmla="val 19770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96280" y="1141710"/>
            <a:ext cx="11582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災難發生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04570" y="1055390"/>
            <a:ext cx="312635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30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停機 = RTO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50100" y="1353840"/>
            <a:ext cx="3035300" cy="88900"/>
          </a:xfrm>
          <a:prstGeom prst="roundRect">
            <a:avLst>
              <a:gd name="adj" fmla="val 50000"/>
            </a:avLst>
          </a:prstGeom>
          <a:solidFill>
            <a:srgbClr val="16759A"/>
          </a:solidFill>
          <a:ln/>
        </p:spPr>
      </p:sp>
      <p:sp>
        <p:nvSpPr>
          <p:cNvPr id="12" name="Shape 9"/>
          <p:cNvSpPr/>
          <p:nvPr/>
        </p:nvSpPr>
        <p:spPr>
          <a:xfrm>
            <a:off x="10290175" y="1000125"/>
            <a:ext cx="1390650" cy="497840"/>
          </a:xfrm>
          <a:prstGeom prst="roundRect">
            <a:avLst>
              <a:gd name="adj" fmla="val 19770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431780" y="1141710"/>
            <a:ext cx="11582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服務恢復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11175" y="1707555"/>
            <a:ext cx="5505450" cy="1540510"/>
          </a:xfrm>
          <a:prstGeom prst="roundRect">
            <a:avLst>
              <a:gd name="adj" fmla="val 638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0880" y="188724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RPO：Recovery Point Objective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90880" y="219839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最多能接受遺失</a:t>
            </a:r>
            <a:r>
              <a:rPr lang="en-US" sz="1300" b="1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多久</a:t>
            </a: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的資料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90880" y="250954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由</a:t>
            </a:r>
            <a:r>
              <a:rPr lang="en-US" sz="1300" b="1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備份頻率</a:t>
            </a: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決定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90880" y="282069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每日備份 → 最差 24 小時；像問題 1 斷掉 5 天，實際 RPO = 5 天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175375" y="1707555"/>
            <a:ext cx="5505450" cy="1540510"/>
          </a:xfrm>
          <a:prstGeom prst="roundRect">
            <a:avLst>
              <a:gd name="adj" fmla="val 6389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5080" y="188724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RTO：Recovery Time Objective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355080" y="219839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從出事到恢復服務，最多能接受</a:t>
            </a:r>
            <a:r>
              <a:rPr lang="en-US" sz="1300" b="1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多久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355080" y="250954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由</a:t>
            </a:r>
            <a:r>
              <a:rPr lang="en-US" sz="1300" b="1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還原流程</a:t>
            </a: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決定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355080" y="282069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偵測 + 決策 + 還原 + 驗證 + 切換</a:t>
            </a:r>
            <a:endParaRPr lang="en-US" sz="1300" dirty="0"/>
          </a:p>
        </p:txBody>
      </p:sp>
      <p:pic>
        <p:nvPicPr>
          <p:cNvPr id="24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 · 每日備份與驗證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</a:t>
            </a:r>
            <a:endParaRPr lang="en-US" sz="12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本課程實測：RTO 的參考下限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2061210"/>
        </p:xfrm>
        <a:graphic>
          <a:graphicData uri="http://schemas.openxmlformats.org/drawingml/2006/table">
            <a:tbl>
              <a:tblPr/>
              <a:tblGrid>
                <a:gridCol w="4689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6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98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情境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實測耗時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來源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dr-demo 還原到新 namespace（約 48MB 資料）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Restore 55 秒；含驗證約 1 分鐘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4、restore-test.sh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dr-demo 備份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 秒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全叢集每日備份（1687 個物件）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約 6 分鐘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線上 daily-full-backup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etcd 還原（3 台）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未實測（runbook）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整座叢集重建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未實測（runbook）；通常以小時計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5563" marR="55563" marT="55563" marB="55563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11175" y="3274715"/>
            <a:ext cx="11169650" cy="2627630"/>
          </a:xfrm>
          <a:prstGeom prst="roundRect">
            <a:avLst>
              <a:gd name="adj" fmla="val 3746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90880" y="3454400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這只是下限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90880" y="3765550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真實災難的 RTO 還要加上：發現問題的時間、決定要還原的時間、找到對的人和權限的時間、業務驗收的時間。這些只有演練才量得出來。</a:t>
            </a:r>
            <a:endParaRPr lang="en-US" sz="1300" dirty="0"/>
          </a:p>
        </p:txBody>
      </p:sp>
      <p:pic>
        <p:nvPicPr>
          <p:cNvPr id="8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 · 每日備份與驗證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</a:t>
            </a:r>
            <a:endParaRPr lang="en-US" sz="12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企業 DR Policy 至少要包含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3302000"/>
        </p:xfrm>
        <a:graphic>
          <a:graphicData uri="http://schemas.openxmlformats.org/drawingml/2006/table">
            <a:tbl>
              <a:tblPr/>
              <a:tblGrid>
                <a:gridCol w="2009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5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項目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範例（依應用分級）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應用分級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1（營收 / 對外）、Tier 2（內部重要）、Tier 3（可重建）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RPO / RTO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1：RPO 1h / RTO 4h；Tier 2：RPO 24h / RTO 1 天；Tier 3：RPO 7 天 / RTO 盡力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備份方式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 1：Velero 每小時 + 資料庫原生備份（WAL / binlog）；Tier 2：每日 Velero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保存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叢集外 S3 + 異地副本；保留天數；誰能刪除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監控與通知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 backup-check；通知對象；未收到通知的處理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驗證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每週自動 Restore Test；每季人工演練；演練紀錄存查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角色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誰宣告災難、誰執行、誰驗收（應用負責人）、誰對外溝通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Runbook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4 / 7 / 8 的文件，放在叢集外、離線可取得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檢討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每次演練 / 事件後更新 RPO / RTO 實測值與 runbook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5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 · 每日備份與驗證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139</a:t>
            </a:r>
            <a:endParaRPr lang="en-US" sz="12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1251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2242840"/>
            <a:ext cx="1046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RPO / RTO 是誰決定的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16000" y="2745780"/>
            <a:ext cx="10464800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6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RPO / RTO 不是技術人員自己決定的數字。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16000" y="3324920"/>
            <a:ext cx="10464800" cy="553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60"/>
              </a:lnSpc>
              <a:buNone/>
            </a:pPr>
            <a:r>
              <a:rPr lang="en-US" sz="3200" b="1" dirty="0">
                <a:solidFill>
                  <a:srgbClr val="F2B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沒有演練過的 RTO，只是一個願望。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16000" y="4107160"/>
            <a:ext cx="104648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D4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業務方根據「停機 / 遺失資料的代價」決定目標，IT 負責做到，並用演練證明。</a:t>
            </a:r>
            <a:endParaRPr lang="en-US" sz="1600" dirty="0"/>
          </a:p>
        </p:txBody>
      </p:sp>
      <p:pic>
        <p:nvPicPr>
          <p:cNvPr id="6" name="Image 0" descr="AIC AIoT Cloud"/>
          <p:cNvPicPr>
            <a:picLocks noChangeAspect="1"/>
          </p:cNvPicPr>
          <p:nvPr/>
        </p:nvPicPr>
        <p:blipFill>
          <a:blip r:embed="rId3"/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 · 每日備份與驗證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endParaRPr lang="en-US" sz="12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講師操作：啟用整套機制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3295015"/>
          </a:xfrm>
          <a:prstGeom prst="roundRect">
            <a:avLst>
              <a:gd name="adj" fmla="val 3083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2990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cd dr/09-daily-backup-verification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1. 修正每日排程（排除 velero 等 namespace → 修正問題 2）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apply -f velero/schedule-daily-full.yaml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velero backup create --from-schedule daily-full-backup --wait   # 立刻產生一份新的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2.（可選）關鍵應用高頻排程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apply -f velero/schedule-critical-6h.yaml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3. 檢查與還原測試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apply -f manifest/                         # .example 會被略過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-n dr-ops create secret generic backup-notify --from-literal=WEBHOOK_URL='https://...'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4. 立刻各跑一次，不用等排程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-n dr-ops create job --from=cronjob/backup-check backup-check-manual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-n dr-ops create job --from=cronjob/restore-test restore-test-manual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-n dr-ops logs -f job/restore-test-manual</a:t>
            </a:r>
            <a:endParaRPr lang="en-US" sz="1150" dirty="0"/>
          </a:p>
          <a:p>
            <a:pPr marL="0" indent="0" algn="l">
              <a:lnSpc>
                <a:spcPts val="1668"/>
              </a:lnSpc>
              <a:buNone/>
            </a:pPr>
            <a:r>
              <a:rPr lang="en-US" sz="115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預期：用剛剛那份新的每日備份，Restore Completed、4 項 PASS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11175" y="4498380"/>
            <a:ext cx="11169650" cy="1403985"/>
          </a:xfrm>
          <a:prstGeom prst="roundRect">
            <a:avLst>
              <a:gd name="adj" fmla="val 7010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880" y="4678065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會修改線上狀態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0880" y="4989215"/>
            <a:ext cx="11134547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改排程、建立 CronJob。請講師確認後操作。修改腳本後要重新產生 ConfigMap backup-verify-scripts。</a:t>
            </a:r>
            <a:endParaRPr lang="en-US" sz="1250" dirty="0"/>
          </a:p>
        </p:txBody>
      </p:sp>
      <p:pic>
        <p:nvPicPr>
          <p:cNvPr id="9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 · 每日備份與驗證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</a:t>
            </a:r>
            <a:endParaRPr lang="en-US" sz="12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3617357" cy="1582420"/>
          </a:xfrm>
          <a:prstGeom prst="roundRect">
            <a:avLst>
              <a:gd name="adj" fmla="val 622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5480" y="1154410"/>
            <a:ext cx="340800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Policy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5480" y="1431330"/>
            <a:ext cx="340800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65480" y="1742480"/>
            <a:ext cx="340800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為你們公司的 3 個應用填寫 DR Policy：分級、RPO、RTO、備份方式、驗證頻率。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87282" y="1000125"/>
            <a:ext cx="3617436" cy="1582420"/>
          </a:xfrm>
          <a:prstGeom prst="roundRect">
            <a:avLst>
              <a:gd name="adj" fmla="val 622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41587" y="1154410"/>
            <a:ext cx="34080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441587" y="1431330"/>
            <a:ext cx="340809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441587" y="1742480"/>
            <a:ext cx="3408091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寫一個 weekly-full Schedule：每週日、TTL 90 天。跟 daily 同時存在時 S3 容量約增加多少？（kopia 去重）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63468" y="1000125"/>
            <a:ext cx="3617357" cy="1582420"/>
          </a:xfrm>
          <a:prstGeom prst="roundRect">
            <a:avLst>
              <a:gd name="adj" fmla="val 622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17774" y="1154410"/>
            <a:ext cx="340800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心跳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17774" y="1431330"/>
            <a:ext cx="340800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217774" y="1742480"/>
            <a:ext cx="3408009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backup-check 接到 Healthchecks.io 或 Uptime Kuma 的 push monitor，做出真正的「沒收到心跳就告警」。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11175" y="2792115"/>
            <a:ext cx="5505450" cy="1353820"/>
          </a:xfrm>
          <a:prstGeom prst="roundRect">
            <a:avLst>
              <a:gd name="adj" fmla="val 7270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5480" y="2946400"/>
            <a:ext cx="53527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自訂驗證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65480" y="3223320"/>
            <a:ext cx="535274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65480" y="3534470"/>
            <a:ext cx="535274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修改 restore-test.sh，對 dr-pitfall 做還原測試，驗證條件是 ORDER-1001 存在（接單元 5 練習 4）。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75375" y="2792115"/>
            <a:ext cx="5505450" cy="1353820"/>
          </a:xfrm>
          <a:prstGeom prst="roundRect">
            <a:avLst>
              <a:gd name="adj" fmla="val 7270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29680" y="2946400"/>
            <a:ext cx="53527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現況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29680" y="3223320"/>
            <a:ext cx="535274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練習 5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329680" y="3534470"/>
            <a:ext cx="535274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修正排程之後，已經存在的三份每日備份還能用嗎？如果今天就要從 09-22 的備份還原 dr-demo 的資料，你會怎麼處理？</a:t>
            </a:r>
            <a:endParaRPr lang="en-US" sz="1200" dirty="0"/>
          </a:p>
        </p:txBody>
      </p:sp>
      <p:pic>
        <p:nvPicPr>
          <p:cNvPr id="24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單元 9 · 每日備份與驗證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</a:t>
            </a:r>
            <a:endParaRPr lang="en-US" sz="12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九個單元，九句話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3617357" cy="739140"/>
          </a:xfrm>
          <a:prstGeom prst="roundRect">
            <a:avLst>
              <a:gd name="adj" fmla="val 1331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7380" y="1116310"/>
            <a:ext cx="3486495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概念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27380" y="1394520"/>
            <a:ext cx="348649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 只有描述，PV 裡才有內容。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11175" y="1834555"/>
            <a:ext cx="3617357" cy="739140"/>
          </a:xfrm>
          <a:prstGeom prst="roundRect">
            <a:avLst>
              <a:gd name="adj" fmla="val 1331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7380" y="1950740"/>
            <a:ext cx="3486495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外部儲存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7380" y="2228850"/>
            <a:ext cx="348649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備份不能跟被備份的東西一起死掉。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11175" y="2668885"/>
            <a:ext cx="3617357" cy="739140"/>
          </a:xfrm>
          <a:prstGeom prst="roundRect">
            <a:avLst>
              <a:gd name="adj" fmla="val 1331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7380" y="2785170"/>
            <a:ext cx="3486495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Backup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7380" y="3063280"/>
            <a:ext cx="348649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之後，還有 7 項要檢查。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87282" y="1000125"/>
            <a:ext cx="3617436" cy="739140"/>
          </a:xfrm>
          <a:prstGeom prst="roundRect">
            <a:avLst>
              <a:gd name="adj" fmla="val 1331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03487" y="1116310"/>
            <a:ext cx="348657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Restore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403487" y="1394520"/>
            <a:ext cx="348657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成功的定義是災難前的資料查得到。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287282" y="1834555"/>
            <a:ext cx="3617436" cy="739140"/>
          </a:xfrm>
          <a:prstGeom prst="roundRect">
            <a:avLst>
              <a:gd name="adj" fmla="val 1331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03487" y="1950740"/>
            <a:ext cx="348657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陷阱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403487" y="2228850"/>
            <a:ext cx="348657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Velero 不知道你的應用需要什麼。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287282" y="2668885"/>
            <a:ext cx="3617436" cy="739140"/>
          </a:xfrm>
          <a:prstGeom prst="roundRect">
            <a:avLst>
              <a:gd name="adj" fmla="val 1331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03487" y="2785170"/>
            <a:ext cx="348657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etcd 策略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403487" y="3063280"/>
            <a:ext cx="348657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只有一半，金鑰與 PKI 是另一半。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063468" y="1000125"/>
            <a:ext cx="3617357" cy="739140"/>
          </a:xfrm>
          <a:prstGeom prst="roundRect">
            <a:avLst>
              <a:gd name="adj" fmla="val 1331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79674" y="1116310"/>
            <a:ext cx="3486495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etcd 還原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179674" y="1394520"/>
            <a:ext cx="348649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能不還原就不還原；要還原，3 台同步。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063468" y="1834555"/>
            <a:ext cx="3617357" cy="739140"/>
          </a:xfrm>
          <a:prstGeom prst="roundRect">
            <a:avLst>
              <a:gd name="adj" fmla="val 13316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79674" y="1950740"/>
            <a:ext cx="3486495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叢集重建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179674" y="2228850"/>
            <a:ext cx="348649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基礎元件自己裝，應用才用 Velero。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063468" y="2668885"/>
            <a:ext cx="3617357" cy="739140"/>
          </a:xfrm>
          <a:prstGeom prst="roundRect">
            <a:avLst>
              <a:gd name="adj" fmla="val 13316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79674" y="2785170"/>
            <a:ext cx="3486495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· 制度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8179674" y="3063280"/>
            <a:ext cx="348649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沒有演練過的 RTO，只是一個願望。</a:t>
            </a:r>
            <a:endParaRPr lang="en-US" sz="1200" dirty="0"/>
          </a:p>
        </p:txBody>
      </p:sp>
      <p:pic>
        <p:nvPicPr>
          <p:cNvPr id="31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總結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</a:t>
            </a:r>
            <a:endParaRPr lang="en-US" sz="12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帶回公司的檢查清單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5505450" cy="764540"/>
          </a:xfrm>
          <a:prstGeom prst="roundRect">
            <a:avLst>
              <a:gd name="adj" fmla="val 1287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1129010"/>
            <a:ext cx="540506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備份放在叢集外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407220"/>
            <a:ext cx="540506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不同故障域、不同權限域；Velero 帳號不能刪 bucket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11175" y="1859955"/>
            <a:ext cx="5505450" cy="764540"/>
          </a:xfrm>
          <a:prstGeom prst="roundRect">
            <a:avLst>
              <a:gd name="adj" fmla="val 1287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988840"/>
            <a:ext cx="540506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PV 資料真的搬出去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266950"/>
            <a:ext cx="540506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snapshotMoveData 開啟；Moved data Size 合理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11175" y="2719685"/>
            <a:ext cx="5505450" cy="764540"/>
          </a:xfrm>
          <a:prstGeom prst="roundRect">
            <a:avLst>
              <a:gd name="adj" fmla="val 1287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848670"/>
            <a:ext cx="540506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DR 保險箱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3126780"/>
            <a:ext cx="540506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 密碼、S3 帳密、加密金鑰、PKI、TLS 憑證都在叢集外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11175" y="3579515"/>
            <a:ext cx="5505450" cy="764540"/>
          </a:xfrm>
          <a:prstGeom prst="roundRect">
            <a:avLst>
              <a:gd name="adj" fmla="val 1287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708400"/>
            <a:ext cx="540506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每個應用有依賴清單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3986510"/>
            <a:ext cx="540506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Secret、ConfigMap、跨 namespace、Gateway、cluster 資源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75375" y="1000125"/>
            <a:ext cx="5505450" cy="764540"/>
          </a:xfrm>
          <a:prstGeom prst="roundRect">
            <a:avLst>
              <a:gd name="adj" fmla="val 1287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4280" y="1129010"/>
            <a:ext cx="540506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每日 backup-check，成功也通知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04280" y="1407220"/>
            <a:ext cx="540506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沒收到訊息就是告警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75375" y="1859955"/>
            <a:ext cx="5505450" cy="764540"/>
          </a:xfrm>
          <a:prstGeom prst="roundRect">
            <a:avLst>
              <a:gd name="adj" fmla="val 1287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04280" y="1988840"/>
            <a:ext cx="540506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每週自動 Restore Test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304280" y="2266950"/>
            <a:ext cx="540506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驗證不可能自動重生的業務資料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175375" y="2719685"/>
            <a:ext cx="5505450" cy="764540"/>
          </a:xfrm>
          <a:prstGeom prst="roundRect">
            <a:avLst>
              <a:gd name="adj" fmla="val 1287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4280" y="2848670"/>
            <a:ext cx="540506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每季人工 DR 演練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304280" y="3126780"/>
            <a:ext cx="540506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量出實際 RTO / RPO，更新 runbook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175375" y="3579515"/>
            <a:ext cx="5505450" cy="764540"/>
          </a:xfrm>
          <a:prstGeom prst="roundRect">
            <a:avLst>
              <a:gd name="adj" fmla="val 12874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04280" y="3708400"/>
            <a:ext cx="540506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寫下並簽核 DR Policy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304280" y="3986510"/>
            <a:ext cx="540506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分級、RPO / RTO、角色、runbook 位置</a:t>
            </a:r>
            <a:endParaRPr lang="en-US" sz="1200" dirty="0"/>
          </a:p>
        </p:txBody>
      </p:sp>
      <p:pic>
        <p:nvPicPr>
          <p:cNvPr id="28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總結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</a:t>
            </a:r>
            <a:endParaRPr lang="en-US" sz="12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演練後清理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11165840" cy="1534160"/>
        </p:xfrm>
        <a:graphic>
          <a:graphicData uri="http://schemas.openxmlformats.org/drawingml/2006/table">
            <a:tbl>
              <a:tblPr/>
              <a:tblGrid>
                <a:gridCol w="3796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6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3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物件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清除方式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namespace dr-demo-restore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4：還原到新 namespace 的成果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delete ns dr-demo-restore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namespace dr-pitfall + StorageClass rook-ceph-block-legacy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5 陷阱 lab 的來源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kubectl delete ns dr-pitfall &amp;&amp; kubectl delete sc rook-ceph-block-legacy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Backup dr-course-backup-01、pitfall-*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單元 3 / 5 的備份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 backup delete &lt;name&gt;（30 天 TTL 到期也會自動刪）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11175" y="2747665"/>
            <a:ext cx="3790077" cy="1165860"/>
          </a:xfrm>
          <a:prstGeom prst="roundRect">
            <a:avLst>
              <a:gd name="adj" fmla="val 8442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90880" y="2927350"/>
            <a:ext cx="35335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刪 namespace = 刪 PV 資料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90880" y="3238500"/>
            <a:ext cx="353358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reclaimPolicy: Delete。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460002" y="2747665"/>
            <a:ext cx="7220824" cy="1165860"/>
          </a:xfrm>
          <a:prstGeom prst="roundRect">
            <a:avLst>
              <a:gd name="adj" fmla="val 8442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639707" y="2927350"/>
            <a:ext cx="706725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velero backup delete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639707" y="3238500"/>
            <a:ext cx="706725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會同時刪掉 Object Storage 裡的備份檔。</a:t>
            </a:r>
            <a:r>
              <a:rPr lang="en-US" sz="130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kubectl delete backup</a:t>
            </a:r>
            <a:r>
              <a:rPr lang="en-US" sz="13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只刪叢集內的 CR，下次同步又會長回來。</a:t>
            </a:r>
            <a:endParaRPr lang="en-US" sz="1300" dirty="0"/>
          </a:p>
        </p:txBody>
      </p:sp>
      <p:pic>
        <p:nvPicPr>
          <p:cNvPr id="11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總結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</a:t>
            </a:r>
            <a:endParaRPr lang="en-US" sz="12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1380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2588320"/>
            <a:ext cx="11511280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920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508000" y="3746500"/>
            <a:ext cx="1151128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備份、復原與災難復原演練</a:t>
            </a:r>
            <a:endParaRPr lang="en-US" sz="1800" dirty="0"/>
          </a:p>
        </p:txBody>
      </p:sp>
      <p:pic>
        <p:nvPicPr>
          <p:cNvPr id="5" name="Image 1" descr="AIC AIoT Cloud"/>
          <p:cNvPicPr>
            <a:picLocks noChangeAspect="1"/>
          </p:cNvPicPr>
          <p:nvPr/>
        </p:nvPicPr>
        <p:blipFill>
          <a:blip r:embed="rId4"/>
          <a:srcRect t="-213" b="-213"/>
          <a:stretch/>
        </p:blipFill>
        <p:spPr>
          <a:xfrm>
            <a:off x="336550" y="6350000"/>
            <a:ext cx="12700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附錄 A：SeaweedFS 備份機安裝重點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5505450" cy="1866265"/>
          </a:xfrm>
          <a:prstGeom prst="roundRect">
            <a:avLst>
              <a:gd name="adj" fmla="val 527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2780" y="1141710"/>
            <a:ext cx="5378907" cy="262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1"/>
              </a:lnSpc>
              <a:buNone/>
            </a:pPr>
            <a:r>
              <a:rPr lang="en-US" sz="1439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硬碟與服務</a:t>
            </a:r>
            <a:endParaRPr lang="en-US" sz="1439" dirty="0"/>
          </a:p>
        </p:txBody>
      </p:sp>
      <p:sp>
        <p:nvSpPr>
          <p:cNvPr id="6" name="Text 3"/>
          <p:cNvSpPr/>
          <p:nvPr/>
        </p:nvSpPr>
        <p:spPr>
          <a:xfrm>
            <a:off x="652780" y="1441946"/>
            <a:ext cx="5378907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1"/>
              </a:lnSpc>
              <a:buNone/>
            </a:pPr>
            <a:r>
              <a:rPr lang="en-US" sz="1148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獨立硬碟 /dev/sdb1 掛在 /backup</a:t>
            </a:r>
            <a:endParaRPr lang="en-US" sz="1148" dirty="0"/>
          </a:p>
        </p:txBody>
      </p:sp>
      <p:sp>
        <p:nvSpPr>
          <p:cNvPr id="7" name="Text 4"/>
          <p:cNvSpPr/>
          <p:nvPr/>
        </p:nvSpPr>
        <p:spPr>
          <a:xfrm>
            <a:off x="652780" y="1723926"/>
            <a:ext cx="5378907" cy="462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33"/>
              </a:lnSpc>
              <a:buNone/>
            </a:pPr>
            <a:r>
              <a:rPr lang="en-US" sz="1155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專用帳號 seaweedfs，目錄 /etc/seaweedfs、/var/lib/seaweedfs、/backup/seaweedfs</a:t>
            </a:r>
            <a:endParaRPr lang="en-US" sz="1155" dirty="0"/>
          </a:p>
        </p:txBody>
      </p:sp>
      <p:sp>
        <p:nvSpPr>
          <p:cNvPr id="8" name="Text 5"/>
          <p:cNvSpPr/>
          <p:nvPr/>
        </p:nvSpPr>
        <p:spPr>
          <a:xfrm>
            <a:off x="652780" y="2224385"/>
            <a:ext cx="5378907" cy="243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1"/>
              </a:lnSpc>
              <a:buNone/>
            </a:pPr>
            <a:r>
              <a:rPr lang="en-US" sz="1148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systemd：ExecStart=/usr/local/bin/weed mini -dir=/backup/seaweedfs</a:t>
            </a:r>
            <a:endParaRPr lang="en-US" sz="1148" dirty="0"/>
          </a:p>
        </p:txBody>
      </p:sp>
      <p:sp>
        <p:nvSpPr>
          <p:cNvPr id="9" name="Text 6"/>
          <p:cNvSpPr/>
          <p:nvPr/>
        </p:nvSpPr>
        <p:spPr>
          <a:xfrm>
            <a:off x="652780" y="2506365"/>
            <a:ext cx="5378907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1"/>
              </a:lnSpc>
              <a:buNone/>
            </a:pPr>
            <a:r>
              <a:rPr lang="en-US" sz="1148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Port：8333（S3）、8888（Filer）、9333 / 9340</a:t>
            </a:r>
            <a:endParaRPr lang="en-US" sz="1148" dirty="0"/>
          </a:p>
        </p:txBody>
      </p:sp>
      <p:sp>
        <p:nvSpPr>
          <p:cNvPr id="10" name="Shape 7"/>
          <p:cNvSpPr/>
          <p:nvPr/>
        </p:nvSpPr>
        <p:spPr>
          <a:xfrm>
            <a:off x="511175" y="2961680"/>
            <a:ext cx="5505450" cy="1866265"/>
          </a:xfrm>
          <a:prstGeom prst="roundRect">
            <a:avLst>
              <a:gd name="adj" fmla="val 5274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2780" y="3103265"/>
            <a:ext cx="537890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帳號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2780" y="3414415"/>
            <a:ext cx="537890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s3-config.json 權限 600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2780" y="3706515"/>
            <a:ext cx="537890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建 bucket；velero 帳號 mb 會被 AccessDenied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5375" y="1000125"/>
            <a:ext cx="5505450" cy="1212374"/>
          </a:xfrm>
          <a:prstGeom prst="roundRect">
            <a:avLst>
              <a:gd name="adj" fmla="val 8118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16980" y="1141710"/>
            <a:ext cx="5378907" cy="22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72"/>
              </a:lnSpc>
              <a:buNone/>
            </a:pPr>
            <a:r>
              <a:rPr lang="en-US" sz="1209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1209" dirty="0"/>
          </a:p>
        </p:txBody>
      </p:sp>
      <p:sp>
        <p:nvSpPr>
          <p:cNvPr id="16" name="Text 13"/>
          <p:cNvSpPr/>
          <p:nvPr/>
        </p:nvSpPr>
        <p:spPr>
          <a:xfrm>
            <a:off x="6316980" y="1401266"/>
            <a:ext cx="5378907" cy="206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3"/>
              </a:lnSpc>
              <a:buNone/>
            </a:pPr>
            <a:r>
              <a:rPr lang="en-US" sz="949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reverse proxy：https://s3-seaweedfs.nexai.org.com</a:t>
            </a:r>
            <a:endParaRPr lang="en-US" sz="949" dirty="0"/>
          </a:p>
        </p:txBody>
      </p:sp>
      <p:sp>
        <p:nvSpPr>
          <p:cNvPr id="17" name="Text 14"/>
          <p:cNvSpPr/>
          <p:nvPr/>
        </p:nvSpPr>
        <p:spPr>
          <a:xfrm>
            <a:off x="6316980" y="1645642"/>
            <a:ext cx="5378907" cy="206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3"/>
              </a:lnSpc>
              <a:buNone/>
            </a:pPr>
            <a:r>
              <a:rPr lang="en-US" sz="949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ssl_certificate 用 fullchain，不是只放 leaf</a:t>
            </a:r>
            <a:endParaRPr lang="en-US" sz="949" dirty="0"/>
          </a:p>
        </p:txBody>
      </p:sp>
      <p:sp>
        <p:nvSpPr>
          <p:cNvPr id="18" name="Text 15"/>
          <p:cNvSpPr/>
          <p:nvPr/>
        </p:nvSpPr>
        <p:spPr>
          <a:xfrm>
            <a:off x="6316980" y="1890018"/>
            <a:ext cx="5378907" cy="206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3"/>
              </a:lnSpc>
              <a:buNone/>
            </a:pPr>
            <a:r>
              <a:rPr lang="en-US" sz="949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測試時不要加 -k，才能真正驗證憑證信任</a:t>
            </a:r>
            <a:endParaRPr lang="en-US" sz="949" dirty="0"/>
          </a:p>
        </p:txBody>
      </p:sp>
      <p:sp>
        <p:nvSpPr>
          <p:cNvPr id="19" name="Shape 16"/>
          <p:cNvSpPr/>
          <p:nvPr/>
        </p:nvSpPr>
        <p:spPr>
          <a:xfrm>
            <a:off x="6175375" y="2307729"/>
            <a:ext cx="5505450" cy="1212453"/>
          </a:xfrm>
          <a:prstGeom prst="roundRect">
            <a:avLst>
              <a:gd name="adj" fmla="val 8118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16980" y="2449413"/>
            <a:ext cx="5378907" cy="22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72"/>
              </a:lnSpc>
              <a:buNone/>
            </a:pPr>
            <a:r>
              <a:rPr lang="en-US" sz="1209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防火牆（ufw）</a:t>
            </a:r>
            <a:endParaRPr lang="en-US" sz="1209" dirty="0"/>
          </a:p>
        </p:txBody>
      </p:sp>
      <p:sp>
        <p:nvSpPr>
          <p:cNvPr id="21" name="Text 18"/>
          <p:cNvSpPr/>
          <p:nvPr/>
        </p:nvSpPr>
        <p:spPr>
          <a:xfrm>
            <a:off x="6316980" y="2708870"/>
            <a:ext cx="5378907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4"/>
              </a:lnSpc>
              <a:buNone/>
            </a:pPr>
            <a:r>
              <a:rPr lang="en-US" sz="983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先允許 OpenSSH / HTTP / HTTPS</a:t>
            </a:r>
            <a:endParaRPr lang="en-US" sz="983" dirty="0"/>
          </a:p>
        </p:txBody>
      </p:sp>
      <p:sp>
        <p:nvSpPr>
          <p:cNvPr id="22" name="Text 19"/>
          <p:cNvSpPr/>
          <p:nvPr/>
        </p:nvSpPr>
        <p:spPr>
          <a:xfrm>
            <a:off x="6316980" y="2953345"/>
            <a:ext cx="5378907" cy="206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3"/>
              </a:lnSpc>
              <a:buNone/>
            </a:pPr>
            <a:r>
              <a:rPr lang="en-US" sz="949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 deny 8333/tcp</a:t>
            </a:r>
            <a:endParaRPr lang="en-US" sz="949" dirty="0"/>
          </a:p>
        </p:txBody>
      </p:sp>
      <p:sp>
        <p:nvSpPr>
          <p:cNvPr id="23" name="Text 20"/>
          <p:cNvSpPr/>
          <p:nvPr/>
        </p:nvSpPr>
        <p:spPr>
          <a:xfrm>
            <a:off x="6316980" y="3197721"/>
            <a:ext cx="5378907" cy="206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23"/>
              </a:lnSpc>
              <a:buNone/>
            </a:pPr>
            <a:r>
              <a:rPr lang="en-US" sz="949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切換順序見單元 2：先切 BSL 再關 port</a:t>
            </a:r>
            <a:endParaRPr lang="en-US" sz="949" dirty="0"/>
          </a:p>
        </p:txBody>
      </p:sp>
      <p:sp>
        <p:nvSpPr>
          <p:cNvPr id="24" name="Shape 21"/>
          <p:cNvSpPr/>
          <p:nvPr/>
        </p:nvSpPr>
        <p:spPr>
          <a:xfrm>
            <a:off x="6175375" y="3615432"/>
            <a:ext cx="5505450" cy="1212453"/>
          </a:xfrm>
          <a:prstGeom prst="roundRect">
            <a:avLst>
              <a:gd name="adj" fmla="val 8118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16980" y="3757116"/>
            <a:ext cx="537890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最後做 reboot test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316980" y="4068266"/>
            <a:ext cx="537890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重開機後 /backup 仍掛在 /dev/sdb1、服務 active、port 都在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08000" y="5034260"/>
            <a:ext cx="11511280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完整步驟：</a:t>
            </a:r>
            <a:r>
              <a:rPr lang="en-US" sz="12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dr/seaweedfs/README.md</a:t>
            </a:r>
            <a:endParaRPr lang="en-US" sz="1250" dirty="0"/>
          </a:p>
        </p:txBody>
      </p:sp>
      <p:pic>
        <p:nvPicPr>
          <p:cNvPr id="28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附錄 · 工具參考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</a:t>
            </a:r>
            <a:endParaRPr lang="en-US" sz="12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附錄 B：OTWLD Velero UI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8160" y="1007110"/>
          <a:ext cx="6314440" cy="1981200"/>
        </p:xfrm>
        <a:graphic>
          <a:graphicData uri="http://schemas.openxmlformats.org/drawingml/2006/table">
            <a:tbl>
              <a:tblPr/>
              <a:tblGrid>
                <a:gridCol w="1894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0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項目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線上現況（2026-09-23）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Chart / App 版本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velero-ui-0.15.0 / otwld/velero-ui:0.10.2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C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namespace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velero-ui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網址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https://velero.nexai.org.com（admin-gateway）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登入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內建帳密；另支援 OAuth / OIDC、LDAP、RBAC policy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權限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251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ServiceAccount velero-ui 綁定 cluster-admin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6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985000" y="996950"/>
            <a:ext cx="4699000" cy="1991360"/>
          </a:xfrm>
          <a:prstGeom prst="roundRect">
            <a:avLst>
              <a:gd name="adj" fmla="val 5102"/>
            </a:avLst>
          </a:prstGeom>
          <a:solidFill>
            <a:srgbClr val="0F2E45"/>
          </a:solidFill>
          <a:ln/>
        </p:spPr>
      </p:sp>
      <p:sp>
        <p:nvSpPr>
          <p:cNvPr id="6" name="Text 2"/>
          <p:cNvSpPr/>
          <p:nvPr/>
        </p:nvSpPr>
        <p:spPr>
          <a:xfrm>
            <a:off x="7188200" y="1162050"/>
            <a:ext cx="4421378" cy="1240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helm repo add otwld https://helm.otwld.com/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helm install velero-ui otwld/velero-ui \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  --namespace velero-ui --create-namespace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apply -f velero-ui.yaml   # 改 hostname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kubectl -n velero-ui get httproute velero-ui ...</a:t>
            </a:r>
            <a:endParaRPr lang="en-US" sz="1100" dirty="0"/>
          </a:p>
          <a:p>
            <a:pPr marL="0" indent="0" algn="l">
              <a:lnSpc>
                <a:spcPts val="1595"/>
              </a:lnSpc>
              <a:buNone/>
            </a:pPr>
            <a:r>
              <a:rPr lang="en-US" sz="110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Accepted=True、ResolvedRefs=True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511175" y="3194745"/>
            <a:ext cx="11169650" cy="2707640"/>
          </a:xfrm>
          <a:prstGeom prst="roundRect">
            <a:avLst>
              <a:gd name="adj" fmla="val 3635"/>
            </a:avLst>
          </a:prstGeom>
          <a:solidFill>
            <a:srgbClr val="FDF1E3"/>
          </a:solidFill>
          <a:ln w="6350">
            <a:solidFill>
              <a:srgbClr val="F2B35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90880" y="3374430"/>
            <a:ext cx="1113454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8A4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安全建議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90880" y="3685580"/>
            <a:ext cx="11134547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A4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開啟 OIDC 或至少強密碼；HTTPRoute 只掛管理用 Gateway；用 UI 內建 RBAC policy 限制一般使用者只能看不能刪。叢集中另有一套 vui（seriohub Velero UI），本課程不使用。</a:t>
            </a:r>
            <a:endParaRPr lang="en-US" sz="1250" dirty="0"/>
          </a:p>
        </p:txBody>
      </p:sp>
      <p:pic>
        <p:nvPicPr>
          <p:cNvPr id="10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附錄 · 工具參考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</a:t>
            </a:r>
            <a:endParaRPr lang="en-US" sz="12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附錄 C：etcdctl / etcdutl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11175" y="1000125"/>
            <a:ext cx="5505450" cy="1557020"/>
          </a:xfrm>
          <a:prstGeom prst="roundRect">
            <a:avLst>
              <a:gd name="adj" fmla="val 6321"/>
            </a:avLst>
          </a:prstGeom>
          <a:solidFill>
            <a:srgbClr val="F5F8FA"/>
          </a:solidFill>
          <a:ln w="6350">
            <a:solidFill>
              <a:srgbClr val="D5DEE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880" y="1179810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etcdctl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90880" y="150753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需要連線到 etcd（mTLS）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90880" y="181868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save、member list、endpoint status / health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90880" y="212983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讀憑證需要 root：sudo -E etcdctl ...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5375" y="1000125"/>
            <a:ext cx="5505450" cy="1557020"/>
          </a:xfrm>
          <a:prstGeom prst="roundRect">
            <a:avLst>
              <a:gd name="adj" fmla="val 6321"/>
            </a:avLst>
          </a:prstGeom>
          <a:solidFill>
            <a:srgbClr val="DCEFF6"/>
          </a:solidFill>
          <a:ln w="6350">
            <a:solidFill>
              <a:srgbClr val="B9D9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1179810"/>
            <a:ext cx="530042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2517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etcdutl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355080" y="150753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離線檔案工具（etcd 3.5+）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55080" y="181868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status、snapshot restore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55080" y="2129830"/>
            <a:ext cx="5300421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F4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etcdctl snapshot restore 在 3.6 已移除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8000" y="2763540"/>
            <a:ext cx="11176000" cy="1435100"/>
          </a:xfrm>
          <a:prstGeom prst="roundRect">
            <a:avLst>
              <a:gd name="adj" fmla="val 7080"/>
            </a:avLst>
          </a:prstGeom>
          <a:solidFill>
            <a:srgbClr val="0F2E45"/>
          </a:solidFill>
          <a:ln/>
        </p:spPr>
      </p:sp>
      <p:sp>
        <p:nvSpPr>
          <p:cNvPr id="15" name="Text 12"/>
          <p:cNvSpPr/>
          <p:nvPr/>
        </p:nvSpPr>
        <p:spPr>
          <a:xfrm>
            <a:off x="711200" y="2928640"/>
            <a:ext cx="11092688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kubeadm 預設憑證路徑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--cacert=/etc/kubernetes/pki/etcd/ca.crt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--cert=/etc/kubernetes/pki/etcd/server.crt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--key=/etc/kubernetes/pki/etcd/server.key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8FB3CC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# 備份只連一個 endpoint：--endpoints=https://127.0.0.1:2379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08000" y="4401840"/>
            <a:ext cx="11511280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59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版本要跟叢集的 etcd 一致（本叢集 3.6.6）。安裝與常用指令：</a:t>
            </a:r>
            <a:r>
              <a:rPr lang="en-US" sz="1250" dirty="0">
                <a:solidFill>
                  <a:srgbClr val="1675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dr/etcdctl/README.md</a:t>
            </a:r>
            <a:endParaRPr lang="en-US" sz="1250" dirty="0"/>
          </a:p>
        </p:txBody>
      </p:sp>
      <p:pic>
        <p:nvPicPr>
          <p:cNvPr id="17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附錄 · 工具參考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</a:t>
            </a:r>
            <a:endParaRPr lang="en-US" sz="12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-2048" r="-2048"/>
          <a:stretch/>
        </p:blipFill>
        <p:spPr>
          <a:xfrm>
            <a:off x="0" y="0"/>
            <a:ext cx="2743200" cy="2635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8000" y="355600"/>
            <a:ext cx="115112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251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附錄 D：dr/ 目錄結構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8000" y="996950"/>
            <a:ext cx="11176000" cy="4086860"/>
          </a:xfrm>
          <a:prstGeom prst="roundRect">
            <a:avLst>
              <a:gd name="adj" fmla="val 2486"/>
            </a:avLst>
          </a:prstGeom>
          <a:solidFill>
            <a:srgbClr val="0F2E45"/>
          </a:solidFill>
          <a:ln/>
        </p:spPr>
      </p:sp>
      <p:sp>
        <p:nvSpPr>
          <p:cNvPr id="5" name="Text 2"/>
          <p:cNvSpPr/>
          <p:nvPr/>
        </p:nvSpPr>
        <p:spPr>
          <a:xfrm>
            <a:off x="711200" y="1162050"/>
            <a:ext cx="11092688" cy="3782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dr/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├── README.md                      課程總覽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├── manifest/                      dr-demo 受害者應用（00~05，逐欄位中文註解）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├── dr-all-in-one.yaml             與 manifest/ 內容一致的合併版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├── script/                        baseline / write-postgres / check-data / app-disaster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├── seaweedfs/                     叢集外備份機：安裝、HTTPS、防火牆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├── velero-ui/                     OTWLD Velero UI 安裝與 HTTPRoute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├── etcdctl/                       etcdctl / etcdutl 安裝與常用指令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├── 01-concepts/                   單元 1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├── 02-backup-storage/             單元 2（velero install、BSL、credentials 範本）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├── 03-first-backup/               單元 3（Backup CR 範例）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├── 04-first-restore/              單元 4（Restore CR 範例）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├── 05-backup-pitfalls/            單元 5（陷阱 lab manifest + hook 範例）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├── 06-etcd-strategy/              單元 6（etcd 備份 CronJob）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├── 07-etcd-restore/               單元 7（runbook + 安全檢查清單）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├── 08-cluster-rebuild/            單元 8（runbook + 重建順序）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EDF3"/>
                </a:solidFill>
                <a:latin typeface="Microsoft JhengHei UI Light" panose="020B0304030504040204" pitchFamily="34" charset="-120"/>
                <a:ea typeface="Microsoft JhengHei UI Light" panose="020B0304030504040204" pitchFamily="34" charset="-120"/>
                <a:cs typeface="JetBrains Mono" pitchFamily="34" charset="-120"/>
              </a:rPr>
              <a:t>└── 09-daily-backup-verification/  單元 9（Schedule、通知、自動 Restore Test）</a:t>
            </a:r>
            <a:endParaRPr lang="en-US" sz="1200" dirty="0"/>
          </a:p>
        </p:txBody>
      </p:sp>
      <p:pic>
        <p:nvPicPr>
          <p:cNvPr id="6" name="Image 1" descr="AIC AIoT Cloud"/>
          <p:cNvPicPr>
            <a:picLocks noChangeAspect="1"/>
          </p:cNvPicPr>
          <p:nvPr/>
        </p:nvPicPr>
        <p:blipFill>
          <a:blip r:embed="rId4"/>
          <a:srcRect t="-189" b="-189"/>
          <a:stretch/>
        </p:blipFill>
        <p:spPr>
          <a:xfrm>
            <a:off x="285750" y="6318250"/>
            <a:ext cx="1314450" cy="495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05000" y="6451600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附錄 · 工具參考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363200" y="645160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._AIC conference_light_BG">
  <a:themeElements>
    <a:clrScheme name="presentation_01">
      <a:dk1>
        <a:sysClr val="windowText" lastClr="000000"/>
      </a:dk1>
      <a:lt1>
        <a:sysClr val="window" lastClr="FFFFFF"/>
      </a:lt1>
      <a:dk2>
        <a:srgbClr val="000000"/>
      </a:dk2>
      <a:lt2>
        <a:srgbClr val="E7E6E6"/>
      </a:lt2>
      <a:accent1>
        <a:srgbClr val="00ABEB"/>
      </a:accent1>
      <a:accent2>
        <a:srgbClr val="D7000F"/>
      </a:accent2>
      <a:accent3>
        <a:srgbClr val="949495"/>
      </a:accent3>
      <a:accent4>
        <a:srgbClr val="4FBAA1"/>
      </a:accent4>
      <a:accent5>
        <a:srgbClr val="85DFFF"/>
      </a:accent5>
      <a:accent6>
        <a:srgbClr val="8BD1C0"/>
      </a:accent6>
      <a:hlink>
        <a:srgbClr val="48A1FA"/>
      </a:hlink>
      <a:folHlink>
        <a:srgbClr val="949495"/>
      </a:folHlink>
    </a:clrScheme>
    <a:fontScheme name="presentation_01">
      <a:majorFont>
        <a:latin typeface="Calibri"/>
        <a:ea typeface="微軟正黑體"/>
        <a:cs typeface=""/>
      </a:majorFont>
      <a:minorFont>
        <a:latin typeface="Calibri Light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._AIC conference_Dark_BG">
  <a:themeElements>
    <a:clrScheme name="Presentation_02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D8D8D8"/>
      </a:accent1>
      <a:accent2>
        <a:srgbClr val="B2B2B2"/>
      </a:accent2>
      <a:accent3>
        <a:srgbClr val="B2B2B2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presentation_01">
      <a:majorFont>
        <a:latin typeface="Calibri"/>
        <a:ea typeface="微軟正黑體"/>
        <a:cs typeface=""/>
      </a:majorFont>
      <a:minorFont>
        <a:latin typeface="Calibri Light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._AIC Presentation_BG">
  <a:themeElements>
    <a:clrScheme name="presentation_01">
      <a:dk1>
        <a:sysClr val="windowText" lastClr="000000"/>
      </a:dk1>
      <a:lt1>
        <a:sysClr val="window" lastClr="FFFFFF"/>
      </a:lt1>
      <a:dk2>
        <a:srgbClr val="000000"/>
      </a:dk2>
      <a:lt2>
        <a:srgbClr val="E7E6E6"/>
      </a:lt2>
      <a:accent1>
        <a:srgbClr val="00ABEB"/>
      </a:accent1>
      <a:accent2>
        <a:srgbClr val="D7000F"/>
      </a:accent2>
      <a:accent3>
        <a:srgbClr val="949495"/>
      </a:accent3>
      <a:accent4>
        <a:srgbClr val="4FBAA1"/>
      </a:accent4>
      <a:accent5>
        <a:srgbClr val="85DFFF"/>
      </a:accent5>
      <a:accent6>
        <a:srgbClr val="8BD1C0"/>
      </a:accent6>
      <a:hlink>
        <a:srgbClr val="48A1FA"/>
      </a:hlink>
      <a:folHlink>
        <a:srgbClr val="949495"/>
      </a:folHlink>
    </a:clrScheme>
    <a:fontScheme name="presentation_01">
      <a:majorFont>
        <a:latin typeface="Calibri"/>
        <a:ea typeface="微軟正黑體"/>
        <a:cs typeface=""/>
      </a:majorFont>
      <a:minorFont>
        <a:latin typeface="Calibri Light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AIC 課程 ppt Template_Light</Template>
  <TotalTime>8</TotalTime>
  <Words>20507</Words>
  <Application>Microsoft Office PowerPoint</Application>
  <PresentationFormat>寬螢幕</PresentationFormat>
  <Paragraphs>3218</Paragraphs>
  <Slides>150</Slides>
  <Notes>150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150</vt:i4>
      </vt:variant>
    </vt:vector>
  </HeadingPairs>
  <TitlesOfParts>
    <vt:vector size="161" baseType="lpstr">
      <vt:lpstr>JetBrains Mono</vt:lpstr>
      <vt:lpstr>Microsoft JhengHei UI Light</vt:lpstr>
      <vt:lpstr>Arial</vt:lpstr>
      <vt:lpstr>Calibri</vt:lpstr>
      <vt:lpstr>Calibri Light</vt:lpstr>
      <vt:lpstr>Consolas</vt:lpstr>
      <vt:lpstr>Wingdings</vt:lpstr>
      <vt:lpstr>微軟正黑體</vt:lpstr>
      <vt:lpstr>1._AIC conference_light_BG</vt:lpstr>
      <vt:lpstr>2._AIC conference_Dark_BG</vt:lpstr>
      <vt:lpstr>3._AIC Presentation_BG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 備份、復原與災難復原演練（完整版）</dc:title>
  <dc:subject>PptxGenJS Presentation</dc:subject>
  <dc:creator>PptxGenJS</dc:creator>
  <cp:lastModifiedBy>Ann Lee[李旻恩]</cp:lastModifiedBy>
  <cp:revision>5</cp:revision>
  <dcterms:created xsi:type="dcterms:W3CDTF">2026-09-29T10:49:20Z</dcterms:created>
  <dcterms:modified xsi:type="dcterms:W3CDTF">2026-09-29T10:58:23Z</dcterms:modified>
</cp:coreProperties>
</file>