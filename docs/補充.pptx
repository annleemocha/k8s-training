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  <p:sldMasterId id="2147483662" r:id="rId2"/>
    <p:sldMasterId id="2147483672" r:id="rId3"/>
  </p:sldMasterIdLst>
  <p:notesMasterIdLst>
    <p:notesMasterId r:id="rId68"/>
  </p:notesMasterIdLst>
  <p:sldIdLst>
    <p:sldId id="332" r:id="rId4"/>
    <p:sldId id="257" r:id="rId5"/>
    <p:sldId id="258" r:id="rId6"/>
    <p:sldId id="259" r:id="rId7"/>
    <p:sldId id="260" r:id="rId8"/>
    <p:sldId id="261" r:id="rId9"/>
    <p:sldId id="262" r:id="rId10"/>
    <p:sldId id="274" r:id="rId11"/>
    <p:sldId id="357" r:id="rId12"/>
    <p:sldId id="277" r:id="rId13"/>
    <p:sldId id="278" r:id="rId14"/>
    <p:sldId id="343" r:id="rId15"/>
    <p:sldId id="344" r:id="rId16"/>
    <p:sldId id="263" r:id="rId17"/>
    <p:sldId id="333" r:id="rId18"/>
    <p:sldId id="372" r:id="rId91"/>
    <p:sldId id="358" r:id="rId19"/>
    <p:sldId id="373" r:id="rId92"/>
    <p:sldId id="359" r:id="rId20"/>
    <p:sldId id="345" r:id="rId21"/>
    <p:sldId id="334" r:id="rId22"/>
    <p:sldId id="346" r:id="rId23"/>
    <p:sldId id="360" r:id="rId24"/>
    <p:sldId id="374" r:id="rId93"/>
    <p:sldId id="361" r:id="rId25"/>
    <p:sldId id="375" r:id="rId94"/>
    <p:sldId id="335" r:id="rId26"/>
    <p:sldId id="347" r:id="rId27"/>
    <p:sldId id="336" r:id="rId28"/>
    <p:sldId id="352" r:id="rId29"/>
    <p:sldId id="362" r:id="rId30"/>
    <p:sldId id="376" r:id="rId95"/>
    <p:sldId id="363" r:id="rId31"/>
    <p:sldId id="377" r:id="rId96"/>
    <p:sldId id="348" r:id="rId32"/>
    <p:sldId id="337" r:id="rId33"/>
    <p:sldId id="353" r:id="rId34"/>
    <p:sldId id="364" r:id="rId35"/>
    <p:sldId id="378" r:id="rId97"/>
    <p:sldId id="365" r:id="rId36"/>
    <p:sldId id="379" r:id="rId98"/>
    <p:sldId id="338" r:id="rId37"/>
    <p:sldId id="349" r:id="rId38"/>
    <p:sldId id="339" r:id="rId39"/>
    <p:sldId id="354" r:id="rId40"/>
    <p:sldId id="366" r:id="rId41"/>
    <p:sldId id="380" r:id="rId99"/>
    <p:sldId id="367" r:id="rId42"/>
    <p:sldId id="381" r:id="rId100"/>
    <p:sldId id="350" r:id="rId43"/>
    <p:sldId id="340" r:id="rId44"/>
    <p:sldId id="355" r:id="rId45"/>
    <p:sldId id="368" r:id="rId46"/>
    <p:sldId id="382" r:id="rId101"/>
    <p:sldId id="369" r:id="rId47"/>
    <p:sldId id="383" r:id="rId102"/>
    <p:sldId id="351" r:id="rId48"/>
    <p:sldId id="341" r:id="rId49"/>
    <p:sldId id="356" r:id="rId50"/>
    <p:sldId id="370" r:id="rId51"/>
    <p:sldId id="384" r:id="rId103"/>
    <p:sldId id="371" r:id="rId52"/>
    <p:sldId id="385" r:id="rId104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275" r:id="rId66"/>
    <p:sldId id="331" r:id="rId67"/>
  </p:sldIdLst>
  <p:sldSz cx="12192000" cy="6858000"/>
  <p:notesSz cx="6858000" cy="12192000"/>
  <p:embeddedFontLst>
    <p:embeddedFont>
      <p:font typeface="微軟正黑體" panose="020B0604030504040204" pitchFamily="34" charset="-120"/>
      <p:regular r:id="rId69"/>
      <p:bold r:id="rId70"/>
    </p:embeddedFon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Calibri Light" panose="020F0302020204030204" pitchFamily="34" charset="0"/>
      <p:regular r:id="rId75"/>
      <p:italic r:id="rId76"/>
    </p:embeddedFont>
    <p:embeddedFont>
      <p:font typeface="JetBrains Mono" panose="02020500000000000000" charset="0"/>
      <p:regular r:id="rId77"/>
      <p:bold r:id="rId78"/>
      <p:italic r:id="rId79"/>
      <p:boldItalic r:id="rId80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6" roundtripDataSignature="AMtx7mjZuBJnmcXMojO/OAXysXXpjOBN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5B"/>
    <a:srgbClr val="EA9058"/>
    <a:srgbClr val="12517C"/>
    <a:srgbClr val="767171"/>
    <a:srgbClr val="1B6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94655B-3E1F-45FA-A986-AC50302866E6}">
  <a:tblStyle styleId="{FE94655B-3E1F-45FA-A986-AC50302866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20" autoAdjust="0"/>
  </p:normalViewPr>
  <p:slideViewPr>
    <p:cSldViewPr snapToGrid="0">
      <p:cViewPr>
        <p:scale>
          <a:sx n="75" d="100"/>
          <a:sy n="75" d="100"/>
        </p:scale>
        <p:origin x="432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" Target="slides/slide2.xml"/><Relationship Id="rId90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4.fntdata"/><Relationship Id="rId80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6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8.fntdata"/><Relationship Id="rId7" Type="http://schemas.openxmlformats.org/officeDocument/2006/relationships/slide" Target="slides/slide4.xml"/><Relationship Id="rId71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presProps" Target="presProps.xml"/><Relationship Id="rId61" Type="http://schemas.openxmlformats.org/officeDocument/2006/relationships/slide" Target="slides/slide58.xml"/><Relationship Id="rId91" Type="http://schemas.openxmlformats.org/officeDocument/2006/relationships/slide" Target="slides/slide65.xml"/><Relationship Id="rId92" Type="http://schemas.openxmlformats.org/officeDocument/2006/relationships/slide" Target="slides/slide66.xml"/><Relationship Id="rId93" Type="http://schemas.openxmlformats.org/officeDocument/2006/relationships/slide" Target="slides/slide67.xml"/><Relationship Id="rId94" Type="http://schemas.openxmlformats.org/officeDocument/2006/relationships/slide" Target="slides/slide68.xml"/><Relationship Id="rId95" Type="http://schemas.openxmlformats.org/officeDocument/2006/relationships/slide" Target="slides/slide69.xml"/><Relationship Id="rId96" Type="http://schemas.openxmlformats.org/officeDocument/2006/relationships/slide" Target="slides/slide70.xml"/><Relationship Id="rId97" Type="http://schemas.openxmlformats.org/officeDocument/2006/relationships/slide" Target="slides/slide71.xml"/><Relationship Id="rId98" Type="http://schemas.openxmlformats.org/officeDocument/2006/relationships/slide" Target="slides/slide72.xml"/><Relationship Id="rId99" Type="http://schemas.openxmlformats.org/officeDocument/2006/relationships/slide" Target="slides/slide73.xml"/><Relationship Id="rId100" Type="http://schemas.openxmlformats.org/officeDocument/2006/relationships/slide" Target="slides/slide74.xml"/><Relationship Id="rId101" Type="http://schemas.openxmlformats.org/officeDocument/2006/relationships/slide" Target="slides/slide75.xml"/><Relationship Id="rId102" Type="http://schemas.openxmlformats.org/officeDocument/2006/relationships/slide" Target="slides/slide76.xml"/><Relationship Id="rId103" Type="http://schemas.openxmlformats.org/officeDocument/2006/relationships/slide" Target="slides/slide77.xml"/><Relationship Id="rId104" Type="http://schemas.openxmlformats.org/officeDocument/2006/relationships/slide" Target="slides/slide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歡迎來到實戰部署工作坊。這門課不用</a:t>
            </a:r>
            <a:r>
              <a:rPr lang="en-US" altLang="zh-TW" dirty="0"/>
              <a:t> kind 或 </a:t>
            </a:r>
            <a:r>
              <a:rPr lang="en-US" altLang="zh-TW" dirty="0" err="1"/>
              <a:t>minikube，而是把七個真實可用的開源應用部署到一座</a:t>
            </a:r>
            <a:r>
              <a:rPr lang="en-US" altLang="zh-TW" dirty="0"/>
              <a:t> Rancher </a:t>
            </a:r>
            <a:r>
              <a:rPr lang="en-US" altLang="zh-TW" dirty="0" err="1"/>
              <a:t>代管的正式叢集上。每一份</a:t>
            </a:r>
            <a:r>
              <a:rPr lang="en-US" altLang="zh-TW" dirty="0"/>
              <a:t> manifest </a:t>
            </a:r>
            <a:r>
              <a:rPr lang="en-US" altLang="zh-TW" dirty="0" err="1"/>
              <a:t>都真的部署、驗證過，課堂上看到的坑也都是實際踩過的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55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整堂課分三段。第一段先把環境講清楚，因為這座叢集跟一般教學環境不一樣。第二段是七站實作，前四站涵蓋全部新概念，由講師逐一深講；後三站是變化型，可以讓學員照著正解自己重做。第三段是練習和驗收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354c58d55cfae68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h354c58d55cfae689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所有對外流量都走同一個教學用的 dev-gateway，放在 default namespace。每個產品有自己的 namespace 和自己的 HTTPRoute，靠 Host header 分流。刻意不用正式的 admin-gateway 和 app-gateway，避免學員誤觸正式服務。cloudbeaver 是唯一會跨 namespace 連到 flarum、planka、peertube 資料庫的產品，最後一站再講。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60" name="Google Shape;60;h354c58d55cfae689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54c58d55cfae68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h354c58d55cfae689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這四件事會影響後面每一站。第一，叢集沒有傳統</a:t>
            </a:r>
            <a:r>
              <a:rPr lang="en-US" altLang="zh-TW" dirty="0"/>
              <a:t> Ingress </a:t>
            </a:r>
            <a:r>
              <a:rPr lang="en-US" altLang="zh-TW" dirty="0" err="1"/>
              <a:t>Controller，全部走</a:t>
            </a:r>
            <a:r>
              <a:rPr lang="en-US" altLang="zh-TW" dirty="0"/>
              <a:t> Gateway </a:t>
            </a:r>
            <a:r>
              <a:rPr lang="en-US" altLang="zh-TW" dirty="0" err="1"/>
              <a:t>API。第二，沒有預設</a:t>
            </a:r>
            <a:r>
              <a:rPr lang="en-US" altLang="zh-TW" dirty="0"/>
              <a:t> </a:t>
            </a:r>
            <a:r>
              <a:rPr lang="en-US" altLang="zh-TW" dirty="0" err="1"/>
              <a:t>StorageClass，PVC</a:t>
            </a:r>
            <a:r>
              <a:rPr lang="en-US" altLang="zh-TW" dirty="0"/>
              <a:t> </a:t>
            </a:r>
            <a:r>
              <a:rPr lang="en-US" altLang="zh-TW" dirty="0" err="1"/>
              <a:t>漏寫</a:t>
            </a:r>
            <a:r>
              <a:rPr lang="en-US" altLang="zh-TW" dirty="0"/>
              <a:t> </a:t>
            </a:r>
            <a:r>
              <a:rPr lang="en-US" altLang="zh-TW" dirty="0" err="1"/>
              <a:t>storageClassName</a:t>
            </a:r>
            <a:r>
              <a:rPr lang="en-US" altLang="zh-TW" dirty="0"/>
              <a:t> </a:t>
            </a:r>
            <a:r>
              <a:rPr lang="en-US" altLang="zh-TW" dirty="0" err="1"/>
              <a:t>就會一直</a:t>
            </a:r>
            <a:r>
              <a:rPr lang="en-US" altLang="zh-TW" dirty="0"/>
              <a:t> </a:t>
            </a:r>
            <a:r>
              <a:rPr lang="en-US" altLang="zh-TW" dirty="0" err="1"/>
              <a:t>Pending。第三，三台一般節點記憶體都很滿，重量級的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會刻意排到</a:t>
            </a:r>
            <a:r>
              <a:rPr lang="en-US" altLang="zh-TW" dirty="0"/>
              <a:t> gpu01。第四，自簽憑證的瀏覽器警告是預期行為，可以順便講 TLS </a:t>
            </a:r>
            <a:r>
              <a:rPr lang="en-US" altLang="zh-TW" dirty="0" err="1"/>
              <a:t>憑證鏈</a:t>
            </a:r>
            <a:r>
              <a:rPr lang="en-US" altLang="zh-TW" dirty="0"/>
              <a:t>。</a:t>
            </a:r>
          </a:p>
        </p:txBody>
      </p:sp>
      <p:sp>
        <p:nvSpPr>
          <p:cNvPr id="102" name="Google Shape;102;h354c58d55cfae689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354c58d55cfae689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h354c58d55cfae689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四種形式內容彼此同步。上課主線用</a:t>
            </a:r>
            <a:r>
              <a:rPr lang="en-US" altLang="zh-TW" dirty="0"/>
              <a:t> manifest </a:t>
            </a:r>
            <a:r>
              <a:rPr lang="en-US" altLang="zh-TW" dirty="0" err="1"/>
              <a:t>目錄，一支一支</a:t>
            </a:r>
            <a:r>
              <a:rPr lang="en-US" altLang="zh-TW" dirty="0"/>
              <a:t> </a:t>
            </a:r>
            <a:r>
              <a:rPr lang="en-US" altLang="zh-TW" dirty="0" err="1"/>
              <a:t>apply、一個一個資源講。all-in-one</a:t>
            </a:r>
            <a:r>
              <a:rPr lang="en-US" altLang="zh-TW" dirty="0"/>
              <a:t> </a:t>
            </a:r>
            <a:r>
              <a:rPr lang="en-US" altLang="zh-TW" dirty="0" err="1"/>
              <a:t>是一模一樣的合併版，拿來快速重建。chart</a:t>
            </a:r>
            <a:r>
              <a:rPr lang="en-US" altLang="zh-TW" dirty="0"/>
              <a:t> 是 Helm </a:t>
            </a:r>
            <a:r>
              <a:rPr lang="en-US" altLang="zh-TW" dirty="0" err="1"/>
              <a:t>版本，教完</a:t>
            </a:r>
            <a:r>
              <a:rPr lang="en-US" altLang="zh-TW" dirty="0"/>
              <a:t>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en-US" altLang="zh-TW" dirty="0" err="1"/>
              <a:t>之後再教。exercises</a:t>
            </a:r>
            <a:r>
              <a:rPr lang="en-US" altLang="zh-TW" dirty="0"/>
              <a:t> </a:t>
            </a:r>
            <a:r>
              <a:rPr lang="en-US" altLang="zh-TW" dirty="0" err="1"/>
              <a:t>是學員練習。注意用</a:t>
            </a:r>
            <a:r>
              <a:rPr lang="en-US" altLang="zh-TW" dirty="0"/>
              <a:t> Helm </a:t>
            </a:r>
            <a:r>
              <a:rPr lang="en-US" altLang="zh-TW" dirty="0" err="1"/>
              <a:t>安裝前要先</a:t>
            </a:r>
            <a:r>
              <a:rPr lang="en-US" altLang="zh-TW" dirty="0"/>
              <a:t> apply 00-namespace.yaml，chart </a:t>
            </a:r>
            <a:r>
              <a:rPr lang="en-US" altLang="zh-TW" dirty="0" err="1"/>
              <a:t>本身不建立</a:t>
            </a:r>
            <a:r>
              <a:rPr lang="en-US" altLang="zh-TW" dirty="0"/>
              <a:t> namespace。</a:t>
            </a:r>
          </a:p>
        </p:txBody>
      </p:sp>
      <p:sp>
        <p:nvSpPr>
          <p:cNvPr id="126" name="Google Shape;126;h354c58d55cfae689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54c58d55cfae689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h354c58d55cfae689_0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深度統一抓進階款。每一站的</a:t>
            </a:r>
            <a:r>
              <a:rPr lang="en-US" altLang="zh-TW" dirty="0"/>
              <a:t> manifest </a:t>
            </a:r>
            <a:r>
              <a:rPr lang="en-US" altLang="zh-TW" dirty="0" err="1"/>
              <a:t>目錄都按這個順序編號：先</a:t>
            </a:r>
            <a:r>
              <a:rPr lang="en-US" altLang="zh-TW" dirty="0"/>
              <a:t> </a:t>
            </a:r>
            <a:r>
              <a:rPr lang="en-US" altLang="zh-TW" dirty="0" err="1"/>
              <a:t>namespace，再配額，再工作負載、Service、HTTPRoute，最後才是</a:t>
            </a:r>
            <a:r>
              <a:rPr lang="en-US" altLang="zh-TW" dirty="0"/>
              <a:t> </a:t>
            </a:r>
            <a:r>
              <a:rPr lang="en-US" altLang="zh-TW" dirty="0" err="1"/>
              <a:t>NetworkPolicy。NetworkPolicy</a:t>
            </a:r>
            <a:r>
              <a:rPr lang="en-US" altLang="zh-TW" dirty="0"/>
              <a:t> </a:t>
            </a:r>
            <a:r>
              <a:rPr lang="en-US" altLang="zh-TW" dirty="0" err="1"/>
              <a:t>標記為選用，放最後是因為它最容易讓示範當場連不上，上課前一定要先實測。其他資源按產品需要再疊加上去。yaml</a:t>
            </a:r>
            <a:r>
              <a:rPr lang="en-US" altLang="zh-TW" dirty="0"/>
              <a:t> </a:t>
            </a:r>
            <a:r>
              <a:rPr lang="en-US" altLang="zh-TW" dirty="0" err="1"/>
              <a:t>裡都有繁體中文註解，解釋為什麼這樣寫</a:t>
            </a:r>
            <a:r>
              <a:rPr lang="en-US" altLang="zh-TW" dirty="0"/>
              <a:t>。</a:t>
            </a:r>
          </a:p>
        </p:txBody>
      </p:sp>
      <p:sp>
        <p:nvSpPr>
          <p:cNvPr id="155" name="Google Shape;155;h354c58d55cfae689_0_2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354c58d55cfae689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h354c58d55cfae689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這是整門課的地圖。星等綜合結構複雜度和概念新穎度評定，不是嚴格線性，例如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結構不複雜，但排錯和資源規劃的難度不低於</a:t>
            </a:r>
            <a:r>
              <a:rPr lang="en-US" altLang="zh-TW" dirty="0"/>
              <a:t> </a:t>
            </a:r>
            <a:r>
              <a:rPr lang="en-US" altLang="zh-TW" dirty="0" err="1"/>
              <a:t>peertube。建議前四站講師帶著做，後三站讓學員自己動手</a:t>
            </a:r>
            <a:r>
              <a:rPr lang="en-US" altLang="zh-TW" dirty="0"/>
              <a:t>。</a:t>
            </a:r>
          </a:p>
        </p:txBody>
      </p:sp>
      <p:sp>
        <p:nvSpPr>
          <p:cNvPr id="204" name="Google Shape;204;h354c58d55cfae689_0_2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354c58d55cfae689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h354c58d55cfae689_0_5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停一下，讓學員回想七站裡遇過的錯誤。這些都不是為了教學故意設計的，而是在真實叢集上實際踩到、再修進 manifest 的。</a:t>
            </a:r>
            <a:endParaRPr/>
          </a:p>
        </p:txBody>
      </p:sp>
      <p:sp>
        <p:nvSpPr>
          <p:cNvPr id="498" name="Google Shape;498;h354c58d55cfae689_0_5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354c58d55cfae68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h354c58d55cfae689_0_6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每個產品的 exercises 目錄都有這兩種題型，正解就是上一層的 manifest 目錄。填空題訓練讀懂 yaml 各欄位之間的關聯；除錯題訓練維運時的排錯流程。除錯題每個檔案最多一個錯，也有檔案完全沒錯。只給症狀方向，不直接說錯在哪一行。</a:t>
            </a:r>
            <a:endParaRPr/>
          </a:p>
        </p:txBody>
      </p:sp>
      <p:sp>
        <p:nvSpPr>
          <p:cNvPr id="529" name="Google Shape;529;h354c58d55cfae689_0_6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86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354c58d55cfae689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h354c58d55cfae689_0_6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把七站遇到的錯誤整理成一張查表。重點是建立習慣：看到症狀先查對的地方，而不是亂改 yaml。describe pod 的 Events 能解決一半以上的問題；Endpoints 是空的幾乎都是 label 對不上；CrashLoopBackOff 要看上一次容器的 log。</a:t>
            </a:r>
            <a:endParaRPr/>
          </a:p>
        </p:txBody>
      </p:sp>
      <p:sp>
        <p:nvSpPr>
          <p:cNvPr id="546" name="Google Shape;546;h354c58d55cfae689_0_6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354c58d55cfae689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h354c58d55cfae689_0_6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這四個條件就是本教材驗證每一份 manifest 的標準，學員的作業也用同一套標準。Pod Running 不代表服務可用，一定要一路驗到 curl 拿到應用本身的內容。清除時每個產品刪掉自己的 namespace 即可；課程全部結束再刪 dev-gateway。</a:t>
            </a:r>
            <a:endParaRPr/>
          </a:p>
        </p:txBody>
      </p:sp>
      <p:sp>
        <p:nvSpPr>
          <p:cNvPr id="554" name="Google Shape;554;h354c58d55cfae689_0_6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因為完全無狀態，是整套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 的第一個範例，用來介紹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ResourceQuota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LimitRange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Deployment / Service / Gateway API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HTTPRoute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HPA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等基礎與進階概念，之後 其他產品（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flarum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）才會陸續疊加儲存、資料庫、跨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等更複雜 的主題。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242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54c58d55cfae68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h354c58d55cfae689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/>
              <a:t>draw.io </a:t>
            </a:r>
            <a:r>
              <a:rPr lang="en-US" altLang="zh-TW" dirty="0" err="1"/>
              <a:t>是純前端應用，不碰儲存也不碰資料庫，所以可以把注意力全放在骨架上。帶學員觀察</a:t>
            </a:r>
            <a:r>
              <a:rPr lang="en-US" altLang="zh-TW" dirty="0"/>
              <a:t> </a:t>
            </a:r>
            <a:r>
              <a:rPr lang="en-US" altLang="zh-TW" dirty="0" err="1"/>
              <a:t>Deployment、ReplicaSet、Pod</a:t>
            </a:r>
            <a:r>
              <a:rPr lang="en-US" altLang="zh-TW" dirty="0"/>
              <a:t> </a:t>
            </a:r>
            <a:r>
              <a:rPr lang="en-US" altLang="zh-TW" dirty="0" err="1"/>
              <a:t>三者的關係，再施加負載看</a:t>
            </a:r>
            <a:r>
              <a:rPr lang="en-US" altLang="zh-TW" dirty="0"/>
              <a:t> HPA 的 replicas </a:t>
            </a:r>
            <a:r>
              <a:rPr lang="en-US" altLang="zh-TW" dirty="0" err="1"/>
              <a:t>變化。hostnames</a:t>
            </a:r>
            <a:r>
              <a:rPr lang="en-US" altLang="zh-TW" dirty="0"/>
              <a:t> </a:t>
            </a:r>
            <a:r>
              <a:rPr lang="en-US" altLang="zh-TW" dirty="0" err="1"/>
              <a:t>預設是</a:t>
            </a:r>
            <a:r>
              <a:rPr lang="en-US" altLang="zh-TW" dirty="0"/>
              <a:t> </a:t>
            </a:r>
            <a:r>
              <a:rPr lang="en-US" altLang="zh-TW" dirty="0" err="1"/>
              <a:t>drawio.nexai.org.com，DNS</a:t>
            </a:r>
            <a:r>
              <a:rPr lang="en-US" altLang="zh-TW" dirty="0"/>
              <a:t> </a:t>
            </a:r>
            <a:r>
              <a:rPr lang="en-US" altLang="zh-TW" dirty="0" err="1"/>
              <a:t>或學員的</a:t>
            </a:r>
            <a:r>
              <a:rPr lang="en-US" altLang="zh-TW" dirty="0"/>
              <a:t> hosts </a:t>
            </a:r>
            <a:r>
              <a:rPr lang="en-US" altLang="zh-TW" dirty="0" err="1"/>
              <a:t>檔要指到</a:t>
            </a:r>
            <a:r>
              <a:rPr lang="en-US" altLang="zh-TW" dirty="0"/>
              <a:t> dev-gateway 的 EXTERNAL-IP。</a:t>
            </a:r>
          </a:p>
        </p:txBody>
      </p:sp>
      <p:sp>
        <p:nvSpPr>
          <p:cNvPr id="214" name="Google Shape;214;h354c58d55cfae689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2041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54c58d55cfae68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h354c58d55cfae689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/>
              <a:t>draw.io </a:t>
            </a:r>
            <a:r>
              <a:rPr lang="en-US" altLang="zh-TW" dirty="0" err="1"/>
              <a:t>是純前端應用，不碰儲存也不碰資料庫，所以可以把注意力全放在骨架上。帶學員觀察</a:t>
            </a:r>
            <a:r>
              <a:rPr lang="en-US" altLang="zh-TW" dirty="0"/>
              <a:t> </a:t>
            </a:r>
            <a:r>
              <a:rPr lang="en-US" altLang="zh-TW" dirty="0" err="1"/>
              <a:t>Deployment、ReplicaSet、Pod</a:t>
            </a:r>
            <a:r>
              <a:rPr lang="en-US" altLang="zh-TW" dirty="0"/>
              <a:t> </a:t>
            </a:r>
            <a:r>
              <a:rPr lang="en-US" altLang="zh-TW" dirty="0" err="1"/>
              <a:t>三者的關係，再施加負載看</a:t>
            </a:r>
            <a:r>
              <a:rPr lang="en-US" altLang="zh-TW" dirty="0"/>
              <a:t> HPA 的 replicas </a:t>
            </a:r>
            <a:r>
              <a:rPr lang="en-US" altLang="zh-TW" dirty="0" err="1"/>
              <a:t>變化。hostnames</a:t>
            </a:r>
            <a:r>
              <a:rPr lang="en-US" altLang="zh-TW" dirty="0"/>
              <a:t> </a:t>
            </a:r>
            <a:r>
              <a:rPr lang="en-US" altLang="zh-TW" dirty="0" err="1"/>
              <a:t>預設是</a:t>
            </a:r>
            <a:r>
              <a:rPr lang="en-US" altLang="zh-TW" dirty="0"/>
              <a:t> </a:t>
            </a:r>
            <a:r>
              <a:rPr lang="en-US" altLang="zh-TW" dirty="0" err="1"/>
              <a:t>drawio.nexai.org.com，DNS</a:t>
            </a:r>
            <a:r>
              <a:rPr lang="en-US" altLang="zh-TW" dirty="0"/>
              <a:t> </a:t>
            </a:r>
            <a:r>
              <a:rPr lang="en-US" altLang="zh-TW" dirty="0" err="1"/>
              <a:t>或學員的</a:t>
            </a:r>
            <a:r>
              <a:rPr lang="en-US" altLang="zh-TW" dirty="0"/>
              <a:t> hosts </a:t>
            </a:r>
            <a:r>
              <a:rPr lang="en-US" altLang="zh-TW" dirty="0" err="1"/>
              <a:t>檔要指到</a:t>
            </a:r>
            <a:r>
              <a:rPr lang="en-US" altLang="zh-TW" dirty="0"/>
              <a:t> dev-gateway 的 EXTERNAL-IP。</a:t>
            </a:r>
          </a:p>
        </p:txBody>
      </p:sp>
      <p:sp>
        <p:nvSpPr>
          <p:cNvPr id="214" name="Google Shape;214;h354c58d55cfae689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9733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0908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這頁對應</a:t>
            </a:r>
            <a:r>
              <a:rPr lang="en-US" altLang="zh-TW" dirty="0"/>
              <a:t> draw.io </a:t>
            </a:r>
            <a:r>
              <a:rPr lang="en-US" altLang="zh-TW" dirty="0" err="1"/>
              <a:t>練習題的</a:t>
            </a:r>
            <a:r>
              <a:rPr lang="en-US" altLang="zh-TW" dirty="0"/>
              <a:t> FILL_ME 3 到 5。requests </a:t>
            </a:r>
            <a:r>
              <a:rPr lang="en-US" altLang="zh-TW" dirty="0" err="1"/>
              <a:t>是排程器用來決定</a:t>
            </a:r>
            <a:r>
              <a:rPr lang="en-US" altLang="zh-TW" dirty="0"/>
              <a:t> Pod </a:t>
            </a:r>
            <a:r>
              <a:rPr lang="en-US" altLang="zh-TW" dirty="0" err="1"/>
              <a:t>排到哪裡的依據；limits</a:t>
            </a:r>
            <a:r>
              <a:rPr lang="en-US" altLang="zh-TW" dirty="0"/>
              <a:t> </a:t>
            </a:r>
            <a:r>
              <a:rPr lang="en-US" altLang="zh-TW" dirty="0" err="1"/>
              <a:t>是尖峰上限。配額的計算基準是所有</a:t>
            </a:r>
            <a:r>
              <a:rPr lang="en-US" altLang="zh-TW" dirty="0"/>
              <a:t> Pod 的 requests </a:t>
            </a:r>
            <a:r>
              <a:rPr lang="en-US" altLang="zh-TW" dirty="0" err="1"/>
              <a:t>加總，而且要算到</a:t>
            </a:r>
            <a:r>
              <a:rPr lang="en-US" altLang="zh-TW" dirty="0"/>
              <a:t> HPA 的 </a:t>
            </a:r>
            <a:r>
              <a:rPr lang="en-US" altLang="zh-TW" dirty="0" err="1"/>
              <a:t>maxReplicas，不能只算現在的</a:t>
            </a:r>
            <a:r>
              <a:rPr lang="en-US" altLang="zh-TW" dirty="0"/>
              <a:t> 2 個 </a:t>
            </a:r>
            <a:r>
              <a:rPr lang="en-US" altLang="zh-TW" dirty="0" err="1"/>
              <a:t>Pod。LimitRange</a:t>
            </a:r>
            <a:r>
              <a:rPr lang="en-US" altLang="zh-TW" dirty="0"/>
              <a:t> 的 min </a:t>
            </a:r>
            <a:r>
              <a:rPr lang="en-US" altLang="zh-TW" dirty="0" err="1"/>
              <a:t>抓太高會擋掉合理的輕量容器，這是本教材真的踩過的坑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255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跟前一個範例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（純無狀態）不同，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第一個「有狀態」的產品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，用來介紹 </a:t>
            </a:r>
            <a:r>
              <a:rPr lang="en-US" altLang="zh-TW" dirty="0" err="1"/>
              <a:t>PersistentVolumeClaim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dirty="0" err="1"/>
              <a:t>StorageClass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，特別是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RWO vs RWX 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該怎麼選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——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不是看應用程式種類，而是看「這份資料允不允許被多個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Pod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同時寫入」</a:t>
            </a:r>
            <a:endParaRPr lang="en-US" altLang="zh-TW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945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RWO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RWX，不是看應用種類，而是看這份資料允不允許多個</a:t>
            </a:r>
            <a:r>
              <a:rPr lang="en-US" altLang="zh-TW" dirty="0"/>
              <a:t> Pod </a:t>
            </a:r>
            <a:r>
              <a:rPr lang="en-US" altLang="zh-TW" dirty="0" err="1"/>
              <a:t>同時寫入。filebrowser</a:t>
            </a:r>
            <a:r>
              <a:rPr lang="en-US" altLang="zh-TW" dirty="0"/>
              <a:t> </a:t>
            </a:r>
            <a:r>
              <a:rPr lang="en-US" altLang="zh-TW" dirty="0" err="1"/>
              <a:t>已經從封存的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/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換成社群</a:t>
            </a:r>
            <a:r>
              <a:rPr lang="en-US" altLang="zh-TW" dirty="0"/>
              <a:t> fork 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Quantum，用</a:t>
            </a:r>
            <a:r>
              <a:rPr lang="en-US" altLang="zh-TW" dirty="0"/>
              <a:t> 1.5.6-stable </a:t>
            </a:r>
            <a:r>
              <a:rPr lang="en-US" altLang="zh-TW" dirty="0" err="1"/>
              <a:t>穩定線。預設帳密</a:t>
            </a:r>
            <a:r>
              <a:rPr lang="en-US" altLang="zh-TW" dirty="0"/>
              <a:t> admin/</a:t>
            </a:r>
            <a:r>
              <a:rPr lang="en-US" altLang="zh-TW" dirty="0" err="1"/>
              <a:t>admin，示範完請學員修改。OnlyOffice</a:t>
            </a:r>
            <a:r>
              <a:rPr lang="en-US" altLang="zh-TW" dirty="0"/>
              <a:t> </a:t>
            </a:r>
            <a:r>
              <a:rPr lang="en-US" altLang="zh-TW" dirty="0" err="1"/>
              <a:t>整合的</a:t>
            </a:r>
            <a:r>
              <a:rPr lang="en-US" altLang="zh-TW" dirty="0"/>
              <a:t> secret </a:t>
            </a:r>
            <a:r>
              <a:rPr lang="en-US" altLang="zh-TW" dirty="0" err="1"/>
              <a:t>要跟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那邊的</a:t>
            </a:r>
            <a:r>
              <a:rPr lang="en-US" altLang="zh-TW" dirty="0"/>
              <a:t> JWT_SECRET </a:t>
            </a:r>
            <a:r>
              <a:rPr lang="en-US" altLang="zh-TW" dirty="0" err="1"/>
              <a:t>逐字一致</a:t>
            </a:r>
            <a:r>
              <a:rPr lang="en-US" altLang="zh-TW" dirty="0"/>
              <a:t>。</a:t>
            </a:r>
          </a:p>
          <a:p>
            <a:endParaRPr lang="en-US" altLang="zh-TW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filebrowser-srv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（使用者實際上傳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瀏覽的檔案本體）：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ReadWriteMany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+ rook-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cephfs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，示範多個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Pod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可以同時掛同一份檔案。</a:t>
            </a:r>
          </a:p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filebrowser-db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自己的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資料庫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快取）：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ReadWriteOnce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+ rook-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ceph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-block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，因為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不支援多個行程同時 寫入。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也因為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是單寫入者，這個產品刻意把 </a:t>
            </a:r>
            <a:r>
              <a:rPr lang="en-US" altLang="zh-TW" dirty="0"/>
              <a:t>replicas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固定為 </a:t>
            </a:r>
            <a:r>
              <a:rPr lang="en-US" altLang="zh-TW" dirty="0"/>
              <a:t>1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 </a:t>
            </a:r>
            <a:r>
              <a:rPr lang="en-US" altLang="zh-TW" dirty="0" err="1"/>
              <a:t>strategy.type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用 </a:t>
            </a:r>
            <a:r>
              <a:rPr lang="en-US" altLang="zh-TW" dirty="0"/>
              <a:t>Recreate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（不是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那種 </a:t>
            </a:r>
            <a:r>
              <a:rPr lang="en-US" altLang="zh-TW" dirty="0" err="1"/>
              <a:t>RollingUpdate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），而且 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沒有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HPA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「唯一有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HPA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的產品」正好形成對照：不是所有 應用都能無腦水平擴展，本產品是最直接的反例。另外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改用一份 宣告式的 </a:t>
            </a:r>
            <a:r>
              <a:rPr lang="en-US" altLang="zh-TW" dirty="0" err="1"/>
              <a:t>ConfigMap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dirty="0" err="1"/>
              <a:t>config.yaml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）決定行為，而不是像舊版那樣只靠 環境變數，也是本產品的教學重點之一。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0228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RWO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RWX，不是看應用種類，而是看這份資料允不允許多個</a:t>
            </a:r>
            <a:r>
              <a:rPr lang="en-US" altLang="zh-TW" dirty="0"/>
              <a:t> Pod </a:t>
            </a:r>
            <a:r>
              <a:rPr lang="en-US" altLang="zh-TW" dirty="0" err="1"/>
              <a:t>同時寫入。filebrowser</a:t>
            </a:r>
            <a:r>
              <a:rPr lang="en-US" altLang="zh-TW" dirty="0"/>
              <a:t> </a:t>
            </a:r>
            <a:r>
              <a:rPr lang="en-US" altLang="zh-TW" dirty="0" err="1"/>
              <a:t>已經從封存的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/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換成社群</a:t>
            </a:r>
            <a:r>
              <a:rPr lang="en-US" altLang="zh-TW" dirty="0"/>
              <a:t> fork 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Quantum，用</a:t>
            </a:r>
            <a:r>
              <a:rPr lang="en-US" altLang="zh-TW" dirty="0"/>
              <a:t> 1.5.6-stable </a:t>
            </a:r>
            <a:r>
              <a:rPr lang="en-US" altLang="zh-TW" dirty="0" err="1"/>
              <a:t>穩定線。預設帳密</a:t>
            </a:r>
            <a:r>
              <a:rPr lang="en-US" altLang="zh-TW" dirty="0"/>
              <a:t> admin/</a:t>
            </a:r>
            <a:r>
              <a:rPr lang="en-US" altLang="zh-TW" dirty="0" err="1"/>
              <a:t>admin，示範完請學員修改。OnlyOffice</a:t>
            </a:r>
            <a:r>
              <a:rPr lang="en-US" altLang="zh-TW" dirty="0"/>
              <a:t> </a:t>
            </a:r>
            <a:r>
              <a:rPr lang="en-US" altLang="zh-TW" dirty="0" err="1"/>
              <a:t>整合的</a:t>
            </a:r>
            <a:r>
              <a:rPr lang="en-US" altLang="zh-TW" dirty="0"/>
              <a:t> secret </a:t>
            </a:r>
            <a:r>
              <a:rPr lang="en-US" altLang="zh-TW" dirty="0" err="1"/>
              <a:t>要跟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那邊的</a:t>
            </a:r>
            <a:r>
              <a:rPr lang="en-US" altLang="zh-TW" dirty="0"/>
              <a:t> JWT_SECRET </a:t>
            </a:r>
            <a:r>
              <a:rPr lang="en-US" altLang="zh-TW" dirty="0" err="1"/>
              <a:t>逐字一致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0719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10036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61986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這三個坑都已經修在</a:t>
            </a:r>
            <a:r>
              <a:rPr lang="en-US" altLang="zh-TW" dirty="0"/>
              <a:t> manifest </a:t>
            </a:r>
            <a:r>
              <a:rPr lang="en-US" altLang="zh-TW" dirty="0" err="1"/>
              <a:t>裡，可以直接當課堂案例。第二個特別適合現場演示：先只套一個方向的</a:t>
            </a:r>
            <a:r>
              <a:rPr lang="en-US" altLang="zh-TW" dirty="0"/>
              <a:t> </a:t>
            </a:r>
            <a:r>
              <a:rPr lang="en-US" altLang="zh-TW" dirty="0" err="1"/>
              <a:t>NetworkPolicy，讓學員看到錯誤訊息，再帶著一起找出要補的第二條規則。OnlyOffice</a:t>
            </a:r>
            <a:r>
              <a:rPr lang="en-US" altLang="zh-TW" dirty="0"/>
              <a:t> </a:t>
            </a:r>
            <a:r>
              <a:rPr lang="en-US" altLang="zh-TW" dirty="0" err="1"/>
              <a:t>整合是雙向流量，不是只有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 連 </a:t>
            </a:r>
            <a:r>
              <a:rPr lang="en-US" altLang="zh-TW" dirty="0" err="1"/>
              <a:t>onlyoffice。第三個坑跟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的 PLUGINS_ENABLED </a:t>
            </a:r>
            <a:r>
              <a:rPr lang="en-US" altLang="zh-TW" dirty="0" err="1"/>
              <a:t>是同一類問題，後面會再遇到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13917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它把自己專用的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mysql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資料庫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併在同一個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裡一起管理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7634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是踩坑最多的一站。只掛</a:t>
            </a:r>
            <a:r>
              <a:rPr lang="en-US" altLang="zh-TW" dirty="0"/>
              <a:t> storage 和 public/assets </a:t>
            </a:r>
            <a:r>
              <a:rPr lang="en-US" altLang="zh-TW" dirty="0" err="1"/>
              <a:t>這種資料類子目錄，不掛整個</a:t>
            </a:r>
            <a:r>
              <a:rPr lang="en-US" altLang="zh-TW" dirty="0"/>
              <a:t> app </a:t>
            </a:r>
            <a:r>
              <a:rPr lang="en-US" altLang="zh-TW" dirty="0" err="1"/>
              <a:t>目錄，否則</a:t>
            </a:r>
            <a:r>
              <a:rPr lang="en-US" altLang="zh-TW" dirty="0"/>
              <a:t> PVC </a:t>
            </a:r>
            <a:r>
              <a:rPr lang="en-US" altLang="zh-TW" dirty="0" err="1"/>
              <a:t>會蓋掉</a:t>
            </a:r>
            <a:r>
              <a:rPr lang="en-US" altLang="zh-TW" dirty="0"/>
              <a:t> image </a:t>
            </a:r>
            <a:r>
              <a:rPr lang="en-US" altLang="zh-TW" dirty="0" err="1"/>
              <a:t>裡的程式碼。enableServiceLinks</a:t>
            </a:r>
            <a:r>
              <a:rPr lang="en-US" altLang="zh-TW" dirty="0"/>
              <a:t> </a:t>
            </a:r>
            <a:r>
              <a:rPr lang="en-US" altLang="zh-TW" dirty="0" err="1"/>
              <a:t>是很好的活教材：Kubernetes</a:t>
            </a:r>
            <a:r>
              <a:rPr lang="en-US" altLang="zh-TW" dirty="0"/>
              <a:t> </a:t>
            </a:r>
            <a:r>
              <a:rPr lang="en-US" altLang="zh-TW" dirty="0" err="1"/>
              <a:t>幫你做的貼心事，有時候反而是坑。httpGet、tcpSocket、exec</a:t>
            </a:r>
            <a:r>
              <a:rPr lang="en-US" altLang="zh-TW" dirty="0"/>
              <a:t> </a:t>
            </a:r>
            <a:r>
              <a:rPr lang="en-US" altLang="zh-TW" dirty="0" err="1"/>
              <a:t>三種</a:t>
            </a:r>
            <a:r>
              <a:rPr lang="en-US" altLang="zh-TW" dirty="0"/>
              <a:t> probe </a:t>
            </a:r>
            <a:r>
              <a:rPr lang="en-US" altLang="zh-TW" dirty="0" err="1"/>
              <a:t>在這一站都會出現。第一次啟動要跑安裝流程，大約</a:t>
            </a:r>
            <a:r>
              <a:rPr lang="en-US" altLang="zh-TW" dirty="0"/>
              <a:t> 30 到 60 </a:t>
            </a:r>
            <a:r>
              <a:rPr lang="en-US" altLang="zh-TW" dirty="0" err="1"/>
              <a:t>秒才會就緒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818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是踩坑最多的一站。只掛</a:t>
            </a:r>
            <a:r>
              <a:rPr lang="en-US" altLang="zh-TW" dirty="0"/>
              <a:t> storage 和 public/assets </a:t>
            </a:r>
            <a:r>
              <a:rPr lang="en-US" altLang="zh-TW" dirty="0" err="1"/>
              <a:t>這種資料類子目錄，不掛整個</a:t>
            </a:r>
            <a:r>
              <a:rPr lang="en-US" altLang="zh-TW" dirty="0"/>
              <a:t> app </a:t>
            </a:r>
            <a:r>
              <a:rPr lang="en-US" altLang="zh-TW" dirty="0" err="1"/>
              <a:t>目錄，否則</a:t>
            </a:r>
            <a:r>
              <a:rPr lang="en-US" altLang="zh-TW" dirty="0"/>
              <a:t> PVC </a:t>
            </a:r>
            <a:r>
              <a:rPr lang="en-US" altLang="zh-TW" dirty="0" err="1"/>
              <a:t>會蓋掉</a:t>
            </a:r>
            <a:r>
              <a:rPr lang="en-US" altLang="zh-TW" dirty="0"/>
              <a:t> image </a:t>
            </a:r>
            <a:r>
              <a:rPr lang="en-US" altLang="zh-TW" dirty="0" err="1"/>
              <a:t>裡的程式碼。enableServiceLinks</a:t>
            </a:r>
            <a:r>
              <a:rPr lang="en-US" altLang="zh-TW" dirty="0"/>
              <a:t> </a:t>
            </a:r>
            <a:r>
              <a:rPr lang="en-US" altLang="zh-TW" dirty="0" err="1"/>
              <a:t>是很好的活教材：Kubernetes</a:t>
            </a:r>
            <a:r>
              <a:rPr lang="en-US" altLang="zh-TW" dirty="0"/>
              <a:t> </a:t>
            </a:r>
            <a:r>
              <a:rPr lang="en-US" altLang="zh-TW" dirty="0" err="1"/>
              <a:t>幫你做的貼心事，有時候反而是坑。httpGet、tcpSocket、exec</a:t>
            </a:r>
            <a:r>
              <a:rPr lang="en-US" altLang="zh-TW" dirty="0"/>
              <a:t> </a:t>
            </a:r>
            <a:r>
              <a:rPr lang="en-US" altLang="zh-TW" dirty="0" err="1"/>
              <a:t>三種</a:t>
            </a:r>
            <a:r>
              <a:rPr lang="en-US" altLang="zh-TW" dirty="0"/>
              <a:t> probe </a:t>
            </a:r>
            <a:r>
              <a:rPr lang="en-US" altLang="zh-TW" dirty="0" err="1"/>
              <a:t>在這一站都會出現。第一次啟動要跑安裝流程，大約</a:t>
            </a:r>
            <a:r>
              <a:rPr lang="en-US" altLang="zh-TW" dirty="0"/>
              <a:t> 30 到 60 </a:t>
            </a:r>
            <a:r>
              <a:rPr lang="en-US" altLang="zh-TW" dirty="0" err="1"/>
              <a:t>秒才會就緒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39289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6553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731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PostgreSQL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Planka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應用程式放在同一個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，只服務這一個 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079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planka</a:t>
            </a:r>
            <a:r>
              <a:rPr lang="en-US" altLang="zh-TW" dirty="0"/>
              <a:t> 跟 </a:t>
            </a: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並排看最有效，下一頁有對照表。官方文件常說</a:t>
            </a:r>
            <a:r>
              <a:rPr lang="en-US" altLang="zh-TW" dirty="0"/>
              <a:t> </a:t>
            </a:r>
            <a:r>
              <a:rPr lang="en-US" altLang="zh-TW" dirty="0" err="1"/>
              <a:t>planka</a:t>
            </a:r>
            <a:r>
              <a:rPr lang="en-US" altLang="zh-TW" dirty="0"/>
              <a:t> </a:t>
            </a:r>
            <a:r>
              <a:rPr lang="en-US" altLang="zh-TW" dirty="0" err="1"/>
              <a:t>要用</a:t>
            </a:r>
            <a:r>
              <a:rPr lang="en-US" altLang="zh-TW" dirty="0"/>
              <a:t> </a:t>
            </a:r>
            <a:r>
              <a:rPr lang="en-US" altLang="zh-TW" dirty="0" err="1"/>
              <a:t>mysql，這是錯的，官方</a:t>
            </a:r>
            <a:r>
              <a:rPr lang="en-US" altLang="zh-TW" dirty="0"/>
              <a:t> docker-compose </a:t>
            </a:r>
            <a:r>
              <a:rPr lang="en-US" altLang="zh-TW" dirty="0" err="1"/>
              <a:t>用的是</a:t>
            </a:r>
            <a:r>
              <a:rPr lang="en-US" altLang="zh-TW" dirty="0"/>
              <a:t> </a:t>
            </a:r>
            <a:r>
              <a:rPr lang="en-US" altLang="zh-TW" dirty="0" err="1"/>
              <a:t>PostgreSQL。DATABASE_URL</a:t>
            </a:r>
            <a:r>
              <a:rPr lang="en-US" altLang="zh-TW" dirty="0"/>
              <a:t> </a:t>
            </a:r>
            <a:r>
              <a:rPr lang="en-US" altLang="zh-TW" dirty="0" err="1"/>
              <a:t>是組合好的連線字串，密碼裡不能有沒編碼的</a:t>
            </a:r>
            <a:r>
              <a:rPr lang="en-US" altLang="zh-TW" dirty="0"/>
              <a:t> @ : / </a:t>
            </a:r>
            <a:r>
              <a:rPr lang="en-US" altLang="zh-TW" dirty="0" err="1"/>
              <a:t>等字元。注意</a:t>
            </a:r>
            <a:r>
              <a:rPr lang="en-US" altLang="zh-TW" dirty="0"/>
              <a:t> ghcr.io 的 </a:t>
            </a:r>
            <a:r>
              <a:rPr lang="en-US" altLang="zh-TW" dirty="0" err="1"/>
              <a:t>planka</a:t>
            </a:r>
            <a:r>
              <a:rPr lang="en-US" altLang="zh-TW" dirty="0"/>
              <a:t> image </a:t>
            </a:r>
            <a:r>
              <a:rPr lang="en-US" altLang="zh-TW" dirty="0" err="1"/>
              <a:t>第一次拉取要</a:t>
            </a:r>
            <a:r>
              <a:rPr lang="en-US" altLang="zh-TW" dirty="0"/>
              <a:t> 5 到 10 </a:t>
            </a:r>
            <a:r>
              <a:rPr lang="en-US" altLang="zh-TW" dirty="0" err="1"/>
              <a:t>分鐘，上課前先在各節點預熱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87370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planka</a:t>
            </a:r>
            <a:r>
              <a:rPr lang="en-US" altLang="zh-TW" dirty="0"/>
              <a:t> 跟 </a:t>
            </a: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並排看最有效，下一頁有對照表。官方文件常說</a:t>
            </a:r>
            <a:r>
              <a:rPr lang="en-US" altLang="zh-TW" dirty="0"/>
              <a:t> </a:t>
            </a:r>
            <a:r>
              <a:rPr lang="en-US" altLang="zh-TW" dirty="0" err="1"/>
              <a:t>planka</a:t>
            </a:r>
            <a:r>
              <a:rPr lang="en-US" altLang="zh-TW" dirty="0"/>
              <a:t> </a:t>
            </a:r>
            <a:r>
              <a:rPr lang="en-US" altLang="zh-TW" dirty="0" err="1"/>
              <a:t>要用</a:t>
            </a:r>
            <a:r>
              <a:rPr lang="en-US" altLang="zh-TW" dirty="0"/>
              <a:t> </a:t>
            </a:r>
            <a:r>
              <a:rPr lang="en-US" altLang="zh-TW" dirty="0" err="1"/>
              <a:t>mysql，這是錯的，官方</a:t>
            </a:r>
            <a:r>
              <a:rPr lang="en-US" altLang="zh-TW" dirty="0"/>
              <a:t> docker-compose </a:t>
            </a:r>
            <a:r>
              <a:rPr lang="en-US" altLang="zh-TW" dirty="0" err="1"/>
              <a:t>用的是</a:t>
            </a:r>
            <a:r>
              <a:rPr lang="en-US" altLang="zh-TW" dirty="0"/>
              <a:t> </a:t>
            </a:r>
            <a:r>
              <a:rPr lang="en-US" altLang="zh-TW" dirty="0" err="1"/>
              <a:t>PostgreSQL。DATABASE_URL</a:t>
            </a:r>
            <a:r>
              <a:rPr lang="en-US" altLang="zh-TW" dirty="0"/>
              <a:t> </a:t>
            </a:r>
            <a:r>
              <a:rPr lang="en-US" altLang="zh-TW" dirty="0" err="1"/>
              <a:t>是組合好的連線字串，密碼裡不能有沒編碼的</a:t>
            </a:r>
            <a:r>
              <a:rPr lang="en-US" altLang="zh-TW" dirty="0"/>
              <a:t> @ : / </a:t>
            </a:r>
            <a:r>
              <a:rPr lang="en-US" altLang="zh-TW" dirty="0" err="1"/>
              <a:t>等字元。注意</a:t>
            </a:r>
            <a:r>
              <a:rPr lang="en-US" altLang="zh-TW" dirty="0"/>
              <a:t> ghcr.io 的 </a:t>
            </a:r>
            <a:r>
              <a:rPr lang="en-US" altLang="zh-TW" dirty="0" err="1"/>
              <a:t>planka</a:t>
            </a:r>
            <a:r>
              <a:rPr lang="en-US" altLang="zh-TW" dirty="0"/>
              <a:t> image </a:t>
            </a:r>
            <a:r>
              <a:rPr lang="en-US" altLang="zh-TW" dirty="0" err="1"/>
              <a:t>第一次拉取要</a:t>
            </a:r>
            <a:r>
              <a:rPr lang="en-US" altLang="zh-TW" dirty="0"/>
              <a:t> 5 到 10 </a:t>
            </a:r>
            <a:r>
              <a:rPr lang="en-US" altLang="zh-TW" dirty="0" err="1"/>
              <a:t>分鐘，上課前先在各節點預熱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04672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27883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59493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兩個產品都是</a:t>
            </a:r>
            <a:r>
              <a:rPr lang="en-US" altLang="zh-TW" dirty="0"/>
              <a:t> App </a:t>
            </a:r>
            <a:r>
              <a:rPr lang="en-US" altLang="zh-TW" dirty="0" err="1"/>
              <a:t>加專屬資料庫放在同一個</a:t>
            </a:r>
            <a:r>
              <a:rPr lang="en-US" altLang="zh-TW" dirty="0"/>
              <a:t> </a:t>
            </a:r>
            <a:r>
              <a:rPr lang="en-US" altLang="zh-TW" dirty="0" err="1"/>
              <a:t>namespace，NetworkPolicy</a:t>
            </a:r>
            <a:r>
              <a:rPr lang="en-US" altLang="zh-TW" dirty="0"/>
              <a:t> </a:t>
            </a:r>
            <a:r>
              <a:rPr lang="en-US" altLang="zh-TW" dirty="0" err="1"/>
              <a:t>也都是同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</a:t>
            </a:r>
            <a:r>
              <a:rPr lang="en-US" altLang="zh-TW" dirty="0"/>
              <a:t> </a:t>
            </a:r>
            <a:r>
              <a:rPr lang="en-US" altLang="zh-TW" dirty="0" err="1"/>
              <a:t>寫法。差別在映像本身的設計。要帶出的觀念是：安全強化要不要做、能不能做，要看</a:t>
            </a:r>
            <a:r>
              <a:rPr lang="en-US" altLang="zh-TW" dirty="0"/>
              <a:t> image </a:t>
            </a:r>
            <a:r>
              <a:rPr lang="en-US" altLang="zh-TW" dirty="0" err="1"/>
              <a:t>實際怎麼設計，不能無腦套同一份模板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0947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目前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資源需求最重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的一個產品（官方建議至少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2 CPU / 4GB RAM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）。重點不在應用邏輯本身，而在「資源緊繃的共用叢集， 該怎麼安排一個吃重的工作負載」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4538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內建</a:t>
            </a:r>
            <a:r>
              <a:rPr lang="en-US" altLang="zh-TW" dirty="0"/>
              <a:t> </a:t>
            </a:r>
            <a:r>
              <a:rPr lang="en-US" altLang="zh-TW" dirty="0" err="1"/>
              <a:t>PostgreSQL、Redis、RabbitMQ，全部包在同一個</a:t>
            </a:r>
            <a:r>
              <a:rPr lang="en-US" altLang="zh-TW" dirty="0"/>
              <a:t> container </a:t>
            </a:r>
            <a:r>
              <a:rPr lang="en-US" altLang="zh-TW" dirty="0" err="1"/>
              <a:t>裡。重點不在應用邏輯，而是資源緊繃的共用叢集該怎麼安排吃重的工作負載。taint</a:t>
            </a:r>
            <a:r>
              <a:rPr lang="en-US" altLang="zh-TW" dirty="0"/>
              <a:t> 和 toleration </a:t>
            </a:r>
            <a:r>
              <a:rPr lang="en-US" altLang="zh-TW" dirty="0" err="1"/>
              <a:t>不只服務</a:t>
            </a:r>
            <a:r>
              <a:rPr lang="en-US" altLang="zh-TW" dirty="0"/>
              <a:t> GPU </a:t>
            </a:r>
            <a:r>
              <a:rPr lang="en-US" altLang="zh-TW" dirty="0" err="1"/>
              <a:t>排程，任何這個節點保留給特定用途的情境都適用。持久化刻意簡化，只有</a:t>
            </a:r>
            <a:r>
              <a:rPr lang="en-US" altLang="zh-TW" dirty="0"/>
              <a:t> Data </a:t>
            </a:r>
            <a:r>
              <a:rPr lang="en-US" altLang="zh-TW" dirty="0" err="1"/>
              <a:t>目錄用</a:t>
            </a:r>
            <a:r>
              <a:rPr lang="en-US" altLang="zh-TW" dirty="0"/>
              <a:t> </a:t>
            </a:r>
            <a:r>
              <a:rPr lang="en-US" altLang="zh-TW" dirty="0" err="1"/>
              <a:t>PVC，其他用</a:t>
            </a:r>
            <a:r>
              <a:rPr lang="en-US" altLang="zh-TW" dirty="0"/>
              <a:t> </a:t>
            </a:r>
            <a:r>
              <a:rPr lang="en-US" altLang="zh-TW" dirty="0" err="1"/>
              <a:t>emptyDir。第一次啟動約</a:t>
            </a:r>
            <a:r>
              <a:rPr lang="en-US" altLang="zh-TW" dirty="0"/>
              <a:t> 1 到 2 </a:t>
            </a:r>
            <a:r>
              <a:rPr lang="en-US" altLang="zh-TW" dirty="0" err="1"/>
              <a:t>分鐘才會</a:t>
            </a:r>
            <a:r>
              <a:rPr lang="en-US" altLang="zh-TW" dirty="0"/>
              <a:t> Ready。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85177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內建</a:t>
            </a:r>
            <a:r>
              <a:rPr lang="en-US" altLang="zh-TW" dirty="0"/>
              <a:t> </a:t>
            </a:r>
            <a:r>
              <a:rPr lang="en-US" altLang="zh-TW" dirty="0" err="1"/>
              <a:t>PostgreSQL、Redis、RabbitMQ，全部包在同一個</a:t>
            </a:r>
            <a:r>
              <a:rPr lang="en-US" altLang="zh-TW" dirty="0"/>
              <a:t> container </a:t>
            </a:r>
            <a:r>
              <a:rPr lang="en-US" altLang="zh-TW" dirty="0" err="1"/>
              <a:t>裡。重點不在應用邏輯，而是資源緊繃的共用叢集該怎麼安排吃重的工作負載。taint</a:t>
            </a:r>
            <a:r>
              <a:rPr lang="en-US" altLang="zh-TW" dirty="0"/>
              <a:t> 和 toleration </a:t>
            </a:r>
            <a:r>
              <a:rPr lang="en-US" altLang="zh-TW" dirty="0" err="1"/>
              <a:t>不只服務</a:t>
            </a:r>
            <a:r>
              <a:rPr lang="en-US" altLang="zh-TW" dirty="0"/>
              <a:t> GPU </a:t>
            </a:r>
            <a:r>
              <a:rPr lang="en-US" altLang="zh-TW" dirty="0" err="1"/>
              <a:t>排程，任何這個節點保留給特定用途的情境都適用。持久化刻意簡化，只有</a:t>
            </a:r>
            <a:r>
              <a:rPr lang="en-US" altLang="zh-TW" dirty="0"/>
              <a:t> Data </a:t>
            </a:r>
            <a:r>
              <a:rPr lang="en-US" altLang="zh-TW" dirty="0" err="1"/>
              <a:t>目錄用</a:t>
            </a:r>
            <a:r>
              <a:rPr lang="en-US" altLang="zh-TW" dirty="0"/>
              <a:t> </a:t>
            </a:r>
            <a:r>
              <a:rPr lang="en-US" altLang="zh-TW" dirty="0" err="1"/>
              <a:t>PVC，其他用</a:t>
            </a:r>
            <a:r>
              <a:rPr lang="en-US" altLang="zh-TW" dirty="0"/>
              <a:t> </a:t>
            </a:r>
            <a:r>
              <a:rPr lang="en-US" altLang="zh-TW" dirty="0" err="1"/>
              <a:t>emptyDir。第一次啟動約</a:t>
            </a:r>
            <a:r>
              <a:rPr lang="en-US" altLang="zh-TW" dirty="0"/>
              <a:t> 1 到 2 </a:t>
            </a:r>
            <a:r>
              <a:rPr lang="en-US" altLang="zh-TW" dirty="0" err="1"/>
              <a:t>分鐘才會</a:t>
            </a:r>
            <a:r>
              <a:rPr lang="en-US" altLang="zh-TW" dirty="0"/>
              <a:t> Ready。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94679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9348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19742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一次把前面所有產品分別學過的概念（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StatefulSet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Secret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PVC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ConfigMap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掛載腳本、跨元件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、節點排程）串在同一個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65814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把前面學過的概念串起來：StatefulSet</a:t>
            </a:r>
            <a:r>
              <a:rPr lang="en-US" altLang="zh-TW" dirty="0"/>
              <a:t> 加 PVC 的 </a:t>
            </a:r>
            <a:r>
              <a:rPr lang="en-US" altLang="zh-TW" dirty="0" err="1"/>
              <a:t>PostgreSQL、Deployment</a:t>
            </a:r>
            <a:r>
              <a:rPr lang="en-US" altLang="zh-TW" dirty="0"/>
              <a:t> 加 </a:t>
            </a:r>
            <a:r>
              <a:rPr lang="en-US" altLang="zh-TW" dirty="0" err="1"/>
              <a:t>emptyDir</a:t>
            </a:r>
            <a:r>
              <a:rPr lang="en-US" altLang="zh-TW" dirty="0"/>
              <a:t> 的 </a:t>
            </a:r>
            <a:r>
              <a:rPr lang="en-US" altLang="zh-TW" dirty="0" err="1"/>
              <a:t>Redis、還有應用本體，NetworkPolicy</a:t>
            </a:r>
            <a:r>
              <a:rPr lang="en-US" altLang="zh-TW" dirty="0"/>
              <a:t> </a:t>
            </a:r>
            <a:r>
              <a:rPr lang="en-US" altLang="zh-TW" dirty="0" err="1"/>
              <a:t>規則數全教材最多，共</a:t>
            </a:r>
            <a:r>
              <a:rPr lang="en-US" altLang="zh-TW" dirty="0"/>
              <a:t> 7 </a:t>
            </a:r>
            <a:r>
              <a:rPr lang="en-US" altLang="zh-TW" dirty="0" err="1"/>
              <a:t>條。redis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的 image </a:t>
            </a:r>
            <a:r>
              <a:rPr lang="en-US" altLang="zh-TW" dirty="0" err="1"/>
              <a:t>都是</a:t>
            </a:r>
            <a:r>
              <a:rPr lang="en-US" altLang="zh-TW" dirty="0"/>
              <a:t> root </a:t>
            </a:r>
            <a:r>
              <a:rPr lang="en-US" altLang="zh-TW" dirty="0" err="1"/>
              <a:t>啟動再降權，所以不能</a:t>
            </a:r>
            <a:r>
              <a:rPr lang="en-US" altLang="zh-TW" dirty="0"/>
              <a:t> drop ALL。PEERTUBE_TRUST_PROXY </a:t>
            </a:r>
            <a:r>
              <a:rPr lang="en-US" altLang="zh-TW" dirty="0" err="1"/>
              <a:t>要納入叢集</a:t>
            </a:r>
            <a:r>
              <a:rPr lang="en-US" altLang="zh-TW" dirty="0"/>
              <a:t> Pod </a:t>
            </a:r>
            <a:r>
              <a:rPr lang="en-US" altLang="zh-TW" dirty="0" err="1"/>
              <a:t>網段。管理員帳號是寫死的</a:t>
            </a:r>
            <a:r>
              <a:rPr lang="en-US" altLang="zh-TW" dirty="0"/>
              <a:t> </a:t>
            </a:r>
            <a:r>
              <a:rPr lang="en-US" altLang="zh-TW" dirty="0" err="1"/>
              <a:t>root，初始密碼只在資料庫全新初始化時生效，之後要用</a:t>
            </a:r>
            <a:r>
              <a:rPr lang="en-US" altLang="zh-TW" dirty="0"/>
              <a:t> reset-password </a:t>
            </a:r>
            <a:r>
              <a:rPr lang="en-US" altLang="zh-TW" dirty="0" err="1"/>
              <a:t>腳本重設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8038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把前面學過的概念串起來：StatefulSet</a:t>
            </a:r>
            <a:r>
              <a:rPr lang="en-US" altLang="zh-TW" dirty="0"/>
              <a:t> 加 PVC 的 </a:t>
            </a:r>
            <a:r>
              <a:rPr lang="en-US" altLang="zh-TW" dirty="0" err="1"/>
              <a:t>PostgreSQL、Deployment</a:t>
            </a:r>
            <a:r>
              <a:rPr lang="en-US" altLang="zh-TW" dirty="0"/>
              <a:t> 加 </a:t>
            </a:r>
            <a:r>
              <a:rPr lang="en-US" altLang="zh-TW" dirty="0" err="1"/>
              <a:t>emptyDir</a:t>
            </a:r>
            <a:r>
              <a:rPr lang="en-US" altLang="zh-TW" dirty="0"/>
              <a:t> 的 </a:t>
            </a:r>
            <a:r>
              <a:rPr lang="en-US" altLang="zh-TW" dirty="0" err="1"/>
              <a:t>Redis、還有應用本體，NetworkPolicy</a:t>
            </a:r>
            <a:r>
              <a:rPr lang="en-US" altLang="zh-TW" dirty="0"/>
              <a:t> </a:t>
            </a:r>
            <a:r>
              <a:rPr lang="en-US" altLang="zh-TW" dirty="0" err="1"/>
              <a:t>規則數全教材最多，共</a:t>
            </a:r>
            <a:r>
              <a:rPr lang="en-US" altLang="zh-TW" dirty="0"/>
              <a:t> 7 </a:t>
            </a:r>
            <a:r>
              <a:rPr lang="en-US" altLang="zh-TW" dirty="0" err="1"/>
              <a:t>條。redis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的 image </a:t>
            </a:r>
            <a:r>
              <a:rPr lang="en-US" altLang="zh-TW" dirty="0" err="1"/>
              <a:t>都是</a:t>
            </a:r>
            <a:r>
              <a:rPr lang="en-US" altLang="zh-TW" dirty="0"/>
              <a:t> root </a:t>
            </a:r>
            <a:r>
              <a:rPr lang="en-US" altLang="zh-TW" dirty="0" err="1"/>
              <a:t>啟動再降權，所以不能</a:t>
            </a:r>
            <a:r>
              <a:rPr lang="en-US" altLang="zh-TW" dirty="0"/>
              <a:t> drop ALL。PEERTUBE_TRUST_PROXY </a:t>
            </a:r>
            <a:r>
              <a:rPr lang="en-US" altLang="zh-TW" dirty="0" err="1"/>
              <a:t>要納入叢集</a:t>
            </a:r>
            <a:r>
              <a:rPr lang="en-US" altLang="zh-TW" dirty="0"/>
              <a:t> Pod </a:t>
            </a:r>
            <a:r>
              <a:rPr lang="en-US" altLang="zh-TW" dirty="0" err="1"/>
              <a:t>網段。管理員帳號是寫死的</a:t>
            </a:r>
            <a:r>
              <a:rPr lang="en-US" altLang="zh-TW" dirty="0"/>
              <a:t> </a:t>
            </a:r>
            <a:r>
              <a:rPr lang="en-US" altLang="zh-TW" dirty="0" err="1"/>
              <a:t>root，初始密碼只在資料庫全新初始化時生效，之後要用</a:t>
            </a:r>
            <a:r>
              <a:rPr lang="en-US" altLang="zh-TW" dirty="0"/>
              <a:t> reset-password </a:t>
            </a:r>
            <a:r>
              <a:rPr lang="en-US" altLang="zh-TW" dirty="0" err="1"/>
              <a:t>腳本重設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6628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789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27736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跟前面幾個「本身就是一個應用」的 產品不同，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CloudBeaver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在這門課裡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不屬於任何單一產品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，而是專門拿來集中查看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驗證其他產品用到的資料庫內容的工具型產品。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0764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前面所有案例都是同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podSelector，這一站改用</a:t>
            </a:r>
            <a:r>
              <a:rPr lang="en-US" altLang="zh-TW" dirty="0"/>
              <a:t> </a:t>
            </a:r>
            <a:r>
              <a:rPr lang="en-US" altLang="zh-TW" dirty="0" err="1"/>
              <a:t>namespaceSelector，形成對照。部署前</a:t>
            </a:r>
            <a:r>
              <a:rPr lang="en-US" altLang="zh-TW" dirty="0"/>
              <a:t> </a:t>
            </a:r>
            <a:r>
              <a:rPr lang="en-US" altLang="zh-TW" dirty="0" err="1"/>
              <a:t>flarum、planka、peertube</a:t>
            </a:r>
            <a:r>
              <a:rPr lang="en-US" altLang="zh-TW" dirty="0"/>
              <a:t> </a:t>
            </a:r>
            <a:r>
              <a:rPr lang="en-US" altLang="zh-TW" dirty="0" err="1"/>
              <a:t>都要先部署好，並且重新</a:t>
            </a:r>
            <a:r>
              <a:rPr lang="en-US" altLang="zh-TW" dirty="0"/>
              <a:t> apply </a:t>
            </a:r>
            <a:r>
              <a:rPr lang="en-US" altLang="zh-TW" dirty="0" err="1"/>
              <a:t>各自最新的</a:t>
            </a:r>
            <a:r>
              <a:rPr lang="en-US" altLang="zh-TW" dirty="0"/>
              <a:t> </a:t>
            </a:r>
            <a:r>
              <a:rPr lang="en-US" altLang="zh-TW" dirty="0" err="1"/>
              <a:t>NetworkPolicy。CloudBeaver</a:t>
            </a:r>
            <a:r>
              <a:rPr lang="en-US" altLang="zh-TW" dirty="0"/>
              <a:t> </a:t>
            </a:r>
            <a:r>
              <a:rPr lang="en-US" altLang="zh-TW" dirty="0" err="1"/>
              <a:t>沒有用環境變數自動建立管理員，要手動跑一次瀏覽器精靈，建議帳號用</a:t>
            </a:r>
            <a:r>
              <a:rPr lang="en-US" altLang="zh-TW" dirty="0"/>
              <a:t> </a:t>
            </a:r>
            <a:r>
              <a:rPr lang="en-US" altLang="zh-TW" dirty="0" err="1"/>
              <a:t>cbadmin。驗證連線可以從</a:t>
            </a:r>
            <a:r>
              <a:rPr lang="en-US" altLang="zh-TW" dirty="0"/>
              <a:t> Pod </a:t>
            </a:r>
            <a:r>
              <a:rPr lang="en-US" altLang="zh-TW" dirty="0" err="1"/>
              <a:t>內用</a:t>
            </a:r>
            <a:r>
              <a:rPr lang="en-US" altLang="zh-TW" dirty="0"/>
              <a:t> /dev/</a:t>
            </a:r>
            <a:r>
              <a:rPr lang="en-US" altLang="zh-TW" dirty="0" err="1"/>
              <a:t>tcp</a:t>
            </a:r>
            <a:r>
              <a:rPr lang="en-US" altLang="zh-TW" dirty="0"/>
              <a:t> </a:t>
            </a:r>
            <a:r>
              <a:rPr lang="en-US" altLang="zh-TW" dirty="0" err="1"/>
              <a:t>測三個資料庫的</a:t>
            </a:r>
            <a:r>
              <a:rPr lang="en-US" altLang="zh-TW" dirty="0"/>
              <a:t> </a:t>
            </a:r>
            <a:r>
              <a:rPr lang="en-US" altLang="zh-TW" dirty="0" err="1"/>
              <a:t>port，不需要密碼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92433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前面所有案例都是同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podSelector，這一站改用</a:t>
            </a:r>
            <a:r>
              <a:rPr lang="en-US" altLang="zh-TW" dirty="0"/>
              <a:t> </a:t>
            </a:r>
            <a:r>
              <a:rPr lang="en-US" altLang="zh-TW" dirty="0" err="1"/>
              <a:t>namespaceSelector，形成對照。部署前</a:t>
            </a:r>
            <a:r>
              <a:rPr lang="en-US" altLang="zh-TW" dirty="0"/>
              <a:t> </a:t>
            </a:r>
            <a:r>
              <a:rPr lang="en-US" altLang="zh-TW" dirty="0" err="1"/>
              <a:t>flarum、planka、peertube</a:t>
            </a:r>
            <a:r>
              <a:rPr lang="en-US" altLang="zh-TW" dirty="0"/>
              <a:t> </a:t>
            </a:r>
            <a:r>
              <a:rPr lang="en-US" altLang="zh-TW" dirty="0" err="1"/>
              <a:t>都要先部署好，並且重新</a:t>
            </a:r>
            <a:r>
              <a:rPr lang="en-US" altLang="zh-TW" dirty="0"/>
              <a:t> apply </a:t>
            </a:r>
            <a:r>
              <a:rPr lang="en-US" altLang="zh-TW" dirty="0" err="1"/>
              <a:t>各自最新的</a:t>
            </a:r>
            <a:r>
              <a:rPr lang="en-US" altLang="zh-TW" dirty="0"/>
              <a:t> </a:t>
            </a:r>
            <a:r>
              <a:rPr lang="en-US" altLang="zh-TW" dirty="0" err="1"/>
              <a:t>NetworkPolicy。CloudBeaver</a:t>
            </a:r>
            <a:r>
              <a:rPr lang="en-US" altLang="zh-TW" dirty="0"/>
              <a:t> </a:t>
            </a:r>
            <a:r>
              <a:rPr lang="en-US" altLang="zh-TW" dirty="0" err="1"/>
              <a:t>沒有用環境變數自動建立管理員，要手動跑一次瀏覽器精靈，建議帳號用</a:t>
            </a:r>
            <a:r>
              <a:rPr lang="en-US" altLang="zh-TW" dirty="0"/>
              <a:t> </a:t>
            </a:r>
            <a:r>
              <a:rPr lang="en-US" altLang="zh-TW" dirty="0" err="1"/>
              <a:t>cbadmin。驗證連線可以從</a:t>
            </a:r>
            <a:r>
              <a:rPr lang="en-US" altLang="zh-TW" dirty="0"/>
              <a:t> Pod </a:t>
            </a:r>
            <a:r>
              <a:rPr lang="en-US" altLang="zh-TW" dirty="0" err="1"/>
              <a:t>內用</a:t>
            </a:r>
            <a:r>
              <a:rPr lang="en-US" altLang="zh-TW" dirty="0"/>
              <a:t> /dev/</a:t>
            </a:r>
            <a:r>
              <a:rPr lang="en-US" altLang="zh-TW" dirty="0" err="1"/>
              <a:t>tcp</a:t>
            </a:r>
            <a:r>
              <a:rPr lang="en-US" altLang="zh-TW" dirty="0"/>
              <a:t> </a:t>
            </a:r>
            <a:r>
              <a:rPr lang="en-US" altLang="zh-TW" dirty="0" err="1"/>
              <a:t>測三個資料庫的</a:t>
            </a:r>
            <a:r>
              <a:rPr lang="en-US" altLang="zh-TW" dirty="0"/>
              <a:t> </a:t>
            </a:r>
            <a:r>
              <a:rPr lang="en-US" altLang="zh-TW" dirty="0" err="1"/>
              <a:t>port，不需要密碼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16232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10595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58832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6" name="Google Shape;148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課程結束，感謝參與。</a:t>
            </a:r>
            <a:endParaRPr/>
          </a:p>
        </p:txBody>
      </p:sp>
      <p:sp>
        <p:nvSpPr>
          <p:cNvPr id="1487" name="Google Shape;1487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5" name="Google Shape;149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補充資料從這一頁開始。上課時跳過這一段，提醒學員課後依章節自行閱讀；遇到問題可以在下次上課或討論區提出。</a:t>
            </a:r>
            <a:endParaRPr/>
          </a:p>
        </p:txBody>
      </p:sp>
      <p:sp>
        <p:nvSpPr>
          <p:cNvPr id="1496" name="Google Shape;1496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7" name="Google Shape;150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分鐘主線】這些延伸文件都在 repo 裡，可以依學員程度挑選。其他五個產品，filebrowser、planka、onlyoffice、peertube、cloudbeaver，也有同樣結構的 manifest 和練習題，適合課後自己重做。</a:t>
            </a:r>
            <a:endParaRPr/>
          </a:p>
        </p:txBody>
      </p:sp>
      <p:sp>
        <p:nvSpPr>
          <p:cNvPr id="1508" name="Google Shape;1508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6" name="Google Shape;1536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分鐘主線】把一個應用拆成八類資源。拿到需求時，一類一類問：這個應用需要嗎？draw.io 只用到其中幾類，flarum 幾乎全部都會用到。這張表也是後面每一章的索引。</a:t>
            </a:r>
            <a:endParaRPr/>
          </a:p>
        </p:txBody>
      </p:sp>
      <p:sp>
        <p:nvSpPr>
          <p:cNvPr id="1537" name="Google Shape;1537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8" name="Google Shape;157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分鐘主線】要求學員動手前先畫圖，圖上要答得出這五個問題。答不出來就代表需求還沒想清楚，這時候寫 YAML 只會邊寫邊猜。每個產品的 exercises 目錄都有現成的架構圖，可以先讓學員自己畫，再跟現成的對照。</a:t>
            </a:r>
            <a:endParaRPr/>
          </a:p>
        </p:txBody>
      </p:sp>
      <p:sp>
        <p:nvSpPr>
          <p:cNvPr id="1579" name="Google Shape;1579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2" name="Google Shape;161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分鐘主線】這頁對應 draw.io 填空題的 FILL_ME 3 到 5。requests 是排程器決定 Pod 排到哪裡的依據，limits 是尖峰上限。配額用所有 Pod 的 requests 加總來算，而且要算到 HPA 的 maxReplicas，不能只算現在的 2 個 Pod。LimitRange 的 min 抓太高會擋掉合理的輕量容器，本教材真的踩過這個坑。</a:t>
            </a:r>
            <a:endParaRPr/>
          </a:p>
        </p:txBody>
      </p:sp>
      <p:sp>
        <p:nvSpPr>
          <p:cNvPr id="1613" name="Google Shape;1613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0" name="Google Shape;165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分鐘主線】老實說明：draw.io 的 manifest 沒有自訂 ServiceAccount，也沒有 ConfigMap 或 Secret，因為它不需要。這一頁先講觀念，實作分別在 docs/rbac 和第四章的 flarum。可以現場跑左下角的 auth can-i，讓學員看到 default ServiceAccount 回答 no。補充：這座叢集的 API Server 有開 Secret 靜態加密，所以 etcd 裡的 Secret 是加密的，但用 kubectl 拿到的仍然只是 base64。</a:t>
            </a:r>
            <a:endParaRPr/>
          </a:p>
        </p:txBody>
      </p:sp>
      <p:sp>
        <p:nvSpPr>
          <p:cNvPr id="1651" name="Google Shape;165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8" name="Google Shape;166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分鐘主線】Service 和 Pod 之間沒有直接的連結，靠的是 label。Kubernetes 會持續把符合 selector、而且 Ready 的 Pod 放進 Endpoints。這就是為什麼 readinessProbe 失敗的 Pod 不會收到流量，也是為什麼 label 打錯時 Endpoints 會是空的。</a:t>
            </a:r>
            <a:endParaRPr/>
          </a:p>
        </p:txBody>
      </p:sp>
      <p:sp>
        <p:nvSpPr>
          <p:cNvPr id="1669" name="Google Shape;1669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1" name="Google Shape;170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分鐘主線】TLS 在 Gateway 就解開了，所以 draw.io 的 Pod 只需要聽一般的 HTTP 8080。TLS Secret 放在 Gateway 所在的 default namespace，各產品的 HTTPRoute 不需要自己準備憑證。另外，各產品的 HTTPRoute 在 parentRefs 裡同時掛 sectionName http 與 https 兩個 listener，所以兩種都能連。可以用 kubectl get secret gateway-tls -n default 確認，或用 openssl s_client 看瀏覽器拿到的憑證。</a:t>
            </a:r>
            <a:endParaRPr/>
          </a:p>
        </p:txBody>
      </p:sp>
      <p:sp>
        <p:nvSpPr>
          <p:cNvPr id="1702" name="Google Shape;1702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5" name="Google Shape;173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分鐘主線】答案：FILL_ME_13 是 dev-gateway，FILL_ME_14 是 drawio.nexai.org.com，FILL_ME_15 是 80。實際檔案有兩個 parentRefs，分別掛 http 和 https，這裡簡化成一個。path 在現有練習題裡不是填空，固定是 PathPrefix /，可以當延伸題：改成 /docs 之後，其他路徑會回 404。</a:t>
            </a:r>
            <a:endParaRPr/>
          </a:p>
        </p:txBody>
      </p:sp>
      <p:sp>
        <p:nvSpPr>
          <p:cNvPr id="1736" name="Google Shape;1736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2" name="Google Shape;1772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分鐘主線】flarum 的密碼直接用 secretKeyRef 讀 mysql-secret，不用再複製一份，這只能在同一個 namespace 內做到。部署前先套用 06-flarum-pvc，建好 flarum-storage 與 flarum-assets 兩顆 PVC。initContainer 是全教材唯一的一個，用來在主容器啟動前整理空的 PVC。第一次啟動會跑安裝流程，大約 30 到 60 秒才會 Ready。</a:t>
            </a:r>
            <a:endParaRPr/>
          </a:p>
        </p:txBody>
      </p:sp>
      <p:sp>
        <p:nvSpPr>
          <p:cNvPr id="1773" name="Google Shape;1773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6" name="Google Shape;1806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分鐘主線】要老實說明：本教材的 manifest 目前沒有設定 topologySpreadConstraints、podAntiAffinity，也沒有 PodDisruptionBudget。這一頁是觀念，加上一個觀察動作：看兩個 draw.io Pod 實際分在哪些節點。沒有這些設定就是一項風險，要寫進基準。這座叢集是共用的，不要讓學員自己 drain 節點。</a:t>
            </a:r>
            <a:endParaRPr/>
          </a:p>
        </p:txBody>
      </p:sp>
      <p:sp>
        <p:nvSpPr>
          <p:cNvPr id="1807" name="Google Shape;1807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3" name="Google Shape;183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分鐘主線】還原之後要回答「跟災難前一樣嗎」，沒有基準紀錄就只能憑印象。把這份紀錄存到叢集外，因為叢集整個不見時，放在叢集裡的紀錄也會一起不見。叢集層級的基準，例如 StorageClass 和 Gateway，用 dr/script/baseline.sh 產生。</a:t>
            </a:r>
            <a:endParaRPr/>
          </a:p>
        </p:txBody>
      </p:sp>
      <p:sp>
        <p:nvSpPr>
          <p:cNvPr id="1834" name="Google Shape;1834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h354c58d55cfae689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h354c58d55cfae689_0_5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這四個教訓在不同產品反覆出現，比單一產品的細節更值得帶走。第一個：零信任網路下，啟動時會連外網的背景工作要處理掉。第二個：同一份安全模板不是每個 image 都能套。第三個：資料庫類映像的初始化變數只在第一次生效。第四個：Kubernetes 的預設行為要知道它在做什麼。</a:t>
            </a:r>
            <a:endParaRPr/>
          </a:p>
        </p:txBody>
      </p:sp>
      <p:sp>
        <p:nvSpPr>
          <p:cNvPr id="506" name="Google Shape;506;h354c58d55cfae689_0_5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2" name="Google Shape;1862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分鐘主線】五個指令從淺到深：get 看現況，describe 看原因，logs 看應用自己的說法，exec 進去親手驗證，events 看整個 namespace 的時間軸。養成習慣：先 get，有異狀再 describe，容器有起來才看 logs。</a:t>
            </a:r>
            <a:endParaRPr/>
          </a:p>
        </p:txBody>
      </p:sp>
      <p:sp>
        <p:nvSpPr>
          <p:cNvPr id="1863" name="Google Shape;1863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543920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544338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4757511"/>
            <a:ext cx="7599489" cy="112077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498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8282111" cy="1853458"/>
          </a:xfrm>
        </p:spPr>
        <p:txBody>
          <a:bodyPr anchor="b">
            <a:normAutofit/>
          </a:bodyPr>
          <a:lstStyle>
            <a:lvl1pPr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8282570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95891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sz="1600" baseline="0">
                <a:solidFill>
                  <a:srgbClr val="595757"/>
                </a:solidFill>
              </a:defRPr>
            </a:lvl4pPr>
            <a:lvl5pPr>
              <a:defRPr sz="1600"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41119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7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64778"/>
            <a:ext cx="5682732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64778"/>
            <a:ext cx="5685577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451035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3"/>
          </a:xfrm>
        </p:spPr>
        <p:txBody>
          <a:bodyPr/>
          <a:lstStyle>
            <a:lvl1pPr>
              <a:defRPr sz="20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7"/>
            <a:ext cx="5033444" cy="452927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3"/>
          </a:xfrm>
        </p:spPr>
        <p:txBody>
          <a:bodyPr/>
          <a:lstStyle>
            <a:lvl1pPr>
              <a:defRPr sz="20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5"/>
            <a:ext cx="5036289" cy="452929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189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4867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30171772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0" y="553131"/>
            <a:ext cx="11511185" cy="71164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3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3624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內容版面配置區 4"/>
          <p:cNvSpPr>
            <a:spLocks noGrp="1"/>
          </p:cNvSpPr>
          <p:nvPr>
            <p:ph sz="quarter" idx="13"/>
          </p:nvPr>
        </p:nvSpPr>
        <p:spPr>
          <a:xfrm>
            <a:off x="5637230" y="1136591"/>
            <a:ext cx="6215786" cy="445235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60" y="6042204"/>
            <a:ext cx="1284816" cy="722619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341311" y="3405955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41312" y="4052286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5"/>
          </p:nvPr>
        </p:nvSpPr>
        <p:spPr>
          <a:xfrm>
            <a:off x="5637230" y="554565"/>
            <a:ext cx="4056551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12517C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9" name="直線接點 8"/>
          <p:cNvCxnSpPr/>
          <p:nvPr/>
        </p:nvCxnSpPr>
        <p:spPr>
          <a:xfrm>
            <a:off x="444381" y="3982149"/>
            <a:ext cx="1884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1917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2"/>
            <a:ext cx="12192003" cy="685800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83940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67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669748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3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5282739"/>
            <a:ext cx="7670173" cy="89610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4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670173" cy="15081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 userDrawn="1"/>
        </p:nvCxnSpPr>
        <p:spPr>
          <a:xfrm>
            <a:off x="280988" y="6236456"/>
            <a:ext cx="1690425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44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263192"/>
            <a:ext cx="9699477" cy="4666268"/>
          </a:xfrm>
          <a:prstGeom prst="rect">
            <a:avLst/>
          </a:prstGeom>
          <a:gradFill flip="none" rotWithShape="1">
            <a:gsLst>
              <a:gs pos="0">
                <a:srgbClr val="4F2199">
                  <a:alpha val="60000"/>
                </a:srgbClr>
              </a:gs>
              <a:gs pos="100000">
                <a:srgbClr val="4F2199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9357645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9358164" cy="15081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 marL="32400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1176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1831" y="1275122"/>
            <a:ext cx="11511185" cy="4818029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sz="1600" baseline="0"/>
            </a:lvl4pPr>
            <a:lvl5pPr>
              <a:defRPr sz="1600" baseline="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022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8694"/>
            <a:ext cx="5682732" cy="48828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8694"/>
            <a:ext cx="5685577" cy="488282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0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2001908"/>
            <a:ext cx="5036289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251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2001908"/>
            <a:ext cx="5033445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5249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47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897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2480796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67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571621" y="0"/>
            <a:ext cx="862037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341311" y="1997466"/>
            <a:ext cx="288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600" b="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5" name="文字方塊 14"/>
          <p:cNvSpPr txBox="1"/>
          <p:nvPr userDrawn="1"/>
        </p:nvSpPr>
        <p:spPr>
          <a:xfrm>
            <a:off x="341312" y="2707259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13" name="直線接點 12"/>
          <p:cNvCxnSpPr/>
          <p:nvPr userDrawn="1"/>
        </p:nvCxnSpPr>
        <p:spPr>
          <a:xfrm>
            <a:off x="444381" y="2577808"/>
            <a:ext cx="1884040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內容版面配置區 4"/>
          <p:cNvSpPr>
            <a:spLocks noGrp="1"/>
          </p:cNvSpPr>
          <p:nvPr>
            <p:ph sz="quarter" idx="14"/>
          </p:nvPr>
        </p:nvSpPr>
        <p:spPr>
          <a:xfrm>
            <a:off x="3933826" y="2705100"/>
            <a:ext cx="7919190" cy="2895600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文字版面配置區 2"/>
          <p:cNvSpPr>
            <a:spLocks noGrp="1"/>
          </p:cNvSpPr>
          <p:nvPr>
            <p:ph type="body" idx="15"/>
          </p:nvPr>
        </p:nvSpPr>
        <p:spPr>
          <a:xfrm>
            <a:off x="3933826" y="1997466"/>
            <a:ext cx="5759956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6" name="文字方塊 1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716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951807" y="2269982"/>
            <a:ext cx="7901210" cy="755229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341832" y="5778123"/>
            <a:ext cx="9357645" cy="5867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2" y="2192224"/>
            <a:ext cx="2886702" cy="1623567"/>
          </a:xfrm>
          <a:prstGeom prst="rect">
            <a:avLst/>
          </a:prstGeom>
        </p:spPr>
      </p:pic>
      <p:cxnSp>
        <p:nvCxnSpPr>
          <p:cNvPr id="8" name="直線接點 7"/>
          <p:cNvCxnSpPr/>
          <p:nvPr userDrawn="1"/>
        </p:nvCxnSpPr>
        <p:spPr>
          <a:xfrm>
            <a:off x="3552825" y="1962333"/>
            <a:ext cx="0" cy="1944167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內容版面配置區 9"/>
          <p:cNvSpPr>
            <a:spLocks noGrp="1"/>
          </p:cNvSpPr>
          <p:nvPr>
            <p:ph sz="quarter" idx="14" hasCustomPrompt="1"/>
          </p:nvPr>
        </p:nvSpPr>
        <p:spPr>
          <a:xfrm>
            <a:off x="3951288" y="3107987"/>
            <a:ext cx="7900987" cy="15970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rgbClr val="595757"/>
                </a:solidFill>
              </a:defRPr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3914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 userDrawn="1"/>
        </p:nvSpPr>
        <p:spPr>
          <a:xfrm>
            <a:off x="7973933" y="-381565"/>
            <a:ext cx="4793309" cy="4793309"/>
          </a:xfrm>
          <a:prstGeom prst="ellipse">
            <a:avLst/>
          </a:prstGeom>
          <a:gradFill flip="none" rotWithShape="1">
            <a:gsLst>
              <a:gs pos="35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 userDrawn="1"/>
        </p:nvSpPr>
        <p:spPr>
          <a:xfrm>
            <a:off x="6429081" y="-60372"/>
            <a:ext cx="2403835" cy="2403835"/>
          </a:xfrm>
          <a:prstGeom prst="ellipse">
            <a:avLst/>
          </a:prstGeom>
          <a:gradFill flip="none" rotWithShape="1">
            <a:gsLst>
              <a:gs pos="19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2" y="1160463"/>
            <a:ext cx="9357645" cy="185345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2" y="3152004"/>
            <a:ext cx="9357645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75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287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12"/>
          </p:nvPr>
        </p:nvSpPr>
        <p:spPr>
          <a:xfrm>
            <a:off x="341313" y="1273324"/>
            <a:ext cx="11510962" cy="487964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1589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1366"/>
            <a:ext cx="5682732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1366"/>
            <a:ext cx="5685577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86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2E75B6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4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4FB99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2109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0455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6325609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657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字方塊 13"/>
          <p:cNvSpPr txBox="1"/>
          <p:nvPr userDrawn="1"/>
        </p:nvSpPr>
        <p:spPr>
          <a:xfrm>
            <a:off x="341311" y="546901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="1" baseline="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444381" y="1127243"/>
            <a:ext cx="1884040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 userDrawn="1"/>
        </p:nvSpPr>
        <p:spPr>
          <a:xfrm>
            <a:off x="10919042" y="547593"/>
            <a:ext cx="933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8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155414"/>
            <a:ext cx="1315236" cy="493214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quarter" idx="13"/>
          </p:nvPr>
        </p:nvSpPr>
        <p:spPr>
          <a:xfrm>
            <a:off x="3566355" y="1471613"/>
            <a:ext cx="8285920" cy="4406900"/>
          </a:xfrm>
        </p:spPr>
        <p:txBody>
          <a:bodyPr anchor="ctr"/>
          <a:lstStyle>
            <a:lvl1pPr marL="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9144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3716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18288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文字版面配置區 2"/>
          <p:cNvSpPr>
            <a:spLocks noGrp="1"/>
          </p:cNvSpPr>
          <p:nvPr>
            <p:ph type="body" idx="15"/>
          </p:nvPr>
        </p:nvSpPr>
        <p:spPr>
          <a:xfrm>
            <a:off x="336044" y="1471613"/>
            <a:ext cx="2894266" cy="4406900"/>
          </a:xfrm>
        </p:spPr>
        <p:txBody>
          <a:bodyPr anchor="ctr"/>
          <a:lstStyle>
            <a:lvl1pPr marL="0" indent="0">
              <a:buNone/>
              <a:defRPr sz="2400" b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7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685" t="45009"/>
          <a:stretch/>
        </p:blipFill>
        <p:spPr>
          <a:xfrm>
            <a:off x="-9427" y="-9427"/>
            <a:ext cx="2746474" cy="263508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496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9"/>
            <a:ext cx="11511185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-729784" y="553132"/>
            <a:ext cx="597324" cy="711646"/>
          </a:xfrm>
          <a:prstGeom prst="rect">
            <a:avLst/>
          </a:prstGeom>
          <a:solidFill>
            <a:srgbClr val="12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-729784" y="60887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18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81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124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41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12517C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82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7309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121"/>
            <a:ext cx="11511185" cy="4832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729784" y="1373009"/>
            <a:ext cx="597324" cy="13330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-729784" y="1498699"/>
            <a:ext cx="6637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</a:p>
          <a:p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zh-TW" altLang="en-US" sz="1100" dirty="0">
                <a:solidFill>
                  <a:schemeClr val="tx1"/>
                </a:solidFill>
              </a:rPr>
              <a:t>透明度</a:t>
            </a:r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en-US" altLang="zh-TW" sz="1100" dirty="0">
                <a:solidFill>
                  <a:schemeClr val="tx1"/>
                </a:solidFill>
              </a:rPr>
              <a:t>85~100</a:t>
            </a:r>
          </a:p>
          <a:p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  <a:endParaRPr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44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27131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7"/>
            <a:ext cx="11511185" cy="4886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rgbClr val="0056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0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117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729784" y="2208168"/>
            <a:ext cx="597324" cy="711646"/>
          </a:xfrm>
          <a:prstGeom prst="rect">
            <a:avLst/>
          </a:prstGeom>
          <a:solidFill>
            <a:srgbClr val="4FB9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-729784" y="2263909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79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185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159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-729784" y="2979945"/>
            <a:ext cx="597324" cy="7116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3035686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46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117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182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cxnSp>
        <p:nvCxnSpPr>
          <p:cNvPr id="21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0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AnnLeemocha/k8s-train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;p1">
            <a:extLst>
              <a:ext uri="{FF2B5EF4-FFF2-40B4-BE49-F238E27FC236}">
                <a16:creationId xmlns:a16="http://schemas.microsoft.com/office/drawing/2014/main" id="{D3F76CE8-7797-4B05-9671-9D7D0AAA533F}"/>
              </a:ext>
            </a:extLst>
          </p:cNvPr>
          <p:cNvSpPr/>
          <p:nvPr/>
        </p:nvSpPr>
        <p:spPr>
          <a:xfrm>
            <a:off x="508000" y="2160270"/>
            <a:ext cx="811022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Kubernetes 企業實戰教育訓練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;p1">
            <a:extLst>
              <a:ext uri="{FF2B5EF4-FFF2-40B4-BE49-F238E27FC236}">
                <a16:creationId xmlns:a16="http://schemas.microsoft.com/office/drawing/2014/main" id="{BC0B885F-2634-449B-A07D-F9A663942F6E}"/>
              </a:ext>
            </a:extLst>
          </p:cNvPr>
          <p:cNvSpPr/>
          <p:nvPr/>
        </p:nvSpPr>
        <p:spPr>
          <a:xfrm>
            <a:off x="508000" y="2719070"/>
            <a:ext cx="811022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實戰部署工作坊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;p1">
            <a:extLst>
              <a:ext uri="{FF2B5EF4-FFF2-40B4-BE49-F238E27FC236}">
                <a16:creationId xmlns:a16="http://schemas.microsoft.com/office/drawing/2014/main" id="{821F0CB5-0CC5-41B5-B907-6A9A43E09BAF}"/>
              </a:ext>
            </a:extLst>
          </p:cNvPr>
          <p:cNvSpPr/>
          <p:nvPr/>
        </p:nvSpPr>
        <p:spPr>
          <a:xfrm>
            <a:off x="508000" y="3704590"/>
            <a:ext cx="811022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7 個真實開源應用 · 一座正式 K8s 叢集 · 難度逐站遞增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Google Shape;20;p1">
            <a:extLst>
              <a:ext uri="{FF2B5EF4-FFF2-40B4-BE49-F238E27FC236}">
                <a16:creationId xmlns:a16="http://schemas.microsoft.com/office/drawing/2014/main" id="{37263E95-1D87-4AE6-8CA6-40B3A41BB3DE}"/>
              </a:ext>
            </a:extLst>
          </p:cNvPr>
          <p:cNvSpPr/>
          <p:nvPr/>
        </p:nvSpPr>
        <p:spPr>
          <a:xfrm>
            <a:off x="508000" y="4227830"/>
            <a:ext cx="811022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</a:rPr>
              <a:t>主講人：</a:t>
            </a:r>
            <a:r>
              <a:rPr lang="en-US" sz="1500" b="1">
                <a:solidFill>
                  <a:srgbClr val="FFFFFF"/>
                </a:solidFill>
              </a:rPr>
              <a:t>李旻恩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;p1">
            <a:extLst>
              <a:ext uri="{FF2B5EF4-FFF2-40B4-BE49-F238E27FC236}">
                <a16:creationId xmlns:a16="http://schemas.microsoft.com/office/drawing/2014/main" id="{C7E64D6B-2752-49BA-B458-3C3CF282F349}"/>
              </a:ext>
            </a:extLst>
          </p:cNvPr>
          <p:cNvSpPr/>
          <p:nvPr/>
        </p:nvSpPr>
        <p:spPr>
          <a:xfrm>
            <a:off x="815975" y="5520055"/>
            <a:ext cx="897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0" name="Google Shape;23;p1">
            <a:extLst>
              <a:ext uri="{FF2B5EF4-FFF2-40B4-BE49-F238E27FC236}">
                <a16:creationId xmlns:a16="http://schemas.microsoft.com/office/drawing/2014/main" id="{91A98538-D6FD-45D3-94E3-474D8CC4A3C5}"/>
              </a:ext>
            </a:extLst>
          </p:cNvPr>
          <p:cNvSpPr/>
          <p:nvPr/>
        </p:nvSpPr>
        <p:spPr>
          <a:xfrm>
            <a:off x="944880" y="5560105"/>
            <a:ext cx="69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 dirty="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draw.io</a:t>
            </a:r>
            <a:endParaRPr sz="1200" b="1" i="0" u="none" strike="noStrike" cap="none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4;p1">
            <a:extLst>
              <a:ext uri="{FF2B5EF4-FFF2-40B4-BE49-F238E27FC236}">
                <a16:creationId xmlns:a16="http://schemas.microsoft.com/office/drawing/2014/main" id="{97204568-3881-447B-8975-B7321935E7C1}"/>
              </a:ext>
            </a:extLst>
          </p:cNvPr>
          <p:cNvSpPr/>
          <p:nvPr/>
        </p:nvSpPr>
        <p:spPr>
          <a:xfrm>
            <a:off x="1821974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2" name="Google Shape;25;p1">
            <a:extLst>
              <a:ext uri="{FF2B5EF4-FFF2-40B4-BE49-F238E27FC236}">
                <a16:creationId xmlns:a16="http://schemas.microsoft.com/office/drawing/2014/main" id="{1E00EE33-8DF3-445F-BD55-0F96EF9FFF59}"/>
              </a:ext>
            </a:extLst>
          </p:cNvPr>
          <p:cNvSpPr/>
          <p:nvPr/>
        </p:nvSpPr>
        <p:spPr>
          <a:xfrm>
            <a:off x="1950879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filebrowser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6;p1">
            <a:extLst>
              <a:ext uri="{FF2B5EF4-FFF2-40B4-BE49-F238E27FC236}">
                <a16:creationId xmlns:a16="http://schemas.microsoft.com/office/drawing/2014/main" id="{ED5F8B77-2242-4E37-92F1-6BDE20EB6A47}"/>
              </a:ext>
            </a:extLst>
          </p:cNvPr>
          <p:cNvSpPr/>
          <p:nvPr/>
        </p:nvSpPr>
        <p:spPr>
          <a:xfrm>
            <a:off x="3193812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4" name="Google Shape;27;p1">
            <a:extLst>
              <a:ext uri="{FF2B5EF4-FFF2-40B4-BE49-F238E27FC236}">
                <a16:creationId xmlns:a16="http://schemas.microsoft.com/office/drawing/2014/main" id="{31A2A3DC-EAEF-4B76-96FC-C91D11E932D2}"/>
              </a:ext>
            </a:extLst>
          </p:cNvPr>
          <p:cNvSpPr/>
          <p:nvPr/>
        </p:nvSpPr>
        <p:spPr>
          <a:xfrm>
            <a:off x="3322717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flarum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8;p1">
            <a:extLst>
              <a:ext uri="{FF2B5EF4-FFF2-40B4-BE49-F238E27FC236}">
                <a16:creationId xmlns:a16="http://schemas.microsoft.com/office/drawing/2014/main" id="{3632CDBD-89A7-4EEF-B635-EB4F090537CB}"/>
              </a:ext>
            </a:extLst>
          </p:cNvPr>
          <p:cNvSpPr/>
          <p:nvPr/>
        </p:nvSpPr>
        <p:spPr>
          <a:xfrm>
            <a:off x="4108371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6" name="Google Shape;29;p1">
            <a:extLst>
              <a:ext uri="{FF2B5EF4-FFF2-40B4-BE49-F238E27FC236}">
                <a16:creationId xmlns:a16="http://schemas.microsoft.com/office/drawing/2014/main" id="{4D613155-E1C0-49E5-BF17-5DEB47228E56}"/>
              </a:ext>
            </a:extLst>
          </p:cNvPr>
          <p:cNvSpPr/>
          <p:nvPr/>
        </p:nvSpPr>
        <p:spPr>
          <a:xfrm>
            <a:off x="4237276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planka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0;p1">
            <a:extLst>
              <a:ext uri="{FF2B5EF4-FFF2-40B4-BE49-F238E27FC236}">
                <a16:creationId xmlns:a16="http://schemas.microsoft.com/office/drawing/2014/main" id="{6B8FA0FF-08E9-4793-8EA1-AE01FDA125A8}"/>
              </a:ext>
            </a:extLst>
          </p:cNvPr>
          <p:cNvSpPr/>
          <p:nvPr/>
        </p:nvSpPr>
        <p:spPr>
          <a:xfrm>
            <a:off x="5022929" y="5520055"/>
            <a:ext cx="1172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8" name="Google Shape;31;p1">
            <a:extLst>
              <a:ext uri="{FF2B5EF4-FFF2-40B4-BE49-F238E27FC236}">
                <a16:creationId xmlns:a16="http://schemas.microsoft.com/office/drawing/2014/main" id="{D135E961-583B-47B3-89C2-73B024454E67}"/>
              </a:ext>
            </a:extLst>
          </p:cNvPr>
          <p:cNvSpPr/>
          <p:nvPr/>
        </p:nvSpPr>
        <p:spPr>
          <a:xfrm>
            <a:off x="5151834" y="5560105"/>
            <a:ext cx="965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onlyoffice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2;p1">
            <a:extLst>
              <a:ext uri="{FF2B5EF4-FFF2-40B4-BE49-F238E27FC236}">
                <a16:creationId xmlns:a16="http://schemas.microsoft.com/office/drawing/2014/main" id="{873C859B-D39C-43F0-ABEE-59DABC76C55D}"/>
              </a:ext>
            </a:extLst>
          </p:cNvPr>
          <p:cNvSpPr/>
          <p:nvPr/>
        </p:nvSpPr>
        <p:spPr>
          <a:xfrm>
            <a:off x="6303248" y="5520055"/>
            <a:ext cx="989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0" name="Google Shape;33;p1">
            <a:extLst>
              <a:ext uri="{FF2B5EF4-FFF2-40B4-BE49-F238E27FC236}">
                <a16:creationId xmlns:a16="http://schemas.microsoft.com/office/drawing/2014/main" id="{BE500675-DFE1-40A9-AC39-4FC23EEE3D9C}"/>
              </a:ext>
            </a:extLst>
          </p:cNvPr>
          <p:cNvSpPr/>
          <p:nvPr/>
        </p:nvSpPr>
        <p:spPr>
          <a:xfrm>
            <a:off x="6432153" y="5560105"/>
            <a:ext cx="78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peertube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4;p1">
            <a:extLst>
              <a:ext uri="{FF2B5EF4-FFF2-40B4-BE49-F238E27FC236}">
                <a16:creationId xmlns:a16="http://schemas.microsoft.com/office/drawing/2014/main" id="{07E1F26F-5583-4913-9AE0-06EE07F6EBFB}"/>
              </a:ext>
            </a:extLst>
          </p:cNvPr>
          <p:cNvSpPr/>
          <p:nvPr/>
        </p:nvSpPr>
        <p:spPr>
          <a:xfrm>
            <a:off x="7400687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2" name="Google Shape;35;p1">
            <a:extLst>
              <a:ext uri="{FF2B5EF4-FFF2-40B4-BE49-F238E27FC236}">
                <a16:creationId xmlns:a16="http://schemas.microsoft.com/office/drawing/2014/main" id="{CEBB40DF-A9AE-4DFD-B4A9-8FD2BBB4F3CB}"/>
              </a:ext>
            </a:extLst>
          </p:cNvPr>
          <p:cNvSpPr/>
          <p:nvPr/>
        </p:nvSpPr>
        <p:spPr>
          <a:xfrm>
            <a:off x="7529592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cloudbeaver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84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今天的路線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2" descr="AIC AIoT Cloud"/>
          <p:cNvPicPr preferRelativeResize="0"/>
          <p:nvPr/>
        </p:nvPicPr>
        <p:blipFill rotWithShape="1">
          <a:blip r:embed="rId3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812800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2"/>
          <p:cNvSpPr/>
          <p:nvPr/>
        </p:nvSpPr>
        <p:spPr>
          <a:xfrm>
            <a:off x="812800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6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12800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環境與慣例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2800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叢集架構、每個產品的四種形式、所有產品共用的標準骨架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4436507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2"/>
          <p:cNvSpPr/>
          <p:nvPr/>
        </p:nvSpPr>
        <p:spPr>
          <a:xfrm>
            <a:off x="4436507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6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36507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七站實作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436507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從無狀態的 draw.io 一路到跨 namespace 的 cloudbeaver，每站只多一點新東西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8060293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2"/>
          <p:cNvSpPr/>
          <p:nvPr/>
        </p:nvSpPr>
        <p:spPr>
          <a:xfrm>
            <a:off x="8060293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6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60293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練習與驗收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060293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共通教訓、填空題與除錯題、四個綠燈的驗收標準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25509A-5A73-4533-82F5-0EDBCDFE9F15}"/>
              </a:ext>
            </a:extLst>
          </p:cNvPr>
          <p:cNvSpPr/>
          <p:nvPr/>
        </p:nvSpPr>
        <p:spPr>
          <a:xfrm>
            <a:off x="3495577" y="4865508"/>
            <a:ext cx="5200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12517C"/>
                </a:solidFill>
              </a:rPr>
              <a:t>專案：</a:t>
            </a:r>
            <a:r>
              <a:rPr lang="en-US" altLang="zh-TW" dirty="0">
                <a:hlinkClick r:id="rId4"/>
              </a:rPr>
              <a:t>https://github.com/AnnLeemocha/k8s-training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354c58d55cfae689_0_26"/>
          <p:cNvSpPr/>
          <p:nvPr/>
        </p:nvSpPr>
        <p:spPr>
          <a:xfrm>
            <a:off x="2641600" y="1343750"/>
            <a:ext cx="8937300" cy="3583800"/>
          </a:xfrm>
          <a:prstGeom prst="roundRect">
            <a:avLst>
              <a:gd name="adj" fmla="val 6121"/>
            </a:avLst>
          </a:prstGeom>
          <a:noFill/>
          <a:ln w="12700" cap="flat" cmpd="sng">
            <a:solidFill>
              <a:srgbClr val="16759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h354c58d55cfae689_0_26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叢集架構：一個入口，七個 namespace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h354c58d55cfae689_0_26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h354c58d55cfae689_0_26"/>
          <p:cNvSpPr/>
          <p:nvPr/>
        </p:nvSpPr>
        <p:spPr>
          <a:xfrm>
            <a:off x="815975" y="2339975"/>
            <a:ext cx="1263600" cy="1527900"/>
          </a:xfrm>
          <a:prstGeom prst="roundRect">
            <a:avLst>
              <a:gd name="adj" fmla="val 7789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h354c58d55cfae689_0_26" descr="Users"/>
          <p:cNvPicPr preferRelativeResize="0"/>
          <p:nvPr/>
        </p:nvPicPr>
        <p:blipFill rotWithShape="1">
          <a:blip r:embed="rId4">
            <a:alphaModFix/>
            <a:duotone>
              <a:prstClr val="black"/>
              <a:srgbClr val="12517C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270000" y="25196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h354c58d55cfae689_0_26"/>
          <p:cNvSpPr/>
          <p:nvPr/>
        </p:nvSpPr>
        <p:spPr>
          <a:xfrm>
            <a:off x="977900" y="2951480"/>
            <a:ext cx="939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學員瀏覽器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h354c58d55cfae689_0_26"/>
          <p:cNvSpPr/>
          <p:nvPr/>
        </p:nvSpPr>
        <p:spPr>
          <a:xfrm>
            <a:off x="894080" y="3276600"/>
            <a:ext cx="11073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HTTPS，各自的 Host header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h354c58d55cfae689_0_26" descr="arrow-righ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5200" y="3002280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h354c58d55cfae689_0_26"/>
          <p:cNvSpPr/>
          <p:nvPr/>
        </p:nvSpPr>
        <p:spPr>
          <a:xfrm>
            <a:off x="2794000" y="2352041"/>
            <a:ext cx="1905000" cy="1503600"/>
          </a:xfrm>
          <a:prstGeom prst="roundRect">
            <a:avLst>
              <a:gd name="adj" fmla="val 6757"/>
            </a:avLst>
          </a:prstGeom>
          <a:solidFill>
            <a:srgbClr val="12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h354c58d55cfae689_0_26"/>
          <p:cNvSpPr/>
          <p:nvPr/>
        </p:nvSpPr>
        <p:spPr>
          <a:xfrm>
            <a:off x="2971800" y="2555241"/>
            <a:ext cx="16002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500"/>
              <a:buFont typeface="Courier New"/>
              <a:buNone/>
            </a:pPr>
            <a:r>
              <a:rPr lang="en-US" sz="1600" b="1" i="0" u="none" strike="noStrike" cap="none" dirty="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dev-gateway</a:t>
            </a:r>
            <a:endParaRPr sz="1600" b="0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h354c58d55cfae689_0_26"/>
          <p:cNvSpPr/>
          <p:nvPr/>
        </p:nvSpPr>
        <p:spPr>
          <a:xfrm>
            <a:off x="2971800" y="2885441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Gateway API · Cilium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h354c58d55cfae689_0_26"/>
          <p:cNvSpPr/>
          <p:nvPr/>
        </p:nvSpPr>
        <p:spPr>
          <a:xfrm>
            <a:off x="2971800" y="3162300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http :80 / https :443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h354c58d55cfae689_0_26"/>
          <p:cNvSpPr/>
          <p:nvPr/>
        </p:nvSpPr>
        <p:spPr>
          <a:xfrm>
            <a:off x="2971800" y="3439161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namespace: default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h354c58d55cfae689_0_26" descr="arrow-righ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1400" y="3002280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h354c58d55cfae689_0_26"/>
          <p:cNvSpPr/>
          <p:nvPr/>
        </p:nvSpPr>
        <p:spPr>
          <a:xfrm>
            <a:off x="5413375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h354c58d55cfae689_0_26"/>
          <p:cNvSpPr/>
          <p:nvPr/>
        </p:nvSpPr>
        <p:spPr>
          <a:xfrm>
            <a:off x="5542280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endParaRPr sz="1300" b="1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h354c58d55cfae689_0_26"/>
          <p:cNvSpPr/>
          <p:nvPr/>
        </p:nvSpPr>
        <p:spPr>
          <a:xfrm>
            <a:off x="5542280" y="1986280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Deployment ×2 + HPA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h354c58d55cfae689_0_26"/>
          <p:cNvSpPr/>
          <p:nvPr/>
        </p:nvSpPr>
        <p:spPr>
          <a:xfrm>
            <a:off x="7436882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h354c58d55cfae689_0_26"/>
          <p:cNvSpPr/>
          <p:nvPr/>
        </p:nvSpPr>
        <p:spPr>
          <a:xfrm>
            <a:off x="7565787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filebrowser</a:t>
            </a:r>
            <a:endParaRPr sz="1300" b="1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h354c58d55cfae689_0_26"/>
          <p:cNvSpPr/>
          <p:nvPr/>
        </p:nvSpPr>
        <p:spPr>
          <a:xfrm>
            <a:off x="7565787" y="1986280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RWX + RWO 兩顆 PVC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h354c58d55cfae689_0_26"/>
          <p:cNvSpPr/>
          <p:nvPr/>
        </p:nvSpPr>
        <p:spPr>
          <a:xfrm>
            <a:off x="9460389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h354c58d55cfae689_0_26"/>
          <p:cNvSpPr/>
          <p:nvPr/>
        </p:nvSpPr>
        <p:spPr>
          <a:xfrm>
            <a:off x="9589294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flarum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354c58d55cfae689_0_26"/>
          <p:cNvSpPr/>
          <p:nvPr/>
        </p:nvSpPr>
        <p:spPr>
          <a:xfrm>
            <a:off x="9589294" y="1986280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MySQL 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354c58d55cfae689_0_26"/>
          <p:cNvSpPr/>
          <p:nvPr/>
        </p:nvSpPr>
        <p:spPr>
          <a:xfrm>
            <a:off x="5413375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h354c58d55cfae689_0_26"/>
          <p:cNvSpPr/>
          <p:nvPr/>
        </p:nvSpPr>
        <p:spPr>
          <a:xfrm>
            <a:off x="5542280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planka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h354c58d55cfae689_0_26"/>
          <p:cNvSpPr/>
          <p:nvPr/>
        </p:nvSpPr>
        <p:spPr>
          <a:xfrm>
            <a:off x="5542280" y="303276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PostgreSQL 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h354c58d55cfae689_0_26"/>
          <p:cNvSpPr/>
          <p:nvPr/>
        </p:nvSpPr>
        <p:spPr>
          <a:xfrm>
            <a:off x="7436882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h354c58d55cfae689_0_26"/>
          <p:cNvSpPr/>
          <p:nvPr/>
        </p:nvSpPr>
        <p:spPr>
          <a:xfrm>
            <a:off x="7565787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onlyoffice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h354c58d55cfae689_0_26"/>
          <p:cNvSpPr/>
          <p:nvPr/>
        </p:nvSpPr>
        <p:spPr>
          <a:xfrm>
            <a:off x="7565787" y="3032761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單體應用，釘選 gpu01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h354c58d55cfae689_0_26"/>
          <p:cNvSpPr/>
          <p:nvPr/>
        </p:nvSpPr>
        <p:spPr>
          <a:xfrm>
            <a:off x="9460389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h354c58d55cfae689_0_26"/>
          <p:cNvSpPr/>
          <p:nvPr/>
        </p:nvSpPr>
        <p:spPr>
          <a:xfrm>
            <a:off x="9589294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peertube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h354c58d55cfae689_0_26"/>
          <p:cNvSpPr/>
          <p:nvPr/>
        </p:nvSpPr>
        <p:spPr>
          <a:xfrm>
            <a:off x="9589294" y="303276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PostgreSQL + Redis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h354c58d55cfae689_0_26"/>
          <p:cNvSpPr/>
          <p:nvPr/>
        </p:nvSpPr>
        <p:spPr>
          <a:xfrm>
            <a:off x="5413375" y="3681095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h354c58d55cfae689_0_26"/>
          <p:cNvSpPr/>
          <p:nvPr/>
        </p:nvSpPr>
        <p:spPr>
          <a:xfrm>
            <a:off x="5542280" y="381000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cloudbeaver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354c58d55cfae689_0_26"/>
          <p:cNvSpPr/>
          <p:nvPr/>
        </p:nvSpPr>
        <p:spPr>
          <a:xfrm>
            <a:off x="5542280" y="407924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跨 namespace 連三個 DB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h354c58d55cfae689_0_26"/>
          <p:cNvSpPr/>
          <p:nvPr/>
        </p:nvSpPr>
        <p:spPr>
          <a:xfrm>
            <a:off x="821950" y="5112875"/>
            <a:ext cx="10883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dirty="0" err="1">
                <a:solidFill>
                  <a:srgbClr val="4A5568"/>
                </a:solidFill>
              </a:rPr>
              <a:t>一個產品一個</a:t>
            </a:r>
            <a:r>
              <a:rPr lang="en-US" dirty="0">
                <a:solidFill>
                  <a:srgbClr val="4A5568"/>
                </a:solidFill>
              </a:rPr>
              <a:t> </a:t>
            </a:r>
            <a:r>
              <a:rPr lang="en-US" dirty="0" err="1">
                <a:solidFill>
                  <a:srgbClr val="4A5568"/>
                </a:solidFill>
              </a:rPr>
              <a:t>namespace，可以決定這些資源屬於誰、整體最多能用多少。刪掉</a:t>
            </a:r>
            <a:r>
              <a:rPr lang="en-US" dirty="0">
                <a:solidFill>
                  <a:srgbClr val="4A5568"/>
                </a:solidFill>
              </a:rPr>
              <a:t> </a:t>
            </a:r>
            <a:r>
              <a:rPr lang="en-US" dirty="0" err="1">
                <a:solidFill>
                  <a:srgbClr val="4A5568"/>
                </a:solidFill>
              </a:rPr>
              <a:t>namespace，裡面的東西會一起消失</a:t>
            </a:r>
            <a:r>
              <a:rPr lang="en-US" dirty="0">
                <a:solidFill>
                  <a:srgbClr val="4A5568"/>
                </a:solidFill>
              </a:rPr>
              <a:t>。</a:t>
            </a:r>
            <a:endParaRPr dirty="0">
              <a:solidFill>
                <a:srgbClr val="4A5568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endParaRPr dirty="0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354c58d55cfae689_0_98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上課前要知道的四件事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h354c58d55cfae689_0_98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h354c58d55cfae689_0_98"/>
          <p:cNvSpPr/>
          <p:nvPr/>
        </p:nvSpPr>
        <p:spPr>
          <a:xfrm>
            <a:off x="815975" y="158813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h354c58d55cfae689_0_98" descr="Glob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480" y="181864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h354c58d55cfae689_0_98"/>
          <p:cNvSpPr/>
          <p:nvPr/>
        </p:nvSpPr>
        <p:spPr>
          <a:xfrm>
            <a:off x="1579880" y="1818641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沒有 Ingress，一律 Gateway API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354c58d55cfae689_0_98"/>
          <p:cNvSpPr/>
          <p:nvPr/>
        </p:nvSpPr>
        <p:spPr>
          <a:xfrm>
            <a:off x="1579880" y="215646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Cilium 實作。七個產品全部用 HTTPRoute，沒有 NodePort 或 Ingress 範例。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h354c58d55cfae689_0_98"/>
          <p:cNvSpPr/>
          <p:nvPr/>
        </p:nvSpPr>
        <p:spPr>
          <a:xfrm>
            <a:off x="6200775" y="158813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h354c58d55cfae689_0_98" descr="Databa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1280" y="181864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h354c58d55cfae689_0_98"/>
          <p:cNvSpPr/>
          <p:nvPr/>
        </p:nvSpPr>
        <p:spPr>
          <a:xfrm>
            <a:off x="6964680" y="1818641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沒有 default StorageClass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h354c58d55cfae689_0_98"/>
          <p:cNvSpPr/>
          <p:nvPr/>
        </p:nvSpPr>
        <p:spPr>
          <a:xfrm>
            <a:off x="6964680" y="215646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每個 PVC 都要明確指定：rook-ceph-block（RWO）或 rook-cephfs（RWX）。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h354c58d55cfae689_0_98"/>
          <p:cNvSpPr/>
          <p:nvPr/>
        </p:nvSpPr>
        <p:spPr>
          <a:xfrm>
            <a:off x="815975" y="312991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h354c58d55cfae689_0_98" descr="Setting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6480" y="336042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h354c58d55cfae689_0_98"/>
          <p:cNvSpPr/>
          <p:nvPr/>
        </p:nvSpPr>
        <p:spPr>
          <a:xfrm>
            <a:off x="1579880" y="3360420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altLang="zh-TW" sz="1800" b="1" i="0" u="none" strike="noStrike" cap="none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800" b="1" i="0" u="none" strike="noStrike" cap="none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個 </a:t>
            </a:r>
            <a:r>
              <a:rPr lang="en-US" sz="1800" b="1" i="0" u="none" strike="noStrike" cap="none" dirty="0" err="1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Worker，記憶體吃緊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354c58d55cfae689_0_98"/>
          <p:cNvSpPr/>
          <p:nvPr/>
        </p:nvSpPr>
        <p:spPr>
          <a:xfrm>
            <a:off x="1579880" y="369824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暫時部屬到 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gpu01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、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gpu02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上，它們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帶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NoSchedule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taint，記憶體最空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h354c58d55cfae689_0_98"/>
          <p:cNvSpPr/>
          <p:nvPr/>
        </p:nvSpPr>
        <p:spPr>
          <a:xfrm>
            <a:off x="6200775" y="312991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h354c58d55cfae689_0_98" descr="Loc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1280" y="336042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h354c58d55cfae689_0_98"/>
          <p:cNvSpPr/>
          <p:nvPr/>
        </p:nvSpPr>
        <p:spPr>
          <a:xfrm>
            <a:off x="6964680" y="3360420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一產品一 namespace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354c58d55cfae689_0_98"/>
          <p:cNvSpPr/>
          <p:nvPr/>
        </p:nvSpPr>
        <p:spPr>
          <a:xfrm>
            <a:off x="6964680" y="369824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彼此用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隔離。TLS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是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貴公司提供的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*.</a:t>
            </a:r>
            <a:r>
              <a:rPr lang="en-US" sz="1400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firdi.org.tw，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瀏覽器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應可解析，不會出現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警告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354c58d55cfae689_0_171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每個產品都有四種形式</a:t>
            </a:r>
            <a:endParaRPr sz="3200" b="1">
              <a:solidFill>
                <a:srgbClr val="12517C"/>
              </a:solidFill>
            </a:endParaRPr>
          </a:p>
        </p:txBody>
      </p:sp>
      <p:pic>
        <p:nvPicPr>
          <p:cNvPr id="130" name="Google Shape;130;h354c58d55cfae689_0_171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h354c58d55cfae689_0_171"/>
          <p:cNvSpPr/>
          <p:nvPr/>
        </p:nvSpPr>
        <p:spPr>
          <a:xfrm>
            <a:off x="8159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h354c58d55cfae689_0_171"/>
          <p:cNvSpPr/>
          <p:nvPr/>
        </p:nvSpPr>
        <p:spPr>
          <a:xfrm>
            <a:off x="10210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manifest/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h354c58d55cfae689_0_171"/>
          <p:cNvSpPr/>
          <p:nvPr/>
        </p:nvSpPr>
        <p:spPr>
          <a:xfrm>
            <a:off x="10210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教學主線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354c58d55cfae689_0_171"/>
          <p:cNvSpPr/>
          <p:nvPr/>
        </p:nvSpPr>
        <p:spPr>
          <a:xfrm>
            <a:off x="10210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拆成編號 yaml，一支一支 apply，逐步講解每個資源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354c58d55cfae689_0_171"/>
          <p:cNvSpPr/>
          <p:nvPr/>
        </p:nvSpPr>
        <p:spPr>
          <a:xfrm>
            <a:off x="34956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h354c58d55cfae689_0_171"/>
          <p:cNvSpPr/>
          <p:nvPr/>
        </p:nvSpPr>
        <p:spPr>
          <a:xfrm>
            <a:off x="37007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all-in-one.yaml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h354c58d55cfae689_0_171"/>
          <p:cNvSpPr/>
          <p:nvPr/>
        </p:nvSpPr>
        <p:spPr>
          <a:xfrm>
            <a:off x="37007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快速重建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354c58d55cfae689_0_171"/>
          <p:cNvSpPr/>
          <p:nvPr/>
        </p:nvSpPr>
        <p:spPr>
          <a:xfrm>
            <a:off x="37007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跟 manifest/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一致的合併版，demo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或重建環境用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354c58d55cfae689_0_171"/>
          <p:cNvSpPr/>
          <p:nvPr/>
        </p:nvSpPr>
        <p:spPr>
          <a:xfrm>
            <a:off x="61753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h354c58d55cfae689_0_171"/>
          <p:cNvSpPr/>
          <p:nvPr/>
        </p:nvSpPr>
        <p:spPr>
          <a:xfrm>
            <a:off x="63804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chart/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h354c58d55cfae689_0_171"/>
          <p:cNvSpPr/>
          <p:nvPr/>
        </p:nvSpPr>
        <p:spPr>
          <a:xfrm>
            <a:off x="63804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Helm 版本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354c58d55cfae689_0_171"/>
          <p:cNvSpPr/>
          <p:nvPr/>
        </p:nvSpPr>
        <p:spPr>
          <a:xfrm>
            <a:off x="63804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values.yaml 參數化，教完純 yaml 再講重複部署怎麼簡化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354c58d55cfae689_0_171"/>
          <p:cNvSpPr/>
          <p:nvPr/>
        </p:nvSpPr>
        <p:spPr>
          <a:xfrm>
            <a:off x="88550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h354c58d55cfae689_0_171"/>
          <p:cNvSpPr/>
          <p:nvPr/>
        </p:nvSpPr>
        <p:spPr>
          <a:xfrm>
            <a:off x="90601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exercises/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h354c58d55cfae689_0_171"/>
          <p:cNvSpPr/>
          <p:nvPr/>
        </p:nvSpPr>
        <p:spPr>
          <a:xfrm>
            <a:off x="90601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學員練習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h354c58d55cfae689_0_171"/>
          <p:cNvSpPr/>
          <p:nvPr/>
        </p:nvSpPr>
        <p:spPr>
          <a:xfrm>
            <a:off x="90601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填空題 + 除錯題 + 架構圖，正解就是 manifest/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h354c58d55cfae689_0_171"/>
          <p:cNvSpPr/>
          <p:nvPr/>
        </p:nvSpPr>
        <p:spPr>
          <a:xfrm>
            <a:off x="812800" y="3446782"/>
            <a:ext cx="10566300" cy="133590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h354c58d55cfae689_0_171"/>
          <p:cNvSpPr/>
          <p:nvPr/>
        </p:nvSpPr>
        <p:spPr>
          <a:xfrm>
            <a:off x="1041400" y="3649982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8C96A8"/>
              </a:buClr>
              <a:buSzPts val="1200"/>
            </a:pPr>
            <a:r>
              <a:rPr lang="en-US" sz="1200" dirty="0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# </a:t>
            </a:r>
            <a:r>
              <a:rPr lang="en-US" sz="1200" dirty="0" err="1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共用的教學</a:t>
            </a:r>
            <a:r>
              <a:rPr lang="en-US" sz="1200" dirty="0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sz="1200" dirty="0" err="1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Gateway，整門課只套一次</a:t>
            </a:r>
            <a:endParaRPr sz="1200" b="0" i="0" u="none" strike="noStrike" cap="none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h354c58d55cfae689_0_171"/>
          <p:cNvSpPr/>
          <p:nvPr/>
        </p:nvSpPr>
        <p:spPr>
          <a:xfrm>
            <a:off x="1041400" y="3888739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dev-gateway.yaml</a:t>
            </a:r>
            <a:endParaRPr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354c58d55cfae689_0_171"/>
          <p:cNvSpPr/>
          <p:nvPr/>
        </p:nvSpPr>
        <p:spPr>
          <a:xfrm>
            <a:off x="1041400" y="412750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apps/01-draw.io/manifest/</a:t>
            </a:r>
            <a:endParaRPr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h354c58d55cfae689_0_171"/>
          <p:cNvSpPr/>
          <p:nvPr/>
        </p:nvSpPr>
        <p:spPr>
          <a:xfrm>
            <a:off x="1041400" y="4366261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helm install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 apps/01-draw.io/chart/ -n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354c58d55cfae689_0_215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dirty="0" err="1">
                <a:solidFill>
                  <a:srgbClr val="12517C"/>
                </a:solidFill>
              </a:rPr>
              <a:t>標準骨架：每一站都從這六個資源開始</a:t>
            </a:r>
            <a:endParaRPr sz="3200" b="1" dirty="0">
              <a:solidFill>
                <a:srgbClr val="12517C"/>
              </a:solidFill>
            </a:endParaRPr>
          </a:p>
        </p:txBody>
      </p:sp>
      <p:pic>
        <p:nvPicPr>
          <p:cNvPr id="159" name="Google Shape;159;h354c58d55cfae689_0_215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h354c58d55cfae689_0_215"/>
          <p:cNvSpPr/>
          <p:nvPr/>
        </p:nvSpPr>
        <p:spPr>
          <a:xfrm>
            <a:off x="815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h354c58d55cfae689_0_215"/>
          <p:cNvSpPr/>
          <p:nvPr/>
        </p:nvSpPr>
        <p:spPr>
          <a:xfrm>
            <a:off x="944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354c58d55cfae689_0_215"/>
          <p:cNvSpPr/>
          <p:nvPr/>
        </p:nvSpPr>
        <p:spPr>
          <a:xfrm>
            <a:off x="944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354c58d55cfae689_0_215"/>
          <p:cNvSpPr/>
          <p:nvPr/>
        </p:nvSpPr>
        <p:spPr>
          <a:xfrm>
            <a:off x="944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一產品一個，是隔離的邊界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354c58d55cfae689_0_215"/>
          <p:cNvSpPr/>
          <p:nvPr/>
        </p:nvSpPr>
        <p:spPr>
          <a:xfrm>
            <a:off x="2593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h354c58d55cfae689_0_215"/>
          <p:cNvSpPr/>
          <p:nvPr/>
        </p:nvSpPr>
        <p:spPr>
          <a:xfrm>
            <a:off x="2722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h354c58d55cfae689_0_215"/>
          <p:cNvSpPr/>
          <p:nvPr/>
        </p:nvSpPr>
        <p:spPr>
          <a:xfrm>
            <a:off x="2722880" y="2110739"/>
            <a:ext cx="1463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Quota / LimitRange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h354c58d55cfae689_0_215"/>
          <p:cNvSpPr/>
          <p:nvPr/>
        </p:nvSpPr>
        <p:spPr>
          <a:xfrm>
            <a:off x="2722880" y="2586989"/>
            <a:ext cx="14631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管住整個 namespace 的資源用量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h354c58d55cfae689_0_215"/>
          <p:cNvSpPr/>
          <p:nvPr/>
        </p:nvSpPr>
        <p:spPr>
          <a:xfrm>
            <a:off x="4371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h354c58d55cfae689_0_215"/>
          <p:cNvSpPr/>
          <p:nvPr/>
        </p:nvSpPr>
        <p:spPr>
          <a:xfrm>
            <a:off x="4500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h354c58d55cfae689_0_215"/>
          <p:cNvSpPr/>
          <p:nvPr/>
        </p:nvSpPr>
        <p:spPr>
          <a:xfrm>
            <a:off x="4500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354c58d55cfae689_0_215"/>
          <p:cNvSpPr/>
          <p:nvPr/>
        </p:nvSpPr>
        <p:spPr>
          <a:xfrm>
            <a:off x="4500880" y="2380614"/>
            <a:ext cx="14631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resources、probes、securityContext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354c58d55cfae689_0_215"/>
          <p:cNvSpPr/>
          <p:nvPr/>
        </p:nvSpPr>
        <p:spPr>
          <a:xfrm>
            <a:off x="6149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h354c58d55cfae689_0_215"/>
          <p:cNvSpPr/>
          <p:nvPr/>
        </p:nvSpPr>
        <p:spPr>
          <a:xfrm>
            <a:off x="6278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h354c58d55cfae689_0_215"/>
          <p:cNvSpPr/>
          <p:nvPr/>
        </p:nvSpPr>
        <p:spPr>
          <a:xfrm>
            <a:off x="6278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354c58d55cfae689_0_215"/>
          <p:cNvSpPr/>
          <p:nvPr/>
        </p:nvSpPr>
        <p:spPr>
          <a:xfrm>
            <a:off x="6278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ClusterIP，用 label 選中 Pod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h354c58d55cfae689_0_215"/>
          <p:cNvSpPr/>
          <p:nvPr/>
        </p:nvSpPr>
        <p:spPr>
          <a:xfrm>
            <a:off x="7927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h354c58d55cfae689_0_215"/>
          <p:cNvSpPr/>
          <p:nvPr/>
        </p:nvSpPr>
        <p:spPr>
          <a:xfrm>
            <a:off x="8056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h354c58d55cfae689_0_215"/>
          <p:cNvSpPr/>
          <p:nvPr/>
        </p:nvSpPr>
        <p:spPr>
          <a:xfrm>
            <a:off x="8056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354c58d55cfae689_0_215"/>
          <p:cNvSpPr/>
          <p:nvPr/>
        </p:nvSpPr>
        <p:spPr>
          <a:xfrm>
            <a:off x="8056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掛到 dev-gateway，依 Host 分流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h354c58d55cfae689_0_215"/>
          <p:cNvSpPr/>
          <p:nvPr/>
        </p:nvSpPr>
        <p:spPr>
          <a:xfrm>
            <a:off x="9705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h354c58d55cfae689_0_215"/>
          <p:cNvSpPr/>
          <p:nvPr/>
        </p:nvSpPr>
        <p:spPr>
          <a:xfrm>
            <a:off x="9834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354c58d55cfae689_0_215"/>
          <p:cNvSpPr/>
          <p:nvPr/>
        </p:nvSpPr>
        <p:spPr>
          <a:xfrm>
            <a:off x="9834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354c58d55cfae689_0_215"/>
          <p:cNvSpPr/>
          <p:nvPr/>
        </p:nvSpPr>
        <p:spPr>
          <a:xfrm>
            <a:off x="9834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先 default-deny，再逐條放行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h354c58d55cfae689_0_215"/>
          <p:cNvSpPr/>
          <p:nvPr/>
        </p:nvSpPr>
        <p:spPr>
          <a:xfrm>
            <a:off x="812800" y="3712211"/>
            <a:ext cx="108834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依產品需要再疊加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h354c58d55cfae689_0_215"/>
          <p:cNvSpPr/>
          <p:nvPr/>
        </p:nvSpPr>
        <p:spPr>
          <a:xfrm>
            <a:off x="815975" y="4178587"/>
            <a:ext cx="19293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h354c58d55cfae689_0_215"/>
          <p:cNvSpPr/>
          <p:nvPr/>
        </p:nvSpPr>
        <p:spPr>
          <a:xfrm>
            <a:off x="957580" y="4231237"/>
            <a:ext cx="1697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PVC + StorageClass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354c58d55cfae689_0_215"/>
          <p:cNvSpPr/>
          <p:nvPr/>
        </p:nvSpPr>
        <p:spPr>
          <a:xfrm>
            <a:off x="2840673" y="4178587"/>
            <a:ext cx="11064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h354c58d55cfae689_0_215"/>
          <p:cNvSpPr/>
          <p:nvPr/>
        </p:nvSpPr>
        <p:spPr>
          <a:xfrm>
            <a:off x="2982278" y="4231237"/>
            <a:ext cx="873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ConfigMap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354c58d55cfae689_0_215"/>
          <p:cNvSpPr/>
          <p:nvPr/>
        </p:nvSpPr>
        <p:spPr>
          <a:xfrm>
            <a:off x="4042251" y="4178587"/>
            <a:ext cx="8319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h354c58d55cfae689_0_215"/>
          <p:cNvSpPr/>
          <p:nvPr/>
        </p:nvSpPr>
        <p:spPr>
          <a:xfrm>
            <a:off x="4183856" y="4231237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Secret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354c58d55cfae689_0_215"/>
          <p:cNvSpPr/>
          <p:nvPr/>
        </p:nvSpPr>
        <p:spPr>
          <a:xfrm>
            <a:off x="4969510" y="4178587"/>
            <a:ext cx="12894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h354c58d55cfae689_0_215"/>
          <p:cNvSpPr/>
          <p:nvPr/>
        </p:nvSpPr>
        <p:spPr>
          <a:xfrm>
            <a:off x="5111115" y="4231237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354c58d55cfae689_0_215"/>
          <p:cNvSpPr/>
          <p:nvPr/>
        </p:nvSpPr>
        <p:spPr>
          <a:xfrm>
            <a:off x="6354249" y="4185487"/>
            <a:ext cx="2392587" cy="3303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h354c58d55cfae689_0_215"/>
          <p:cNvSpPr/>
          <p:nvPr/>
        </p:nvSpPr>
        <p:spPr>
          <a:xfrm>
            <a:off x="6495854" y="4236037"/>
            <a:ext cx="2186327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40000"/>
              </a:lnSpc>
              <a:buClr>
                <a:srgbClr val="14213D"/>
              </a:buClr>
              <a:buSzPts val="1200"/>
            </a:pPr>
            <a:r>
              <a:rPr lang="en-US" sz="1200" dirty="0" err="1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HorizontalPodAutoscaler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062AE3-8421-4AD9-8401-F85B0FFB6352}"/>
              </a:ext>
            </a:extLst>
          </p:cNvPr>
          <p:cNvSpPr txBox="1"/>
          <p:nvPr/>
        </p:nvSpPr>
        <p:spPr>
          <a:xfrm>
            <a:off x="8823786" y="41339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+mj-lt"/>
              </a:rPr>
              <a:t>…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354c58d55cfae689_0_284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七站路線：難度逐站遞增</a:t>
            </a:r>
            <a:endParaRPr sz="3200" b="1">
              <a:solidFill>
                <a:srgbClr val="12517C"/>
              </a:solidFill>
            </a:endParaRPr>
          </a:p>
        </p:txBody>
      </p:sp>
      <p:pic>
        <p:nvPicPr>
          <p:cNvPr id="208" name="Google Shape;208;h354c58d55cfae689_0_284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h354c58d55cfae689_0_284"/>
          <p:cNvGraphicFramePr/>
          <p:nvPr/>
        </p:nvGraphicFramePr>
        <p:xfrm>
          <a:off x="812800" y="1584961"/>
          <a:ext cx="10566400" cy="3647792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7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站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產品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難度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這一站新出現的概念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draw.io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★☆☆☆☆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無狀態骨架：Deployment、Service、HTTPRoute、HPA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★★☆☆☆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與 StorageClass（RWX vs RWO）、ConfigMap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StatefulSet、initContainer、Secret 互相引用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flarum 對照：非 root 映像、免 initContainer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onlyoffice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nodeSelector + toleration、資源規劃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peertube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三元件整合、PVC vs emptyDir、7 條 NetworkPolicy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cloudbeaver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跨 namespace 存取（namespaceSelector）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0" name="Google Shape;210;h354c58d55cfae689_0_284"/>
          <p:cNvSpPr/>
          <p:nvPr/>
        </p:nvSpPr>
        <p:spPr>
          <a:xfrm>
            <a:off x="729673" y="5337201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前四站涵蓋全部新概念，講師逐一深講；後三站是既有概念的變化型，適合學員照正解自己重做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6F6A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h354c58d55cfae689_0_584"/>
          <p:cNvSpPr/>
          <p:nvPr/>
        </p:nvSpPr>
        <p:spPr>
          <a:xfrm>
            <a:off x="785090" y="1240559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6E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FE6E3"/>
                </a:solidFill>
                <a:latin typeface="Arial"/>
                <a:ea typeface="Arial"/>
                <a:cs typeface="Arial"/>
                <a:sym typeface="Arial"/>
              </a:rPr>
              <a:t>七站走完之後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h354c58d55cfae689_0_584"/>
          <p:cNvSpPr/>
          <p:nvPr/>
        </p:nvSpPr>
        <p:spPr>
          <a:xfrm>
            <a:off x="785090" y="1794286"/>
            <a:ext cx="10883400" cy="14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4800"/>
              <a:buFont typeface="Arial"/>
              <a:buNone/>
            </a:pPr>
            <a:r>
              <a:rPr lang="zh-TW" altLang="en-US" sz="4800" b="1" i="0" u="none" strike="noStrike" cap="none" dirty="0">
                <a:solidFill>
                  <a:srgbClr val="F7F6F1"/>
                </a:solidFill>
                <a:latin typeface="Arial"/>
                <a:ea typeface="Arial"/>
                <a:cs typeface="Arial"/>
                <a:sym typeface="Arial"/>
              </a:rPr>
              <a:t>實作練習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h354c58d55cfae689_0_584"/>
          <p:cNvSpPr/>
          <p:nvPr/>
        </p:nvSpPr>
        <p:spPr>
          <a:xfrm>
            <a:off x="785090" y="3501159"/>
            <a:ext cx="108834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4F0EE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每一份</a:t>
            </a:r>
            <a:r>
              <a:rPr lang="en-US" sz="1800" b="0" i="0" u="none" strike="noStrike" cap="none" dirty="0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 manifest </a:t>
            </a:r>
            <a:r>
              <a:rPr lang="en-US" sz="1800" b="0" i="0" u="none" strike="noStrike" cap="none" dirty="0" err="1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都真的部署到這座叢集、驗證過</a:t>
            </a:r>
            <a:r>
              <a:rPr lang="en-US" sz="1800" b="0" i="0" u="none" strike="noStrike" cap="none" dirty="0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354c58d55cfae689_0_613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兩種題型：填空與除錯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EB32246-76F6-4207-A209-D4CD9B238564}"/>
              </a:ext>
            </a:extLst>
          </p:cNvPr>
          <p:cNvGrpSpPr/>
          <p:nvPr/>
        </p:nvGrpSpPr>
        <p:grpSpPr>
          <a:xfrm>
            <a:off x="755700" y="1819231"/>
            <a:ext cx="5340300" cy="3219537"/>
            <a:chOff x="733475" y="1588132"/>
            <a:chExt cx="5340300" cy="3219537"/>
          </a:xfrm>
        </p:grpSpPr>
        <p:sp>
          <p:nvSpPr>
            <p:cNvPr id="532" name="Google Shape;532;h354c58d55cfae689_0_613"/>
            <p:cNvSpPr/>
            <p:nvPr/>
          </p:nvSpPr>
          <p:spPr>
            <a:xfrm>
              <a:off x="733475" y="1588132"/>
              <a:ext cx="5340300" cy="3219537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h354c58d55cfae689_0_613"/>
            <p:cNvSpPr/>
            <p:nvPr/>
          </p:nvSpPr>
          <p:spPr>
            <a:xfrm>
              <a:off x="9953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題目一 · manifest-incomplete/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h354c58d55cfae689_0_613"/>
            <p:cNvSpPr/>
            <p:nvPr/>
          </p:nvSpPr>
          <p:spPr>
            <a:xfrm>
              <a:off x="9953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半成品</a:t>
              </a:r>
              <a:r>
                <a:rPr lang="en-US" sz="20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YAML </a:t>
              </a: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填空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h354c58d55cfae689_0_613"/>
            <p:cNvSpPr/>
            <p:nvPr/>
          </p:nvSpPr>
          <p:spPr>
            <a:xfrm>
              <a:off x="9953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正解被挖掉的欄位標成 __FILL_ME_n__，照編號填完再依序 apply。光是 draw.io 就有 20 格。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h354c58d55cfae689_0_613"/>
            <p:cNvSpPr/>
            <p:nvPr/>
          </p:nvSpPr>
          <p:spPr>
            <a:xfrm>
              <a:off x="995310" y="3200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寫完用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diff 跟 ../manifest/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對照。先自己推理一輪，再對答案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。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E0DEAF29-B8F4-403C-89B9-EF71D88F21AA}"/>
              </a:ext>
            </a:extLst>
          </p:cNvPr>
          <p:cNvGrpSpPr/>
          <p:nvPr/>
        </p:nvGrpSpPr>
        <p:grpSpPr>
          <a:xfrm>
            <a:off x="6276725" y="1819231"/>
            <a:ext cx="5340300" cy="3219536"/>
            <a:chOff x="6118275" y="1588133"/>
            <a:chExt cx="5340300" cy="3219536"/>
          </a:xfrm>
        </p:grpSpPr>
        <p:sp>
          <p:nvSpPr>
            <p:cNvPr id="537" name="Google Shape;537;h354c58d55cfae689_0_613"/>
            <p:cNvSpPr/>
            <p:nvPr/>
          </p:nvSpPr>
          <p:spPr>
            <a:xfrm>
              <a:off x="6118275" y="1588133"/>
              <a:ext cx="5340300" cy="3219536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h354c58d55cfae689_0_613"/>
            <p:cNvSpPr/>
            <p:nvPr/>
          </p:nvSpPr>
          <p:spPr>
            <a:xfrm>
              <a:off x="63801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題目二 · manifest-buggy/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h354c58d55cfae689_0_613"/>
            <p:cNvSpPr/>
            <p:nvPr/>
          </p:nvSpPr>
          <p:spPr>
            <a:xfrm>
              <a:off x="63801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看起來完整，其實藏了錯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h354c58d55cfae689_0_613"/>
            <p:cNvSpPr/>
            <p:nvPr/>
          </p:nvSpPr>
          <p:spPr>
            <a:xfrm>
              <a:off x="63801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整套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apply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下去，用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describe、get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-o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yaml、logs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找出問題。draw.io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的四個症狀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：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h354c58d55cfae689_0_613"/>
            <p:cNvSpPr/>
            <p:nvPr/>
          </p:nvSpPr>
          <p:spPr>
            <a:xfrm>
              <a:off x="6528100" y="3200400"/>
              <a:ext cx="480845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Endpoints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永遠是空的（label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0/1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Ready（probe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的 port）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HTTPRoute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Accepted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卻連不到（backendRefs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第二個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Pod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卡在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Pending（配額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48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354c58d55cfae689_0_629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除錯工具箱：看到症狀先查哪裡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h354c58d55cfae689_0_629"/>
          <p:cNvGraphicFramePr/>
          <p:nvPr/>
        </p:nvGraphicFramePr>
        <p:xfrm>
          <a:off x="812800" y="1584958"/>
          <a:ext cx="10566375" cy="2529513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先看哪裡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這門課常見的原因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 卡在 Pending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Events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超過配額、缺 toleration、PVC 未 Bound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Running 但 0/1 Ready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probe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 打錯 port、初始延遲太短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是空的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get endpoints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跟 Pod label 對不上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回 503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httproute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backendRefs 不是 Service 的 port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CrashLoopBackOff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logs --previous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 讓降權失敗、設定路徑錯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連線逾時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exec 測 /dev/tcp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 少放行一個方向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354c58d55cfae689_0_636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驗收標準：四個綠燈才算部署完成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h354c58d55cfae689_0_636"/>
          <p:cNvSpPr/>
          <p:nvPr/>
        </p:nvSpPr>
        <p:spPr>
          <a:xfrm>
            <a:off x="8159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6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h354c58d55cfae689_0_636"/>
          <p:cNvSpPr/>
          <p:nvPr/>
        </p:nvSpPr>
        <p:spPr>
          <a:xfrm>
            <a:off x="13639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h354c58d55cfae689_0_636"/>
          <p:cNvSpPr/>
          <p:nvPr/>
        </p:nvSpPr>
        <p:spPr>
          <a:xfrm>
            <a:off x="9956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Pod Running 且 Ready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h354c58d55cfae689_0_636"/>
          <p:cNvSpPr/>
          <p:nvPr/>
        </p:nvSpPr>
        <p:spPr>
          <a:xfrm>
            <a:off x="995680" y="2854958"/>
            <a:ext cx="2226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pod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h354c58d55cfae689_0_636"/>
          <p:cNvSpPr/>
          <p:nvPr/>
        </p:nvSpPr>
        <p:spPr>
          <a:xfrm>
            <a:off x="34956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53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h354c58d55cfae689_0_636"/>
          <p:cNvSpPr/>
          <p:nvPr/>
        </p:nvSpPr>
        <p:spPr>
          <a:xfrm>
            <a:off x="40436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h354c58d55cfae689_0_636"/>
          <p:cNvSpPr/>
          <p:nvPr/>
        </p:nvSpPr>
        <p:spPr>
          <a:xfrm>
            <a:off x="3675380" y="2237742"/>
            <a:ext cx="22263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Service 有 endpoints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h354c58d55cfae689_0_636"/>
          <p:cNvSpPr/>
          <p:nvPr/>
        </p:nvSpPr>
        <p:spPr>
          <a:xfrm>
            <a:off x="3675380" y="2590800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endpoints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h354c58d55cfae689_0_636"/>
          <p:cNvSpPr/>
          <p:nvPr/>
        </p:nvSpPr>
        <p:spPr>
          <a:xfrm>
            <a:off x="61753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8" name="Google Shape;56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h354c58d55cfae689_0_636"/>
          <p:cNvSpPr/>
          <p:nvPr/>
        </p:nvSpPr>
        <p:spPr>
          <a:xfrm>
            <a:off x="67233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h354c58d55cfae689_0_636"/>
          <p:cNvSpPr/>
          <p:nvPr/>
        </p:nvSpPr>
        <p:spPr>
          <a:xfrm>
            <a:off x="63550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+ ResolvedRefs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h354c58d55cfae689_0_636"/>
          <p:cNvSpPr/>
          <p:nvPr/>
        </p:nvSpPr>
        <p:spPr>
          <a:xfrm>
            <a:off x="6355080" y="2854958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describe </a:t>
            </a: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httproute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h354c58d55cfae689_0_636"/>
          <p:cNvSpPr/>
          <p:nvPr/>
        </p:nvSpPr>
        <p:spPr>
          <a:xfrm>
            <a:off x="88550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3" name="Google Shape;57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47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h354c58d55cfae689_0_636"/>
          <p:cNvSpPr/>
          <p:nvPr/>
        </p:nvSpPr>
        <p:spPr>
          <a:xfrm>
            <a:off x="94030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h354c58d55cfae689_0_636"/>
          <p:cNvSpPr/>
          <p:nvPr/>
        </p:nvSpPr>
        <p:spPr>
          <a:xfrm>
            <a:off x="90347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curl 拿到應用的真實內容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h354c58d55cfae689_0_636"/>
          <p:cNvSpPr/>
          <p:nvPr/>
        </p:nvSpPr>
        <p:spPr>
          <a:xfrm>
            <a:off x="9034780" y="2854958"/>
            <a:ext cx="22263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curl -k https://&lt;product&gt;.nexai.org.com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h354c58d55cfae689_0_636"/>
          <p:cNvSpPr/>
          <p:nvPr/>
        </p:nvSpPr>
        <p:spPr>
          <a:xfrm>
            <a:off x="812800" y="4030985"/>
            <a:ext cx="10566300" cy="133590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h354c58d55cfae689_0_636"/>
          <p:cNvSpPr/>
          <p:nvPr/>
        </p:nvSpPr>
        <p:spPr>
          <a:xfrm>
            <a:off x="1041400" y="4234185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單一產品收尾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h354c58d55cfae689_0_636"/>
          <p:cNvSpPr/>
          <p:nvPr/>
        </p:nvSpPr>
        <p:spPr>
          <a:xfrm>
            <a:off x="1041400" y="4472942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namespace &lt;product&gt;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h354c58d55cfae689_0_636"/>
          <p:cNvSpPr/>
          <p:nvPr/>
        </p:nvSpPr>
        <p:spPr>
          <a:xfrm>
            <a:off x="1041400" y="471170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整門課結束：刪掉教學 Gateway 一次收尾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h354c58d55cfae689_0_636"/>
          <p:cNvSpPr/>
          <p:nvPr/>
        </p:nvSpPr>
        <p:spPr>
          <a:xfrm>
            <a:off x="1041400" y="4950458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-f dev-gateway.yaml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1 </a:t>
            </a:r>
            <a:r>
              <a:rPr lang="zh-TW" altLang="en-US" dirty="0"/>
              <a:t>站 </a:t>
            </a:r>
            <a:r>
              <a:rPr lang="en-US" altLang="zh-TW" dirty="0"/>
              <a:t>· draw.io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/>
              <a:t>無狀態的起點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是開源的圖表繪製工具， 可用於繪製架構圖、流程圖、心智圖等，本身是純前端的無狀態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應用（</a:t>
            </a:r>
            <a:r>
              <a:rPr lang="en-US" altLang="zh-TW" sz="1600" dirty="0" err="1">
                <a:solidFill>
                  <a:schemeClr val="bg2"/>
                </a:solidFill>
              </a:rPr>
              <a:t>jgraph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en-US" altLang="zh-TW" sz="1600" dirty="0" err="1">
                <a:solidFill>
                  <a:schemeClr val="bg2"/>
                </a:solidFill>
              </a:rPr>
              <a:t>drawio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映像），不需要資料庫、不需要任何持久化儲存。</a:t>
            </a:r>
          </a:p>
        </p:txBody>
      </p:sp>
    </p:spTree>
    <p:extLst>
      <p:ext uri="{BB962C8B-B14F-4D97-AF65-F5344CB8AC3E}">
        <p14:creationId xmlns:p14="http://schemas.microsoft.com/office/powerpoint/2010/main" val="1336289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54c58d55cfae689_0_309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架構圖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218" name="Google Shape;218;h354c58d55cfae689_0_309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17;h354c58d55cfae689_0_309">
            <a:extLst>
              <a:ext uri="{FF2B5EF4-FFF2-40B4-BE49-F238E27FC236}">
                <a16:creationId xmlns:a16="http://schemas.microsoft.com/office/drawing/2014/main" id="{94B20C81-A6C1-43D8-A4EF-C040AC02129D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86E51197-771A-4B25-815E-B5068AF39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2128" y="513878"/>
            <a:ext cx="9687744" cy="598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4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54c58d55cfae689_0_309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218" name="Google Shape;218;h354c58d55cfae689_0_309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6;h354c58d55cfae689_0_318">
            <a:extLst>
              <a:ext uri="{FF2B5EF4-FFF2-40B4-BE49-F238E27FC236}">
                <a16:creationId xmlns:a16="http://schemas.microsoft.com/office/drawing/2014/main" id="{8D85C425-CC6F-4BB1-B245-9B125D82A20A}"/>
              </a:ext>
            </a:extLst>
          </p:cNvPr>
          <p:cNvSpPr/>
          <p:nvPr/>
        </p:nvSpPr>
        <p:spPr>
          <a:xfrm>
            <a:off x="815975" y="1877696"/>
            <a:ext cx="6445200" cy="115950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27;h354c58d55cfae689_0_318">
            <a:extLst>
              <a:ext uri="{FF2B5EF4-FFF2-40B4-BE49-F238E27FC236}">
                <a16:creationId xmlns:a16="http://schemas.microsoft.com/office/drawing/2014/main" id="{7A8B0FD0-1C56-476A-BF95-460123BC1D0D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建立基本框架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8;h354c58d55cfae689_0_318">
            <a:extLst>
              <a:ext uri="{FF2B5EF4-FFF2-40B4-BE49-F238E27FC236}">
                <a16:creationId xmlns:a16="http://schemas.microsoft.com/office/drawing/2014/main" id="{F86A3543-3631-4B92-9BF8-0F0BF2990A82}"/>
              </a:ext>
            </a:extLst>
          </p:cNvPr>
          <p:cNvSpPr/>
          <p:nvPr/>
        </p:nvSpPr>
        <p:spPr>
          <a:xfrm>
            <a:off x="995680" y="2362200"/>
            <a:ext cx="626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Namespace、配額、Deployment、Service、HTTPRoute 一次到位，後面每站都沿用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9;h354c58d55cfae689_0_318">
            <a:extLst>
              <a:ext uri="{FF2B5EF4-FFF2-40B4-BE49-F238E27FC236}">
                <a16:creationId xmlns:a16="http://schemas.microsoft.com/office/drawing/2014/main" id="{1FB92F9B-3C94-40B1-9C63-C60DE9AC447E}"/>
              </a:ext>
            </a:extLst>
          </p:cNvPr>
          <p:cNvSpPr/>
          <p:nvPr/>
        </p:nvSpPr>
        <p:spPr>
          <a:xfrm>
            <a:off x="815975" y="317055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0;h354c58d55cfae689_0_318">
            <a:extLst>
              <a:ext uri="{FF2B5EF4-FFF2-40B4-BE49-F238E27FC236}">
                <a16:creationId xmlns:a16="http://schemas.microsoft.com/office/drawing/2014/main" id="{8395A288-6C19-4315-B564-DF63A68D6CF9}"/>
              </a:ext>
            </a:extLst>
          </p:cNvPr>
          <p:cNvSpPr/>
          <p:nvPr/>
        </p:nvSpPr>
        <p:spPr>
          <a:xfrm>
            <a:off x="995680" y="335026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全教材唯一的 HPA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31;h354c58d55cfae689_0_318">
            <a:extLst>
              <a:ext uri="{FF2B5EF4-FFF2-40B4-BE49-F238E27FC236}">
                <a16:creationId xmlns:a16="http://schemas.microsoft.com/office/drawing/2014/main" id="{102AC5A9-7A2D-487D-A074-8BB3BB5C74AF}"/>
              </a:ext>
            </a:extLst>
          </p:cNvPr>
          <p:cNvSpPr/>
          <p:nvPr/>
        </p:nvSpPr>
        <p:spPr>
          <a:xfrm>
            <a:off x="995680" y="365506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replicas 2，CPU 70% 觸發擴容，最多擴到 5 個 Pod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32;h354c58d55cfae689_0_318">
            <a:extLst>
              <a:ext uri="{FF2B5EF4-FFF2-40B4-BE49-F238E27FC236}">
                <a16:creationId xmlns:a16="http://schemas.microsoft.com/office/drawing/2014/main" id="{E50F8070-8AB0-464F-ADCE-3E4B99B0EEFC}"/>
              </a:ext>
            </a:extLst>
          </p:cNvPr>
          <p:cNvSpPr/>
          <p:nvPr/>
        </p:nvSpPr>
        <p:spPr>
          <a:xfrm>
            <a:off x="815975" y="421576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33;h354c58d55cfae689_0_318">
            <a:extLst>
              <a:ext uri="{FF2B5EF4-FFF2-40B4-BE49-F238E27FC236}">
                <a16:creationId xmlns:a16="http://schemas.microsoft.com/office/drawing/2014/main" id="{1B68BACD-CB81-4F85-A95C-C6BB9CE198A8}"/>
              </a:ext>
            </a:extLst>
          </p:cNvPr>
          <p:cNvSpPr/>
          <p:nvPr/>
        </p:nvSpPr>
        <p:spPr>
          <a:xfrm>
            <a:off x="995680" y="439547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securityContext 全套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34;h354c58d55cfae689_0_318">
            <a:extLst>
              <a:ext uri="{FF2B5EF4-FFF2-40B4-BE49-F238E27FC236}">
                <a16:creationId xmlns:a16="http://schemas.microsoft.com/office/drawing/2014/main" id="{F96B4876-500B-4F3C-AB68-FC385AFDA3A7}"/>
              </a:ext>
            </a:extLst>
          </p:cNvPr>
          <p:cNvSpPr/>
          <p:nvPr/>
        </p:nvSpPr>
        <p:spPr>
          <a:xfrm>
            <a:off x="995680" y="470027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capabilities.drop: [ALL] 的示範起點，後面每站都拿它來對照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E94B4B2-6E43-4CF5-A993-465A4BA84945}"/>
              </a:ext>
            </a:extLst>
          </p:cNvPr>
          <p:cNvGrpSpPr/>
          <p:nvPr/>
        </p:nvGrpSpPr>
        <p:grpSpPr>
          <a:xfrm>
            <a:off x="7569200" y="1874521"/>
            <a:ext cx="3810000" cy="2768700"/>
            <a:chOff x="7569200" y="1874521"/>
            <a:chExt cx="3810000" cy="2768700"/>
          </a:xfrm>
        </p:grpSpPr>
        <p:sp>
          <p:nvSpPr>
            <p:cNvPr id="15" name="Google Shape;235;h354c58d55cfae689_0_318">
              <a:extLst>
                <a:ext uri="{FF2B5EF4-FFF2-40B4-BE49-F238E27FC236}">
                  <a16:creationId xmlns:a16="http://schemas.microsoft.com/office/drawing/2014/main" id="{69738D85-9513-4F84-B4CC-9B9CFD3C2C5E}"/>
                </a:ext>
              </a:extLst>
            </p:cNvPr>
            <p:cNvSpPr/>
            <p:nvPr/>
          </p:nvSpPr>
          <p:spPr>
            <a:xfrm>
              <a:off x="7569200" y="1874521"/>
              <a:ext cx="3810000" cy="2768700"/>
            </a:xfrm>
            <a:prstGeom prst="roundRect">
              <a:avLst>
                <a:gd name="adj" fmla="val 3670"/>
              </a:avLst>
            </a:prstGeom>
            <a:solidFill>
              <a:srgbClr val="1421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6;h354c58d55cfae689_0_318">
              <a:extLst>
                <a:ext uri="{FF2B5EF4-FFF2-40B4-BE49-F238E27FC236}">
                  <a16:creationId xmlns:a16="http://schemas.microsoft.com/office/drawing/2014/main" id="{495E00B4-3AFE-45A9-BA6C-71AC38D9C08D}"/>
                </a:ext>
              </a:extLst>
            </p:cNvPr>
            <p:cNvSpPr/>
            <p:nvPr/>
          </p:nvSpPr>
          <p:spPr>
            <a:xfrm>
              <a:off x="7797800" y="207772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35C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manifest/ </a:t>
              </a:r>
              <a:r>
                <a:rPr lang="en-US" sz="1200" b="1" i="0" u="none" strike="noStrike" cap="none" dirty="0" err="1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依序</a:t>
              </a:r>
              <a:r>
                <a:rPr lang="en-US" sz="1200" b="1" i="0" u="none" strike="noStrike" cap="none" dirty="0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 apply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37;h354c58d55cfae689_0_318">
              <a:extLst>
                <a:ext uri="{FF2B5EF4-FFF2-40B4-BE49-F238E27FC236}">
                  <a16:creationId xmlns:a16="http://schemas.microsoft.com/office/drawing/2014/main" id="{974D77E4-855A-4C9E-ABF1-50C3B179097A}"/>
                </a:ext>
              </a:extLst>
            </p:cNvPr>
            <p:cNvSpPr/>
            <p:nvPr/>
          </p:nvSpPr>
          <p:spPr>
            <a:xfrm>
              <a:off x="7797800" y="2316482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00-namespace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38;h354c58d55cfae689_0_318">
              <a:extLst>
                <a:ext uri="{FF2B5EF4-FFF2-40B4-BE49-F238E27FC236}">
                  <a16:creationId xmlns:a16="http://schemas.microsoft.com/office/drawing/2014/main" id="{C4D933DB-C8AD-4662-B601-484D4C9AC446}"/>
                </a:ext>
              </a:extLst>
            </p:cNvPr>
            <p:cNvSpPr/>
            <p:nvPr/>
          </p:nvSpPr>
          <p:spPr>
            <a:xfrm>
              <a:off x="7797800" y="2555239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01-resourcequota-limitrange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39;h354c58d55cfae689_0_318">
              <a:extLst>
                <a:ext uri="{FF2B5EF4-FFF2-40B4-BE49-F238E27FC236}">
                  <a16:creationId xmlns:a16="http://schemas.microsoft.com/office/drawing/2014/main" id="{AD55704B-4A08-40D1-8014-81448FBA9B90}"/>
                </a:ext>
              </a:extLst>
            </p:cNvPr>
            <p:cNvSpPr/>
            <p:nvPr/>
          </p:nvSpPr>
          <p:spPr>
            <a:xfrm>
              <a:off x="7797800" y="2794000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02-deployment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40;h354c58d55cfae689_0_318">
              <a:extLst>
                <a:ext uri="{FF2B5EF4-FFF2-40B4-BE49-F238E27FC236}">
                  <a16:creationId xmlns:a16="http://schemas.microsoft.com/office/drawing/2014/main" id="{D70CACC3-606E-4F3D-A8FB-5A783C777645}"/>
                </a:ext>
              </a:extLst>
            </p:cNvPr>
            <p:cNvSpPr/>
            <p:nvPr/>
          </p:nvSpPr>
          <p:spPr>
            <a:xfrm>
              <a:off x="7797800" y="303276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03-service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41;h354c58d55cfae689_0_318">
              <a:extLst>
                <a:ext uri="{FF2B5EF4-FFF2-40B4-BE49-F238E27FC236}">
                  <a16:creationId xmlns:a16="http://schemas.microsoft.com/office/drawing/2014/main" id="{1D80AA42-B325-49AC-83AF-ABE8E01E1230}"/>
                </a:ext>
              </a:extLst>
            </p:cNvPr>
            <p:cNvSpPr/>
            <p:nvPr/>
          </p:nvSpPr>
          <p:spPr>
            <a:xfrm>
              <a:off x="7797800" y="327152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04-httproute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42;h354c58d55cfae689_0_318">
              <a:extLst>
                <a:ext uri="{FF2B5EF4-FFF2-40B4-BE49-F238E27FC236}">
                  <a16:creationId xmlns:a16="http://schemas.microsoft.com/office/drawing/2014/main" id="{758ACE38-37E8-40FD-82CC-CE9CA9B8878C}"/>
                </a:ext>
              </a:extLst>
            </p:cNvPr>
            <p:cNvSpPr/>
            <p:nvPr/>
          </p:nvSpPr>
          <p:spPr>
            <a:xfrm>
              <a:off x="7797800" y="3510282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05-hpa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43;h354c58d55cfae689_0_318">
              <a:extLst>
                <a:ext uri="{FF2B5EF4-FFF2-40B4-BE49-F238E27FC236}">
                  <a16:creationId xmlns:a16="http://schemas.microsoft.com/office/drawing/2014/main" id="{78507DA2-9301-49F6-87DA-2EA0AF5F22FF}"/>
                </a:ext>
              </a:extLst>
            </p:cNvPr>
            <p:cNvSpPr/>
            <p:nvPr/>
          </p:nvSpPr>
          <p:spPr>
            <a:xfrm>
              <a:off x="7797800" y="3749039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06-networkpolicy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4;h354c58d55cfae689_0_318">
              <a:extLst>
                <a:ext uri="{FF2B5EF4-FFF2-40B4-BE49-F238E27FC236}">
                  <a16:creationId xmlns:a16="http://schemas.microsoft.com/office/drawing/2014/main" id="{D2C43EDC-E007-41BD-A992-C81EF9AE6D90}"/>
                </a:ext>
              </a:extLst>
            </p:cNvPr>
            <p:cNvSpPr/>
            <p:nvPr/>
          </p:nvSpPr>
          <p:spPr>
            <a:xfrm>
              <a:off x="7797800" y="3987800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C96A8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 dirty="0">
                  <a:solidFill>
                    <a:srgbClr val="8C96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</a:t>
              </a:r>
              <a:r>
                <a:rPr lang="en-US" sz="1200" b="0" i="0" u="none" strike="noStrike" cap="none" dirty="0" err="1">
                  <a:solidFill>
                    <a:srgbClr val="8C96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觀察擴縮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45;h354c58d55cfae689_0_318">
              <a:extLst>
                <a:ext uri="{FF2B5EF4-FFF2-40B4-BE49-F238E27FC236}">
                  <a16:creationId xmlns:a16="http://schemas.microsoft.com/office/drawing/2014/main" id="{0E6AB425-DC43-493F-A2DA-003458D4B604}"/>
                </a:ext>
              </a:extLst>
            </p:cNvPr>
            <p:cNvSpPr/>
            <p:nvPr/>
          </p:nvSpPr>
          <p:spPr>
            <a:xfrm>
              <a:off x="7797800" y="4226564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kubectl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get </a:t>
              </a: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hpa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-n </a:t>
              </a: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drawio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-w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10;h354c58d55cfae689_0_284">
            <a:extLst>
              <a:ext uri="{FF2B5EF4-FFF2-40B4-BE49-F238E27FC236}">
                <a16:creationId xmlns:a16="http://schemas.microsoft.com/office/drawing/2014/main" id="{70C9A601-1881-49C9-B2F4-1803EF2D9A74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無狀態的起點</a:t>
            </a:r>
          </a:p>
        </p:txBody>
      </p:sp>
      <p:sp>
        <p:nvSpPr>
          <p:cNvPr id="27" name="Google Shape;217;h354c58d55cfae689_0_309">
            <a:extLst>
              <a:ext uri="{FF2B5EF4-FFF2-40B4-BE49-F238E27FC236}">
                <a16:creationId xmlns:a16="http://schemas.microsoft.com/office/drawing/2014/main" id="{94B20C81-A6C1-43D8-A4EF-C040AC02129D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20 格 · 本頁節錄這站的新概念，其餘題目見 exercises/README.md</a:t>
            </a:r>
            <a:endParaRPr lang="zh-TW" altLang="en-US" sz="1400" dirty="0"/>
          </a:p>
        </p:txBody>
      </p:sp>
      <p:sp>
        <p:nvSpPr>
          <p:cNvPr id="102" name="Code panel 102"/>
          <p:cNvSpPr/>
          <p:nvPr/>
        </p:nvSpPr>
        <p:spPr>
          <a:xfrm>
            <a:off x="508000" y="1400000"/>
            <a:ext cx="5200000" cy="47000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Code line 103"/>
          <p:cNvSpPr txBox="1"/>
          <p:nvPr/>
        </p:nvSpPr>
        <p:spPr>
          <a:xfrm>
            <a:off x="708000" y="16011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02-deployment.yaml（節錄）</a:t>
            </a:r>
            <a:endParaRPr lang="zh-TW" altLang="en-US" sz="1200" dirty="0"/>
          </a:p>
        </p:txBody>
      </p:sp>
      <p:sp>
        <p:nvSpPr>
          <p:cNvPr id="104" name="Code line 104"/>
          <p:cNvSpPr txBox="1"/>
          <p:nvPr/>
        </p:nvSpPr>
        <p:spPr>
          <a:xfrm>
            <a:off x="708000" y="18399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lang="zh-TW" altLang="en-US" sz="1200" dirty="0"/>
          </a:p>
        </p:txBody>
      </p:sp>
      <p:sp>
        <p:nvSpPr>
          <p:cNvPr id="105" name="Code line 105"/>
          <p:cNvSpPr txBox="1"/>
          <p:nvPr/>
        </p:nvSpPr>
        <p:spPr>
          <a:xfrm>
            <a:off x="708000" y="20786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replicas: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__FILL_ME_6__</a:t>
            </a:r>
            <a:endParaRPr lang="zh-TW" altLang="en-US" sz="1200" dirty="0"/>
          </a:p>
        </p:txBody>
      </p:sp>
      <p:sp>
        <p:nvSpPr>
          <p:cNvPr id="106" name="Code line 106"/>
          <p:cNvSpPr txBox="1"/>
          <p:nvPr/>
        </p:nvSpPr>
        <p:spPr>
          <a:xfrm>
            <a:off x="708000" y="23174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template:</a:t>
            </a:r>
            <a:endParaRPr lang="zh-TW" altLang="en-US" sz="1200" dirty="0"/>
          </a:p>
        </p:txBody>
      </p:sp>
      <p:sp>
        <p:nvSpPr>
          <p:cNvPr id="107" name="Code line 107"/>
          <p:cNvSpPr txBox="1"/>
          <p:nvPr/>
        </p:nvSpPr>
        <p:spPr>
          <a:xfrm>
            <a:off x="708000" y="25562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spec:</a:t>
            </a:r>
            <a:endParaRPr lang="zh-TW" altLang="en-US" sz="1200" dirty="0"/>
          </a:p>
        </p:txBody>
      </p:sp>
      <p:sp>
        <p:nvSpPr>
          <p:cNvPr id="108" name="Code line 108"/>
          <p:cNvSpPr txBox="1"/>
          <p:nvPr/>
        </p:nvSpPr>
        <p:spPr>
          <a:xfrm>
            <a:off x="708000" y="27949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containers:</a:t>
            </a:r>
            <a:endParaRPr lang="zh-TW" altLang="en-US" sz="1200" dirty="0"/>
          </a:p>
        </p:txBody>
      </p:sp>
      <p:sp>
        <p:nvSpPr>
          <p:cNvPr id="109" name="Code line 109"/>
          <p:cNvSpPr txBox="1"/>
          <p:nvPr/>
        </p:nvSpPr>
        <p:spPr>
          <a:xfrm>
            <a:off x="708000" y="30337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drawio</a:t>
            </a:r>
            <a:endParaRPr lang="zh-TW" altLang="en-US" sz="1200" dirty="0"/>
          </a:p>
        </p:txBody>
      </p:sp>
      <p:sp>
        <p:nvSpPr>
          <p:cNvPr id="110" name="Code line 110"/>
          <p:cNvSpPr txBox="1"/>
          <p:nvPr/>
        </p:nvSpPr>
        <p:spPr>
          <a:xfrm>
            <a:off x="708000" y="32724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image: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__FILL_ME_7__</a:t>
            </a:r>
            <a:endParaRPr lang="zh-TW" altLang="en-US" sz="1200" dirty="0"/>
          </a:p>
        </p:txBody>
      </p:sp>
      <p:sp>
        <p:nvSpPr>
          <p:cNvPr id="111" name="Code line 111"/>
          <p:cNvSpPr txBox="1"/>
          <p:nvPr/>
        </p:nvSpPr>
        <p:spPr>
          <a:xfrm>
            <a:off x="708000" y="35112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ports:</a:t>
            </a:r>
            <a:endParaRPr lang="zh-TW" altLang="en-US" sz="1200" dirty="0"/>
          </a:p>
        </p:txBody>
      </p:sp>
      <p:sp>
        <p:nvSpPr>
          <p:cNvPr id="112" name="Code line 112"/>
          <p:cNvSpPr txBox="1"/>
          <p:nvPr/>
        </p:nvSpPr>
        <p:spPr>
          <a:xfrm>
            <a:off x="708000" y="37500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- name: http</a:t>
            </a:r>
            <a:endParaRPr lang="zh-TW" altLang="en-US" sz="1200" dirty="0"/>
          </a:p>
        </p:txBody>
      </p:sp>
      <p:sp>
        <p:nvSpPr>
          <p:cNvPr id="113" name="Code line 113"/>
          <p:cNvSpPr txBox="1"/>
          <p:nvPr/>
        </p:nvSpPr>
        <p:spPr>
          <a:xfrm>
            <a:off x="708000" y="39887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containerPort: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__FILL_ME_8__</a:t>
            </a:r>
            <a:endParaRPr lang="zh-TW" altLang="en-US" sz="1200" dirty="0"/>
          </a:p>
        </p:txBody>
      </p:sp>
      <p:sp>
        <p:nvSpPr>
          <p:cNvPr id="114" name="Code line 114"/>
          <p:cNvSpPr txBox="1"/>
          <p:nvPr/>
        </p:nvSpPr>
        <p:spPr>
          <a:xfrm>
            <a:off x="708000" y="42275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readinessProbe:</a:t>
            </a:r>
            <a:endParaRPr lang="zh-TW" altLang="en-US" sz="1200" dirty="0"/>
          </a:p>
        </p:txBody>
      </p:sp>
      <p:sp>
        <p:nvSpPr>
          <p:cNvPr id="115" name="Code line 115"/>
          <p:cNvSpPr txBox="1"/>
          <p:nvPr/>
        </p:nvSpPr>
        <p:spPr>
          <a:xfrm>
            <a:off x="708000" y="44662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httpGet:</a:t>
            </a:r>
            <a:endParaRPr lang="zh-TW" altLang="en-US" sz="1200" dirty="0"/>
          </a:p>
        </p:txBody>
      </p:sp>
      <p:sp>
        <p:nvSpPr>
          <p:cNvPr id="116" name="Code line 116"/>
          <p:cNvSpPr txBox="1"/>
          <p:nvPr/>
        </p:nvSpPr>
        <p:spPr>
          <a:xfrm>
            <a:off x="708000" y="47050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port: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__FILL_ME_9__</a:t>
            </a:r>
            <a:endParaRPr lang="zh-TW" altLang="en-US" sz="1200" dirty="0"/>
          </a:p>
        </p:txBody>
      </p:sp>
      <p:sp>
        <p:nvSpPr>
          <p:cNvPr id="117" name="Code line 117"/>
          <p:cNvSpPr txBox="1"/>
          <p:nvPr/>
        </p:nvSpPr>
        <p:spPr>
          <a:xfrm>
            <a:off x="708000" y="49438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securityContext:</a:t>
            </a:r>
            <a:endParaRPr lang="zh-TW" altLang="en-US" sz="1200" dirty="0"/>
          </a:p>
        </p:txBody>
      </p:sp>
      <p:sp>
        <p:nvSpPr>
          <p:cNvPr id="118" name="Code line 118"/>
          <p:cNvSpPr txBox="1"/>
          <p:nvPr/>
        </p:nvSpPr>
        <p:spPr>
          <a:xfrm>
            <a:off x="708000" y="51825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capabilities:</a:t>
            </a:r>
            <a:endParaRPr lang="zh-TW" altLang="en-US" sz="1200" dirty="0"/>
          </a:p>
        </p:txBody>
      </p:sp>
      <p:sp>
        <p:nvSpPr>
          <p:cNvPr id="119" name="Code line 119"/>
          <p:cNvSpPr txBox="1"/>
          <p:nvPr/>
        </p:nvSpPr>
        <p:spPr>
          <a:xfrm>
            <a:off x="708000" y="54213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drop:</a:t>
            </a:r>
            <a:endParaRPr lang="zh-TW" altLang="en-US" sz="1200" dirty="0"/>
          </a:p>
        </p:txBody>
      </p:sp>
      <p:sp>
        <p:nvSpPr>
          <p:cNvPr id="120" name="Code line 120"/>
          <p:cNvSpPr txBox="1"/>
          <p:nvPr/>
        </p:nvSpPr>
        <p:spPr>
          <a:xfrm>
            <a:off x="708000" y="56600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  -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__FILL_ME_10__</a:t>
            </a:r>
            <a:endParaRPr lang="zh-TW" altLang="en-US" sz="1200" dirty="0"/>
          </a:p>
        </p:txBody>
      </p:sp>
      <p:sp>
        <p:nvSpPr>
          <p:cNvPr id="121" name="Hint card 121"/>
          <p:cNvSpPr/>
          <p:nvPr/>
        </p:nvSpPr>
        <p:spPr>
          <a:xfrm>
            <a:off x="5908000" y="1400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2" name="Hint label 122"/>
          <p:cNvSpPr txBox="1"/>
          <p:nvPr/>
        </p:nvSpPr>
        <p:spPr>
          <a:xfrm>
            <a:off x="6088000" y="1540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__FILL_ME_6__ · replicas</a:t>
            </a:r>
            <a:endParaRPr lang="zh-TW" altLang="en-US" sz="1200" dirty="0"/>
          </a:p>
        </p:txBody>
      </p:sp>
      <p:sp>
        <p:nvSpPr>
          <p:cNvPr id="123" name="Hint text 123"/>
          <p:cNvSpPr txBox="1"/>
          <p:nvPr/>
        </p:nvSpPr>
        <p:spPr>
          <a:xfrm>
            <a:off x="6088000" y="1830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要跟 HPA 的 minReplicas 搭得上：架構圖上畫了幾個 Pod？</a:t>
            </a:r>
            <a:endParaRPr lang="zh-TW" altLang="en-US" sz="1300" dirty="0"/>
          </a:p>
        </p:txBody>
      </p:sp>
      <p:sp>
        <p:nvSpPr>
          <p:cNvPr id="124" name="Hint card 124"/>
          <p:cNvSpPr/>
          <p:nvPr/>
        </p:nvSpPr>
        <p:spPr>
          <a:xfrm>
            <a:off x="5908000" y="2612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5" name="Hint label 125"/>
          <p:cNvSpPr txBox="1"/>
          <p:nvPr/>
        </p:nvSpPr>
        <p:spPr>
          <a:xfrm>
            <a:off x="6088000" y="2752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__FILL_ME_7__ · image</a:t>
            </a:r>
            <a:endParaRPr lang="zh-TW" altLang="en-US" sz="1200" dirty="0"/>
          </a:p>
        </p:txBody>
      </p:sp>
      <p:sp>
        <p:nvSpPr>
          <p:cNvPr id="126" name="Hint text 126"/>
          <p:cNvSpPr txBox="1"/>
          <p:nvPr/>
        </p:nvSpPr>
        <p:spPr>
          <a:xfrm>
            <a:off x="6088000" y="3042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draw.io 官方 Docker Hub 映像名稱加版本 tag，架構圖上有寫。</a:t>
            </a:r>
            <a:endParaRPr lang="zh-TW" altLang="en-US" sz="1300" dirty="0"/>
          </a:p>
        </p:txBody>
      </p:sp>
      <p:sp>
        <p:nvSpPr>
          <p:cNvPr id="127" name="Hint card 127"/>
          <p:cNvSpPr/>
          <p:nvPr/>
        </p:nvSpPr>
        <p:spPr>
          <a:xfrm>
            <a:off x="5908000" y="3825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8" name="Hint label 128"/>
          <p:cNvSpPr txBox="1"/>
          <p:nvPr/>
        </p:nvSpPr>
        <p:spPr>
          <a:xfrm>
            <a:off x="6088000" y="3965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__FILL_ME_8__ / 9 · port</a:t>
            </a:r>
            <a:endParaRPr lang="zh-TW" altLang="en-US" sz="1200" dirty="0"/>
          </a:p>
        </p:txBody>
      </p:sp>
      <p:sp>
        <p:nvSpPr>
          <p:cNvPr id="129" name="Hint text 129"/>
          <p:cNvSpPr txBox="1"/>
          <p:nvPr/>
        </p:nvSpPr>
        <p:spPr>
          <a:xfrm>
            <a:off x="6088000" y="4255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containerPort 填數字；probe 直接引用 ports 裡取的 name，不重複寫數字。</a:t>
            </a:r>
            <a:endParaRPr lang="zh-TW" altLang="en-US" sz="1300" dirty="0"/>
          </a:p>
        </p:txBody>
      </p:sp>
      <p:sp>
        <p:nvSpPr>
          <p:cNvPr id="130" name="Hint card 130"/>
          <p:cNvSpPr/>
          <p:nvPr/>
        </p:nvSpPr>
        <p:spPr>
          <a:xfrm>
            <a:off x="5908000" y="5037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1" name="Hint label 131"/>
          <p:cNvSpPr txBox="1"/>
          <p:nvPr/>
        </p:nvSpPr>
        <p:spPr>
          <a:xfrm>
            <a:off x="6088000" y="5177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__FILL_ME_10__ · capabilities.drop</a:t>
            </a:r>
            <a:endParaRPr lang="zh-TW" altLang="en-US" sz="1200" dirty="0"/>
          </a:p>
        </p:txBody>
      </p:sp>
      <p:sp>
        <p:nvSpPr>
          <p:cNvPr id="132" name="Hint text 132"/>
          <p:cNvSpPr txBox="1"/>
          <p:nvPr/>
        </p:nvSpPr>
        <p:spPr>
          <a:xfrm>
            <a:off x="6088000" y="5467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Linux capability「全部捨棄」怎麼寫？全大寫的一個字。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881071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是 Running，透過 Gateway 連線卻得到 503 / connection refused。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drawio -n drawio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永遠 0/1 Ready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 但 Ready 一直是 0，Events 出現 probe 失敗。錯的不是 containerPort，是引用它的地方。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drawio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卻連不到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狀態看起來正常，實際流量卻失敗。backendRefs 的號碼該對應 Service 的哪個 port？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drawio -n drawio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第二個 Pod 卡在 Pending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replicas=2 的第二隻一直起不來，Events 看到 exceeded quota。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drawio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46927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延伸：資源設定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6" name="Google Shape;254;h354c58d55cfae689_0_345">
            <a:extLst>
              <a:ext uri="{FF2B5EF4-FFF2-40B4-BE49-F238E27FC236}">
                <a16:creationId xmlns:a16="http://schemas.microsoft.com/office/drawing/2014/main" id="{9F77213A-CE04-4B4B-9E83-AC07BE2DB929}"/>
              </a:ext>
            </a:extLst>
          </p:cNvPr>
          <p:cNvSpPr/>
          <p:nvPr/>
        </p:nvSpPr>
        <p:spPr>
          <a:xfrm>
            <a:off x="815975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55;h354c58d55cfae689_0_345">
            <a:extLst>
              <a:ext uri="{FF2B5EF4-FFF2-40B4-BE49-F238E27FC236}">
                <a16:creationId xmlns:a16="http://schemas.microsoft.com/office/drawing/2014/main" id="{722B6598-321C-45F4-A395-44995BBB11E4}"/>
              </a:ext>
            </a:extLst>
          </p:cNvPr>
          <p:cNvSpPr/>
          <p:nvPr/>
        </p:nvSpPr>
        <p:spPr>
          <a:xfrm>
            <a:off x="970280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LimitRange.min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56;h354c58d55cfae689_0_345">
            <a:extLst>
              <a:ext uri="{FF2B5EF4-FFF2-40B4-BE49-F238E27FC236}">
                <a16:creationId xmlns:a16="http://schemas.microsoft.com/office/drawing/2014/main" id="{2E68526C-4397-456D-A6FF-55FA5010791E}"/>
              </a:ext>
            </a:extLst>
          </p:cNvPr>
          <p:cNvSpPr/>
          <p:nvPr/>
        </p:nvSpPr>
        <p:spPr>
          <a:xfrm>
            <a:off x="970280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單一容器的地板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57;h354c58d55cfae689_0_345">
            <a:extLst>
              <a:ext uri="{FF2B5EF4-FFF2-40B4-BE49-F238E27FC236}">
                <a16:creationId xmlns:a16="http://schemas.microsoft.com/office/drawing/2014/main" id="{0DD8F7C5-8F43-4FFA-A15D-6129DB16E679}"/>
              </a:ext>
            </a:extLst>
          </p:cNvPr>
          <p:cNvSpPr/>
          <p:nvPr/>
        </p:nvSpPr>
        <p:spPr>
          <a:xfrm>
            <a:off x="3288586" y="2077721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58;h354c58d55cfae689_0_345">
            <a:extLst>
              <a:ext uri="{FF2B5EF4-FFF2-40B4-BE49-F238E27FC236}">
                <a16:creationId xmlns:a16="http://schemas.microsoft.com/office/drawing/2014/main" id="{5C3A01F6-509C-43C3-980A-624639A94934}"/>
              </a:ext>
            </a:extLst>
          </p:cNvPr>
          <p:cNvSpPr/>
          <p:nvPr/>
        </p:nvSpPr>
        <p:spPr>
          <a:xfrm>
            <a:off x="3546713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59;h354c58d55cfae689_0_345">
            <a:extLst>
              <a:ext uri="{FF2B5EF4-FFF2-40B4-BE49-F238E27FC236}">
                <a16:creationId xmlns:a16="http://schemas.microsoft.com/office/drawing/2014/main" id="{2DDFE4A0-A35C-43C7-8655-6D59A313C5DF}"/>
              </a:ext>
            </a:extLst>
          </p:cNvPr>
          <p:cNvSpPr/>
          <p:nvPr/>
        </p:nvSpPr>
        <p:spPr>
          <a:xfrm>
            <a:off x="3701018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60;h354c58d55cfae689_0_345">
            <a:extLst>
              <a:ext uri="{FF2B5EF4-FFF2-40B4-BE49-F238E27FC236}">
                <a16:creationId xmlns:a16="http://schemas.microsoft.com/office/drawing/2014/main" id="{9A38ECAD-FBF3-4433-A671-D9F2249F683D}"/>
              </a:ext>
            </a:extLst>
          </p:cNvPr>
          <p:cNvSpPr/>
          <p:nvPr/>
        </p:nvSpPr>
        <p:spPr>
          <a:xfrm>
            <a:off x="3701018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100m / 256Mi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61;h354c58d55cfae689_0_345">
            <a:extLst>
              <a:ext uri="{FF2B5EF4-FFF2-40B4-BE49-F238E27FC236}">
                <a16:creationId xmlns:a16="http://schemas.microsoft.com/office/drawing/2014/main" id="{48D52A3D-C7FC-4F91-B3D7-5356571E8B24}"/>
              </a:ext>
            </a:extLst>
          </p:cNvPr>
          <p:cNvSpPr/>
          <p:nvPr/>
        </p:nvSpPr>
        <p:spPr>
          <a:xfrm>
            <a:off x="6019324" y="2077721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62;h354c58d55cfae689_0_345">
            <a:extLst>
              <a:ext uri="{FF2B5EF4-FFF2-40B4-BE49-F238E27FC236}">
                <a16:creationId xmlns:a16="http://schemas.microsoft.com/office/drawing/2014/main" id="{F25E8D02-1531-49AC-A692-A564117CBE80}"/>
              </a:ext>
            </a:extLst>
          </p:cNvPr>
          <p:cNvSpPr/>
          <p:nvPr/>
        </p:nvSpPr>
        <p:spPr>
          <a:xfrm>
            <a:off x="6277451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63;h354c58d55cfae689_0_345">
            <a:extLst>
              <a:ext uri="{FF2B5EF4-FFF2-40B4-BE49-F238E27FC236}">
                <a16:creationId xmlns:a16="http://schemas.microsoft.com/office/drawing/2014/main" id="{F4685C72-8DA0-48E5-81EE-4D6B9F0A0C1F}"/>
              </a:ext>
            </a:extLst>
          </p:cNvPr>
          <p:cNvSpPr/>
          <p:nvPr/>
        </p:nvSpPr>
        <p:spPr>
          <a:xfrm>
            <a:off x="6431756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limits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64;h354c58d55cfae689_0_345">
            <a:extLst>
              <a:ext uri="{FF2B5EF4-FFF2-40B4-BE49-F238E27FC236}">
                <a16:creationId xmlns:a16="http://schemas.microsoft.com/office/drawing/2014/main" id="{0FB1C795-8463-48E0-905C-8351DE85349E}"/>
              </a:ext>
            </a:extLst>
          </p:cNvPr>
          <p:cNvSpPr/>
          <p:nvPr/>
        </p:nvSpPr>
        <p:spPr>
          <a:xfrm>
            <a:off x="6431756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500m / 512Mi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65;h354c58d55cfae689_0_345">
            <a:extLst>
              <a:ext uri="{FF2B5EF4-FFF2-40B4-BE49-F238E27FC236}">
                <a16:creationId xmlns:a16="http://schemas.microsoft.com/office/drawing/2014/main" id="{47AB1D32-099A-4F03-86C9-7F3C44FE378E}"/>
              </a:ext>
            </a:extLst>
          </p:cNvPr>
          <p:cNvSpPr/>
          <p:nvPr/>
        </p:nvSpPr>
        <p:spPr>
          <a:xfrm>
            <a:off x="8750062" y="2077721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66;h354c58d55cfae689_0_345">
            <a:extLst>
              <a:ext uri="{FF2B5EF4-FFF2-40B4-BE49-F238E27FC236}">
                <a16:creationId xmlns:a16="http://schemas.microsoft.com/office/drawing/2014/main" id="{96774FCF-38CF-4688-B2F7-B6D31EBA7E4F}"/>
              </a:ext>
            </a:extLst>
          </p:cNvPr>
          <p:cNvSpPr/>
          <p:nvPr/>
        </p:nvSpPr>
        <p:spPr>
          <a:xfrm>
            <a:off x="9008190" y="1877696"/>
            <a:ext cx="23679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67;h354c58d55cfae689_0_345">
            <a:extLst>
              <a:ext uri="{FF2B5EF4-FFF2-40B4-BE49-F238E27FC236}">
                <a16:creationId xmlns:a16="http://schemas.microsoft.com/office/drawing/2014/main" id="{86B83120-0A4F-4901-AFF0-5F45990339FE}"/>
              </a:ext>
            </a:extLst>
          </p:cNvPr>
          <p:cNvSpPr/>
          <p:nvPr/>
        </p:nvSpPr>
        <p:spPr>
          <a:xfrm>
            <a:off x="9162494" y="2032000"/>
            <a:ext cx="2121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LimitRange.max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68;h354c58d55cfae689_0_345">
            <a:extLst>
              <a:ext uri="{FF2B5EF4-FFF2-40B4-BE49-F238E27FC236}">
                <a16:creationId xmlns:a16="http://schemas.microsoft.com/office/drawing/2014/main" id="{7BBA0094-50F8-4869-8E69-1E9CFE0BC48F}"/>
              </a:ext>
            </a:extLst>
          </p:cNvPr>
          <p:cNvSpPr/>
          <p:nvPr/>
        </p:nvSpPr>
        <p:spPr>
          <a:xfrm>
            <a:off x="9162494" y="2301242"/>
            <a:ext cx="2121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單一容器的天花板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69;h354c58d55cfae689_0_345">
            <a:extLst>
              <a:ext uri="{FF2B5EF4-FFF2-40B4-BE49-F238E27FC236}">
                <a16:creationId xmlns:a16="http://schemas.microsoft.com/office/drawing/2014/main" id="{1E76AC0F-732A-4942-B908-16D945AE64AF}"/>
              </a:ext>
            </a:extLst>
          </p:cNvPr>
          <p:cNvSpPr/>
          <p:nvPr/>
        </p:nvSpPr>
        <p:spPr>
          <a:xfrm>
            <a:off x="815975" y="2878454"/>
            <a:ext cx="50985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70;h354c58d55cfae689_0_345">
            <a:extLst>
              <a:ext uri="{FF2B5EF4-FFF2-40B4-BE49-F238E27FC236}">
                <a16:creationId xmlns:a16="http://schemas.microsoft.com/office/drawing/2014/main" id="{8432DDFF-DBAD-4DB4-99BA-0ED38DA632F6}"/>
              </a:ext>
            </a:extLst>
          </p:cNvPr>
          <p:cNvSpPr/>
          <p:nvPr/>
        </p:nvSpPr>
        <p:spPr>
          <a:xfrm>
            <a:off x="970280" y="3032764"/>
            <a:ext cx="49338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Σ replicas × 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71;h354c58d55cfae689_0_345">
            <a:extLst>
              <a:ext uri="{FF2B5EF4-FFF2-40B4-BE49-F238E27FC236}">
                <a16:creationId xmlns:a16="http://schemas.microsoft.com/office/drawing/2014/main" id="{E04C960C-B547-4E29-86C5-4142E3AA3D91}"/>
              </a:ext>
            </a:extLst>
          </p:cNvPr>
          <p:cNvSpPr/>
          <p:nvPr/>
        </p:nvSpPr>
        <p:spPr>
          <a:xfrm>
            <a:off x="970280" y="3302000"/>
            <a:ext cx="49338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HPA 最多 5 個 Pod × 100m = 500m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72;h354c58d55cfae689_0_345">
            <a:extLst>
              <a:ext uri="{FF2B5EF4-FFF2-40B4-BE49-F238E27FC236}">
                <a16:creationId xmlns:a16="http://schemas.microsoft.com/office/drawing/2014/main" id="{DA35AD20-270D-4745-8F4C-873E1FA94779}"/>
              </a:ext>
            </a:extLst>
          </p:cNvPr>
          <p:cNvSpPr/>
          <p:nvPr/>
        </p:nvSpPr>
        <p:spPr>
          <a:xfrm>
            <a:off x="6019324" y="3078479"/>
            <a:ext cx="2043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73;h354c58d55cfae689_0_345">
            <a:extLst>
              <a:ext uri="{FF2B5EF4-FFF2-40B4-BE49-F238E27FC236}">
                <a16:creationId xmlns:a16="http://schemas.microsoft.com/office/drawing/2014/main" id="{17B935FA-E66E-4A0F-8AAF-0D78D726239E}"/>
              </a:ext>
            </a:extLst>
          </p:cNvPr>
          <p:cNvSpPr/>
          <p:nvPr/>
        </p:nvSpPr>
        <p:spPr>
          <a:xfrm>
            <a:off x="6277451" y="2878454"/>
            <a:ext cx="5098500" cy="79110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74;h354c58d55cfae689_0_345">
            <a:extLst>
              <a:ext uri="{FF2B5EF4-FFF2-40B4-BE49-F238E27FC236}">
                <a16:creationId xmlns:a16="http://schemas.microsoft.com/office/drawing/2014/main" id="{7F93A4FB-7678-4A2B-A1B5-90684526CA6F}"/>
              </a:ext>
            </a:extLst>
          </p:cNvPr>
          <p:cNvSpPr/>
          <p:nvPr/>
        </p:nvSpPr>
        <p:spPr>
          <a:xfrm>
            <a:off x="6431756" y="3032764"/>
            <a:ext cx="49338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ResourceQuota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5;h354c58d55cfae689_0_345">
            <a:extLst>
              <a:ext uri="{FF2B5EF4-FFF2-40B4-BE49-F238E27FC236}">
                <a16:creationId xmlns:a16="http://schemas.microsoft.com/office/drawing/2014/main" id="{BC19F91C-4AFB-4EE3-AAAF-F531229D5C78}"/>
              </a:ext>
            </a:extLst>
          </p:cNvPr>
          <p:cNvSpPr/>
          <p:nvPr/>
        </p:nvSpPr>
        <p:spPr>
          <a:xfrm>
            <a:off x="6431756" y="3302000"/>
            <a:ext cx="49338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hard.requests.cpu 抓 1（1000m），留一倍餘裕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76;h354c58d55cfae689_0_345">
            <a:extLst>
              <a:ext uri="{FF2B5EF4-FFF2-40B4-BE49-F238E27FC236}">
                <a16:creationId xmlns:a16="http://schemas.microsoft.com/office/drawing/2014/main" id="{7609185D-779B-430D-9FD4-9F4C5172FDB7}"/>
              </a:ext>
            </a:extLst>
          </p:cNvPr>
          <p:cNvSpPr/>
          <p:nvPr/>
        </p:nvSpPr>
        <p:spPr>
          <a:xfrm>
            <a:off x="815975" y="3879217"/>
            <a:ext cx="52008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77;h354c58d55cfae689_0_345">
            <a:extLst>
              <a:ext uri="{FF2B5EF4-FFF2-40B4-BE49-F238E27FC236}">
                <a16:creationId xmlns:a16="http://schemas.microsoft.com/office/drawing/2014/main" id="{92DA5E82-410D-46C4-B158-C7D78A4FE6E0}"/>
              </a:ext>
            </a:extLst>
          </p:cNvPr>
          <p:cNvSpPr/>
          <p:nvPr/>
        </p:nvSpPr>
        <p:spPr>
          <a:xfrm>
            <a:off x="995680" y="4058921"/>
            <a:ext cx="4986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CPU 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278;h354c58d55cfae689_0_345">
            <a:extLst>
              <a:ext uri="{FF2B5EF4-FFF2-40B4-BE49-F238E27FC236}">
                <a16:creationId xmlns:a16="http://schemas.microsoft.com/office/drawing/2014/main" id="{A8D9E600-0642-46DC-BFFB-501295D074B2}"/>
              </a:ext>
            </a:extLst>
          </p:cNvPr>
          <p:cNvSpPr/>
          <p:nvPr/>
        </p:nvSpPr>
        <p:spPr>
          <a:xfrm>
            <a:off x="995680" y="4363721"/>
            <a:ext cx="49866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超過 limit 只會被節流變慢，比例可以抓寬（本例 5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279;h354c58d55cfae689_0_345">
            <a:extLst>
              <a:ext uri="{FF2B5EF4-FFF2-40B4-BE49-F238E27FC236}">
                <a16:creationId xmlns:a16="http://schemas.microsoft.com/office/drawing/2014/main" id="{8B83CD39-7F9A-44EA-A1FC-FC6780F66C21}"/>
              </a:ext>
            </a:extLst>
          </p:cNvPr>
          <p:cNvSpPr/>
          <p:nvPr/>
        </p:nvSpPr>
        <p:spPr>
          <a:xfrm>
            <a:off x="6175375" y="3879217"/>
            <a:ext cx="52008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80;h354c58d55cfae689_0_345">
            <a:extLst>
              <a:ext uri="{FF2B5EF4-FFF2-40B4-BE49-F238E27FC236}">
                <a16:creationId xmlns:a16="http://schemas.microsoft.com/office/drawing/2014/main" id="{1A4EB850-C944-4EC5-A2A3-0848EDF470C2}"/>
              </a:ext>
            </a:extLst>
          </p:cNvPr>
          <p:cNvSpPr/>
          <p:nvPr/>
        </p:nvSpPr>
        <p:spPr>
          <a:xfrm>
            <a:off x="6355080" y="4058921"/>
            <a:ext cx="4986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Memory 不可壓縮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81;h354c58d55cfae689_0_345">
            <a:extLst>
              <a:ext uri="{FF2B5EF4-FFF2-40B4-BE49-F238E27FC236}">
                <a16:creationId xmlns:a16="http://schemas.microsoft.com/office/drawing/2014/main" id="{6DDECB46-3B61-46B5-83EA-C74C400E7C6C}"/>
              </a:ext>
            </a:extLst>
          </p:cNvPr>
          <p:cNvSpPr/>
          <p:nvPr/>
        </p:nvSpPr>
        <p:spPr>
          <a:xfrm>
            <a:off x="6355080" y="4363721"/>
            <a:ext cx="49866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超過 limit 直接 OOMKilled，比例要抓保守（本例 2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900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2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filebrowser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RWX vs</a:t>
            </a:r>
            <a:r>
              <a:rPr lang="zh-TW" altLang="en-US" dirty="0"/>
              <a:t> </a:t>
            </a:r>
            <a:r>
              <a:rPr lang="en-US" altLang="zh-TW" dirty="0"/>
              <a:t>RWO</a:t>
            </a:r>
            <a:r>
              <a:rPr lang="zh-TW" altLang="en-US" dirty="0"/>
              <a:t>，有狀態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是一個網頁版檔案管理器， 提供瀏覽、上傳、下載、預覽，並整合 </a:t>
            </a:r>
            <a:r>
              <a:rPr lang="en-US" altLang="zh-TW" sz="1600" dirty="0" err="1">
                <a:solidFill>
                  <a:schemeClr val="bg2"/>
                </a:solidFill>
              </a:rPr>
              <a:t>onlyoffice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做線上 編輯 </a:t>
            </a:r>
            <a:r>
              <a:rPr lang="en-US" altLang="zh-TW" sz="1600" dirty="0">
                <a:solidFill>
                  <a:schemeClr val="bg2"/>
                </a:solidFill>
              </a:rPr>
              <a:t>Word / Excel / PPT</a:t>
            </a:r>
            <a:r>
              <a:rPr lang="zh-TW" altLang="en-US" sz="1600" dirty="0">
                <a:solidFill>
                  <a:schemeClr val="bg2"/>
                </a:solidFill>
              </a:rPr>
              <a:t>。</a:t>
            </a:r>
            <a:endParaRPr lang="en-US" altLang="zh-TW" sz="1600" dirty="0">
              <a:solidFill>
                <a:schemeClr val="bg2"/>
              </a:solidFill>
            </a:endParaRPr>
          </a:p>
          <a:p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（實際跑的映像是社群 </a:t>
            </a:r>
            <a:r>
              <a:rPr lang="en-US" altLang="zh-TW" sz="1400" dirty="0">
                <a:solidFill>
                  <a:schemeClr val="bg2"/>
                </a:solidFill>
              </a:rPr>
              <a:t>fork 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Quantum</a:t>
            </a:r>
            <a:r>
              <a:rPr lang="zh-TW" altLang="en-US" sz="1400" dirty="0">
                <a:solidFill>
                  <a:schemeClr val="bg2"/>
                </a:solidFill>
              </a:rPr>
              <a:t>，</a:t>
            </a:r>
            <a:r>
              <a:rPr lang="en-US" altLang="zh-TW" sz="1400" dirty="0" err="1">
                <a:solidFill>
                  <a:schemeClr val="bg2"/>
                </a:solidFill>
              </a:rPr>
              <a:t>gtstef</a:t>
            </a:r>
            <a:r>
              <a:rPr lang="en-US" altLang="zh-TW" sz="1400" dirty="0">
                <a:solidFill>
                  <a:schemeClr val="bg2"/>
                </a:solidFill>
              </a:rPr>
              <a:t>/filebrowser:1.5.6-stable</a:t>
            </a:r>
            <a:r>
              <a:rPr lang="zh-TW" altLang="en-US" sz="1400" dirty="0">
                <a:solidFill>
                  <a:schemeClr val="bg2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18414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56" name="Google Shape;217;h354c58d55cfae689_0_309">
            <a:extLst>
              <a:ext uri="{FF2B5EF4-FFF2-40B4-BE49-F238E27FC236}">
                <a16:creationId xmlns:a16="http://schemas.microsoft.com/office/drawing/2014/main" id="{77D748DD-B61D-41A0-9DFA-BD719AAA714A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3B0564E1-9633-49A1-86B5-198A20F20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1650" y="297886"/>
            <a:ext cx="9304000" cy="621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60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2 站 ·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4" name="Google Shape;290;h354c58d55cfae689_0_380">
            <a:extLst>
              <a:ext uri="{FF2B5EF4-FFF2-40B4-BE49-F238E27FC236}">
                <a16:creationId xmlns:a16="http://schemas.microsoft.com/office/drawing/2014/main" id="{296540B1-DD77-443E-A1C1-B403094D0264}"/>
              </a:ext>
            </a:extLst>
          </p:cNvPr>
          <p:cNvSpPr/>
          <p:nvPr/>
        </p:nvSpPr>
        <p:spPr>
          <a:xfrm>
            <a:off x="815975" y="1877696"/>
            <a:ext cx="6445200" cy="115950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91;h354c58d55cfae689_0_380">
            <a:extLst>
              <a:ext uri="{FF2B5EF4-FFF2-40B4-BE49-F238E27FC236}">
                <a16:creationId xmlns:a16="http://schemas.microsoft.com/office/drawing/2014/main" id="{C009A80F-2FD8-4AAF-83EF-00F0E7A1F7E8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看資料能不能被多個 Pod 同時寫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292;h354c58d55cfae689_0_380">
            <a:extLst>
              <a:ext uri="{FF2B5EF4-FFF2-40B4-BE49-F238E27FC236}">
                <a16:creationId xmlns:a16="http://schemas.microsoft.com/office/drawing/2014/main" id="{4C7A3C93-69BA-49A0-93BB-0E4DC992296E}"/>
              </a:ext>
            </a:extLst>
          </p:cNvPr>
          <p:cNvSpPr/>
          <p:nvPr/>
        </p:nvSpPr>
        <p:spPr>
          <a:xfrm>
            <a:off x="995680" y="2362200"/>
            <a:ext cx="626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檔案本體 filebrowser-srv 用 RWX cephfs；sqlite 的 filebrowser-db 用 RWO ceph-block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93;h354c58d55cfae689_0_380">
            <a:extLst>
              <a:ext uri="{FF2B5EF4-FFF2-40B4-BE49-F238E27FC236}">
                <a16:creationId xmlns:a16="http://schemas.microsoft.com/office/drawing/2014/main" id="{3DE6AEC7-7ACF-4F22-8D55-110265CC4E2F}"/>
              </a:ext>
            </a:extLst>
          </p:cNvPr>
          <p:cNvSpPr/>
          <p:nvPr/>
        </p:nvSpPr>
        <p:spPr>
          <a:xfrm>
            <a:off x="815975" y="317055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294;h354c58d55cfae689_0_380">
            <a:extLst>
              <a:ext uri="{FF2B5EF4-FFF2-40B4-BE49-F238E27FC236}">
                <a16:creationId xmlns:a16="http://schemas.microsoft.com/office/drawing/2014/main" id="{60C4677C-0F09-44CE-AB9C-8303A2E68AE1}"/>
              </a:ext>
            </a:extLst>
          </p:cNvPr>
          <p:cNvSpPr/>
          <p:nvPr/>
        </p:nvSpPr>
        <p:spPr>
          <a:xfrm>
            <a:off x="995680" y="335026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replicas 1 + Recreate，刻意不做 HPA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295;h354c58d55cfae689_0_380">
            <a:extLst>
              <a:ext uri="{FF2B5EF4-FFF2-40B4-BE49-F238E27FC236}">
                <a16:creationId xmlns:a16="http://schemas.microsoft.com/office/drawing/2014/main" id="{074A8BA3-2335-4E2B-AC99-E6F621DA5ECF}"/>
              </a:ext>
            </a:extLst>
          </p:cNvPr>
          <p:cNvSpPr/>
          <p:nvPr/>
        </p:nvSpPr>
        <p:spPr>
          <a:xfrm>
            <a:off x="995680" y="365506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只允許單一寫入者：不是所有應用都能水平擴展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296;h354c58d55cfae689_0_380">
            <a:extLst>
              <a:ext uri="{FF2B5EF4-FFF2-40B4-BE49-F238E27FC236}">
                <a16:creationId xmlns:a16="http://schemas.microsoft.com/office/drawing/2014/main" id="{B6121D77-372C-456B-8BC8-E73079A09E93}"/>
              </a:ext>
            </a:extLst>
          </p:cNvPr>
          <p:cNvSpPr/>
          <p:nvPr/>
        </p:nvSpPr>
        <p:spPr>
          <a:xfrm>
            <a:off x="815975" y="421576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7;h354c58d55cfae689_0_380">
            <a:extLst>
              <a:ext uri="{FF2B5EF4-FFF2-40B4-BE49-F238E27FC236}">
                <a16:creationId xmlns:a16="http://schemas.microsoft.com/office/drawing/2014/main" id="{A2074C9B-9FF9-402A-BA7C-D0F3089DC4A4}"/>
              </a:ext>
            </a:extLst>
          </p:cNvPr>
          <p:cNvSpPr/>
          <p:nvPr/>
        </p:nvSpPr>
        <p:spPr>
          <a:xfrm>
            <a:off x="995680" y="439547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ConfigMap 宣告式設定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298;h354c58d55cfae689_0_380">
            <a:extLst>
              <a:ext uri="{FF2B5EF4-FFF2-40B4-BE49-F238E27FC236}">
                <a16:creationId xmlns:a16="http://schemas.microsoft.com/office/drawing/2014/main" id="{B5FF7B64-553C-4442-A8A5-B6433A41ED2B}"/>
              </a:ext>
            </a:extLst>
          </p:cNvPr>
          <p:cNvSpPr/>
          <p:nvPr/>
        </p:nvSpPr>
        <p:spPr>
          <a:xfrm>
            <a:off x="995680" y="470027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config.yaml 用 subPath 疊到預設路徑；還要跨 namespace 呼叫 onlyoffice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299;h354c58d55cfae689_0_380">
            <a:extLst>
              <a:ext uri="{FF2B5EF4-FFF2-40B4-BE49-F238E27FC236}">
                <a16:creationId xmlns:a16="http://schemas.microsoft.com/office/drawing/2014/main" id="{15EEAF8F-7CC8-4F1E-97AA-AA98D4270969}"/>
              </a:ext>
            </a:extLst>
          </p:cNvPr>
          <p:cNvSpPr/>
          <p:nvPr/>
        </p:nvSpPr>
        <p:spPr>
          <a:xfrm>
            <a:off x="7569200" y="1874521"/>
            <a:ext cx="3810000" cy="300750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300;h354c58d55cfae689_0_380">
            <a:extLst>
              <a:ext uri="{FF2B5EF4-FFF2-40B4-BE49-F238E27FC236}">
                <a16:creationId xmlns:a16="http://schemas.microsoft.com/office/drawing/2014/main" id="{28FC622E-C063-4165-8B58-AA57C57C7102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01;h354c58d55cfae689_0_380">
            <a:extLst>
              <a:ext uri="{FF2B5EF4-FFF2-40B4-BE49-F238E27FC236}">
                <a16:creationId xmlns:a16="http://schemas.microsoft.com/office/drawing/2014/main" id="{EA9B0E8B-1D98-4508-8358-534CD20C882A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02;h354c58d55cfae689_0_380">
            <a:extLst>
              <a:ext uri="{FF2B5EF4-FFF2-40B4-BE49-F238E27FC236}">
                <a16:creationId xmlns:a16="http://schemas.microsoft.com/office/drawing/2014/main" id="{1EA8A39C-B65A-4B88-9C40-D738967B12F4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03;h354c58d55cfae689_0_380">
            <a:extLst>
              <a:ext uri="{FF2B5EF4-FFF2-40B4-BE49-F238E27FC236}">
                <a16:creationId xmlns:a16="http://schemas.microsoft.com/office/drawing/2014/main" id="{43E12780-C77A-453F-A3F3-4E1D7FD02522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04;h354c58d55cfae689_0_380">
            <a:extLst>
              <a:ext uri="{FF2B5EF4-FFF2-40B4-BE49-F238E27FC236}">
                <a16:creationId xmlns:a16="http://schemas.microsoft.com/office/drawing/2014/main" id="{6D1DBDF5-7D06-44D0-9329-B61597827BB4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05;h354c58d55cfae689_0_380">
            <a:extLst>
              <a:ext uri="{FF2B5EF4-FFF2-40B4-BE49-F238E27FC236}">
                <a16:creationId xmlns:a16="http://schemas.microsoft.com/office/drawing/2014/main" id="{DBAC9E46-D134-4AEB-9978-6777B8DED6DE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306;h354c58d55cfae689_0_380">
            <a:extLst>
              <a:ext uri="{FF2B5EF4-FFF2-40B4-BE49-F238E27FC236}">
                <a16:creationId xmlns:a16="http://schemas.microsoft.com/office/drawing/2014/main" id="{AFCD5102-F8DB-49ED-8251-AAE8EA16FE3D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307;h354c58d55cfae689_0_380">
            <a:extLst>
              <a:ext uri="{FF2B5EF4-FFF2-40B4-BE49-F238E27FC236}">
                <a16:creationId xmlns:a16="http://schemas.microsoft.com/office/drawing/2014/main" id="{EFAA73BD-F668-43EB-9D8C-2C669F761274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308;h354c58d55cfae689_0_380">
            <a:extLst>
              <a:ext uri="{FF2B5EF4-FFF2-40B4-BE49-F238E27FC236}">
                <a16:creationId xmlns:a16="http://schemas.microsoft.com/office/drawing/2014/main" id="{828AD594-2AC8-4C7F-A50D-A80125A513C3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09;h354c58d55cfae689_0_380">
            <a:extLst>
              <a:ext uri="{FF2B5EF4-FFF2-40B4-BE49-F238E27FC236}">
                <a16:creationId xmlns:a16="http://schemas.microsoft.com/office/drawing/2014/main" id="{278DFED7-E538-4151-BFD5-9B8D20372C75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兩顆 PVC 都要是 Bound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310;h354c58d55cfae689_0_380">
            <a:extLst>
              <a:ext uri="{FF2B5EF4-FFF2-40B4-BE49-F238E27FC236}">
                <a16:creationId xmlns:a16="http://schemas.microsoft.com/office/drawing/2014/main" id="{20E9A731-9612-4B77-A24E-5668115F36AF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pvc -n filebrowser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10;h354c58d55cfae689_0_284">
            <a:extLst>
              <a:ext uri="{FF2B5EF4-FFF2-40B4-BE49-F238E27FC236}">
                <a16:creationId xmlns:a16="http://schemas.microsoft.com/office/drawing/2014/main" id="{E0EF3892-870E-4094-BB54-4C9082A390D0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RWX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RWO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怎麼選</a:t>
            </a:r>
          </a:p>
        </p:txBody>
      </p:sp>
      <p:sp>
        <p:nvSpPr>
          <p:cNvPr id="56" name="Google Shape;217;h354c58d55cfae689_0_309">
            <a:extLst>
              <a:ext uri="{FF2B5EF4-FFF2-40B4-BE49-F238E27FC236}">
                <a16:creationId xmlns:a16="http://schemas.microsoft.com/office/drawing/2014/main" id="{77D748DD-B61D-41A0-9DFA-BD719AAA714A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7332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 · 本頁節錄這站的新概念，其餘題目見 exercises/README.md</a:t>
            </a:r>
            <a:endParaRPr lang="zh-TW" altLang="en-US" sz="1400" dirty="0"/>
          </a:p>
        </p:txBody>
      </p:sp>
      <p:sp>
        <p:nvSpPr>
          <p:cNvPr id="102" name="Code panel 102"/>
          <p:cNvSpPr/>
          <p:nvPr/>
        </p:nvSpPr>
        <p:spPr>
          <a:xfrm>
            <a:off x="508000" y="1400000"/>
            <a:ext cx="5200000" cy="47000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Code line 103"/>
          <p:cNvSpPr txBox="1"/>
          <p:nvPr/>
        </p:nvSpPr>
        <p:spPr>
          <a:xfrm>
            <a:off x="708000" y="18399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02-pvc.yaml</a:t>
            </a:r>
            <a:endParaRPr lang="zh-TW" altLang="en-US" sz="1200" dirty="0"/>
          </a:p>
        </p:txBody>
      </p:sp>
      <p:sp>
        <p:nvSpPr>
          <p:cNvPr id="104" name="Code line 104"/>
          <p:cNvSpPr txBox="1"/>
          <p:nvPr/>
        </p:nvSpPr>
        <p:spPr>
          <a:xfrm>
            <a:off x="708000" y="20786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kind: PersistentVolumeClaim</a:t>
            </a:r>
            <a:endParaRPr lang="zh-TW" altLang="en-US" sz="1200" dirty="0"/>
          </a:p>
        </p:txBody>
      </p:sp>
      <p:sp>
        <p:nvSpPr>
          <p:cNvPr id="105" name="Code line 105"/>
          <p:cNvSpPr txBox="1"/>
          <p:nvPr/>
        </p:nvSpPr>
        <p:spPr>
          <a:xfrm>
            <a:off x="708000" y="23174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 lang="zh-TW" altLang="en-US" sz="1200" dirty="0"/>
          </a:p>
        </p:txBody>
      </p:sp>
      <p:sp>
        <p:nvSpPr>
          <p:cNvPr id="106" name="Code line 106"/>
          <p:cNvSpPr txBox="1"/>
          <p:nvPr/>
        </p:nvSpPr>
        <p:spPr>
          <a:xfrm>
            <a:off x="708000" y="25562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name: filebrowser-srv</a:t>
            </a:r>
            <a:r>
              <a:rPr lang="zh-TW" altLang="en-US" sz="1200" b="0" dirty="0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    # 使用者檔案</a:t>
            </a:r>
            <a:endParaRPr lang="zh-TW" altLang="en-US" sz="1200" dirty="0"/>
          </a:p>
        </p:txBody>
      </p:sp>
      <p:sp>
        <p:nvSpPr>
          <p:cNvPr id="107" name="Code line 107"/>
          <p:cNvSpPr txBox="1"/>
          <p:nvPr/>
        </p:nvSpPr>
        <p:spPr>
          <a:xfrm>
            <a:off x="708000" y="27949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lang="zh-TW" altLang="en-US" sz="1200" dirty="0"/>
          </a:p>
        </p:txBody>
      </p:sp>
      <p:sp>
        <p:nvSpPr>
          <p:cNvPr id="108" name="Code line 108"/>
          <p:cNvSpPr txBox="1"/>
          <p:nvPr/>
        </p:nvSpPr>
        <p:spPr>
          <a:xfrm>
            <a:off x="708000" y="30337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accessModes:</a:t>
            </a:r>
            <a:endParaRPr lang="zh-TW" altLang="en-US" sz="1200" dirty="0"/>
          </a:p>
        </p:txBody>
      </p:sp>
      <p:sp>
        <p:nvSpPr>
          <p:cNvPr id="109" name="Code line 109"/>
          <p:cNvSpPr txBox="1"/>
          <p:nvPr/>
        </p:nvSpPr>
        <p:spPr>
          <a:xfrm>
            <a:off x="708000" y="32724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-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__FILL_ME_5__</a:t>
            </a:r>
            <a:endParaRPr lang="zh-TW" altLang="en-US" sz="1200" dirty="0"/>
          </a:p>
        </p:txBody>
      </p:sp>
      <p:sp>
        <p:nvSpPr>
          <p:cNvPr id="110" name="Code line 110"/>
          <p:cNvSpPr txBox="1"/>
          <p:nvPr/>
        </p:nvSpPr>
        <p:spPr>
          <a:xfrm>
            <a:off x="708000" y="35112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storageClassName: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__FILL_ME_6__</a:t>
            </a:r>
            <a:endParaRPr lang="zh-TW" altLang="en-US" sz="1200" dirty="0"/>
          </a:p>
        </p:txBody>
      </p:sp>
      <p:sp>
        <p:nvSpPr>
          <p:cNvPr id="111" name="Code line 111"/>
          <p:cNvSpPr txBox="1"/>
          <p:nvPr/>
        </p:nvSpPr>
        <p:spPr>
          <a:xfrm>
            <a:off x="708000" y="37500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lang="zh-TW" altLang="en-US" sz="1200" dirty="0"/>
          </a:p>
        </p:txBody>
      </p:sp>
      <p:sp>
        <p:nvSpPr>
          <p:cNvPr id="112" name="Code line 112"/>
          <p:cNvSpPr txBox="1"/>
          <p:nvPr/>
        </p:nvSpPr>
        <p:spPr>
          <a:xfrm>
            <a:off x="708000" y="39887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kind: PersistentVolumeClaim</a:t>
            </a:r>
            <a:endParaRPr lang="zh-TW" altLang="en-US" sz="1200" dirty="0"/>
          </a:p>
        </p:txBody>
      </p:sp>
      <p:sp>
        <p:nvSpPr>
          <p:cNvPr id="113" name="Code line 113"/>
          <p:cNvSpPr txBox="1"/>
          <p:nvPr/>
        </p:nvSpPr>
        <p:spPr>
          <a:xfrm>
            <a:off x="708000" y="42275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 lang="zh-TW" altLang="en-US" sz="1200" dirty="0"/>
          </a:p>
        </p:txBody>
      </p:sp>
      <p:sp>
        <p:nvSpPr>
          <p:cNvPr id="114" name="Code line 114"/>
          <p:cNvSpPr txBox="1"/>
          <p:nvPr/>
        </p:nvSpPr>
        <p:spPr>
          <a:xfrm>
            <a:off x="708000" y="44662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name: filebrowser-db</a:t>
            </a:r>
            <a:r>
              <a:rPr lang="zh-TW" altLang="en-US" sz="1200" b="0" dirty="0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     # sqlite</a:t>
            </a:r>
            <a:endParaRPr lang="zh-TW" altLang="en-US" sz="1200" dirty="0"/>
          </a:p>
        </p:txBody>
      </p:sp>
      <p:sp>
        <p:nvSpPr>
          <p:cNvPr id="115" name="Code line 115"/>
          <p:cNvSpPr txBox="1"/>
          <p:nvPr/>
        </p:nvSpPr>
        <p:spPr>
          <a:xfrm>
            <a:off x="708000" y="47050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lang="zh-TW" altLang="en-US" sz="1200" dirty="0"/>
          </a:p>
        </p:txBody>
      </p:sp>
      <p:sp>
        <p:nvSpPr>
          <p:cNvPr id="116" name="Code line 116"/>
          <p:cNvSpPr txBox="1"/>
          <p:nvPr/>
        </p:nvSpPr>
        <p:spPr>
          <a:xfrm>
            <a:off x="708000" y="49438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accessModes:</a:t>
            </a:r>
            <a:endParaRPr lang="zh-TW" altLang="en-US" sz="1200" dirty="0"/>
          </a:p>
        </p:txBody>
      </p:sp>
      <p:sp>
        <p:nvSpPr>
          <p:cNvPr id="117" name="Code line 117"/>
          <p:cNvSpPr txBox="1"/>
          <p:nvPr/>
        </p:nvSpPr>
        <p:spPr>
          <a:xfrm>
            <a:off x="708000" y="51825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-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__FILL_ME_7__</a:t>
            </a:r>
            <a:endParaRPr lang="zh-TW" altLang="en-US" sz="1200" dirty="0"/>
          </a:p>
        </p:txBody>
      </p:sp>
      <p:sp>
        <p:nvSpPr>
          <p:cNvPr id="118" name="Code line 118"/>
          <p:cNvSpPr txBox="1"/>
          <p:nvPr/>
        </p:nvSpPr>
        <p:spPr>
          <a:xfrm>
            <a:off x="708000" y="54213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storageClassName: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__FILL_ME_8__</a:t>
            </a:r>
            <a:endParaRPr lang="zh-TW" altLang="en-US" sz="1200" dirty="0"/>
          </a:p>
        </p:txBody>
      </p:sp>
      <p:sp>
        <p:nvSpPr>
          <p:cNvPr id="119" name="Hint card 119"/>
          <p:cNvSpPr/>
          <p:nvPr/>
        </p:nvSpPr>
        <p:spPr>
          <a:xfrm>
            <a:off x="5908000" y="1400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0" name="Hint label 120"/>
          <p:cNvSpPr txBox="1"/>
          <p:nvPr/>
        </p:nvSpPr>
        <p:spPr>
          <a:xfrm>
            <a:off x="6088000" y="1540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__FILL_ME_5__ / 6 · filebrowser-srv</a:t>
            </a:r>
            <a:endParaRPr lang="zh-TW" altLang="en-US" sz="1200" dirty="0"/>
          </a:p>
        </p:txBody>
      </p:sp>
      <p:sp>
        <p:nvSpPr>
          <p:cNvPr id="121" name="Hint text 121"/>
          <p:cNvSpPr txBox="1"/>
          <p:nvPr/>
        </p:nvSpPr>
        <p:spPr>
          <a:xfrm>
            <a:off x="6088000" y="1830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使用者檔案要能被多個 Pod 同時讀寫：選哪種 accessMode？哪個 StorageClass 是 CephFS？</a:t>
            </a:r>
            <a:endParaRPr lang="zh-TW" altLang="en-US" sz="1300" dirty="0"/>
          </a:p>
        </p:txBody>
      </p:sp>
      <p:sp>
        <p:nvSpPr>
          <p:cNvPr id="122" name="Hint card 122"/>
          <p:cNvSpPr/>
          <p:nvPr/>
        </p:nvSpPr>
        <p:spPr>
          <a:xfrm>
            <a:off x="5908000" y="2612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3" name="Hint label 123"/>
          <p:cNvSpPr txBox="1"/>
          <p:nvPr/>
        </p:nvSpPr>
        <p:spPr>
          <a:xfrm>
            <a:off x="6088000" y="2752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__FILL_ME_7__ / 8 · filebrowser-db</a:t>
            </a:r>
            <a:endParaRPr lang="zh-TW" altLang="en-US" sz="1200" dirty="0"/>
          </a:p>
        </p:txBody>
      </p:sp>
      <p:sp>
        <p:nvSpPr>
          <p:cNvPr id="124" name="Hint text 124"/>
          <p:cNvSpPr txBox="1"/>
          <p:nvPr/>
        </p:nvSpPr>
        <p:spPr>
          <a:xfrm>
            <a:off x="6088000" y="3042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sqlite 只允許單一寫入者，跟上面正好相反：哪個 StorageClass 是 Ceph RBD？</a:t>
            </a:r>
            <a:endParaRPr lang="zh-TW" altLang="en-US" sz="1300" dirty="0"/>
          </a:p>
        </p:txBody>
      </p:sp>
      <p:sp>
        <p:nvSpPr>
          <p:cNvPr id="125" name="Hint card 125"/>
          <p:cNvSpPr/>
          <p:nvPr/>
        </p:nvSpPr>
        <p:spPr>
          <a:xfrm>
            <a:off x="5908000" y="3825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6" name="Hint label 126"/>
          <p:cNvSpPr txBox="1"/>
          <p:nvPr/>
        </p:nvSpPr>
        <p:spPr>
          <a:xfrm>
            <a:off x="6088000" y="3965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__FILL_ME_12__ / 13 · 04-deployment</a:t>
            </a:r>
            <a:endParaRPr lang="zh-TW" altLang="en-US" sz="1200" dirty="0"/>
          </a:p>
        </p:txBody>
      </p:sp>
      <p:sp>
        <p:nvSpPr>
          <p:cNvPr id="127" name="Hint text 127"/>
          <p:cNvSpPr txBox="1"/>
          <p:nvPr/>
        </p:nvSpPr>
        <p:spPr>
          <a:xfrm>
            <a:off x="6088000" y="4255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RWO 同時只能掛在一個節點：開幾個副本？用哪種策略先砍舊 Pod 再建新的？</a:t>
            </a:r>
            <a:endParaRPr lang="zh-TW" altLang="en-US" sz="1300" dirty="0"/>
          </a:p>
        </p:txBody>
      </p:sp>
      <p:sp>
        <p:nvSpPr>
          <p:cNvPr id="128" name="Hint card 128"/>
          <p:cNvSpPr/>
          <p:nvPr/>
        </p:nvSpPr>
        <p:spPr>
          <a:xfrm>
            <a:off x="5908000" y="5037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9" name="Hint label 129"/>
          <p:cNvSpPr txBox="1"/>
          <p:nvPr/>
        </p:nvSpPr>
        <p:spPr>
          <a:xfrm>
            <a:off x="6088000" y="5177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__FILL_ME_9__ · disableUpdateCheck</a:t>
            </a:r>
            <a:endParaRPr lang="zh-TW" altLang="en-US" sz="1200" dirty="0"/>
          </a:p>
        </p:txBody>
      </p:sp>
      <p:sp>
        <p:nvSpPr>
          <p:cNvPr id="130" name="Hint text 130"/>
          <p:cNvSpPr txBox="1"/>
          <p:nvPr/>
        </p:nvSpPr>
        <p:spPr>
          <a:xfrm>
            <a:off x="6088000" y="5467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開機卡 31 秒的元兇是啟動時對外檢查新版本：該填 true 還是 false？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495937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一直卡在 Pending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其中一顆 PVC 遲遲不 Bound，Events 提到 provisioning / access mode。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pvc -n filebrowser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Running，透過 Gateway 連線得到 503 / connection refused。跟 label 有關。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filebrowser -n filebrowser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找不到設定檔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卡在 ContainerCreating，或一啟動就報錯找不到設定檔 / 某個 key。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filebrowser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下一次更新才卡住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第一次 apply 完全正常；之後改 image tag 或任何欄位，新 Pod 就卡住。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rollout status deploy/filebrowser -n filebrowser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30580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延伸：踩坑案例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F6A450C-5DB3-485A-99B2-B6834A839237}"/>
              </a:ext>
            </a:extLst>
          </p:cNvPr>
          <p:cNvGrpSpPr/>
          <p:nvPr/>
        </p:nvGrpSpPr>
        <p:grpSpPr>
          <a:xfrm>
            <a:off x="579808" y="1877696"/>
            <a:ext cx="3616510" cy="2908200"/>
            <a:chOff x="815975" y="1877696"/>
            <a:chExt cx="3616510" cy="2908200"/>
          </a:xfrm>
        </p:grpSpPr>
        <p:sp>
          <p:nvSpPr>
            <p:cNvPr id="24" name="Google Shape;319;h354c58d55cfae689_0_408">
              <a:extLst>
                <a:ext uri="{FF2B5EF4-FFF2-40B4-BE49-F238E27FC236}">
                  <a16:creationId xmlns:a16="http://schemas.microsoft.com/office/drawing/2014/main" id="{48A86278-F8EE-4375-B9C5-52E80503EE30}"/>
                </a:ext>
              </a:extLst>
            </p:cNvPr>
            <p:cNvSpPr/>
            <p:nvPr/>
          </p:nvSpPr>
          <p:spPr>
            <a:xfrm>
              <a:off x="815975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0;h354c58d55cfae689_0_408">
              <a:extLst>
                <a:ext uri="{FF2B5EF4-FFF2-40B4-BE49-F238E27FC236}">
                  <a16:creationId xmlns:a16="http://schemas.microsoft.com/office/drawing/2014/main" id="{E592CDA7-1BDB-4796-A0BD-E43EE5B02EE5}"/>
                </a:ext>
              </a:extLst>
            </p:cNvPr>
            <p:cNvSpPr/>
            <p:nvPr/>
          </p:nvSpPr>
          <p:spPr>
            <a:xfrm>
              <a:off x="1021079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容器</a:t>
              </a:r>
              <a:r>
                <a:rPr lang="en-US" sz="16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FATAL：找不到設定檔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21;h354c58d55cfae689_0_408">
              <a:extLst>
                <a:ext uri="{FF2B5EF4-FFF2-40B4-BE49-F238E27FC236}">
                  <a16:creationId xmlns:a16="http://schemas.microsoft.com/office/drawing/2014/main" id="{3B7CFD9F-2FF7-48B2-9B40-4A4566312CE0}"/>
                </a:ext>
              </a:extLst>
            </p:cNvPr>
            <p:cNvSpPr/>
            <p:nvPr/>
          </p:nvSpPr>
          <p:spPr>
            <a:xfrm>
              <a:off x="1021079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22;h354c58d55cfae689_0_408">
              <a:extLst>
                <a:ext uri="{FF2B5EF4-FFF2-40B4-BE49-F238E27FC236}">
                  <a16:creationId xmlns:a16="http://schemas.microsoft.com/office/drawing/2014/main" id="{D61766E5-EC37-4FCD-A140-2CC824AAAEAF}"/>
                </a:ext>
              </a:extLst>
            </p:cNvPr>
            <p:cNvSpPr/>
            <p:nvPr/>
          </p:nvSpPr>
          <p:spPr>
            <a:xfrm>
              <a:off x="1021079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image 的 entrypoint 不轉發 -c 參數，只認官方預設路徑。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23;h354c58d55cfae689_0_408">
              <a:extLst>
                <a:ext uri="{FF2B5EF4-FFF2-40B4-BE49-F238E27FC236}">
                  <a16:creationId xmlns:a16="http://schemas.microsoft.com/office/drawing/2014/main" id="{E47C01AB-7599-4D83-B682-00428EDC9C50}"/>
                </a:ext>
              </a:extLst>
            </p:cNvPr>
            <p:cNvSpPr/>
            <p:nvPr/>
          </p:nvSpPr>
          <p:spPr>
            <a:xfrm>
              <a:off x="1021079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324;h354c58d55cfae689_0_408">
              <a:extLst>
                <a:ext uri="{FF2B5EF4-FFF2-40B4-BE49-F238E27FC236}">
                  <a16:creationId xmlns:a16="http://schemas.microsoft.com/office/drawing/2014/main" id="{056EB0A9-99D9-4EC8-A035-7F835CE3DE42}"/>
                </a:ext>
              </a:extLst>
            </p:cNvPr>
            <p:cNvSpPr/>
            <p:nvPr/>
          </p:nvSpPr>
          <p:spPr>
            <a:xfrm>
              <a:off x="1021079" y="3573779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不跟 entrypoint 對抗：用 subPath 把 ConfigMap 疊到預設路徑的 config.yaml。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2F291005-DDD3-4C0E-BF66-BFF0B1D4BB43}"/>
              </a:ext>
            </a:extLst>
          </p:cNvPr>
          <p:cNvGrpSpPr/>
          <p:nvPr/>
        </p:nvGrpSpPr>
        <p:grpSpPr>
          <a:xfrm>
            <a:off x="4405789" y="1877696"/>
            <a:ext cx="3616510" cy="2908200"/>
            <a:chOff x="4405789" y="1877696"/>
            <a:chExt cx="3616510" cy="2908200"/>
          </a:xfrm>
        </p:grpSpPr>
        <p:sp>
          <p:nvSpPr>
            <p:cNvPr id="30" name="Google Shape;325;h354c58d55cfae689_0_408">
              <a:extLst>
                <a:ext uri="{FF2B5EF4-FFF2-40B4-BE49-F238E27FC236}">
                  <a16:creationId xmlns:a16="http://schemas.microsoft.com/office/drawing/2014/main" id="{5473ADFE-74D4-478A-94EB-236877C7EA35}"/>
                </a:ext>
              </a:extLst>
            </p:cNvPr>
            <p:cNvSpPr/>
            <p:nvPr/>
          </p:nvSpPr>
          <p:spPr>
            <a:xfrm>
              <a:off x="4405789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6;h354c58d55cfae689_0_408">
              <a:extLst>
                <a:ext uri="{FF2B5EF4-FFF2-40B4-BE49-F238E27FC236}">
                  <a16:creationId xmlns:a16="http://schemas.microsoft.com/office/drawing/2014/main" id="{A0C04AB1-3E1A-4AAB-B5F1-9858F54665B7}"/>
                </a:ext>
              </a:extLst>
            </p:cNvPr>
            <p:cNvSpPr/>
            <p:nvPr/>
          </p:nvSpPr>
          <p:spPr>
            <a:xfrm>
              <a:off x="4610893" y="2082800"/>
              <a:ext cx="3272768" cy="5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編輯器顯示「目前無法存取該檔案」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7;h354c58d55cfae689_0_408">
              <a:extLst>
                <a:ext uri="{FF2B5EF4-FFF2-40B4-BE49-F238E27FC236}">
                  <a16:creationId xmlns:a16="http://schemas.microsoft.com/office/drawing/2014/main" id="{FAB7DD50-EC90-4084-9EC0-4C086BAC722B}"/>
                </a:ext>
              </a:extLst>
            </p:cNvPr>
            <p:cNvSpPr/>
            <p:nvPr/>
          </p:nvSpPr>
          <p:spPr>
            <a:xfrm>
              <a:off x="4610893" y="26873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28;h354c58d55cfae689_0_408">
              <a:extLst>
                <a:ext uri="{FF2B5EF4-FFF2-40B4-BE49-F238E27FC236}">
                  <a16:creationId xmlns:a16="http://schemas.microsoft.com/office/drawing/2014/main" id="{B87436AB-1D25-41B6-B623-7D3A7FC4AD50}"/>
                </a:ext>
              </a:extLst>
            </p:cNvPr>
            <p:cNvSpPr/>
            <p:nvPr/>
          </p:nvSpPr>
          <p:spPr>
            <a:xfrm>
              <a:off x="4610893" y="29768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document.url 用了瀏覽器網址；onlyoffice 回頭抓檔案的方向也沒放行。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329;h354c58d55cfae689_0_408">
              <a:extLst>
                <a:ext uri="{FF2B5EF4-FFF2-40B4-BE49-F238E27FC236}">
                  <a16:creationId xmlns:a16="http://schemas.microsoft.com/office/drawing/2014/main" id="{46A1F355-63FE-485D-AF95-E96856150DB2}"/>
                </a:ext>
              </a:extLst>
            </p:cNvPr>
            <p:cNvSpPr/>
            <p:nvPr/>
          </p:nvSpPr>
          <p:spPr>
            <a:xfrm>
              <a:off x="4610893" y="3548379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330;h354c58d55cfae689_0_408">
              <a:extLst>
                <a:ext uri="{FF2B5EF4-FFF2-40B4-BE49-F238E27FC236}">
                  <a16:creationId xmlns:a16="http://schemas.microsoft.com/office/drawing/2014/main" id="{D622DF67-263B-4189-9524-FBBA7464441C}"/>
                </a:ext>
              </a:extLst>
            </p:cNvPr>
            <p:cNvSpPr/>
            <p:nvPr/>
          </p:nvSpPr>
          <p:spPr>
            <a:xfrm>
              <a:off x="4610893" y="3837942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設定 server.internalUrl，並補上 onlyoffice → filebrowser 的 NetworkPolicy。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CF287CD5-670F-4200-B1C6-A6786F189BD8}"/>
              </a:ext>
            </a:extLst>
          </p:cNvPr>
          <p:cNvGrpSpPr/>
          <p:nvPr/>
        </p:nvGrpSpPr>
        <p:grpSpPr>
          <a:xfrm>
            <a:off x="8227403" y="1877696"/>
            <a:ext cx="3616510" cy="2908200"/>
            <a:chOff x="7995682" y="1877696"/>
            <a:chExt cx="3616510" cy="2908200"/>
          </a:xfrm>
        </p:grpSpPr>
        <p:sp>
          <p:nvSpPr>
            <p:cNvPr id="57" name="Google Shape;331;h354c58d55cfae689_0_408">
              <a:extLst>
                <a:ext uri="{FF2B5EF4-FFF2-40B4-BE49-F238E27FC236}">
                  <a16:creationId xmlns:a16="http://schemas.microsoft.com/office/drawing/2014/main" id="{6C45B7C9-B126-43B1-B6A3-15023F90005D}"/>
                </a:ext>
              </a:extLst>
            </p:cNvPr>
            <p:cNvSpPr/>
            <p:nvPr/>
          </p:nvSpPr>
          <p:spPr>
            <a:xfrm>
              <a:off x="7995682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2;h354c58d55cfae689_0_408">
              <a:extLst>
                <a:ext uri="{FF2B5EF4-FFF2-40B4-BE49-F238E27FC236}">
                  <a16:creationId xmlns:a16="http://schemas.microsoft.com/office/drawing/2014/main" id="{FB4FDDBA-12CA-4E66-ACE5-4836B1C171F8}"/>
                </a:ext>
              </a:extLst>
            </p:cNvPr>
            <p:cNvSpPr/>
            <p:nvPr/>
          </p:nvSpPr>
          <p:spPr>
            <a:xfrm>
              <a:off x="8200786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每次開機卡 31 秒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333;h354c58d55cfae689_0_408">
              <a:extLst>
                <a:ext uri="{FF2B5EF4-FFF2-40B4-BE49-F238E27FC236}">
                  <a16:creationId xmlns:a16="http://schemas.microsoft.com/office/drawing/2014/main" id="{F83FCA74-BFBD-4702-8469-466D78FCABF5}"/>
                </a:ext>
              </a:extLst>
            </p:cNvPr>
            <p:cNvSpPr/>
            <p:nvPr/>
          </p:nvSpPr>
          <p:spPr>
            <a:xfrm>
              <a:off x="8200786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334;h354c58d55cfae689_0_408">
              <a:extLst>
                <a:ext uri="{FF2B5EF4-FFF2-40B4-BE49-F238E27FC236}">
                  <a16:creationId xmlns:a16="http://schemas.microsoft.com/office/drawing/2014/main" id="{4D4ED0FF-923A-4653-8EBD-D7F0CB0290DE}"/>
                </a:ext>
              </a:extLst>
            </p:cNvPr>
            <p:cNvSpPr/>
            <p:nvPr/>
          </p:nvSpPr>
          <p:spPr>
            <a:xfrm>
              <a:off x="8200786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啟動時同步檢查 GitHub 新版本，連線被 NetworkPolicy 悄悄丟棄。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35;h354c58d55cfae689_0_408">
              <a:extLst>
                <a:ext uri="{FF2B5EF4-FFF2-40B4-BE49-F238E27FC236}">
                  <a16:creationId xmlns:a16="http://schemas.microsoft.com/office/drawing/2014/main" id="{8047A49A-FD97-47D8-859B-E73A231AAB60}"/>
                </a:ext>
              </a:extLst>
            </p:cNvPr>
            <p:cNvSpPr/>
            <p:nvPr/>
          </p:nvSpPr>
          <p:spPr>
            <a:xfrm>
              <a:off x="8200786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336;h354c58d55cfae689_0_408">
              <a:extLst>
                <a:ext uri="{FF2B5EF4-FFF2-40B4-BE49-F238E27FC236}">
                  <a16:creationId xmlns:a16="http://schemas.microsoft.com/office/drawing/2014/main" id="{2F649A39-74EB-4F83-9E42-1211A20DBB2E}"/>
                </a:ext>
              </a:extLst>
            </p:cNvPr>
            <p:cNvSpPr/>
            <p:nvPr/>
          </p:nvSpPr>
          <p:spPr>
            <a:xfrm>
              <a:off x="8200786" y="35737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server.disableUpdateCheck: true，開機時間降到 2 秒內。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3F23EB91-77FF-4B23-B77F-EC6EF97F1270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830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3 </a:t>
            </a:r>
            <a:r>
              <a:rPr lang="zh-TW" altLang="en-US" dirty="0"/>
              <a:t>站 </a:t>
            </a:r>
            <a:r>
              <a:rPr lang="en-US" altLang="zh-TW" dirty="0"/>
              <a:t>· 	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App </a:t>
            </a:r>
            <a:r>
              <a:rPr lang="zh-TW" altLang="en-US" dirty="0"/>
              <a:t>與 </a:t>
            </a:r>
            <a:r>
              <a:rPr lang="en-US" altLang="zh-TW" dirty="0"/>
              <a:t>MySQL </a:t>
            </a:r>
            <a:r>
              <a:rPr lang="zh-TW" altLang="en-US" dirty="0"/>
              <a:t>住同一個 </a:t>
            </a:r>
            <a:r>
              <a:rPr lang="en-US" altLang="zh-TW" dirty="0"/>
              <a:t>namespace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是極簡、輕量且現代化的開源討論區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zh-TW" altLang="en-US" sz="1600" dirty="0">
                <a:solidFill>
                  <a:schemeClr val="bg2"/>
                </a:solidFill>
              </a:rPr>
              <a:t>論壇軟體。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mondedie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flarum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2657230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CE4DEC98-EE38-45D4-989E-3BB7FB09DC34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1765EE3E-AEB1-40FD-8458-2AA95A64E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1261" y="250261"/>
            <a:ext cx="9264778" cy="648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40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3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flarum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2" name="Google Shape;345;h354c58d55cfae689_0_433">
            <a:extLst>
              <a:ext uri="{FF2B5EF4-FFF2-40B4-BE49-F238E27FC236}">
                <a16:creationId xmlns:a16="http://schemas.microsoft.com/office/drawing/2014/main" id="{5C6D598E-13BB-4020-850B-8767B56EF462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46;h354c58d55cfae689_0_433">
            <a:extLst>
              <a:ext uri="{FF2B5EF4-FFF2-40B4-BE49-F238E27FC236}">
                <a16:creationId xmlns:a16="http://schemas.microsoft.com/office/drawing/2014/main" id="{2D4EF55A-9905-4274-8284-2C5424BE7D9C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initContainer（全教材唯一）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7;h354c58d55cfae689_0_433">
            <a:extLst>
              <a:ext uri="{FF2B5EF4-FFF2-40B4-BE49-F238E27FC236}">
                <a16:creationId xmlns:a16="http://schemas.microsoft.com/office/drawing/2014/main" id="{16ABA1C2-71D6-4E58-9FE2-145A1633950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PVC 一開始是空的：先建好子目錄、chown 991:991，主容器才寫得進去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48;h354c58d55cfae689_0_433">
            <a:extLst>
              <a:ext uri="{FF2B5EF4-FFF2-40B4-BE49-F238E27FC236}">
                <a16:creationId xmlns:a16="http://schemas.microsoft.com/office/drawing/2014/main" id="{763C2EBF-A88D-4C35-B5E5-D89C668C1607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49;h354c58d55cfae689_0_433">
            <a:extLst>
              <a:ext uri="{FF2B5EF4-FFF2-40B4-BE49-F238E27FC236}">
                <a16:creationId xmlns:a16="http://schemas.microsoft.com/office/drawing/2014/main" id="{77F399AE-2975-4C7B-9B1F-DEA04DAEAF18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enableServiceLinks: 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50;h354c58d55cfae689_0_433">
            <a:extLst>
              <a:ext uri="{FF2B5EF4-FFF2-40B4-BE49-F238E27FC236}">
                <a16:creationId xmlns:a16="http://schemas.microsoft.com/office/drawing/2014/main" id="{A1622E17-FAF7-4C61-A0D2-3A077ED16FBB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Service 叫 flarum，K8s 自動注入的 FLARUM_PORT 蓋掉了應用程式自己的設定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51;h354c58d55cfae689_0_433">
            <a:extLst>
              <a:ext uri="{FF2B5EF4-FFF2-40B4-BE49-F238E27FC236}">
                <a16:creationId xmlns:a16="http://schemas.microsoft.com/office/drawing/2014/main" id="{84FF60A1-09C8-47C7-BC9A-69080DADDF51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52;h354c58d55cfae689_0_433">
            <a:extLst>
              <a:ext uri="{FF2B5EF4-FFF2-40B4-BE49-F238E27FC236}">
                <a16:creationId xmlns:a16="http://schemas.microsoft.com/office/drawing/2014/main" id="{E6CE9985-FC13-4525-A6F9-7DB3A65C9874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兩個 Secret 互相引用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353;h354c58d55cfae689_0_433">
            <a:extLst>
              <a:ext uri="{FF2B5EF4-FFF2-40B4-BE49-F238E27FC236}">
                <a16:creationId xmlns:a16="http://schemas.microsoft.com/office/drawing/2014/main" id="{10F187E3-A751-4E24-B7CF-7F77E6127A79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Deployment 用 secretKeyRef 直接讀 mysql-secret 的密碼，不用再複製一份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354;h354c58d55cfae689_0_433">
            <a:extLst>
              <a:ext uri="{FF2B5EF4-FFF2-40B4-BE49-F238E27FC236}">
                <a16:creationId xmlns:a16="http://schemas.microsoft.com/office/drawing/2014/main" id="{09A17B76-C681-4FD3-BC69-158BDDA8322C}"/>
              </a:ext>
            </a:extLst>
          </p:cNvPr>
          <p:cNvSpPr/>
          <p:nvPr/>
        </p:nvSpPr>
        <p:spPr>
          <a:xfrm>
            <a:off x="7569200" y="1874521"/>
            <a:ext cx="3810000" cy="324600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355;h354c58d55cfae689_0_433">
            <a:extLst>
              <a:ext uri="{FF2B5EF4-FFF2-40B4-BE49-F238E27FC236}">
                <a16:creationId xmlns:a16="http://schemas.microsoft.com/office/drawing/2014/main" id="{38E2AFE0-5687-4B2D-B92F-79A0BF9B60F5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56;h354c58d55cfae689_0_433">
            <a:extLst>
              <a:ext uri="{FF2B5EF4-FFF2-40B4-BE49-F238E27FC236}">
                <a16:creationId xmlns:a16="http://schemas.microsoft.com/office/drawing/2014/main" id="{0DA1D09C-2C2E-4068-9C02-64347503C809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57;h354c58d55cfae689_0_433">
            <a:extLst>
              <a:ext uri="{FF2B5EF4-FFF2-40B4-BE49-F238E27FC236}">
                <a16:creationId xmlns:a16="http://schemas.microsoft.com/office/drawing/2014/main" id="{CCBEA2F5-EEA9-4207-8B4D-DA67E0C038AE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58;h354c58d55cfae689_0_433">
            <a:extLst>
              <a:ext uri="{FF2B5EF4-FFF2-40B4-BE49-F238E27FC236}">
                <a16:creationId xmlns:a16="http://schemas.microsoft.com/office/drawing/2014/main" id="{A47DE3B5-50AE-41A0-B9C8-E41574096D2C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02-mysql-secret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59;h354c58d55cfae689_0_433">
            <a:extLst>
              <a:ext uri="{FF2B5EF4-FFF2-40B4-BE49-F238E27FC236}">
                <a16:creationId xmlns:a16="http://schemas.microsoft.com/office/drawing/2014/main" id="{6D994D25-347E-4999-A6A3-D483937E8012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03-mysql-service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60;h354c58d55cfae689_0_433">
            <a:extLst>
              <a:ext uri="{FF2B5EF4-FFF2-40B4-BE49-F238E27FC236}">
                <a16:creationId xmlns:a16="http://schemas.microsoft.com/office/drawing/2014/main" id="{873F13ED-531E-4E4B-92EF-79EF928D8E23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04-mysql-statefulset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61;h354c58d55cfae689_0_433">
            <a:extLst>
              <a:ext uri="{FF2B5EF4-FFF2-40B4-BE49-F238E27FC236}">
                <a16:creationId xmlns:a16="http://schemas.microsoft.com/office/drawing/2014/main" id="{E243876F-1F26-49FC-8A5A-DE0F1689D19C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05-flarum-secret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62;h354c58d55cfae689_0_433">
            <a:extLst>
              <a:ext uri="{FF2B5EF4-FFF2-40B4-BE49-F238E27FC236}">
                <a16:creationId xmlns:a16="http://schemas.microsoft.com/office/drawing/2014/main" id="{C7CDCB1E-BD5F-4738-A2B6-963B170AD89B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06-flarum-pvc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363;h354c58d55cfae689_0_433">
            <a:extLst>
              <a:ext uri="{FF2B5EF4-FFF2-40B4-BE49-F238E27FC236}">
                <a16:creationId xmlns:a16="http://schemas.microsoft.com/office/drawing/2014/main" id="{2B6BACB9-E55F-4925-84D7-459BA3F967DA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07-flarum-deployment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364;h354c58d55cfae689_0_433">
            <a:extLst>
              <a:ext uri="{FF2B5EF4-FFF2-40B4-BE49-F238E27FC236}">
                <a16:creationId xmlns:a16="http://schemas.microsoft.com/office/drawing/2014/main" id="{A12ACED7-981D-47A9-962F-A25AF4F00C1D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08-flarum-service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365;h354c58d55cfae689_0_433">
            <a:extLst>
              <a:ext uri="{FF2B5EF4-FFF2-40B4-BE49-F238E27FC236}">
                <a16:creationId xmlns:a16="http://schemas.microsoft.com/office/drawing/2014/main" id="{8D01235F-1F98-4658-80C4-878D900425D2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66;h354c58d55cfae689_0_433">
            <a:extLst>
              <a:ext uri="{FF2B5EF4-FFF2-40B4-BE49-F238E27FC236}">
                <a16:creationId xmlns:a16="http://schemas.microsoft.com/office/drawing/2014/main" id="{A78CD284-29C1-4B64-9FAD-1B9F41278213}"/>
              </a:ext>
            </a:extLst>
          </p:cNvPr>
          <p:cNvSpPr/>
          <p:nvPr/>
        </p:nvSpPr>
        <p:spPr>
          <a:xfrm>
            <a:off x="7797800" y="47040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210;h354c58d55cfae689_0_284">
            <a:extLst>
              <a:ext uri="{FF2B5EF4-FFF2-40B4-BE49-F238E27FC236}">
                <a16:creationId xmlns:a16="http://schemas.microsoft.com/office/drawing/2014/main" id="{8B8A63B8-B09F-4F2A-A450-1B93985F757F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MySQL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住同一個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lang="zh-TW" altLang="en-US" sz="1400" dirty="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CE4DEC98-EE38-45D4-989E-3BB7FB09DC34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1403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 · 本頁節錄這站的新概念，其餘題目見 exercises/README.md</a:t>
            </a:r>
            <a:endParaRPr lang="zh-TW" altLang="en-US" sz="1400" dirty="0"/>
          </a:p>
        </p:txBody>
      </p:sp>
      <p:sp>
        <p:nvSpPr>
          <p:cNvPr id="102" name="Code panel 102"/>
          <p:cNvSpPr/>
          <p:nvPr/>
        </p:nvSpPr>
        <p:spPr>
          <a:xfrm>
            <a:off x="508000" y="1400000"/>
            <a:ext cx="5200000" cy="47000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Code line 103"/>
          <p:cNvSpPr txBox="1"/>
          <p:nvPr/>
        </p:nvSpPr>
        <p:spPr>
          <a:xfrm>
            <a:off x="708000" y="16011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07-flarum-deployment.yaml（節錄）</a:t>
            </a:r>
            <a:endParaRPr lang="zh-TW" altLang="en-US" sz="1200" dirty="0"/>
          </a:p>
        </p:txBody>
      </p:sp>
      <p:sp>
        <p:nvSpPr>
          <p:cNvPr id="104" name="Code line 104"/>
          <p:cNvSpPr txBox="1"/>
          <p:nvPr/>
        </p:nvSpPr>
        <p:spPr>
          <a:xfrm>
            <a:off x="708000" y="18399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lang="zh-TW" altLang="en-US" sz="1200" dirty="0"/>
          </a:p>
        </p:txBody>
      </p:sp>
      <p:sp>
        <p:nvSpPr>
          <p:cNvPr id="105" name="Code line 105"/>
          <p:cNvSpPr txBox="1"/>
          <p:nvPr/>
        </p:nvSpPr>
        <p:spPr>
          <a:xfrm>
            <a:off x="708000" y="20786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enableServiceLinks: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__FILL_ME_18__</a:t>
            </a:r>
            <a:endParaRPr lang="zh-TW" altLang="en-US" sz="1200" dirty="0"/>
          </a:p>
        </p:txBody>
      </p:sp>
      <p:sp>
        <p:nvSpPr>
          <p:cNvPr id="106" name="Code line 106"/>
          <p:cNvSpPr txBox="1"/>
          <p:nvPr/>
        </p:nvSpPr>
        <p:spPr>
          <a:xfrm>
            <a:off x="708000" y="23174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containers:</a:t>
            </a:r>
            <a:endParaRPr lang="zh-TW" altLang="en-US" sz="1200" dirty="0"/>
          </a:p>
        </p:txBody>
      </p:sp>
      <p:sp>
        <p:nvSpPr>
          <p:cNvPr id="107" name="Code line 107"/>
          <p:cNvSpPr txBox="1"/>
          <p:nvPr/>
        </p:nvSpPr>
        <p:spPr>
          <a:xfrm>
            <a:off x="708000" y="25562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- name: flarum</a:t>
            </a:r>
            <a:endParaRPr lang="zh-TW" altLang="en-US" sz="1200" dirty="0"/>
          </a:p>
        </p:txBody>
      </p:sp>
      <p:sp>
        <p:nvSpPr>
          <p:cNvPr id="108" name="Code line 108"/>
          <p:cNvSpPr txBox="1"/>
          <p:nvPr/>
        </p:nvSpPr>
        <p:spPr>
          <a:xfrm>
            <a:off x="708000" y="27949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env:</a:t>
            </a:r>
            <a:endParaRPr lang="zh-TW" altLang="en-US" sz="1200" dirty="0"/>
          </a:p>
        </p:txBody>
      </p:sp>
      <p:sp>
        <p:nvSpPr>
          <p:cNvPr id="109" name="Code line 109"/>
          <p:cNvSpPr txBox="1"/>
          <p:nvPr/>
        </p:nvSpPr>
        <p:spPr>
          <a:xfrm>
            <a:off x="708000" y="30337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DB_HOST</a:t>
            </a:r>
            <a:endParaRPr lang="zh-TW" altLang="en-US" sz="1200" dirty="0"/>
          </a:p>
        </p:txBody>
      </p:sp>
      <p:sp>
        <p:nvSpPr>
          <p:cNvPr id="110" name="Code line 110"/>
          <p:cNvSpPr txBox="1"/>
          <p:nvPr/>
        </p:nvSpPr>
        <p:spPr>
          <a:xfrm>
            <a:off x="708000" y="32724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__FILL_ME_20__</a:t>
            </a:r>
            <a:endParaRPr lang="zh-TW" altLang="en-US" sz="1200" dirty="0"/>
          </a:p>
        </p:txBody>
      </p:sp>
      <p:sp>
        <p:nvSpPr>
          <p:cNvPr id="111" name="Code line 111"/>
          <p:cNvSpPr txBox="1"/>
          <p:nvPr/>
        </p:nvSpPr>
        <p:spPr>
          <a:xfrm>
            <a:off x="708000" y="35112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DB_PASS</a:t>
            </a:r>
            <a:endParaRPr lang="zh-TW" altLang="en-US" sz="1200" dirty="0"/>
          </a:p>
        </p:txBody>
      </p:sp>
      <p:sp>
        <p:nvSpPr>
          <p:cNvPr id="112" name="Code line 112"/>
          <p:cNvSpPr txBox="1"/>
          <p:nvPr/>
        </p:nvSpPr>
        <p:spPr>
          <a:xfrm>
            <a:off x="708000" y="37500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valueFrom:</a:t>
            </a:r>
            <a:endParaRPr lang="zh-TW" altLang="en-US" sz="1200" dirty="0"/>
          </a:p>
        </p:txBody>
      </p:sp>
      <p:sp>
        <p:nvSpPr>
          <p:cNvPr id="113" name="Code line 113"/>
          <p:cNvSpPr txBox="1"/>
          <p:nvPr/>
        </p:nvSpPr>
        <p:spPr>
          <a:xfrm>
            <a:off x="708000" y="39887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secretKeyRef:</a:t>
            </a:r>
            <a:endParaRPr lang="zh-TW" altLang="en-US" sz="1200" dirty="0"/>
          </a:p>
        </p:txBody>
      </p:sp>
      <p:sp>
        <p:nvSpPr>
          <p:cNvPr id="114" name="Code line 114"/>
          <p:cNvSpPr txBox="1"/>
          <p:nvPr/>
        </p:nvSpPr>
        <p:spPr>
          <a:xfrm>
            <a:off x="708000" y="42275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name: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__FILL_ME_21__</a:t>
            </a:r>
            <a:endParaRPr lang="zh-TW" altLang="en-US" sz="1200" dirty="0"/>
          </a:p>
        </p:txBody>
      </p:sp>
      <p:sp>
        <p:nvSpPr>
          <p:cNvPr id="115" name="Code line 115"/>
          <p:cNvSpPr txBox="1"/>
          <p:nvPr/>
        </p:nvSpPr>
        <p:spPr>
          <a:xfrm>
            <a:off x="708000" y="44662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key: MYSQL_PASSWORD</a:t>
            </a:r>
            <a:endParaRPr lang="zh-TW" altLang="en-US" sz="1200" dirty="0"/>
          </a:p>
        </p:txBody>
      </p:sp>
      <p:sp>
        <p:nvSpPr>
          <p:cNvPr id="116" name="Code line 116"/>
          <p:cNvSpPr txBox="1"/>
          <p:nvPr/>
        </p:nvSpPr>
        <p:spPr>
          <a:xfrm>
            <a:off x="708000" y="47050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volumeMounts:</a:t>
            </a:r>
            <a:endParaRPr lang="zh-TW" altLang="en-US" sz="1200" dirty="0"/>
          </a:p>
        </p:txBody>
      </p:sp>
      <p:sp>
        <p:nvSpPr>
          <p:cNvPr id="117" name="Code line 117"/>
          <p:cNvSpPr txBox="1"/>
          <p:nvPr/>
        </p:nvSpPr>
        <p:spPr>
          <a:xfrm>
            <a:off x="708000" y="49438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storage</a:t>
            </a:r>
            <a:endParaRPr lang="zh-TW" altLang="en-US" sz="1200" dirty="0"/>
          </a:p>
        </p:txBody>
      </p:sp>
      <p:sp>
        <p:nvSpPr>
          <p:cNvPr id="118" name="Code line 118"/>
          <p:cNvSpPr txBox="1"/>
          <p:nvPr/>
        </p:nvSpPr>
        <p:spPr>
          <a:xfrm>
            <a:off x="708000" y="51825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mountPath: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__FILL_ME_24__</a:t>
            </a:r>
            <a:endParaRPr lang="zh-TW" altLang="en-US" sz="1200" dirty="0"/>
          </a:p>
        </p:txBody>
      </p:sp>
      <p:sp>
        <p:nvSpPr>
          <p:cNvPr id="119" name="Code line 119"/>
          <p:cNvSpPr txBox="1"/>
          <p:nvPr/>
        </p:nvSpPr>
        <p:spPr>
          <a:xfrm>
            <a:off x="708000" y="54213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assets</a:t>
            </a:r>
            <a:endParaRPr lang="zh-TW" altLang="en-US" sz="1200" dirty="0"/>
          </a:p>
        </p:txBody>
      </p:sp>
      <p:sp>
        <p:nvSpPr>
          <p:cNvPr id="120" name="Code line 120"/>
          <p:cNvSpPr txBox="1"/>
          <p:nvPr/>
        </p:nvSpPr>
        <p:spPr>
          <a:xfrm>
            <a:off x="708000" y="56600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mountPath: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__FILL_ME_25__</a:t>
            </a:r>
            <a:endParaRPr lang="zh-TW" altLang="en-US" sz="1200" dirty="0"/>
          </a:p>
        </p:txBody>
      </p:sp>
      <p:sp>
        <p:nvSpPr>
          <p:cNvPr id="121" name="Hint card 121"/>
          <p:cNvSpPr/>
          <p:nvPr/>
        </p:nvSpPr>
        <p:spPr>
          <a:xfrm>
            <a:off x="5908000" y="1400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2" name="Hint label 122"/>
          <p:cNvSpPr txBox="1"/>
          <p:nvPr/>
        </p:nvSpPr>
        <p:spPr>
          <a:xfrm>
            <a:off x="6088000" y="1540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__FILL_ME_18__ · enableServiceLinks</a:t>
            </a:r>
            <a:endParaRPr lang="zh-TW" altLang="en-US" sz="1200" dirty="0"/>
          </a:p>
        </p:txBody>
      </p:sp>
      <p:sp>
        <p:nvSpPr>
          <p:cNvPr id="123" name="Hint text 123"/>
          <p:cNvSpPr txBox="1"/>
          <p:nvPr/>
        </p:nvSpPr>
        <p:spPr>
          <a:xfrm>
            <a:off x="6088000" y="1830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Service 叫 flarum，K8s 自動注入的 FLARUM_PORT 會蓋掉應用設定：要不要關掉？</a:t>
            </a:r>
            <a:endParaRPr lang="zh-TW" altLang="en-US" sz="1300" dirty="0"/>
          </a:p>
        </p:txBody>
      </p:sp>
      <p:sp>
        <p:nvSpPr>
          <p:cNvPr id="124" name="Hint card 124"/>
          <p:cNvSpPr/>
          <p:nvPr/>
        </p:nvSpPr>
        <p:spPr>
          <a:xfrm>
            <a:off x="5908000" y="2612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5" name="Hint label 125"/>
          <p:cNvSpPr txBox="1"/>
          <p:nvPr/>
        </p:nvSpPr>
        <p:spPr>
          <a:xfrm>
            <a:off x="6088000" y="2752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__FILL_ME_20__ / 21 · DB 連線</a:t>
            </a:r>
            <a:endParaRPr lang="zh-TW" altLang="en-US" sz="1200" dirty="0"/>
          </a:p>
        </p:txBody>
      </p:sp>
      <p:sp>
        <p:nvSpPr>
          <p:cNvPr id="126" name="Hint text 126"/>
          <p:cNvSpPr txBox="1"/>
          <p:nvPr/>
        </p:nvSpPr>
        <p:spPr>
          <a:xfrm>
            <a:off x="6088000" y="3042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同 namespace 直接用 Service 名稱；密碼實際存在哪個 Secret 物件裡？</a:t>
            </a:r>
            <a:endParaRPr lang="zh-TW" altLang="en-US" sz="1300" dirty="0"/>
          </a:p>
        </p:txBody>
      </p:sp>
      <p:sp>
        <p:nvSpPr>
          <p:cNvPr id="127" name="Hint card 127"/>
          <p:cNvSpPr/>
          <p:nvPr/>
        </p:nvSpPr>
        <p:spPr>
          <a:xfrm>
            <a:off x="5908000" y="3825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8" name="Hint label 128"/>
          <p:cNvSpPr txBox="1"/>
          <p:nvPr/>
        </p:nvSpPr>
        <p:spPr>
          <a:xfrm>
            <a:off x="6088000" y="3965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__FILL_ME_24__ / 25 · mountPath</a:t>
            </a:r>
            <a:endParaRPr lang="zh-TW" altLang="en-US" sz="1200" dirty="0"/>
          </a:p>
        </p:txBody>
      </p:sp>
      <p:sp>
        <p:nvSpPr>
          <p:cNvPr id="129" name="Hint text 129"/>
          <p:cNvSpPr txBox="1"/>
          <p:nvPr/>
        </p:nvSpPr>
        <p:spPr>
          <a:xfrm>
            <a:off x="6088000" y="4255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只掛資料子目錄：掛整個 /flarum/app 的話，空 PVC 會蓋掉 image 裡的程式。</a:t>
            </a:r>
            <a:endParaRPr lang="zh-TW" altLang="en-US" sz="1300" dirty="0"/>
          </a:p>
        </p:txBody>
      </p:sp>
      <p:sp>
        <p:nvSpPr>
          <p:cNvPr id="130" name="Hint card 130"/>
          <p:cNvSpPr/>
          <p:nvPr/>
        </p:nvSpPr>
        <p:spPr>
          <a:xfrm>
            <a:off x="5908000" y="5037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1" name="Hint label 131"/>
          <p:cNvSpPr txBox="1"/>
          <p:nvPr/>
        </p:nvSpPr>
        <p:spPr>
          <a:xfrm>
            <a:off x="6088000" y="5177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__FILL_ME_19__ · initContainer chown</a:t>
            </a:r>
            <a:endParaRPr lang="zh-TW" altLang="en-US" sz="1200" dirty="0"/>
          </a:p>
        </p:txBody>
      </p:sp>
      <p:sp>
        <p:nvSpPr>
          <p:cNvPr id="132" name="Hint text 132"/>
          <p:cNvSpPr txBox="1"/>
          <p:nvPr/>
        </p:nvSpPr>
        <p:spPr>
          <a:xfrm>
            <a:off x="6088000" y="5467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PVC 一開始是空的：chown 成主容器的 uid:gid，跟同檔案 fsGroup 那行一致。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5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mysql 過一陣子就重啟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剛部署看起來正常，之後 CrashLoopBackOff，密碼對也連不進去，只能砍 PVC 重來。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mysql-0 -n flarum</a:t>
            </a:r>
            <a:endParaRPr lang="zh-TW" altLang="en-US" sz="105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flarum 連 DB 認證失敗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起不來，看得到資料庫連線 / 認證錯誤，但 mysql 本身是健康的。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deploy/flarum -n flarum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收到沒設定過的埠號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啟動後很快崩潰，錯誤訊息像是監聽的 port 設定對不上。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deploy/flarum -n flarum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程式檔案不見了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一直不 Ready 或馬上出錯，像是程式碼不見、預期的路徑是空的。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flarum</a:t>
            </a:r>
            <a:endParaRPr lang="zh-TW" altLang="en-US" sz="11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套用 NetworkPolicy 後逾時</a:t>
            </a:r>
            <a:endParaRPr lang="zh-TW" altLang="en-US" sz="15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兩邊 Pod 都健康，套用 10-networkpolicy 之後 flarum 連 mysql 卻 timeout。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nc -zv mysql 3306（在 flarum Pod 內）</a:t>
            </a:r>
            <a:endParaRPr lang="zh-TW" altLang="en-US" sz="1100" dirty="0"/>
          </a:p>
        </p:txBody>
      </p:sp>
      <p:sp>
        <p:nvSpPr>
          <p:cNvPr id="132" name="Tip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TextBox 133"/>
          <p:cNvSpPr txBox="1"/>
          <p:nvPr/>
        </p:nvSpPr>
        <p:spPr>
          <a:xfrm>
            <a:off x="8292000" y="4040000"/>
            <a:ext cx="3192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除錯順序</a:t>
            </a:r>
            <a:endParaRPr lang="zh-TW" altLang="en-US" sz="16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292000" y="4490000"/>
            <a:ext cx="3192000" cy="1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1. get events：最近發生了什麼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2. describe / logs：找第一手線索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3. exec 進 Pod 測 DNS 與連線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4. 最後才 diff ../manifest/ 對答案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423913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4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planka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同樣架構，換成 </a:t>
            </a:r>
            <a:r>
              <a:rPr lang="en-US" altLang="zh-TW" dirty="0"/>
              <a:t>PostgreSQL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是開源、輕量的看板式專案管理工具。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ghcr.io/</a:t>
            </a:r>
            <a:r>
              <a:rPr lang="en-US" altLang="zh-TW" sz="1400" dirty="0" err="1">
                <a:solidFill>
                  <a:schemeClr val="bg2"/>
                </a:solidFill>
              </a:rPr>
              <a:t>plankanban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planka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1002444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90" name="Google Shape;217;h354c58d55cfae689_0_309">
            <a:extLst>
              <a:ext uri="{FF2B5EF4-FFF2-40B4-BE49-F238E27FC236}">
                <a16:creationId xmlns:a16="http://schemas.microsoft.com/office/drawing/2014/main" id="{32128BB9-817E-428A-871E-6CBEC666CCA2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D8DEEA83-90AA-4AEA-881D-DDAE5C9F1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5475" y="281647"/>
            <a:ext cx="8896350" cy="629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85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4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planka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67" name="Google Shape;375;h354c58d55cfae689_0_462">
            <a:extLst>
              <a:ext uri="{FF2B5EF4-FFF2-40B4-BE49-F238E27FC236}">
                <a16:creationId xmlns:a16="http://schemas.microsoft.com/office/drawing/2014/main" id="{08AB39E2-2656-40B5-8D5C-CCCDDA11BF5E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376;h354c58d55cfae689_0_462">
            <a:extLst>
              <a:ext uri="{FF2B5EF4-FFF2-40B4-BE49-F238E27FC236}">
                <a16:creationId xmlns:a16="http://schemas.microsoft.com/office/drawing/2014/main" id="{3C3987CE-244C-4618-AB6B-731EF3C92631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官方 image 本身就是非 root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377;h354c58d55cfae689_0_462">
            <a:extLst>
              <a:ext uri="{FF2B5EF4-FFF2-40B4-BE49-F238E27FC236}">
                <a16:creationId xmlns:a16="http://schemas.microsoft.com/office/drawing/2014/main" id="{3A8BF6C2-EFEF-4793-A7CD-65DDACB19F3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用 uid 1000 啟動，可以放心 drop ALL，也不需要 initContainer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378;h354c58d55cfae689_0_462">
            <a:extLst>
              <a:ext uri="{FF2B5EF4-FFF2-40B4-BE49-F238E27FC236}">
                <a16:creationId xmlns:a16="http://schemas.microsoft.com/office/drawing/2014/main" id="{0D011A1B-8790-4F91-9CA3-FE7C52BA3DA9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379;h354c58d55cfae689_0_462">
            <a:extLst>
              <a:ext uri="{FF2B5EF4-FFF2-40B4-BE49-F238E27FC236}">
                <a16:creationId xmlns:a16="http://schemas.microsoft.com/office/drawing/2014/main" id="{607EC149-8D30-4738-9AA7-C3BCADA76631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RWX PVC → RollingUpdate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380;h354c58d55cfae689_0_462">
            <a:extLst>
              <a:ext uri="{FF2B5EF4-FFF2-40B4-BE49-F238E27FC236}">
                <a16:creationId xmlns:a16="http://schemas.microsoft.com/office/drawing/2014/main" id="{9313C01D-EBCE-4A8C-A8E8-04961A317804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不像 flarum、filebrowser 被 RWO 逼成 Recreate，可以零停機更新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381;h354c58d55cfae689_0_462">
            <a:extLst>
              <a:ext uri="{FF2B5EF4-FFF2-40B4-BE49-F238E27FC236}">
                <a16:creationId xmlns:a16="http://schemas.microsoft.com/office/drawing/2014/main" id="{0EC66232-DC51-46D9-AF2C-7601AE8A0AA0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382;h354c58d55cfae689_0_462">
            <a:extLst>
              <a:ext uri="{FF2B5EF4-FFF2-40B4-BE49-F238E27FC236}">
                <a16:creationId xmlns:a16="http://schemas.microsoft.com/office/drawing/2014/main" id="{7C9673D9-B61C-4424-9E40-3595F42FE876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密碼只在初始化時生效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383;h354c58d55cfae689_0_462">
            <a:extLst>
              <a:ext uri="{FF2B5EF4-FFF2-40B4-BE49-F238E27FC236}">
                <a16:creationId xmlns:a16="http://schemas.microsoft.com/office/drawing/2014/main" id="{20DBEE01-64FF-4D27-AD35-F0CC7E7034C2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資料目錄初始化後才改 Secret，會出現 password authentication failed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384;h354c58d55cfae689_0_462">
            <a:extLst>
              <a:ext uri="{FF2B5EF4-FFF2-40B4-BE49-F238E27FC236}">
                <a16:creationId xmlns:a16="http://schemas.microsoft.com/office/drawing/2014/main" id="{E805907F-ADAD-4EEF-BD8A-71DF7B3D8006}"/>
              </a:ext>
            </a:extLst>
          </p:cNvPr>
          <p:cNvSpPr/>
          <p:nvPr/>
        </p:nvSpPr>
        <p:spPr>
          <a:xfrm>
            <a:off x="7569200" y="1874521"/>
            <a:ext cx="3810000" cy="324600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385;h354c58d55cfae689_0_462">
            <a:extLst>
              <a:ext uri="{FF2B5EF4-FFF2-40B4-BE49-F238E27FC236}">
                <a16:creationId xmlns:a16="http://schemas.microsoft.com/office/drawing/2014/main" id="{6C9D7AC1-8716-49A4-BC65-DFD179A2523B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386;h354c58d55cfae689_0_462">
            <a:extLst>
              <a:ext uri="{FF2B5EF4-FFF2-40B4-BE49-F238E27FC236}">
                <a16:creationId xmlns:a16="http://schemas.microsoft.com/office/drawing/2014/main" id="{36DB1577-396F-4E32-8379-86B0847A4E0A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387;h354c58d55cfae689_0_462">
            <a:extLst>
              <a:ext uri="{FF2B5EF4-FFF2-40B4-BE49-F238E27FC236}">
                <a16:creationId xmlns:a16="http://schemas.microsoft.com/office/drawing/2014/main" id="{0F991AC6-91F8-4054-A931-2D8083FE9F90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388;h354c58d55cfae689_0_462">
            <a:extLst>
              <a:ext uri="{FF2B5EF4-FFF2-40B4-BE49-F238E27FC236}">
                <a16:creationId xmlns:a16="http://schemas.microsoft.com/office/drawing/2014/main" id="{0F996CEB-9BE1-413F-9E32-FF9EFDA36206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02-postgres-secret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389;h354c58d55cfae689_0_462">
            <a:extLst>
              <a:ext uri="{FF2B5EF4-FFF2-40B4-BE49-F238E27FC236}">
                <a16:creationId xmlns:a16="http://schemas.microsoft.com/office/drawing/2014/main" id="{9FDF1947-2B1D-4A83-AFEA-E7D0A22B224E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03-postgres-service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390;h354c58d55cfae689_0_462">
            <a:extLst>
              <a:ext uri="{FF2B5EF4-FFF2-40B4-BE49-F238E27FC236}">
                <a16:creationId xmlns:a16="http://schemas.microsoft.com/office/drawing/2014/main" id="{37143C65-DFF6-45A5-B4FD-9907FA3B06F2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04-postgres-statefulset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391;h354c58d55cfae689_0_462">
            <a:extLst>
              <a:ext uri="{FF2B5EF4-FFF2-40B4-BE49-F238E27FC236}">
                <a16:creationId xmlns:a16="http://schemas.microsoft.com/office/drawing/2014/main" id="{2F1E1276-73C1-471D-8242-469C41381332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05-planka-secret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392;h354c58d55cfae689_0_462">
            <a:extLst>
              <a:ext uri="{FF2B5EF4-FFF2-40B4-BE49-F238E27FC236}">
                <a16:creationId xmlns:a16="http://schemas.microsoft.com/office/drawing/2014/main" id="{9DEE1B4F-1347-4508-BD3F-9F9845BAC779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06-planka-pvc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393;h354c58d55cfae689_0_462">
            <a:extLst>
              <a:ext uri="{FF2B5EF4-FFF2-40B4-BE49-F238E27FC236}">
                <a16:creationId xmlns:a16="http://schemas.microsoft.com/office/drawing/2014/main" id="{3B8977BA-63D6-4998-9BF1-096B78FF454E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07-planka-deployment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394;h354c58d55cfae689_0_462">
            <a:extLst>
              <a:ext uri="{FF2B5EF4-FFF2-40B4-BE49-F238E27FC236}">
                <a16:creationId xmlns:a16="http://schemas.microsoft.com/office/drawing/2014/main" id="{821683B8-0711-499D-9828-579B9CBFBCD8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08-planka-service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395;h354c58d55cfae689_0_462">
            <a:extLst>
              <a:ext uri="{FF2B5EF4-FFF2-40B4-BE49-F238E27FC236}">
                <a16:creationId xmlns:a16="http://schemas.microsoft.com/office/drawing/2014/main" id="{AE0CA7C0-BE2A-46DC-BDFD-D2CC6E40F9D8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396;h354c58d55cfae689_0_462">
            <a:extLst>
              <a:ext uri="{FF2B5EF4-FFF2-40B4-BE49-F238E27FC236}">
                <a16:creationId xmlns:a16="http://schemas.microsoft.com/office/drawing/2014/main" id="{F3FFF55B-1FAA-46B2-B2C4-7BDA6AC16261}"/>
              </a:ext>
            </a:extLst>
          </p:cNvPr>
          <p:cNvSpPr/>
          <p:nvPr/>
        </p:nvSpPr>
        <p:spPr>
          <a:xfrm>
            <a:off x="7797800" y="47040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210;h354c58d55cfae689_0_284">
            <a:extLst>
              <a:ext uri="{FF2B5EF4-FFF2-40B4-BE49-F238E27FC236}">
                <a16:creationId xmlns:a16="http://schemas.microsoft.com/office/drawing/2014/main" id="{9D6E99BD-A61B-4CAB-88BA-40EA888F054E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同樣架構，換成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lang="zh-TW" altLang="en-US" sz="1400" dirty="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17;h354c58d55cfae689_0_309">
            <a:extLst>
              <a:ext uri="{FF2B5EF4-FFF2-40B4-BE49-F238E27FC236}">
                <a16:creationId xmlns:a16="http://schemas.microsoft.com/office/drawing/2014/main" id="{A33833C8-0974-45CD-BDD5-A6ACC4B2DA97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510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 · 本頁節錄這站的新概念，其餘題目見 exercises/README.md</a:t>
            </a:r>
            <a:endParaRPr lang="zh-TW" altLang="en-US" sz="1400" dirty="0"/>
          </a:p>
        </p:txBody>
      </p:sp>
      <p:sp>
        <p:nvSpPr>
          <p:cNvPr id="102" name="Code panel 102"/>
          <p:cNvSpPr/>
          <p:nvPr/>
        </p:nvSpPr>
        <p:spPr>
          <a:xfrm>
            <a:off x="508000" y="1400000"/>
            <a:ext cx="5200000" cy="47000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Code line 103"/>
          <p:cNvSpPr txBox="1"/>
          <p:nvPr/>
        </p:nvSpPr>
        <p:spPr>
          <a:xfrm>
            <a:off x="708000" y="18399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04-postgres-statefulset.yaml（節錄）</a:t>
            </a:r>
            <a:endParaRPr lang="zh-TW" altLang="en-US" sz="1200" dirty="0"/>
          </a:p>
        </p:txBody>
      </p:sp>
      <p:sp>
        <p:nvSpPr>
          <p:cNvPr id="104" name="Code line 104"/>
          <p:cNvSpPr txBox="1"/>
          <p:nvPr/>
        </p:nvSpPr>
        <p:spPr>
          <a:xfrm>
            <a:off x="708000" y="20786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lang="zh-TW" altLang="en-US" sz="1200" dirty="0"/>
          </a:p>
        </p:txBody>
      </p:sp>
      <p:sp>
        <p:nvSpPr>
          <p:cNvPr id="105" name="Code line 105"/>
          <p:cNvSpPr txBox="1"/>
          <p:nvPr/>
        </p:nvSpPr>
        <p:spPr>
          <a:xfrm>
            <a:off x="708000" y="23174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serviceName: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__FILL_ME_9__</a:t>
            </a:r>
            <a:endParaRPr lang="zh-TW" altLang="en-US" sz="1200" dirty="0"/>
          </a:p>
        </p:txBody>
      </p:sp>
      <p:sp>
        <p:nvSpPr>
          <p:cNvPr id="106" name="Code line 106"/>
          <p:cNvSpPr txBox="1"/>
          <p:nvPr/>
        </p:nvSpPr>
        <p:spPr>
          <a:xfrm>
            <a:off x="708000" y="25562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template:</a:t>
            </a:r>
            <a:endParaRPr lang="zh-TW" altLang="en-US" sz="1200" dirty="0"/>
          </a:p>
        </p:txBody>
      </p:sp>
      <p:sp>
        <p:nvSpPr>
          <p:cNvPr id="107" name="Code line 107"/>
          <p:cNvSpPr txBox="1"/>
          <p:nvPr/>
        </p:nvSpPr>
        <p:spPr>
          <a:xfrm>
            <a:off x="708000" y="27949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spec:</a:t>
            </a:r>
            <a:endParaRPr lang="zh-TW" altLang="en-US" sz="1200" dirty="0"/>
          </a:p>
        </p:txBody>
      </p:sp>
      <p:sp>
        <p:nvSpPr>
          <p:cNvPr id="108" name="Code line 108"/>
          <p:cNvSpPr txBox="1"/>
          <p:nvPr/>
        </p:nvSpPr>
        <p:spPr>
          <a:xfrm>
            <a:off x="708000" y="30337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containers:</a:t>
            </a:r>
            <a:endParaRPr lang="zh-TW" altLang="en-US" sz="1200" dirty="0"/>
          </a:p>
        </p:txBody>
      </p:sp>
      <p:sp>
        <p:nvSpPr>
          <p:cNvPr id="109" name="Code line 109"/>
          <p:cNvSpPr txBox="1"/>
          <p:nvPr/>
        </p:nvSpPr>
        <p:spPr>
          <a:xfrm>
            <a:off x="708000" y="32724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postgres</a:t>
            </a:r>
            <a:endParaRPr lang="zh-TW" altLang="en-US" sz="1200" dirty="0"/>
          </a:p>
        </p:txBody>
      </p:sp>
      <p:sp>
        <p:nvSpPr>
          <p:cNvPr id="110" name="Code line 110"/>
          <p:cNvSpPr txBox="1"/>
          <p:nvPr/>
        </p:nvSpPr>
        <p:spPr>
          <a:xfrm>
            <a:off x="708000" y="35112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env:</a:t>
            </a:r>
            <a:endParaRPr lang="zh-TW" altLang="en-US" sz="1200" dirty="0"/>
          </a:p>
        </p:txBody>
      </p:sp>
      <p:sp>
        <p:nvSpPr>
          <p:cNvPr id="111" name="Code line 111"/>
          <p:cNvSpPr txBox="1"/>
          <p:nvPr/>
        </p:nvSpPr>
        <p:spPr>
          <a:xfrm>
            <a:off x="708000" y="37500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- name: PGDATA</a:t>
            </a:r>
            <a:endParaRPr lang="zh-TW" altLang="en-US" sz="1200" dirty="0"/>
          </a:p>
        </p:txBody>
      </p:sp>
      <p:sp>
        <p:nvSpPr>
          <p:cNvPr id="112" name="Code line 112"/>
          <p:cNvSpPr txBox="1"/>
          <p:nvPr/>
        </p:nvSpPr>
        <p:spPr>
          <a:xfrm>
            <a:off x="708000" y="39887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__FILL_ME_10__</a:t>
            </a:r>
            <a:endParaRPr lang="zh-TW" altLang="en-US" sz="1200" dirty="0"/>
          </a:p>
        </p:txBody>
      </p:sp>
      <p:sp>
        <p:nvSpPr>
          <p:cNvPr id="113" name="Code line 113"/>
          <p:cNvSpPr txBox="1"/>
          <p:nvPr/>
        </p:nvSpPr>
        <p:spPr>
          <a:xfrm>
            <a:off x="708000" y="42275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volumeMounts:</a:t>
            </a:r>
            <a:endParaRPr lang="zh-TW" altLang="en-US" sz="1200" dirty="0"/>
          </a:p>
        </p:txBody>
      </p:sp>
      <p:sp>
        <p:nvSpPr>
          <p:cNvPr id="114" name="Code line 114"/>
          <p:cNvSpPr txBox="1"/>
          <p:nvPr/>
        </p:nvSpPr>
        <p:spPr>
          <a:xfrm>
            <a:off x="708000" y="44662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- name: data</a:t>
            </a:r>
            <a:endParaRPr lang="zh-TW" altLang="en-US" sz="1200" dirty="0"/>
          </a:p>
        </p:txBody>
      </p:sp>
      <p:sp>
        <p:nvSpPr>
          <p:cNvPr id="115" name="Code line 115"/>
          <p:cNvSpPr txBox="1"/>
          <p:nvPr/>
        </p:nvSpPr>
        <p:spPr>
          <a:xfrm>
            <a:off x="708000" y="47050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mountPath: /var/lib/postgresql/data</a:t>
            </a:r>
            <a:endParaRPr lang="zh-TW" altLang="en-US" sz="1200" dirty="0"/>
          </a:p>
        </p:txBody>
      </p:sp>
      <p:sp>
        <p:nvSpPr>
          <p:cNvPr id="116" name="Code line 116"/>
          <p:cNvSpPr txBox="1"/>
          <p:nvPr/>
        </p:nvSpPr>
        <p:spPr>
          <a:xfrm>
            <a:off x="708000" y="49438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05-planka-secret.yaml（節錄）</a:t>
            </a:r>
            <a:endParaRPr lang="zh-TW" altLang="en-US" sz="1200" dirty="0"/>
          </a:p>
        </p:txBody>
      </p:sp>
      <p:sp>
        <p:nvSpPr>
          <p:cNvPr id="117" name="Code line 117"/>
          <p:cNvSpPr txBox="1"/>
          <p:nvPr/>
        </p:nvSpPr>
        <p:spPr>
          <a:xfrm>
            <a:off x="708000" y="51825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stringData:</a:t>
            </a:r>
            <a:endParaRPr lang="zh-TW" altLang="en-US" sz="1200" dirty="0"/>
          </a:p>
        </p:txBody>
      </p:sp>
      <p:sp>
        <p:nvSpPr>
          <p:cNvPr id="118" name="Code line 118"/>
          <p:cNvSpPr txBox="1"/>
          <p:nvPr/>
        </p:nvSpPr>
        <p:spPr>
          <a:xfrm>
            <a:off x="708000" y="54213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DATABASE_URL: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__FILL_ME_14__</a:t>
            </a:r>
            <a:endParaRPr lang="zh-TW" altLang="en-US" sz="1200" dirty="0"/>
          </a:p>
        </p:txBody>
      </p:sp>
      <p:sp>
        <p:nvSpPr>
          <p:cNvPr id="119" name="Hint card 119"/>
          <p:cNvSpPr/>
          <p:nvPr/>
        </p:nvSpPr>
        <p:spPr>
          <a:xfrm>
            <a:off x="5908000" y="1400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0" name="Hint label 120"/>
          <p:cNvSpPr txBox="1"/>
          <p:nvPr/>
        </p:nvSpPr>
        <p:spPr>
          <a:xfrm>
            <a:off x="6088000" y="1540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__FILL_ME_9__ · serviceName</a:t>
            </a:r>
            <a:endParaRPr lang="zh-TW" altLang="en-US" sz="1200" dirty="0"/>
          </a:p>
        </p:txBody>
      </p:sp>
      <p:sp>
        <p:nvSpPr>
          <p:cNvPr id="121" name="Hint text 121"/>
          <p:cNvSpPr txBox="1"/>
          <p:nvPr/>
        </p:nvSpPr>
        <p:spPr>
          <a:xfrm>
            <a:off x="6088000" y="1830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StatefulSet 靠 Headless Service 給每個 Pod 穩定的 DNS：要對到 03-postgres-service 的名字。</a:t>
            </a:r>
            <a:endParaRPr lang="zh-TW" altLang="en-US" sz="1300" dirty="0"/>
          </a:p>
        </p:txBody>
      </p:sp>
      <p:sp>
        <p:nvSpPr>
          <p:cNvPr id="122" name="Hint card 122"/>
          <p:cNvSpPr/>
          <p:nvPr/>
        </p:nvSpPr>
        <p:spPr>
          <a:xfrm>
            <a:off x="5908000" y="2612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3" name="Hint label 123"/>
          <p:cNvSpPr txBox="1"/>
          <p:nvPr/>
        </p:nvSpPr>
        <p:spPr>
          <a:xfrm>
            <a:off x="6088000" y="2752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__FILL_ME_10__ · PGDATA</a:t>
            </a:r>
            <a:endParaRPr lang="zh-TW" altLang="en-US" sz="1200" dirty="0"/>
          </a:p>
        </p:txBody>
      </p:sp>
      <p:sp>
        <p:nvSpPr>
          <p:cNvPr id="124" name="Hint text 124"/>
          <p:cNvSpPr txBox="1"/>
          <p:nvPr/>
        </p:nvSpPr>
        <p:spPr>
          <a:xfrm>
            <a:off x="6088000" y="3042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不要指到掛載點根目錄：ext4 根目錄一開始就有 lost+found，initdb 會判定「不是空的」。</a:t>
            </a:r>
            <a:endParaRPr lang="zh-TW" altLang="en-US" sz="1300" dirty="0"/>
          </a:p>
        </p:txBody>
      </p:sp>
      <p:sp>
        <p:nvSpPr>
          <p:cNvPr id="125" name="Hint card 125"/>
          <p:cNvSpPr/>
          <p:nvPr/>
        </p:nvSpPr>
        <p:spPr>
          <a:xfrm>
            <a:off x="5908000" y="3825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6" name="Hint label 126"/>
          <p:cNvSpPr txBox="1"/>
          <p:nvPr/>
        </p:nvSpPr>
        <p:spPr>
          <a:xfrm>
            <a:off x="6088000" y="3965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__FILL_ME_14__ · DATABASE_URL</a:t>
            </a:r>
            <a:endParaRPr lang="zh-TW" altLang="en-US" sz="1200" dirty="0"/>
          </a:p>
        </p:txBody>
      </p:sp>
      <p:sp>
        <p:nvSpPr>
          <p:cNvPr id="127" name="Hint text 127"/>
          <p:cNvSpPr txBox="1"/>
          <p:nvPr/>
        </p:nvSpPr>
        <p:spPr>
          <a:xfrm>
            <a:off x="6088000" y="4255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postgresql://&lt;user&gt;:&lt;password&gt;@&lt;host&gt;:&lt;port&gt;/&lt;db&gt;，帳密與 DB 名稱跟 02-postgres-secret 一致。</a:t>
            </a:r>
            <a:endParaRPr lang="zh-TW" altLang="en-US" sz="1300" dirty="0"/>
          </a:p>
        </p:txBody>
      </p:sp>
      <p:sp>
        <p:nvSpPr>
          <p:cNvPr id="128" name="Hint card 128"/>
          <p:cNvSpPr/>
          <p:nvPr/>
        </p:nvSpPr>
        <p:spPr>
          <a:xfrm>
            <a:off x="5908000" y="5037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9" name="Hint label 129"/>
          <p:cNvSpPr txBox="1"/>
          <p:nvPr/>
        </p:nvSpPr>
        <p:spPr>
          <a:xfrm>
            <a:off x="6088000" y="5177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__FILL_ME_15__ / 20 · 跟 flarum 對照</a:t>
            </a:r>
            <a:endParaRPr lang="zh-TW" altLang="en-US" sz="1200" dirty="0"/>
          </a:p>
        </p:txBody>
      </p:sp>
      <p:sp>
        <p:nvSpPr>
          <p:cNvPr id="130" name="Hint text 130"/>
          <p:cNvSpPr txBox="1"/>
          <p:nvPr/>
        </p:nvSpPr>
        <p:spPr>
          <a:xfrm>
            <a:off x="6088000" y="5467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planka 的 PVC 要能多 Pod 共享、映像本身非 root：accessMode 選哪個？drop 能不能全捨棄？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5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postgres-0 起不來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postgres-0 遲遲不 Running 或反覆重啟，initdb 因為「目錄不是空的」拒絕啟動。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postgres-0 -n planka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planka Pod Running，透過 Gateway 連線得到 503 / connection refused。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planka -n planka</a:t>
            </a:r>
            <a:endParaRPr lang="zh-TW" altLang="en-US" sz="105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容器建立不起來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不是 Running 也不是 CrashLoopBackOff，Events 說找不到某個 Secret 欄位（key）。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planka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planka 連不到資料庫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兩個 Pod 都 Running、NetworkPolicy 也套上了，但 planka 連 postgres:5432 逾時。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deploy/planka -n planka</a:t>
            </a:r>
            <a:endParaRPr lang="zh-TW" altLang="en-US" sz="11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Gateway 連不到網站</a:t>
            </a:r>
            <a:endParaRPr lang="zh-TW" altLang="en-US" sz="16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describe httproute 顯示 Accepted: True，但透過 Gateway 發流量會失敗。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9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planka -n planka</a:t>
            </a:r>
            <a:endParaRPr lang="zh-TW" altLang="en-US" sz="900" dirty="0"/>
          </a:p>
        </p:txBody>
      </p:sp>
      <p:sp>
        <p:nvSpPr>
          <p:cNvPr id="132" name="Tip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TextBox 133"/>
          <p:cNvSpPr txBox="1"/>
          <p:nvPr/>
        </p:nvSpPr>
        <p:spPr>
          <a:xfrm>
            <a:off x="8292000" y="4040000"/>
            <a:ext cx="3192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除錯順序</a:t>
            </a:r>
            <a:endParaRPr lang="zh-TW" altLang="en-US" sz="16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292000" y="4490000"/>
            <a:ext cx="3192000" cy="1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1. get events：最近發生了什麼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2. describe / logs：找第一手線索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3. exec 進 Pod 測 DNS 與連線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4. 最後才 diff ../manifest/ 對答案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677004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3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、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對照</a:t>
            </a:r>
          </a:p>
        </p:txBody>
      </p:sp>
      <p:graphicFrame>
        <p:nvGraphicFramePr>
          <p:cNvPr id="25" name="Google Shape;405;h354c58d55cfae689_0_491">
            <a:extLst>
              <a:ext uri="{FF2B5EF4-FFF2-40B4-BE49-F238E27FC236}">
                <a16:creationId xmlns:a16="http://schemas.microsoft.com/office/drawing/2014/main" id="{DB1B9760-3F53-4453-B514-A7FC351A39E9}"/>
              </a:ext>
            </a:extLst>
          </p:cNvPr>
          <p:cNvGraphicFramePr/>
          <p:nvPr/>
        </p:nvGraphicFramePr>
        <p:xfrm>
          <a:off x="812800" y="1874521"/>
          <a:ext cx="10566375" cy="3113456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8.0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16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映像使用者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啟動再降權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非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root（uid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1000）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不行，會啟動失敗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initContainer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需要，先建目錄與權限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不需要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更新策略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Recreate（RWO PVC）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RollingUpdate（RWX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PVC）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連線設定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DB_HOST / DB_USER / DB_PASS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DATABASE_URL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單一字串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 app=flarum 能連 3306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app=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能連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5432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542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5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onlyoffice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重量級工作負載</a:t>
            </a:r>
          </a:p>
          <a:p>
            <a:endParaRPr lang="zh-TW" altLang="en-US" dirty="0"/>
          </a:p>
          <a:p>
            <a:r>
              <a:rPr lang="zh-TW" altLang="en-US" sz="1400" dirty="0">
                <a:solidFill>
                  <a:schemeClr val="bg2"/>
                </a:solidFill>
              </a:rPr>
              <a:t>是強大的線上 </a:t>
            </a:r>
            <a:r>
              <a:rPr lang="en-US" altLang="zh-TW" sz="1400" dirty="0">
                <a:solidFill>
                  <a:schemeClr val="bg2"/>
                </a:solidFill>
              </a:rPr>
              <a:t>Office </a:t>
            </a:r>
            <a:r>
              <a:rPr lang="zh-TW" altLang="en-US" sz="1400" dirty="0">
                <a:solidFill>
                  <a:schemeClr val="bg2"/>
                </a:solidFill>
              </a:rPr>
              <a:t>辦公套件，支援 </a:t>
            </a:r>
            <a:r>
              <a:rPr lang="en-US" altLang="zh-TW" sz="1400" dirty="0">
                <a:solidFill>
                  <a:schemeClr val="bg2"/>
                </a:solidFill>
              </a:rPr>
              <a:t>Word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Excel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PPT </a:t>
            </a:r>
            <a:r>
              <a:rPr lang="zh-TW" altLang="en-US" sz="1400" dirty="0">
                <a:solidFill>
                  <a:schemeClr val="bg2"/>
                </a:solidFill>
              </a:rPr>
              <a:t>的線上即時共同編輯， 可與 </a:t>
            </a:r>
            <a:r>
              <a:rPr lang="en-US" altLang="zh-TW" sz="1400" dirty="0" err="1">
                <a:solidFill>
                  <a:schemeClr val="bg2"/>
                </a:solidFill>
              </a:rPr>
              <a:t>Nextcloud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等系統整合，官方提供「單容器全包」映像 （</a:t>
            </a:r>
            <a:r>
              <a:rPr lang="en-US" altLang="zh-TW" sz="1400" dirty="0" err="1">
                <a:solidFill>
                  <a:schemeClr val="bg2"/>
                </a:solidFill>
              </a:rPr>
              <a:t>onlyoffice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documentserver</a:t>
            </a:r>
            <a:r>
              <a:rPr lang="zh-TW" altLang="en-US" sz="1400" dirty="0">
                <a:solidFill>
                  <a:schemeClr val="bg2"/>
                </a:solidFill>
              </a:rPr>
              <a:t>），內建自己的 </a:t>
            </a:r>
            <a:r>
              <a:rPr lang="en-US" altLang="zh-TW" sz="1400" dirty="0">
                <a:solidFill>
                  <a:schemeClr val="bg2"/>
                </a:solidFill>
              </a:rPr>
              <a:t>PostgreSQL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Redis</a:t>
            </a:r>
            <a:r>
              <a:rPr lang="zh-TW" altLang="en-US" sz="1400" dirty="0">
                <a:solidFill>
                  <a:schemeClr val="bg2"/>
                </a:solidFill>
              </a:rPr>
              <a:t>、 </a:t>
            </a:r>
            <a:r>
              <a:rPr lang="en-US" altLang="zh-TW" sz="1400" dirty="0">
                <a:solidFill>
                  <a:schemeClr val="bg2"/>
                </a:solidFill>
              </a:rPr>
              <a:t>RabbitMQ</a:t>
            </a:r>
            <a:r>
              <a:rPr lang="zh-TW" altLang="en-US" sz="1400" dirty="0">
                <a:solidFill>
                  <a:schemeClr val="bg2"/>
                </a:solidFill>
              </a:rPr>
              <a:t>，全部包在同一個 </a:t>
            </a:r>
            <a:r>
              <a:rPr lang="en-US" altLang="zh-TW" sz="1400" dirty="0">
                <a:solidFill>
                  <a:schemeClr val="bg2"/>
                </a:solidFill>
              </a:rPr>
              <a:t>container </a:t>
            </a:r>
            <a:r>
              <a:rPr lang="zh-TW" altLang="en-US" sz="1400" dirty="0">
                <a:solidFill>
                  <a:schemeClr val="bg2"/>
                </a:solidFill>
              </a:rPr>
              <a:t>裡執行，不需要外接資料庫。</a:t>
            </a:r>
          </a:p>
        </p:txBody>
      </p:sp>
    </p:spTree>
    <p:extLst>
      <p:ext uri="{BB962C8B-B14F-4D97-AF65-F5344CB8AC3E}">
        <p14:creationId xmlns:p14="http://schemas.microsoft.com/office/powerpoint/2010/main" val="3639082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217;h354c58d55cfae689_0_309">
            <a:extLst>
              <a:ext uri="{FF2B5EF4-FFF2-40B4-BE49-F238E27FC236}">
                <a16:creationId xmlns:a16="http://schemas.microsoft.com/office/drawing/2014/main" id="{9B78ADEF-2E89-4F4B-8135-12DD138F3AD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50" name="Google Shape;217;h354c58d55cfae689_0_309">
            <a:extLst>
              <a:ext uri="{FF2B5EF4-FFF2-40B4-BE49-F238E27FC236}">
                <a16:creationId xmlns:a16="http://schemas.microsoft.com/office/drawing/2014/main" id="{D5CA6EC3-6001-416C-B063-2B222F5BB81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49B92494-4152-4B4E-9CC5-95441D7B7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525" y="456608"/>
            <a:ext cx="9886950" cy="623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4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5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5" name="Google Shape;414;h354c58d55cfae689_0_499">
            <a:extLst>
              <a:ext uri="{FF2B5EF4-FFF2-40B4-BE49-F238E27FC236}">
                <a16:creationId xmlns:a16="http://schemas.microsoft.com/office/drawing/2014/main" id="{C7617830-0B75-4375-B9CD-F4919CA7BD7E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415;h354c58d55cfae689_0_499">
            <a:extLst>
              <a:ext uri="{FF2B5EF4-FFF2-40B4-BE49-F238E27FC236}">
                <a16:creationId xmlns:a16="http://schemas.microsoft.com/office/drawing/2014/main" id="{65F17231-0EFC-4831-A0BE-9C1D04DA5FDC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nodeSelector + toleration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416;h354c58d55cfae689_0_499">
            <a:extLst>
              <a:ext uri="{FF2B5EF4-FFF2-40B4-BE49-F238E27FC236}">
                <a16:creationId xmlns:a16="http://schemas.microsoft.com/office/drawing/2014/main" id="{999E20CB-E269-4EF9-850A-E50F66694966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排到帶 nvidia.com/gpu taint、但記憶體最空的 gpu01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417;h354c58d55cfae689_0_499">
            <a:extLst>
              <a:ext uri="{FF2B5EF4-FFF2-40B4-BE49-F238E27FC236}">
                <a16:creationId xmlns:a16="http://schemas.microsoft.com/office/drawing/2014/main" id="{6F010705-692A-4459-800B-4B858BC1E268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418;h354c58d55cfae689_0_499">
            <a:extLst>
              <a:ext uri="{FF2B5EF4-FFF2-40B4-BE49-F238E27FC236}">
                <a16:creationId xmlns:a16="http://schemas.microsoft.com/office/drawing/2014/main" id="{5721BF1F-1280-43DA-88CE-33C20EE3FB80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官方建議的 4GB 是保守值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19;h354c58d55cfae689_0_499">
            <a:extLst>
              <a:ext uri="{FF2B5EF4-FFF2-40B4-BE49-F238E27FC236}">
                <a16:creationId xmlns:a16="http://schemas.microsoft.com/office/drawing/2014/main" id="{72C4F5FC-BCB5-44E9-8CCF-E08D928F10A9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穩定狀態實測約 400～500Mi；首次啟動產生字型時會短暫吃滿 CPU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420;h354c58d55cfae689_0_499">
            <a:extLst>
              <a:ext uri="{FF2B5EF4-FFF2-40B4-BE49-F238E27FC236}">
                <a16:creationId xmlns:a16="http://schemas.microsoft.com/office/drawing/2014/main" id="{4CA26EC5-2028-42ED-9E05-4E545EBCA86B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421;h354c58d55cfae689_0_499">
            <a:extLst>
              <a:ext uri="{FF2B5EF4-FFF2-40B4-BE49-F238E27FC236}">
                <a16:creationId xmlns:a16="http://schemas.microsoft.com/office/drawing/2014/main" id="{69051975-C572-437A-B2B0-FE3B867A02CB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PLUGINS_ENABLED=false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22;h354c58d55cfae689_0_499">
            <a:extLst>
              <a:ext uri="{FF2B5EF4-FFF2-40B4-BE49-F238E27FC236}">
                <a16:creationId xmlns:a16="http://schemas.microsoft.com/office/drawing/2014/main" id="{61E6CE05-FF6B-4408-9D89-174D7A6D3DCE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背景連 github.com 被擋，卡在吃滿 1 核心的重試迴圈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423;h354c58d55cfae689_0_499">
            <a:extLst>
              <a:ext uri="{FF2B5EF4-FFF2-40B4-BE49-F238E27FC236}">
                <a16:creationId xmlns:a16="http://schemas.microsoft.com/office/drawing/2014/main" id="{11B9A539-E97A-4A52-8008-976641737DAA}"/>
              </a:ext>
            </a:extLst>
          </p:cNvPr>
          <p:cNvSpPr/>
          <p:nvPr/>
        </p:nvSpPr>
        <p:spPr>
          <a:xfrm>
            <a:off x="7569200" y="1874521"/>
            <a:ext cx="3810000" cy="300750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424;h354c58d55cfae689_0_499">
            <a:extLst>
              <a:ext uri="{FF2B5EF4-FFF2-40B4-BE49-F238E27FC236}">
                <a16:creationId xmlns:a16="http://schemas.microsoft.com/office/drawing/2014/main" id="{4958939E-7BC3-461B-9DED-DE3D1768977A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25;h354c58d55cfae689_0_499">
            <a:extLst>
              <a:ext uri="{FF2B5EF4-FFF2-40B4-BE49-F238E27FC236}">
                <a16:creationId xmlns:a16="http://schemas.microsoft.com/office/drawing/2014/main" id="{7FCB0D84-AF14-4CA1-9C94-7FFAED6F67A3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先確認節點資源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426;h354c58d55cfae689_0_499">
            <a:extLst>
              <a:ext uri="{FF2B5EF4-FFF2-40B4-BE49-F238E27FC236}">
                <a16:creationId xmlns:a16="http://schemas.microsoft.com/office/drawing/2014/main" id="{0D816049-BA11-4523-8671-671FF3F2E4BE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top nodes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27;h354c58d55cfae689_0_499">
            <a:extLst>
              <a:ext uri="{FF2B5EF4-FFF2-40B4-BE49-F238E27FC236}">
                <a16:creationId xmlns:a16="http://schemas.microsoft.com/office/drawing/2014/main" id="{70EE394D-2F11-44EC-9137-F3DCA59D12C2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28;h354c58d55cfae689_0_499">
            <a:extLst>
              <a:ext uri="{FF2B5EF4-FFF2-40B4-BE49-F238E27FC236}">
                <a16:creationId xmlns:a16="http://schemas.microsoft.com/office/drawing/2014/main" id="{73D35D73-FE26-4F71-A578-7ED2AFEAC607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29;h354c58d55cfae689_0_499">
            <a:extLst>
              <a:ext uri="{FF2B5EF4-FFF2-40B4-BE49-F238E27FC236}">
                <a16:creationId xmlns:a16="http://schemas.microsoft.com/office/drawing/2014/main" id="{9D4D2AB6-849A-4AF3-9DF2-8789A9954FF9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30;h354c58d55cfae689_0_499">
            <a:extLst>
              <a:ext uri="{FF2B5EF4-FFF2-40B4-BE49-F238E27FC236}">
                <a16:creationId xmlns:a16="http://schemas.microsoft.com/office/drawing/2014/main" id="{4734F2C8-10D7-4C4E-B101-FD6585300330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31;h354c58d55cfae689_0_499">
            <a:extLst>
              <a:ext uri="{FF2B5EF4-FFF2-40B4-BE49-F238E27FC236}">
                <a16:creationId xmlns:a16="http://schemas.microsoft.com/office/drawing/2014/main" id="{9540D6BA-58D6-421D-B9BD-F76B14987F0E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2;h354c58d55cfae689_0_499">
            <a:extLst>
              <a:ext uri="{FF2B5EF4-FFF2-40B4-BE49-F238E27FC236}">
                <a16:creationId xmlns:a16="http://schemas.microsoft.com/office/drawing/2014/main" id="{7CF243E1-FCE8-401E-ACF1-A9D9E0C35126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33;h354c58d55cfae689_0_499">
            <a:extLst>
              <a:ext uri="{FF2B5EF4-FFF2-40B4-BE49-F238E27FC236}">
                <a16:creationId xmlns:a16="http://schemas.microsoft.com/office/drawing/2014/main" id="{DC870F7B-1EDE-42E2-89E4-B2962C0932D6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34;h354c58d55cfae689_0_499">
            <a:extLst>
              <a:ext uri="{FF2B5EF4-FFF2-40B4-BE49-F238E27FC236}">
                <a16:creationId xmlns:a16="http://schemas.microsoft.com/office/drawing/2014/main" id="{4AA15D8B-7955-42B6-A636-42FC83A89178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210;h354c58d55cfae689_0_284">
            <a:extLst>
              <a:ext uri="{FF2B5EF4-FFF2-40B4-BE49-F238E27FC236}">
                <a16:creationId xmlns:a16="http://schemas.microsoft.com/office/drawing/2014/main" id="{7160443C-E055-4DAA-967D-C4D4CFD8B15C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重量級工作負載怎麼排</a:t>
            </a:r>
          </a:p>
        </p:txBody>
      </p:sp>
      <p:sp>
        <p:nvSpPr>
          <p:cNvPr id="47" name="Google Shape;217;h354c58d55cfae689_0_309">
            <a:extLst>
              <a:ext uri="{FF2B5EF4-FFF2-40B4-BE49-F238E27FC236}">
                <a16:creationId xmlns:a16="http://schemas.microsoft.com/office/drawing/2014/main" id="{6EF6C7A1-C68E-41BD-B935-B53D13AF7FFE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219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 · 本頁節錄這站的新概念，其餘題目見 exercises/README.md</a:t>
            </a:r>
            <a:endParaRPr lang="zh-TW" altLang="en-US" sz="1400" dirty="0"/>
          </a:p>
        </p:txBody>
      </p:sp>
      <p:sp>
        <p:nvSpPr>
          <p:cNvPr id="102" name="Code panel 102"/>
          <p:cNvSpPr/>
          <p:nvPr/>
        </p:nvSpPr>
        <p:spPr>
          <a:xfrm>
            <a:off x="508000" y="1400000"/>
            <a:ext cx="5200000" cy="47000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Code line 103"/>
          <p:cNvSpPr txBox="1"/>
          <p:nvPr/>
        </p:nvSpPr>
        <p:spPr>
          <a:xfrm>
            <a:off x="708000" y="1530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04-deployment.yaml（節錄）</a:t>
            </a:r>
            <a:endParaRPr lang="zh-TW" altLang="en-US" sz="1200" dirty="0"/>
          </a:p>
        </p:txBody>
      </p:sp>
      <p:sp>
        <p:nvSpPr>
          <p:cNvPr id="104" name="Code line 104"/>
          <p:cNvSpPr txBox="1"/>
          <p:nvPr/>
        </p:nvSpPr>
        <p:spPr>
          <a:xfrm>
            <a:off x="708000" y="1752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lang="zh-TW" altLang="en-US" sz="1200" dirty="0"/>
          </a:p>
        </p:txBody>
      </p:sp>
      <p:sp>
        <p:nvSpPr>
          <p:cNvPr id="105" name="Code line 105"/>
          <p:cNvSpPr txBox="1"/>
          <p:nvPr/>
        </p:nvSpPr>
        <p:spPr>
          <a:xfrm>
            <a:off x="708000" y="1974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tolerations:</a:t>
            </a:r>
            <a:endParaRPr lang="zh-TW" altLang="en-US" sz="1200" dirty="0"/>
          </a:p>
        </p:txBody>
      </p:sp>
      <p:sp>
        <p:nvSpPr>
          <p:cNvPr id="106" name="Code line 106"/>
          <p:cNvSpPr txBox="1"/>
          <p:nvPr/>
        </p:nvSpPr>
        <p:spPr>
          <a:xfrm>
            <a:off x="708000" y="2196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- key: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__FILL_ME_10__</a:t>
            </a:r>
            <a:endParaRPr lang="zh-TW" altLang="en-US" sz="1200" dirty="0"/>
          </a:p>
        </p:txBody>
      </p:sp>
      <p:sp>
        <p:nvSpPr>
          <p:cNvPr id="107" name="Code line 107"/>
          <p:cNvSpPr txBox="1"/>
          <p:nvPr/>
        </p:nvSpPr>
        <p:spPr>
          <a:xfrm>
            <a:off x="708000" y="2418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operator: Equal</a:t>
            </a:r>
            <a:endParaRPr lang="zh-TW" altLang="en-US" sz="1200" dirty="0"/>
          </a:p>
        </p:txBody>
      </p:sp>
      <p:sp>
        <p:nvSpPr>
          <p:cNvPr id="108" name="Code line 108"/>
          <p:cNvSpPr txBox="1"/>
          <p:nvPr/>
        </p:nvSpPr>
        <p:spPr>
          <a:xfrm>
            <a:off x="708000" y="2640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__FILL_ME_11__</a:t>
            </a:r>
            <a:endParaRPr lang="zh-TW" altLang="en-US" sz="1200" dirty="0"/>
          </a:p>
        </p:txBody>
      </p:sp>
      <p:sp>
        <p:nvSpPr>
          <p:cNvPr id="109" name="Code line 109"/>
          <p:cNvSpPr txBox="1"/>
          <p:nvPr/>
        </p:nvSpPr>
        <p:spPr>
          <a:xfrm>
            <a:off x="708000" y="2862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effect: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__FILL_ME_12__</a:t>
            </a:r>
            <a:endParaRPr lang="zh-TW" altLang="en-US" sz="1200" dirty="0"/>
          </a:p>
        </p:txBody>
      </p:sp>
      <p:sp>
        <p:nvSpPr>
          <p:cNvPr id="110" name="Code line 110"/>
          <p:cNvSpPr txBox="1"/>
          <p:nvPr/>
        </p:nvSpPr>
        <p:spPr>
          <a:xfrm>
            <a:off x="708000" y="3084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containers:</a:t>
            </a:r>
            <a:endParaRPr lang="zh-TW" altLang="en-US" sz="1200" dirty="0"/>
          </a:p>
        </p:txBody>
      </p:sp>
      <p:sp>
        <p:nvSpPr>
          <p:cNvPr id="111" name="Code line 111"/>
          <p:cNvSpPr txBox="1"/>
          <p:nvPr/>
        </p:nvSpPr>
        <p:spPr>
          <a:xfrm>
            <a:off x="708000" y="3306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- name: onlyoffice</a:t>
            </a:r>
            <a:endParaRPr lang="zh-TW" altLang="en-US" sz="1200" dirty="0"/>
          </a:p>
        </p:txBody>
      </p:sp>
      <p:sp>
        <p:nvSpPr>
          <p:cNvPr id="112" name="Code line 112"/>
          <p:cNvSpPr txBox="1"/>
          <p:nvPr/>
        </p:nvSpPr>
        <p:spPr>
          <a:xfrm>
            <a:off x="708000" y="3528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image: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__FILL_ME_13__</a:t>
            </a:r>
            <a:endParaRPr lang="zh-TW" altLang="en-US" sz="1200" dirty="0"/>
          </a:p>
        </p:txBody>
      </p:sp>
      <p:sp>
        <p:nvSpPr>
          <p:cNvPr id="113" name="Code line 113"/>
          <p:cNvSpPr txBox="1"/>
          <p:nvPr/>
        </p:nvSpPr>
        <p:spPr>
          <a:xfrm>
            <a:off x="708000" y="3750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env:</a:t>
            </a:r>
            <a:endParaRPr lang="zh-TW" altLang="en-US" sz="1200" dirty="0"/>
          </a:p>
        </p:txBody>
      </p:sp>
      <p:sp>
        <p:nvSpPr>
          <p:cNvPr id="114" name="Code line 114"/>
          <p:cNvSpPr txBox="1"/>
          <p:nvPr/>
        </p:nvSpPr>
        <p:spPr>
          <a:xfrm>
            <a:off x="708000" y="3972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PLUGINS_ENABLED</a:t>
            </a:r>
            <a:endParaRPr lang="zh-TW" altLang="en-US" sz="1200" dirty="0"/>
          </a:p>
        </p:txBody>
      </p:sp>
      <p:sp>
        <p:nvSpPr>
          <p:cNvPr id="115" name="Code line 115"/>
          <p:cNvSpPr txBox="1"/>
          <p:nvPr/>
        </p:nvSpPr>
        <p:spPr>
          <a:xfrm>
            <a:off x="708000" y="4194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__FILL_ME_14__</a:t>
            </a:r>
            <a:endParaRPr lang="zh-TW" altLang="en-US" sz="1200" dirty="0"/>
          </a:p>
        </p:txBody>
      </p:sp>
      <p:sp>
        <p:nvSpPr>
          <p:cNvPr id="116" name="Code line 116"/>
          <p:cNvSpPr txBox="1"/>
          <p:nvPr/>
        </p:nvSpPr>
        <p:spPr>
          <a:xfrm>
            <a:off x="708000" y="4416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readinessProbe:</a:t>
            </a:r>
            <a:endParaRPr lang="zh-TW" altLang="en-US" sz="1200" dirty="0"/>
          </a:p>
        </p:txBody>
      </p:sp>
      <p:sp>
        <p:nvSpPr>
          <p:cNvPr id="117" name="Code line 117"/>
          <p:cNvSpPr txBox="1"/>
          <p:nvPr/>
        </p:nvSpPr>
        <p:spPr>
          <a:xfrm>
            <a:off x="708000" y="4638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httpGet:</a:t>
            </a:r>
            <a:endParaRPr lang="zh-TW" altLang="en-US" sz="1200" dirty="0"/>
          </a:p>
        </p:txBody>
      </p:sp>
      <p:sp>
        <p:nvSpPr>
          <p:cNvPr id="118" name="Code line 118"/>
          <p:cNvSpPr txBox="1"/>
          <p:nvPr/>
        </p:nvSpPr>
        <p:spPr>
          <a:xfrm>
            <a:off x="708000" y="4860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path: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__FILL_ME_16__</a:t>
            </a:r>
            <a:endParaRPr lang="zh-TW" altLang="en-US" sz="1200" dirty="0"/>
          </a:p>
        </p:txBody>
      </p:sp>
      <p:sp>
        <p:nvSpPr>
          <p:cNvPr id="119" name="Code line 119"/>
          <p:cNvSpPr txBox="1"/>
          <p:nvPr/>
        </p:nvSpPr>
        <p:spPr>
          <a:xfrm>
            <a:off x="708000" y="5082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port: http</a:t>
            </a:r>
            <a:endParaRPr lang="zh-TW" altLang="en-US" sz="1200" dirty="0"/>
          </a:p>
        </p:txBody>
      </p:sp>
      <p:sp>
        <p:nvSpPr>
          <p:cNvPr id="120" name="Code line 120"/>
          <p:cNvSpPr txBox="1"/>
          <p:nvPr/>
        </p:nvSpPr>
        <p:spPr>
          <a:xfrm>
            <a:off x="708000" y="5304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volumeMounts:</a:t>
            </a:r>
            <a:endParaRPr lang="zh-TW" altLang="en-US" sz="1200" dirty="0"/>
          </a:p>
        </p:txBody>
      </p:sp>
      <p:sp>
        <p:nvSpPr>
          <p:cNvPr id="121" name="Code line 121"/>
          <p:cNvSpPr txBox="1"/>
          <p:nvPr/>
        </p:nvSpPr>
        <p:spPr>
          <a:xfrm>
            <a:off x="708000" y="5526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name: data</a:t>
            </a:r>
            <a:endParaRPr lang="zh-TW" altLang="en-US" sz="1200" dirty="0"/>
          </a:p>
        </p:txBody>
      </p:sp>
      <p:sp>
        <p:nvSpPr>
          <p:cNvPr id="122" name="Code line 122"/>
          <p:cNvSpPr txBox="1"/>
          <p:nvPr/>
        </p:nvSpPr>
        <p:spPr>
          <a:xfrm>
            <a:off x="708000" y="5748000"/>
            <a:ext cx="48000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mountPath: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__FILL_ME_18__</a:t>
            </a:r>
            <a:endParaRPr lang="zh-TW" altLang="en-US" sz="1200" dirty="0"/>
          </a:p>
        </p:txBody>
      </p:sp>
      <p:sp>
        <p:nvSpPr>
          <p:cNvPr id="123" name="Hint card 123"/>
          <p:cNvSpPr/>
          <p:nvPr/>
        </p:nvSpPr>
        <p:spPr>
          <a:xfrm>
            <a:off x="5908000" y="1400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4" name="Hint label 124"/>
          <p:cNvSpPr txBox="1"/>
          <p:nvPr/>
        </p:nvSpPr>
        <p:spPr>
          <a:xfrm>
            <a:off x="6088000" y="1540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__FILL_ME_10__–12 · toleration</a:t>
            </a:r>
            <a:endParaRPr lang="zh-TW" altLang="en-US" sz="1200" dirty="0"/>
          </a:p>
        </p:txBody>
      </p:sp>
      <p:sp>
        <p:nvSpPr>
          <p:cNvPr id="125" name="Hint text 125"/>
          <p:cNvSpPr txBox="1"/>
          <p:nvPr/>
        </p:nvSpPr>
        <p:spPr>
          <a:xfrm>
            <a:off x="6088000" y="1830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gpu01 身上帶著 GPU taint：用 kubectl describe node gpu01 看它的 key、value、effect。</a:t>
            </a:r>
            <a:endParaRPr lang="zh-TW" altLang="en-US" sz="1300" dirty="0"/>
          </a:p>
        </p:txBody>
      </p:sp>
      <p:sp>
        <p:nvSpPr>
          <p:cNvPr id="126" name="Hint card 126"/>
          <p:cNvSpPr/>
          <p:nvPr/>
        </p:nvSpPr>
        <p:spPr>
          <a:xfrm>
            <a:off x="5908000" y="2612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Hint label 127"/>
          <p:cNvSpPr txBox="1"/>
          <p:nvPr/>
        </p:nvSpPr>
        <p:spPr>
          <a:xfrm>
            <a:off x="6088000" y="2752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__FILL_ME_13__ · image</a:t>
            </a:r>
            <a:endParaRPr lang="zh-TW" altLang="en-US" sz="1200" dirty="0"/>
          </a:p>
        </p:txBody>
      </p:sp>
      <p:sp>
        <p:nvSpPr>
          <p:cNvPr id="128" name="Hint text 128"/>
          <p:cNvSpPr txBox="1"/>
          <p:nvPr/>
        </p:nvSpPr>
        <p:spPr>
          <a:xfrm>
            <a:off x="6088000" y="3042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ONLYOFFICE Document Server 的官方 Docker Hub 映像，用的是哪個 tag？</a:t>
            </a:r>
            <a:endParaRPr lang="zh-TW" altLang="en-US" sz="1300" dirty="0"/>
          </a:p>
        </p:txBody>
      </p:sp>
      <p:sp>
        <p:nvSpPr>
          <p:cNvPr id="129" name="Hint card 129"/>
          <p:cNvSpPr/>
          <p:nvPr/>
        </p:nvSpPr>
        <p:spPr>
          <a:xfrm>
            <a:off x="5908000" y="3825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0" name="Hint label 130"/>
          <p:cNvSpPr txBox="1"/>
          <p:nvPr/>
        </p:nvSpPr>
        <p:spPr>
          <a:xfrm>
            <a:off x="6088000" y="3965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__FILL_ME_14__ · PLUGINS_ENABLED</a:t>
            </a:r>
            <a:endParaRPr lang="zh-TW" altLang="en-US" sz="1200" dirty="0"/>
          </a:p>
        </p:txBody>
      </p:sp>
      <p:sp>
        <p:nvSpPr>
          <p:cNvPr id="131" name="Hint text 131"/>
          <p:cNvSpPr txBox="1"/>
          <p:nvPr/>
        </p:nvSpPr>
        <p:spPr>
          <a:xfrm>
            <a:off x="6088000" y="4255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外掛背景程序會連 github.com，被 NetworkPolicy 擋住後卡在吃滿 1 核心的重試迴圈。</a:t>
            </a:r>
            <a:endParaRPr lang="zh-TW" altLang="en-US" sz="1300" dirty="0"/>
          </a:p>
        </p:txBody>
      </p:sp>
      <p:sp>
        <p:nvSpPr>
          <p:cNvPr id="132" name="Hint card 132"/>
          <p:cNvSpPr/>
          <p:nvPr/>
        </p:nvSpPr>
        <p:spPr>
          <a:xfrm>
            <a:off x="5908000" y="5037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Hint label 133"/>
          <p:cNvSpPr txBox="1"/>
          <p:nvPr/>
        </p:nvSpPr>
        <p:spPr>
          <a:xfrm>
            <a:off x="6088000" y="5177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__FILL_ME_16__ / 18 · probe 與資料路徑</a:t>
            </a:r>
            <a:endParaRPr lang="zh-TW" altLang="en-US" sz="1200" dirty="0"/>
          </a:p>
        </p:txBody>
      </p:sp>
      <p:sp>
        <p:nvSpPr>
          <p:cNvPr id="134" name="Hint text 134"/>
          <p:cNvSpPr txBox="1"/>
          <p:nvPr/>
        </p:nvSpPr>
        <p:spPr>
          <a:xfrm>
            <a:off x="6088000" y="5467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官方內建的健康檢查端點叫什麼？資料目錄看檔案上方的教學註解。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943840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CPU 異常偏高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Running 1/1、功能也正常，但沒人使用時 CPU 仍長時間貼著不低的水位。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top pod -n onlyoffice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一直卡在 Pending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跟著卡在 Pending / ContainerCreating，Events 說找不到對應的 StorageClass。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pvc onlyoffice-data -n onlyoffice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Running，透過 Gateway 連線得到 503 / connection refused。跟 label 有關。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onlyoffice -n onlyoffice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卻連不到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顯示 Accepted: True，實際流量卻失敗或連不到應用。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onlyoffice -n onlyoffice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86364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6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peertube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三個元件一起協作 </a:t>
            </a:r>
            <a:r>
              <a:rPr lang="en-US" altLang="zh-TW" dirty="0"/>
              <a:t>(PostgreSQL,</a:t>
            </a:r>
            <a:r>
              <a:rPr lang="zh-TW" altLang="en-US" dirty="0"/>
              <a:t> </a:t>
            </a:r>
            <a:r>
              <a:rPr lang="en-US" altLang="zh-TW" dirty="0"/>
              <a:t>Redis, </a:t>
            </a:r>
            <a:r>
              <a:rPr lang="en-US" altLang="zh-TW" dirty="0" err="1"/>
              <a:t>PeerTube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 是基於 </a:t>
            </a:r>
            <a:r>
              <a:rPr lang="en-US" altLang="zh-TW" sz="1600" dirty="0" err="1">
                <a:solidFill>
                  <a:schemeClr val="bg2"/>
                </a:solidFill>
              </a:rPr>
              <a:t>ActivityPub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協定與 </a:t>
            </a:r>
            <a:r>
              <a:rPr lang="en-US" altLang="zh-TW" sz="1600" dirty="0">
                <a:solidFill>
                  <a:schemeClr val="bg2"/>
                </a:solidFill>
              </a:rPr>
              <a:t>P2P </a:t>
            </a:r>
            <a:r>
              <a:rPr lang="zh-TW" altLang="en-US" sz="1600" dirty="0">
                <a:solidFill>
                  <a:schemeClr val="bg2"/>
                </a:solidFill>
              </a:rPr>
              <a:t>技術的 去中心化影音分享平台（開源版 </a:t>
            </a:r>
            <a:r>
              <a:rPr lang="en-US" altLang="zh-TW" sz="1600" dirty="0">
                <a:solidFill>
                  <a:schemeClr val="bg2"/>
                </a:solidFill>
              </a:rPr>
              <a:t>YouTube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chocobozzz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peertube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1202113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70" name="Google Shape;217;h354c58d55cfae689_0_309">
            <a:extLst>
              <a:ext uri="{FF2B5EF4-FFF2-40B4-BE49-F238E27FC236}">
                <a16:creationId xmlns:a16="http://schemas.microsoft.com/office/drawing/2014/main" id="{BBB4C3BB-9144-4C6A-BC4D-9C611AF2435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9B7E50D2-AA79-44C0-83D8-80DA60C34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6" y="355600"/>
            <a:ext cx="9048748" cy="643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48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6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peertube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4" name="Google Shape;443;h354c58d55cfae689_0_527">
            <a:extLst>
              <a:ext uri="{FF2B5EF4-FFF2-40B4-BE49-F238E27FC236}">
                <a16:creationId xmlns:a16="http://schemas.microsoft.com/office/drawing/2014/main" id="{D9019A88-167E-41DA-B7F3-8D1B31975CBF}"/>
              </a:ext>
            </a:extLst>
          </p:cNvPr>
          <p:cNvSpPr/>
          <p:nvPr/>
        </p:nvSpPr>
        <p:spPr>
          <a:xfrm>
            <a:off x="815975" y="1877702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44;h354c58d55cfae689_0_527">
            <a:extLst>
              <a:ext uri="{FF2B5EF4-FFF2-40B4-BE49-F238E27FC236}">
                <a16:creationId xmlns:a16="http://schemas.microsoft.com/office/drawing/2014/main" id="{5866B0D7-91D7-4F8E-BA03-B90BD6A8E9FF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vs emptyDir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45;h354c58d55cfae689_0_527">
            <a:extLst>
              <a:ext uri="{FF2B5EF4-FFF2-40B4-BE49-F238E27FC236}">
                <a16:creationId xmlns:a16="http://schemas.microsoft.com/office/drawing/2014/main" id="{80BBE8D4-EE0B-49CA-A3DB-ED0C6B4CEC3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 的影片與使用者資料不能丟，用 PVC；redis 只是佇列快取，用 emptyDir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46;h354c58d55cfae689_0_527">
            <a:extLst>
              <a:ext uri="{FF2B5EF4-FFF2-40B4-BE49-F238E27FC236}">
                <a16:creationId xmlns:a16="http://schemas.microsoft.com/office/drawing/2014/main" id="{5F60E2BD-CA67-4B77-B4A5-20DBB8C1FABC}"/>
              </a:ext>
            </a:extLst>
          </p:cNvPr>
          <p:cNvSpPr/>
          <p:nvPr/>
        </p:nvSpPr>
        <p:spPr>
          <a:xfrm>
            <a:off x="815975" y="2922910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47;h354c58d55cfae689_0_527">
            <a:extLst>
              <a:ext uri="{FF2B5EF4-FFF2-40B4-BE49-F238E27FC236}">
                <a16:creationId xmlns:a16="http://schemas.microsoft.com/office/drawing/2014/main" id="{AA0D7748-B526-4A5D-AB68-A91499E5B68A}"/>
              </a:ext>
            </a:extLst>
          </p:cNvPr>
          <p:cNvSpPr/>
          <p:nvPr/>
        </p:nvSpPr>
        <p:spPr>
          <a:xfrm>
            <a:off x="995680" y="3102608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ConfigMap 放初始化 SQL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448;h354c58d55cfae689_0_527">
            <a:extLst>
              <a:ext uri="{FF2B5EF4-FFF2-40B4-BE49-F238E27FC236}">
                <a16:creationId xmlns:a16="http://schemas.microsoft.com/office/drawing/2014/main" id="{86F7B1E0-DAB2-4890-A8F2-B9C04EEA0E1A}"/>
              </a:ext>
            </a:extLst>
          </p:cNvPr>
          <p:cNvSpPr/>
          <p:nvPr/>
        </p:nvSpPr>
        <p:spPr>
          <a:xfrm>
            <a:off x="995680" y="3407408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啟用 pg_trgm、unaccent 兩個 extension，ConfigMap 不只能放設定檔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449;h354c58d55cfae689_0_527">
            <a:extLst>
              <a:ext uri="{FF2B5EF4-FFF2-40B4-BE49-F238E27FC236}">
                <a16:creationId xmlns:a16="http://schemas.microsoft.com/office/drawing/2014/main" id="{0637C9B7-C7E1-4AFC-B3CF-BE6625FA34AE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450;h354c58d55cfae689_0_527">
            <a:extLst>
              <a:ext uri="{FF2B5EF4-FFF2-40B4-BE49-F238E27FC236}">
                <a16:creationId xmlns:a16="http://schemas.microsoft.com/office/drawing/2014/main" id="{CD6F305A-9F54-4890-A517-F9E2F2F00D3C}"/>
              </a:ext>
            </a:extLst>
          </p:cNvPr>
          <p:cNvSpPr/>
          <p:nvPr/>
        </p:nvSpPr>
        <p:spPr>
          <a:xfrm>
            <a:off x="995680" y="4147827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反向代理後面的埠號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451;h354c58d55cfae689_0_527">
            <a:extLst>
              <a:ext uri="{FF2B5EF4-FFF2-40B4-BE49-F238E27FC236}">
                <a16:creationId xmlns:a16="http://schemas.microsoft.com/office/drawing/2014/main" id="{8B80CA4F-DCB1-4340-BF4E-6C390AA03206}"/>
              </a:ext>
            </a:extLst>
          </p:cNvPr>
          <p:cNvSpPr/>
          <p:nvPr/>
        </p:nvSpPr>
        <p:spPr>
          <a:xfrm>
            <a:off x="995680" y="4452627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WEBSERVER 填使用者看到的 https:443，不是容器內部監聽的 9000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452;h354c58d55cfae689_0_527">
            <a:extLst>
              <a:ext uri="{FF2B5EF4-FFF2-40B4-BE49-F238E27FC236}">
                <a16:creationId xmlns:a16="http://schemas.microsoft.com/office/drawing/2014/main" id="{9A5911F9-A30A-46CA-B96F-57355A0189C6}"/>
              </a:ext>
            </a:extLst>
          </p:cNvPr>
          <p:cNvSpPr/>
          <p:nvPr/>
        </p:nvSpPr>
        <p:spPr>
          <a:xfrm>
            <a:off x="7569200" y="1874527"/>
            <a:ext cx="3810000" cy="3723600"/>
          </a:xfrm>
          <a:prstGeom prst="roundRect">
            <a:avLst>
              <a:gd name="adj" fmla="val 2729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453;h354c58d55cfae689_0_527">
            <a:extLst>
              <a:ext uri="{FF2B5EF4-FFF2-40B4-BE49-F238E27FC236}">
                <a16:creationId xmlns:a16="http://schemas.microsoft.com/office/drawing/2014/main" id="{4366C071-932D-4317-8D2F-C5BD6EF830F0}"/>
              </a:ext>
            </a:extLst>
          </p:cNvPr>
          <p:cNvSpPr/>
          <p:nvPr/>
        </p:nvSpPr>
        <p:spPr>
          <a:xfrm>
            <a:off x="7797800" y="20777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454;h354c58d55cfae689_0_527">
            <a:extLst>
              <a:ext uri="{FF2B5EF4-FFF2-40B4-BE49-F238E27FC236}">
                <a16:creationId xmlns:a16="http://schemas.microsoft.com/office/drawing/2014/main" id="{F88B89B9-30A2-4B8E-969E-BC9B77D63E28}"/>
              </a:ext>
            </a:extLst>
          </p:cNvPr>
          <p:cNvSpPr/>
          <p:nvPr/>
        </p:nvSpPr>
        <p:spPr>
          <a:xfrm>
            <a:off x="7797800" y="23164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455;h354c58d55cfae689_0_527">
            <a:extLst>
              <a:ext uri="{FF2B5EF4-FFF2-40B4-BE49-F238E27FC236}">
                <a16:creationId xmlns:a16="http://schemas.microsoft.com/office/drawing/2014/main" id="{5D6E4BFB-1C2C-4CA1-A86E-8FF0AA02E7B0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456;h354c58d55cfae689_0_527">
            <a:extLst>
              <a:ext uri="{FF2B5EF4-FFF2-40B4-BE49-F238E27FC236}">
                <a16:creationId xmlns:a16="http://schemas.microsoft.com/office/drawing/2014/main" id="{C701122E-0518-4C65-B4A9-2414854D2D4C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02-postgres-secret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457;h354c58d55cfae689_0_527">
            <a:extLst>
              <a:ext uri="{FF2B5EF4-FFF2-40B4-BE49-F238E27FC236}">
                <a16:creationId xmlns:a16="http://schemas.microsoft.com/office/drawing/2014/main" id="{C71BFFD1-61AD-4DAB-B010-332CB2F588B3}"/>
              </a:ext>
            </a:extLst>
          </p:cNvPr>
          <p:cNvSpPr/>
          <p:nvPr/>
        </p:nvSpPr>
        <p:spPr>
          <a:xfrm>
            <a:off x="7797800" y="30327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03-postgres-initdb-configmap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458;h354c58d55cfae689_0_527">
            <a:extLst>
              <a:ext uri="{FF2B5EF4-FFF2-40B4-BE49-F238E27FC236}">
                <a16:creationId xmlns:a16="http://schemas.microsoft.com/office/drawing/2014/main" id="{67023059-12DC-4F40-935D-8F7E5AB1454D}"/>
              </a:ext>
            </a:extLst>
          </p:cNvPr>
          <p:cNvSpPr/>
          <p:nvPr/>
        </p:nvSpPr>
        <p:spPr>
          <a:xfrm>
            <a:off x="7797800" y="32715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04-postgres-service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459;h354c58d55cfae689_0_527">
            <a:extLst>
              <a:ext uri="{FF2B5EF4-FFF2-40B4-BE49-F238E27FC236}">
                <a16:creationId xmlns:a16="http://schemas.microsoft.com/office/drawing/2014/main" id="{032868CD-C558-4D35-B88B-9A8297335F26}"/>
              </a:ext>
            </a:extLst>
          </p:cNvPr>
          <p:cNvSpPr/>
          <p:nvPr/>
        </p:nvSpPr>
        <p:spPr>
          <a:xfrm>
            <a:off x="7797800" y="35102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05-postgres-statefulset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460;h354c58d55cfae689_0_527">
            <a:extLst>
              <a:ext uri="{FF2B5EF4-FFF2-40B4-BE49-F238E27FC236}">
                <a16:creationId xmlns:a16="http://schemas.microsoft.com/office/drawing/2014/main" id="{F54AFB24-F4B5-44D7-9564-702BEDC21287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06-redis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461;h354c58d55cfae689_0_527">
            <a:extLst>
              <a:ext uri="{FF2B5EF4-FFF2-40B4-BE49-F238E27FC236}">
                <a16:creationId xmlns:a16="http://schemas.microsoft.com/office/drawing/2014/main" id="{F33F7536-F1AD-4B70-AA24-ADB2A3229305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07-peertube-secret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462;h354c58d55cfae689_0_527">
            <a:extLst>
              <a:ext uri="{FF2B5EF4-FFF2-40B4-BE49-F238E27FC236}">
                <a16:creationId xmlns:a16="http://schemas.microsoft.com/office/drawing/2014/main" id="{6D4EB22A-CFD9-40B1-B326-1DFFE160D4F5}"/>
              </a:ext>
            </a:extLst>
          </p:cNvPr>
          <p:cNvSpPr/>
          <p:nvPr/>
        </p:nvSpPr>
        <p:spPr>
          <a:xfrm>
            <a:off x="7797800" y="42265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08-peertube-pvc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463;h354c58d55cfae689_0_527">
            <a:extLst>
              <a:ext uri="{FF2B5EF4-FFF2-40B4-BE49-F238E27FC236}">
                <a16:creationId xmlns:a16="http://schemas.microsoft.com/office/drawing/2014/main" id="{C061431F-AE07-4BED-ACAD-4E3761635192}"/>
              </a:ext>
            </a:extLst>
          </p:cNvPr>
          <p:cNvSpPr/>
          <p:nvPr/>
        </p:nvSpPr>
        <p:spPr>
          <a:xfrm>
            <a:off x="7797800" y="44653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09-peertube-deployment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464;h354c58d55cfae689_0_527">
            <a:extLst>
              <a:ext uri="{FF2B5EF4-FFF2-40B4-BE49-F238E27FC236}">
                <a16:creationId xmlns:a16="http://schemas.microsoft.com/office/drawing/2014/main" id="{8CBDE36B-AD23-4E75-BE9E-8BDDEC304CED}"/>
              </a:ext>
            </a:extLst>
          </p:cNvPr>
          <p:cNvSpPr/>
          <p:nvPr/>
        </p:nvSpPr>
        <p:spPr>
          <a:xfrm>
            <a:off x="7797800" y="47040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10-peertube-service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465;h354c58d55cfae689_0_527">
            <a:extLst>
              <a:ext uri="{FF2B5EF4-FFF2-40B4-BE49-F238E27FC236}">
                <a16:creationId xmlns:a16="http://schemas.microsoft.com/office/drawing/2014/main" id="{C4158459-149F-4604-8840-574E7E538BFF}"/>
              </a:ext>
            </a:extLst>
          </p:cNvPr>
          <p:cNvSpPr/>
          <p:nvPr/>
        </p:nvSpPr>
        <p:spPr>
          <a:xfrm>
            <a:off x="7797800" y="49428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11-httproute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466;h354c58d55cfae689_0_527">
            <a:extLst>
              <a:ext uri="{FF2B5EF4-FFF2-40B4-BE49-F238E27FC236}">
                <a16:creationId xmlns:a16="http://schemas.microsoft.com/office/drawing/2014/main" id="{1F2A7EC3-570B-424A-86B8-74941752992E}"/>
              </a:ext>
            </a:extLst>
          </p:cNvPr>
          <p:cNvSpPr/>
          <p:nvPr/>
        </p:nvSpPr>
        <p:spPr>
          <a:xfrm>
            <a:off x="7797800" y="51816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12-networkpolicy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10;h354c58d55cfae689_0_284">
            <a:extLst>
              <a:ext uri="{FF2B5EF4-FFF2-40B4-BE49-F238E27FC236}">
                <a16:creationId xmlns:a16="http://schemas.microsoft.com/office/drawing/2014/main" id="{574D08D4-BBBA-419B-BC2B-3BE6C89422D2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三個元件一起協作</a:t>
            </a:r>
          </a:p>
        </p:txBody>
      </p:sp>
    </p:spTree>
    <p:extLst>
      <p:ext uri="{BB962C8B-B14F-4D97-AF65-F5344CB8AC3E}">
        <p14:creationId xmlns:p14="http://schemas.microsoft.com/office/powerpoint/2010/main" val="3662484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 · 本頁節錄這站的新概念，其餘題目見 exercises/README.md</a:t>
            </a:r>
            <a:endParaRPr lang="zh-TW" altLang="en-US" sz="1400" dirty="0"/>
          </a:p>
        </p:txBody>
      </p:sp>
      <p:sp>
        <p:nvSpPr>
          <p:cNvPr id="102" name="Code panel 102"/>
          <p:cNvSpPr/>
          <p:nvPr/>
        </p:nvSpPr>
        <p:spPr>
          <a:xfrm>
            <a:off x="508000" y="1400000"/>
            <a:ext cx="5200000" cy="47000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Code line 103"/>
          <p:cNvSpPr txBox="1"/>
          <p:nvPr/>
        </p:nvSpPr>
        <p:spPr>
          <a:xfrm>
            <a:off x="708000" y="16011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03-postgres-initdb-configmap.yaml</a:t>
            </a:r>
            <a:endParaRPr lang="zh-TW" altLang="en-US" sz="1200" dirty="0"/>
          </a:p>
        </p:txBody>
      </p:sp>
      <p:sp>
        <p:nvSpPr>
          <p:cNvPr id="104" name="Code line 104"/>
          <p:cNvSpPr txBox="1"/>
          <p:nvPr/>
        </p:nvSpPr>
        <p:spPr>
          <a:xfrm>
            <a:off x="708000" y="18399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data:</a:t>
            </a:r>
            <a:endParaRPr lang="zh-TW" altLang="en-US" sz="1200" dirty="0"/>
          </a:p>
        </p:txBody>
      </p:sp>
      <p:sp>
        <p:nvSpPr>
          <p:cNvPr id="105" name="Code line 105"/>
          <p:cNvSpPr txBox="1"/>
          <p:nvPr/>
        </p:nvSpPr>
        <p:spPr>
          <a:xfrm>
            <a:off x="708000" y="20786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  __FILL_ME_10__</a:t>
            </a: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: |</a:t>
            </a:r>
            <a:endParaRPr lang="zh-TW" altLang="en-US" sz="1200" dirty="0"/>
          </a:p>
        </p:txBody>
      </p:sp>
      <p:sp>
        <p:nvSpPr>
          <p:cNvPr id="106" name="Code line 106"/>
          <p:cNvSpPr txBox="1"/>
          <p:nvPr/>
        </p:nvSpPr>
        <p:spPr>
          <a:xfrm>
            <a:off x="708000" y="23174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CREATE EXTENSION IF NOT EXISTS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__FILL_ME_11__</a:t>
            </a: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zh-TW" altLang="en-US" sz="1200" dirty="0"/>
          </a:p>
        </p:txBody>
      </p:sp>
      <p:sp>
        <p:nvSpPr>
          <p:cNvPr id="107" name="Code line 107"/>
          <p:cNvSpPr txBox="1"/>
          <p:nvPr/>
        </p:nvSpPr>
        <p:spPr>
          <a:xfrm>
            <a:off x="708000" y="25562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CREATE EXTENSION IF NOT EXISTS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__FILL_ME_12__</a:t>
            </a: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zh-TW" altLang="en-US" sz="1200" dirty="0"/>
          </a:p>
        </p:txBody>
      </p:sp>
      <p:sp>
        <p:nvSpPr>
          <p:cNvPr id="108" name="Code line 108"/>
          <p:cNvSpPr txBox="1"/>
          <p:nvPr/>
        </p:nvSpPr>
        <p:spPr>
          <a:xfrm>
            <a:off x="708000" y="27949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09-peertube-deployment.yaml（節錄）</a:t>
            </a:r>
            <a:endParaRPr lang="zh-TW" altLang="en-US" sz="1200" dirty="0"/>
          </a:p>
        </p:txBody>
      </p:sp>
      <p:sp>
        <p:nvSpPr>
          <p:cNvPr id="109" name="Code line 109"/>
          <p:cNvSpPr txBox="1"/>
          <p:nvPr/>
        </p:nvSpPr>
        <p:spPr>
          <a:xfrm>
            <a:off x="708000" y="30337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env:</a:t>
            </a:r>
            <a:endParaRPr lang="zh-TW" altLang="en-US" sz="1200" dirty="0"/>
          </a:p>
        </p:txBody>
      </p:sp>
      <p:sp>
        <p:nvSpPr>
          <p:cNvPr id="110" name="Code line 110"/>
          <p:cNvSpPr txBox="1"/>
          <p:nvPr/>
        </p:nvSpPr>
        <p:spPr>
          <a:xfrm>
            <a:off x="708000" y="32724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- name: PEERTUBE_WEBSERVER_PORT</a:t>
            </a:r>
            <a:endParaRPr lang="zh-TW" altLang="en-US" sz="1200" dirty="0"/>
          </a:p>
        </p:txBody>
      </p:sp>
      <p:sp>
        <p:nvSpPr>
          <p:cNvPr id="111" name="Code line 111"/>
          <p:cNvSpPr txBox="1"/>
          <p:nvPr/>
        </p:nvSpPr>
        <p:spPr>
          <a:xfrm>
            <a:off x="708000" y="35112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__FILL_ME_29__</a:t>
            </a:r>
            <a:endParaRPr lang="zh-TW" altLang="en-US" sz="1200" dirty="0"/>
          </a:p>
        </p:txBody>
      </p:sp>
      <p:sp>
        <p:nvSpPr>
          <p:cNvPr id="112" name="Code line 112"/>
          <p:cNvSpPr txBox="1"/>
          <p:nvPr/>
        </p:nvSpPr>
        <p:spPr>
          <a:xfrm>
            <a:off x="708000" y="37500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- name: PEERTUBE_WEBSERVER_HTTPS</a:t>
            </a:r>
            <a:endParaRPr lang="zh-TW" altLang="en-US" sz="1200" dirty="0"/>
          </a:p>
        </p:txBody>
      </p:sp>
      <p:sp>
        <p:nvSpPr>
          <p:cNvPr id="113" name="Code line 113"/>
          <p:cNvSpPr txBox="1"/>
          <p:nvPr/>
        </p:nvSpPr>
        <p:spPr>
          <a:xfrm>
            <a:off x="708000" y="39887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__FILL_ME_30__</a:t>
            </a:r>
            <a:endParaRPr lang="zh-TW" altLang="en-US" sz="1200" dirty="0"/>
          </a:p>
        </p:txBody>
      </p:sp>
      <p:sp>
        <p:nvSpPr>
          <p:cNvPr id="114" name="Code line 114"/>
          <p:cNvSpPr txBox="1"/>
          <p:nvPr/>
        </p:nvSpPr>
        <p:spPr>
          <a:xfrm>
            <a:off x="708000" y="42275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- name: PEERTUBE_TRUST_PROXY</a:t>
            </a:r>
            <a:endParaRPr lang="zh-TW" altLang="en-US" sz="1200" dirty="0"/>
          </a:p>
        </p:txBody>
      </p:sp>
      <p:sp>
        <p:nvSpPr>
          <p:cNvPr id="115" name="Code line 115"/>
          <p:cNvSpPr txBox="1"/>
          <p:nvPr/>
        </p:nvSpPr>
        <p:spPr>
          <a:xfrm>
            <a:off x="708000" y="44662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__FILL_ME_31__</a:t>
            </a:r>
            <a:endParaRPr lang="zh-TW" altLang="en-US" sz="1200" dirty="0"/>
          </a:p>
        </p:txBody>
      </p:sp>
      <p:sp>
        <p:nvSpPr>
          <p:cNvPr id="116" name="Code line 116"/>
          <p:cNvSpPr txBox="1"/>
          <p:nvPr/>
        </p:nvSpPr>
        <p:spPr>
          <a:xfrm>
            <a:off x="708000" y="47050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- name: PEERTUBE_DB_HOSTNAME</a:t>
            </a:r>
            <a:endParaRPr lang="zh-TW" altLang="en-US" sz="1200" dirty="0"/>
          </a:p>
        </p:txBody>
      </p:sp>
      <p:sp>
        <p:nvSpPr>
          <p:cNvPr id="117" name="Code line 117"/>
          <p:cNvSpPr txBox="1"/>
          <p:nvPr/>
        </p:nvSpPr>
        <p:spPr>
          <a:xfrm>
            <a:off x="708000" y="49438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value: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__FILL_ME_33__</a:t>
            </a:r>
            <a:endParaRPr lang="zh-TW" altLang="en-US" sz="1200" dirty="0"/>
          </a:p>
        </p:txBody>
      </p:sp>
      <p:sp>
        <p:nvSpPr>
          <p:cNvPr id="118" name="Code line 118"/>
          <p:cNvSpPr txBox="1"/>
          <p:nvPr/>
        </p:nvSpPr>
        <p:spPr>
          <a:xfrm>
            <a:off x="708000" y="51825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ports:</a:t>
            </a:r>
            <a:endParaRPr lang="zh-TW" altLang="en-US" sz="1200" dirty="0"/>
          </a:p>
        </p:txBody>
      </p:sp>
      <p:sp>
        <p:nvSpPr>
          <p:cNvPr id="119" name="Code line 119"/>
          <p:cNvSpPr txBox="1"/>
          <p:nvPr/>
        </p:nvSpPr>
        <p:spPr>
          <a:xfrm>
            <a:off x="708000" y="54213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- name: http</a:t>
            </a:r>
            <a:endParaRPr lang="zh-TW" altLang="en-US" sz="1200" dirty="0"/>
          </a:p>
        </p:txBody>
      </p:sp>
      <p:sp>
        <p:nvSpPr>
          <p:cNvPr id="120" name="Code line 120"/>
          <p:cNvSpPr txBox="1"/>
          <p:nvPr/>
        </p:nvSpPr>
        <p:spPr>
          <a:xfrm>
            <a:off x="708000" y="56600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containerPort: </a:t>
            </a:r>
            <a:r>
              <a:rPr lang="zh-TW" altLang="en-US" sz="12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__FILL_ME_34__</a:t>
            </a:r>
            <a:endParaRPr lang="zh-TW" altLang="en-US" sz="1200" dirty="0"/>
          </a:p>
        </p:txBody>
      </p:sp>
      <p:sp>
        <p:nvSpPr>
          <p:cNvPr id="121" name="Hint card 121"/>
          <p:cNvSpPr/>
          <p:nvPr/>
        </p:nvSpPr>
        <p:spPr>
          <a:xfrm>
            <a:off x="5908000" y="1400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2" name="Hint label 122"/>
          <p:cNvSpPr txBox="1"/>
          <p:nvPr/>
        </p:nvSpPr>
        <p:spPr>
          <a:xfrm>
            <a:off x="6088000" y="1540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__FILL_ME_10__–12 · initdb ConfigMap</a:t>
            </a:r>
            <a:endParaRPr lang="zh-TW" altLang="en-US" sz="1200" dirty="0"/>
          </a:p>
        </p:txBody>
      </p:sp>
      <p:sp>
        <p:nvSpPr>
          <p:cNvPr id="123" name="Hint text 123"/>
          <p:cNvSpPr txBox="1"/>
          <p:nvPr/>
        </p:nvSpPr>
        <p:spPr>
          <a:xfrm>
            <a:off x="6088000" y="1830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檔名要 .sql 結尾；PeerTube 要求的兩個 extension：一個做模糊搜尋、一個做去重音搜尋。</a:t>
            </a:r>
            <a:endParaRPr lang="zh-TW" altLang="en-US" sz="1300" dirty="0"/>
          </a:p>
        </p:txBody>
      </p:sp>
      <p:sp>
        <p:nvSpPr>
          <p:cNvPr id="124" name="Hint card 124"/>
          <p:cNvSpPr/>
          <p:nvPr/>
        </p:nvSpPr>
        <p:spPr>
          <a:xfrm>
            <a:off x="5908000" y="2612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5" name="Hint label 125"/>
          <p:cNvSpPr txBox="1"/>
          <p:nvPr/>
        </p:nvSpPr>
        <p:spPr>
          <a:xfrm>
            <a:off x="6088000" y="2752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__FILL_ME_29__ / 34 · 兩個不同的埠號</a:t>
            </a:r>
            <a:endParaRPr lang="zh-TW" altLang="en-US" sz="1200" dirty="0"/>
          </a:p>
        </p:txBody>
      </p:sp>
      <p:sp>
        <p:nvSpPr>
          <p:cNvPr id="126" name="Hint text 126"/>
          <p:cNvSpPr txBox="1"/>
          <p:nvPr/>
        </p:nvSpPr>
        <p:spPr>
          <a:xfrm>
            <a:off x="6088000" y="3042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WEBSERVER_PORT 是使用者在瀏覽器看到的 https 埠；containerPort 是容器內部監聽的埠。</a:t>
            </a:r>
            <a:endParaRPr lang="zh-TW" altLang="en-US" sz="1300" dirty="0"/>
          </a:p>
        </p:txBody>
      </p:sp>
      <p:sp>
        <p:nvSpPr>
          <p:cNvPr id="127" name="Hint card 127"/>
          <p:cNvSpPr/>
          <p:nvPr/>
        </p:nvSpPr>
        <p:spPr>
          <a:xfrm>
            <a:off x="5908000" y="3825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8" name="Hint label 128"/>
          <p:cNvSpPr txBox="1"/>
          <p:nvPr/>
        </p:nvSpPr>
        <p:spPr>
          <a:xfrm>
            <a:off x="6088000" y="3965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__FILL_ME_30__ / 31 · 反向代理</a:t>
            </a:r>
            <a:endParaRPr lang="zh-TW" altLang="en-US" sz="1200" dirty="0"/>
          </a:p>
        </p:txBody>
      </p:sp>
      <p:sp>
        <p:nvSpPr>
          <p:cNvPr id="129" name="Hint text 129"/>
          <p:cNvSpPr txBox="1"/>
          <p:nvPr/>
        </p:nvSpPr>
        <p:spPr>
          <a:xfrm>
            <a:off x="6088000" y="4255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HTTPRoute 只掛 https；流量從 Gateway 的 Pod 網路進來，要多信任 RFC1918 私有位址。</a:t>
            </a:r>
            <a:endParaRPr lang="zh-TW" altLang="en-US" sz="1300" dirty="0"/>
          </a:p>
        </p:txBody>
      </p:sp>
      <p:sp>
        <p:nvSpPr>
          <p:cNvPr id="130" name="Hint card 130"/>
          <p:cNvSpPr/>
          <p:nvPr/>
        </p:nvSpPr>
        <p:spPr>
          <a:xfrm>
            <a:off x="5908000" y="5037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1" name="Hint label 131"/>
          <p:cNvSpPr txBox="1"/>
          <p:nvPr/>
        </p:nvSpPr>
        <p:spPr>
          <a:xfrm>
            <a:off x="6088000" y="5177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__FILL_ME_33__ · DB_HOSTNAME</a:t>
            </a:r>
            <a:endParaRPr lang="zh-TW" altLang="en-US" sz="1200" dirty="0"/>
          </a:p>
        </p:txBody>
      </p:sp>
      <p:sp>
        <p:nvSpPr>
          <p:cNvPr id="132" name="Hint text 132"/>
          <p:cNvSpPr txBox="1"/>
          <p:nvPr/>
        </p:nvSpPr>
        <p:spPr>
          <a:xfrm>
            <a:off x="6088000" y="5467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同 namespace 直接用 04-postgres-service 的 Service 名稱，不需要 FQDN。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6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資料庫認證失敗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PeerTube Running 且 Ready，註冊或新增影片時 logs 出現 authentication failed。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deploy/peertube -n peertube</a:t>
            </a:r>
            <a:endParaRPr lang="zh-TW" altLang="en-US" sz="100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來源 IP / https 判斷異常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網站打得開、一切看似正常，但記錄的來源 IP 或 https 判斷不對，很容易被忽略。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deploy/peertube -n peertube</a:t>
            </a:r>
            <a:endParaRPr lang="zh-TW" altLang="en-US" sz="100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migration 缺 extension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postgres-0 健康，但 PeerTube 第一次跑 migration 就失敗，提到缺少 extension。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postgres-0 -n peertube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redis 的 Endpoints 是空的</a:t>
            </a:r>
            <a:endParaRPr lang="zh-TW" altLang="en-US" sz="15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redis Pod Ready、ping 也正常，但 PeerTube 連不到 redis，佇列功能出錯。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redis -n peertube</a:t>
            </a:r>
            <a:endParaRPr lang="zh-TW" altLang="en-US" sz="10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套用 NetworkPolicy 後逾時</a:t>
            </a:r>
            <a:endParaRPr lang="zh-TW" altLang="en-US" sz="15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套用前一切正常，套用後 PeerTube 連 postgres timeout（不是認證失敗）。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networkpolicy -n peertube</a:t>
            </a:r>
            <a:endParaRPr lang="zh-TW" altLang="en-US" sz="1050" dirty="0"/>
          </a:p>
        </p:txBody>
      </p:sp>
      <p:sp>
        <p:nvSpPr>
          <p:cNvPr id="132" name="Bug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Badge 133"/>
          <p:cNvSpPr/>
          <p:nvPr/>
        </p:nvSpPr>
        <p:spPr>
          <a:xfrm>
            <a:off x="8292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zh-TW" altLang="en-US" sz="14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822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Gateway 連不到網站</a:t>
            </a:r>
            <a:endParaRPr lang="zh-TW" altLang="en-US" sz="1600" dirty="0"/>
          </a:p>
        </p:txBody>
      </p:sp>
      <p:sp>
        <p:nvSpPr>
          <p:cNvPr id="135" name="TextBox 135"/>
          <p:cNvSpPr txBox="1"/>
          <p:nvPr/>
        </p:nvSpPr>
        <p:spPr>
          <a:xfrm>
            <a:off x="8292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顯示 Accepted: True，直接測 Service 正常，透過 Gateway 卻失敗。</a:t>
            </a:r>
            <a:endParaRPr lang="zh-TW" altLang="en-US" sz="1300" dirty="0"/>
          </a:p>
        </p:txBody>
      </p:sp>
      <p:sp>
        <p:nvSpPr>
          <p:cNvPr id="136" name="TextBox 136"/>
          <p:cNvSpPr txBox="1"/>
          <p:nvPr/>
        </p:nvSpPr>
        <p:spPr>
          <a:xfrm>
            <a:off x="8292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7" name="TextBox 137"/>
          <p:cNvSpPr txBox="1"/>
          <p:nvPr/>
        </p:nvSpPr>
        <p:spPr>
          <a:xfrm>
            <a:off x="8292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-n peertube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860608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7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cloudbeaver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唯一的跨 </a:t>
            </a:r>
            <a:r>
              <a:rPr lang="en-US" altLang="zh-TW" dirty="0"/>
              <a:t>namespace </a:t>
            </a:r>
            <a:r>
              <a:rPr lang="zh-TW" altLang="en-US" dirty="0"/>
              <a:t>存取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 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官方推出的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版本，同一個 瀏覽器介面可以建立多組資料庫連線、支援 </a:t>
            </a:r>
            <a:r>
              <a:rPr lang="en-US" altLang="zh-TW" sz="1600" dirty="0">
                <a:solidFill>
                  <a:schemeClr val="bg2"/>
                </a:solidFill>
              </a:rPr>
              <a:t>MySQL/PostgreSQL </a:t>
            </a:r>
            <a:r>
              <a:rPr lang="zh-TW" altLang="en-US" sz="1600" dirty="0">
                <a:solidFill>
                  <a:schemeClr val="bg2"/>
                </a:solidFill>
              </a:rPr>
              <a:t>等多種資料庫，是一個 通用的視覺化資料庫管理工具（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-like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 </a:t>
            </a:r>
            <a:r>
              <a:rPr lang="en-US" altLang="zh-TW" sz="1400" dirty="0" err="1">
                <a:solidFill>
                  <a:schemeClr val="bg2"/>
                </a:solidFill>
              </a:rPr>
              <a:t>dbeaver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cloudbeaver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2887597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70" name="Google Shape;217;h354c58d55cfae689_0_309">
            <a:extLst>
              <a:ext uri="{FF2B5EF4-FFF2-40B4-BE49-F238E27FC236}">
                <a16:creationId xmlns:a16="http://schemas.microsoft.com/office/drawing/2014/main" id="{3A093B04-E05E-4F63-AEAD-A27AC4FC37C5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F80FE8AB-59C9-45AB-BB36-EA6604398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115" y="454590"/>
            <a:ext cx="9927770" cy="604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195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7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7" name="Google Shape;475;h354c58d55cfae689_0_558">
            <a:extLst>
              <a:ext uri="{FF2B5EF4-FFF2-40B4-BE49-F238E27FC236}">
                <a16:creationId xmlns:a16="http://schemas.microsoft.com/office/drawing/2014/main" id="{832D9954-761C-41DF-8591-F1B0B6AED4A9}"/>
              </a:ext>
            </a:extLst>
          </p:cNvPr>
          <p:cNvSpPr/>
          <p:nvPr/>
        </p:nvSpPr>
        <p:spPr>
          <a:xfrm>
            <a:off x="815975" y="1877702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476;h354c58d55cfae689_0_558">
            <a:extLst>
              <a:ext uri="{FF2B5EF4-FFF2-40B4-BE49-F238E27FC236}">
                <a16:creationId xmlns:a16="http://schemas.microsoft.com/office/drawing/2014/main" id="{0E9331D7-1593-417A-BB93-3345D08E22F0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用 namespaceSelector 放行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77;h354c58d55cfae689_0_558">
            <a:extLst>
              <a:ext uri="{FF2B5EF4-FFF2-40B4-BE49-F238E27FC236}">
                <a16:creationId xmlns:a16="http://schemas.microsoft.com/office/drawing/2014/main" id="{97020E6B-F51C-45CD-AAE6-5E5E7E1AB7E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egress 指向 flarum、planka、peertube，比對 kubernetes.io/metadata.name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78;h354c58d55cfae689_0_558">
            <a:extLst>
              <a:ext uri="{FF2B5EF4-FFF2-40B4-BE49-F238E27FC236}">
                <a16:creationId xmlns:a16="http://schemas.microsoft.com/office/drawing/2014/main" id="{B57793EB-55E1-445F-8959-78E58C55D4C5}"/>
              </a:ext>
            </a:extLst>
          </p:cNvPr>
          <p:cNvSpPr/>
          <p:nvPr/>
        </p:nvSpPr>
        <p:spPr>
          <a:xfrm>
            <a:off x="815975" y="2922910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479;h354c58d55cfae689_0_558">
            <a:extLst>
              <a:ext uri="{FF2B5EF4-FFF2-40B4-BE49-F238E27FC236}">
                <a16:creationId xmlns:a16="http://schemas.microsoft.com/office/drawing/2014/main" id="{D023DB97-B389-4DCD-9A58-0C5710E72DD9}"/>
              </a:ext>
            </a:extLst>
          </p:cNvPr>
          <p:cNvSpPr/>
          <p:nvPr/>
        </p:nvSpPr>
        <p:spPr>
          <a:xfrm>
            <a:off x="995680" y="3102608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兩邊都要開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480;h354c58d55cfae689_0_558">
            <a:extLst>
              <a:ext uri="{FF2B5EF4-FFF2-40B4-BE49-F238E27FC236}">
                <a16:creationId xmlns:a16="http://schemas.microsoft.com/office/drawing/2014/main" id="{9D40A94C-5A79-45F4-BD77-F93B928EE27E}"/>
              </a:ext>
            </a:extLst>
          </p:cNvPr>
          <p:cNvSpPr/>
          <p:nvPr/>
        </p:nvSpPr>
        <p:spPr>
          <a:xfrm>
            <a:off x="995680" y="3407408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三個資料庫的 NetworkPolicy 也要加 ingress，放行來自 cloudbeaver 的連線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81;h354c58d55cfae689_0_558">
            <a:extLst>
              <a:ext uri="{FF2B5EF4-FFF2-40B4-BE49-F238E27FC236}">
                <a16:creationId xmlns:a16="http://schemas.microsoft.com/office/drawing/2014/main" id="{51417945-1D4D-4B85-80DA-381569FA41A5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482;h354c58d55cfae689_0_558">
            <a:extLst>
              <a:ext uri="{FF2B5EF4-FFF2-40B4-BE49-F238E27FC236}">
                <a16:creationId xmlns:a16="http://schemas.microsoft.com/office/drawing/2014/main" id="{BB14326E-0A77-45A3-BD30-81CA0450B12A}"/>
              </a:ext>
            </a:extLst>
          </p:cNvPr>
          <p:cNvSpPr/>
          <p:nvPr/>
        </p:nvSpPr>
        <p:spPr>
          <a:xfrm>
            <a:off x="995680" y="4147827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設定精靈只跑一次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483;h354c58d55cfae689_0_558">
            <a:extLst>
              <a:ext uri="{FF2B5EF4-FFF2-40B4-BE49-F238E27FC236}">
                <a16:creationId xmlns:a16="http://schemas.microsoft.com/office/drawing/2014/main" id="{2282E03F-99F2-4A28-B3C3-E6B39A953155}"/>
              </a:ext>
            </a:extLst>
          </p:cNvPr>
          <p:cNvSpPr/>
          <p:nvPr/>
        </p:nvSpPr>
        <p:spPr>
          <a:xfrm>
            <a:off x="995680" y="4452627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管理員帳號別取名 admin：會跟內建的 admin 團隊撞名，怎麼重試都失敗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84;h354c58d55cfae689_0_558">
            <a:extLst>
              <a:ext uri="{FF2B5EF4-FFF2-40B4-BE49-F238E27FC236}">
                <a16:creationId xmlns:a16="http://schemas.microsoft.com/office/drawing/2014/main" id="{0F7064BB-AE8B-442D-A240-D16CF441CC56}"/>
              </a:ext>
            </a:extLst>
          </p:cNvPr>
          <p:cNvSpPr/>
          <p:nvPr/>
        </p:nvSpPr>
        <p:spPr>
          <a:xfrm>
            <a:off x="7569200" y="1874527"/>
            <a:ext cx="3810000" cy="2743200"/>
          </a:xfrm>
          <a:prstGeom prst="roundRect">
            <a:avLst>
              <a:gd name="adj" fmla="val 3704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85;h354c58d55cfae689_0_558">
            <a:extLst>
              <a:ext uri="{FF2B5EF4-FFF2-40B4-BE49-F238E27FC236}">
                <a16:creationId xmlns:a16="http://schemas.microsoft.com/office/drawing/2014/main" id="{1C011F78-E5DD-4E3F-AF93-58221EFBD13A}"/>
              </a:ext>
            </a:extLst>
          </p:cNvPr>
          <p:cNvSpPr/>
          <p:nvPr/>
        </p:nvSpPr>
        <p:spPr>
          <a:xfrm>
            <a:off x="7797800" y="20777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86;h354c58d55cfae689_0_558">
            <a:extLst>
              <a:ext uri="{FF2B5EF4-FFF2-40B4-BE49-F238E27FC236}">
                <a16:creationId xmlns:a16="http://schemas.microsoft.com/office/drawing/2014/main" id="{3DC7F110-5B5E-47CE-88DB-23CC7F399AD0}"/>
              </a:ext>
            </a:extLst>
          </p:cNvPr>
          <p:cNvSpPr/>
          <p:nvPr/>
        </p:nvSpPr>
        <p:spPr>
          <a:xfrm>
            <a:off x="7797800" y="2316485"/>
            <a:ext cx="3453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先重新 apply 三個 DB 的 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87;h354c58d55cfae689_0_558">
            <a:extLst>
              <a:ext uri="{FF2B5EF4-FFF2-40B4-BE49-F238E27FC236}">
                <a16:creationId xmlns:a16="http://schemas.microsoft.com/office/drawing/2014/main" id="{96EEB399-94BC-4157-8855-DA426BF53773}"/>
              </a:ext>
            </a:extLst>
          </p:cNvPr>
          <p:cNvSpPr/>
          <p:nvPr/>
        </p:nvSpPr>
        <p:spPr>
          <a:xfrm>
            <a:off x="7797800" y="27686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88;h354c58d55cfae689_0_558">
            <a:extLst>
              <a:ext uri="{FF2B5EF4-FFF2-40B4-BE49-F238E27FC236}">
                <a16:creationId xmlns:a16="http://schemas.microsoft.com/office/drawing/2014/main" id="{F4EDF9A5-ECBC-422B-9E14-96C931800D05}"/>
              </a:ext>
            </a:extLst>
          </p:cNvPr>
          <p:cNvSpPr/>
          <p:nvPr/>
        </p:nvSpPr>
        <p:spPr>
          <a:xfrm>
            <a:off x="7797800" y="30073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89;h354c58d55cfae689_0_558">
            <a:extLst>
              <a:ext uri="{FF2B5EF4-FFF2-40B4-BE49-F238E27FC236}">
                <a16:creationId xmlns:a16="http://schemas.microsoft.com/office/drawing/2014/main" id="{DF51F2A3-0DEE-4092-90F2-DE5F4505351C}"/>
              </a:ext>
            </a:extLst>
          </p:cNvPr>
          <p:cNvSpPr/>
          <p:nvPr/>
        </p:nvSpPr>
        <p:spPr>
          <a:xfrm>
            <a:off x="7797800" y="32461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90;h354c58d55cfae689_0_558">
            <a:extLst>
              <a:ext uri="{FF2B5EF4-FFF2-40B4-BE49-F238E27FC236}">
                <a16:creationId xmlns:a16="http://schemas.microsoft.com/office/drawing/2014/main" id="{CC2BB7B9-6498-4406-8A9E-F3DDF6E8DA95}"/>
              </a:ext>
            </a:extLst>
          </p:cNvPr>
          <p:cNvSpPr/>
          <p:nvPr/>
        </p:nvSpPr>
        <p:spPr>
          <a:xfrm>
            <a:off x="7797800" y="34848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91;h354c58d55cfae689_0_558">
            <a:extLst>
              <a:ext uri="{FF2B5EF4-FFF2-40B4-BE49-F238E27FC236}">
                <a16:creationId xmlns:a16="http://schemas.microsoft.com/office/drawing/2014/main" id="{C74674B8-DBE4-4E0D-BD66-28EBC091A201}"/>
              </a:ext>
            </a:extLst>
          </p:cNvPr>
          <p:cNvSpPr/>
          <p:nvPr/>
        </p:nvSpPr>
        <p:spPr>
          <a:xfrm>
            <a:off x="7797800" y="37236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92;h354c58d55cfae689_0_558">
            <a:extLst>
              <a:ext uri="{FF2B5EF4-FFF2-40B4-BE49-F238E27FC236}">
                <a16:creationId xmlns:a16="http://schemas.microsoft.com/office/drawing/2014/main" id="{468CCD48-B6B1-47BF-8E1B-15A1A7064F8E}"/>
              </a:ext>
            </a:extLst>
          </p:cNvPr>
          <p:cNvSpPr/>
          <p:nvPr/>
        </p:nvSpPr>
        <p:spPr>
          <a:xfrm>
            <a:off x="7797800" y="39624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93;h354c58d55cfae689_0_558">
            <a:extLst>
              <a:ext uri="{FF2B5EF4-FFF2-40B4-BE49-F238E27FC236}">
                <a16:creationId xmlns:a16="http://schemas.microsoft.com/office/drawing/2014/main" id="{2815319C-DF72-4B12-B3A7-21F1DB787475}"/>
              </a:ext>
            </a:extLst>
          </p:cNvPr>
          <p:cNvSpPr/>
          <p:nvPr/>
        </p:nvSpPr>
        <p:spPr>
          <a:xfrm>
            <a:off x="7797800" y="42011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10;h354c58d55cfae689_0_284">
            <a:extLst>
              <a:ext uri="{FF2B5EF4-FFF2-40B4-BE49-F238E27FC236}">
                <a16:creationId xmlns:a16="http://schemas.microsoft.com/office/drawing/2014/main" id="{B604FFAF-0F17-48A7-B14B-96358BBA82E0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唯一的跨 </a:t>
            </a:r>
            <a:r>
              <a:rPr 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存取</a:t>
            </a:r>
          </a:p>
        </p:txBody>
      </p:sp>
      <p:sp>
        <p:nvSpPr>
          <p:cNvPr id="23" name="Google Shape;217;h354c58d55cfae689_0_309">
            <a:extLst>
              <a:ext uri="{FF2B5EF4-FFF2-40B4-BE49-F238E27FC236}">
                <a16:creationId xmlns:a16="http://schemas.microsoft.com/office/drawing/2014/main" id="{71527BAB-74E7-4FC0-8278-9D274E691A4C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11503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 · 本頁節錄這站的新概念，其餘題目見 exercises/README.md</a:t>
            </a:r>
            <a:endParaRPr lang="zh-TW" altLang="en-US" sz="1400" dirty="0"/>
          </a:p>
        </p:txBody>
      </p:sp>
      <p:sp>
        <p:nvSpPr>
          <p:cNvPr id="102" name="Code panel 102"/>
          <p:cNvSpPr/>
          <p:nvPr/>
        </p:nvSpPr>
        <p:spPr>
          <a:xfrm>
            <a:off x="508000" y="1400000"/>
            <a:ext cx="5200000" cy="47000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Code line 103"/>
          <p:cNvSpPr txBox="1"/>
          <p:nvPr/>
        </p:nvSpPr>
        <p:spPr>
          <a:xfrm>
            <a:off x="708000" y="16011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# 06-networkpolicy.yaml（節錄）</a:t>
            </a:r>
            <a:endParaRPr lang="zh-TW" altLang="en-US" sz="1100" dirty="0"/>
          </a:p>
        </p:txBody>
      </p:sp>
      <p:sp>
        <p:nvSpPr>
          <p:cNvPr id="104" name="Code line 104"/>
          <p:cNvSpPr txBox="1"/>
          <p:nvPr/>
        </p:nvSpPr>
        <p:spPr>
          <a:xfrm>
            <a:off x="708000" y="18399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kind: NetworkPolicy</a:t>
            </a:r>
            <a:endParaRPr lang="zh-TW" altLang="en-US" sz="1100" dirty="0"/>
          </a:p>
        </p:txBody>
      </p:sp>
      <p:sp>
        <p:nvSpPr>
          <p:cNvPr id="105" name="Code line 105"/>
          <p:cNvSpPr txBox="1"/>
          <p:nvPr/>
        </p:nvSpPr>
        <p:spPr>
          <a:xfrm>
            <a:off x="708000" y="20786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 lang="zh-TW" altLang="en-US" sz="1100" dirty="0"/>
          </a:p>
        </p:txBody>
      </p:sp>
      <p:sp>
        <p:nvSpPr>
          <p:cNvPr id="106" name="Code line 106"/>
          <p:cNvSpPr txBox="1"/>
          <p:nvPr/>
        </p:nvSpPr>
        <p:spPr>
          <a:xfrm>
            <a:off x="708000" y="23174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name: allow-egress-cloudbeaver-to-databases</a:t>
            </a:r>
            <a:endParaRPr lang="zh-TW" altLang="en-US" sz="1100" dirty="0"/>
          </a:p>
        </p:txBody>
      </p:sp>
      <p:sp>
        <p:nvSpPr>
          <p:cNvPr id="107" name="Code line 107"/>
          <p:cNvSpPr txBox="1"/>
          <p:nvPr/>
        </p:nvSpPr>
        <p:spPr>
          <a:xfrm>
            <a:off x="708000" y="25562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lang="zh-TW" altLang="en-US" sz="1100" dirty="0"/>
          </a:p>
        </p:txBody>
      </p:sp>
      <p:sp>
        <p:nvSpPr>
          <p:cNvPr id="108" name="Code line 108"/>
          <p:cNvSpPr txBox="1"/>
          <p:nvPr/>
        </p:nvSpPr>
        <p:spPr>
          <a:xfrm>
            <a:off x="708000" y="27949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podSelector:</a:t>
            </a:r>
            <a:endParaRPr lang="zh-TW" altLang="en-US" sz="1100" dirty="0"/>
          </a:p>
        </p:txBody>
      </p:sp>
      <p:sp>
        <p:nvSpPr>
          <p:cNvPr id="109" name="Code line 109"/>
          <p:cNvSpPr txBox="1"/>
          <p:nvPr/>
        </p:nvSpPr>
        <p:spPr>
          <a:xfrm>
            <a:off x="708000" y="30337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matchLabels:</a:t>
            </a:r>
            <a:endParaRPr lang="zh-TW" altLang="en-US" sz="1100" dirty="0"/>
          </a:p>
        </p:txBody>
      </p:sp>
      <p:sp>
        <p:nvSpPr>
          <p:cNvPr id="110" name="Code line 110"/>
          <p:cNvSpPr txBox="1"/>
          <p:nvPr/>
        </p:nvSpPr>
        <p:spPr>
          <a:xfrm>
            <a:off x="708000" y="32724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app: </a:t>
            </a:r>
            <a:r>
              <a:rPr lang="zh-TW" altLang="en-US" sz="11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__FILL_ME_22__</a:t>
            </a:r>
            <a:endParaRPr lang="zh-TW" altLang="en-US" sz="1100" dirty="0"/>
          </a:p>
        </p:txBody>
      </p:sp>
      <p:sp>
        <p:nvSpPr>
          <p:cNvPr id="111" name="Code line 111"/>
          <p:cNvSpPr txBox="1"/>
          <p:nvPr/>
        </p:nvSpPr>
        <p:spPr>
          <a:xfrm>
            <a:off x="708000" y="35112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policyTypes: [Egress]</a:t>
            </a:r>
            <a:endParaRPr lang="zh-TW" altLang="en-US" sz="1100" dirty="0"/>
          </a:p>
        </p:txBody>
      </p:sp>
      <p:sp>
        <p:nvSpPr>
          <p:cNvPr id="112" name="Code line 112"/>
          <p:cNvSpPr txBox="1"/>
          <p:nvPr/>
        </p:nvSpPr>
        <p:spPr>
          <a:xfrm>
            <a:off x="708000" y="37500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egress:</a:t>
            </a:r>
            <a:endParaRPr lang="zh-TW" altLang="en-US" sz="1100" dirty="0"/>
          </a:p>
        </p:txBody>
      </p:sp>
      <p:sp>
        <p:nvSpPr>
          <p:cNvPr id="113" name="Code line 113"/>
          <p:cNvSpPr txBox="1"/>
          <p:nvPr/>
        </p:nvSpPr>
        <p:spPr>
          <a:xfrm>
            <a:off x="708000" y="39887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- to:</a:t>
            </a:r>
            <a:endParaRPr lang="zh-TW" altLang="en-US" sz="1100" dirty="0"/>
          </a:p>
        </p:txBody>
      </p:sp>
      <p:sp>
        <p:nvSpPr>
          <p:cNvPr id="114" name="Code line 114"/>
          <p:cNvSpPr txBox="1"/>
          <p:nvPr/>
        </p:nvSpPr>
        <p:spPr>
          <a:xfrm>
            <a:off x="708000" y="42275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namespaceSelector:</a:t>
            </a:r>
            <a:endParaRPr lang="zh-TW" altLang="en-US" sz="1100" dirty="0"/>
          </a:p>
        </p:txBody>
      </p:sp>
      <p:sp>
        <p:nvSpPr>
          <p:cNvPr id="115" name="Code line 115"/>
          <p:cNvSpPr txBox="1"/>
          <p:nvPr/>
        </p:nvSpPr>
        <p:spPr>
          <a:xfrm>
            <a:off x="708000" y="44662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matchLabels:</a:t>
            </a:r>
            <a:endParaRPr lang="zh-TW" altLang="en-US" sz="1100" dirty="0"/>
          </a:p>
        </p:txBody>
      </p:sp>
      <p:sp>
        <p:nvSpPr>
          <p:cNvPr id="116" name="Code line 116"/>
          <p:cNvSpPr txBox="1"/>
          <p:nvPr/>
        </p:nvSpPr>
        <p:spPr>
          <a:xfrm>
            <a:off x="708000" y="470504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   kubernetes.io/metadata.name: </a:t>
            </a:r>
            <a:r>
              <a:rPr lang="zh-TW" altLang="en-US" sz="11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__FILL_ME_23__</a:t>
            </a:r>
            <a:endParaRPr lang="zh-TW" altLang="en-US" sz="1100" dirty="0"/>
          </a:p>
        </p:txBody>
      </p:sp>
      <p:sp>
        <p:nvSpPr>
          <p:cNvPr id="117" name="Code line 117"/>
          <p:cNvSpPr txBox="1"/>
          <p:nvPr/>
        </p:nvSpPr>
        <p:spPr>
          <a:xfrm>
            <a:off x="708000" y="494380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ports:</a:t>
            </a:r>
            <a:endParaRPr lang="zh-TW" altLang="en-US" sz="1100" dirty="0"/>
          </a:p>
        </p:txBody>
      </p:sp>
      <p:sp>
        <p:nvSpPr>
          <p:cNvPr id="118" name="Code line 118"/>
          <p:cNvSpPr txBox="1"/>
          <p:nvPr/>
        </p:nvSpPr>
        <p:spPr>
          <a:xfrm>
            <a:off x="708000" y="518256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- protocol: TCP</a:t>
            </a:r>
            <a:endParaRPr lang="zh-TW" altLang="en-US" sz="1100" dirty="0"/>
          </a:p>
        </p:txBody>
      </p:sp>
      <p:sp>
        <p:nvSpPr>
          <p:cNvPr id="119" name="Code line 119"/>
          <p:cNvSpPr txBox="1"/>
          <p:nvPr/>
        </p:nvSpPr>
        <p:spPr>
          <a:xfrm>
            <a:off x="708000" y="542132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port: </a:t>
            </a:r>
            <a:r>
              <a:rPr lang="zh-TW" altLang="en-US" sz="11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__FILL_ME_24__</a:t>
            </a:r>
            <a:endParaRPr lang="zh-TW" altLang="en-US" sz="1100" dirty="0"/>
          </a:p>
        </p:txBody>
      </p:sp>
      <p:sp>
        <p:nvSpPr>
          <p:cNvPr id="120" name="Code line 120"/>
          <p:cNvSpPr txBox="1"/>
          <p:nvPr/>
        </p:nvSpPr>
        <p:spPr>
          <a:xfrm>
            <a:off x="708000" y="5660080"/>
            <a:ext cx="48000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    # 第二、三條同樣寫法：</a:t>
            </a:r>
            <a:r>
              <a:rPr lang="zh-TW" altLang="en-US" sz="1100" b="1" dirty="0">
                <a:solidFill>
                  <a:srgbClr val="F2B35C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__FILL_ME_25__</a:t>
            </a:r>
            <a:r>
              <a:rPr lang="zh-TW" altLang="en-US" sz="1100" b="0" dirty="0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～28</a:t>
            </a:r>
            <a:endParaRPr lang="zh-TW" altLang="en-US" sz="1100" dirty="0"/>
          </a:p>
        </p:txBody>
      </p:sp>
      <p:sp>
        <p:nvSpPr>
          <p:cNvPr id="121" name="Hint card 121"/>
          <p:cNvSpPr/>
          <p:nvPr/>
        </p:nvSpPr>
        <p:spPr>
          <a:xfrm>
            <a:off x="5908000" y="1400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2" name="Hint label 122"/>
          <p:cNvSpPr txBox="1"/>
          <p:nvPr/>
        </p:nvSpPr>
        <p:spPr>
          <a:xfrm>
            <a:off x="6088000" y="1540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__FILL_ME_22__ · podSelector</a:t>
            </a:r>
            <a:endParaRPr lang="zh-TW" altLang="en-US" sz="1200" dirty="0"/>
          </a:p>
        </p:txBody>
      </p:sp>
      <p:sp>
        <p:nvSpPr>
          <p:cNvPr id="123" name="Hint text 123"/>
          <p:cNvSpPr txBox="1"/>
          <p:nvPr/>
        </p:nvSpPr>
        <p:spPr>
          <a:xfrm>
            <a:off x="6088000" y="1830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egress 規則套在「要連出去」的那一邊，也就是這個產品自己的 Pod。</a:t>
            </a:r>
            <a:endParaRPr lang="zh-TW" altLang="en-US" sz="1300" dirty="0"/>
          </a:p>
        </p:txBody>
      </p:sp>
      <p:sp>
        <p:nvSpPr>
          <p:cNvPr id="124" name="Hint card 124"/>
          <p:cNvSpPr/>
          <p:nvPr/>
        </p:nvSpPr>
        <p:spPr>
          <a:xfrm>
            <a:off x="5908000" y="2612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5" name="Hint label 125"/>
          <p:cNvSpPr txBox="1"/>
          <p:nvPr/>
        </p:nvSpPr>
        <p:spPr>
          <a:xfrm>
            <a:off x="6088000" y="2752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__FILL_ME_23__ / 25 / 27 · namespaceSelector</a:t>
            </a:r>
            <a:endParaRPr lang="zh-TW" altLang="en-US" sz="1200" dirty="0"/>
          </a:p>
        </p:txBody>
      </p:sp>
      <p:sp>
        <p:nvSpPr>
          <p:cNvPr id="126" name="Hint text 126"/>
          <p:cNvSpPr txBox="1"/>
          <p:nvPr/>
        </p:nvSpPr>
        <p:spPr>
          <a:xfrm>
            <a:off x="6088000" y="3042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用 K8s 自動加在每個 namespace 上的 kubernetes.io/metadata.name，值就是 namespace 名稱。</a:t>
            </a:r>
            <a:endParaRPr lang="zh-TW" altLang="en-US" sz="1300" dirty="0"/>
          </a:p>
        </p:txBody>
      </p:sp>
      <p:sp>
        <p:nvSpPr>
          <p:cNvPr id="127" name="Hint card 127"/>
          <p:cNvSpPr/>
          <p:nvPr/>
        </p:nvSpPr>
        <p:spPr>
          <a:xfrm>
            <a:off x="5908000" y="38250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8" name="Hint label 128"/>
          <p:cNvSpPr txBox="1"/>
          <p:nvPr/>
        </p:nvSpPr>
        <p:spPr>
          <a:xfrm>
            <a:off x="6088000" y="39650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__FILL_ME_24__ / 26 / 28 · port</a:t>
            </a:r>
            <a:endParaRPr lang="zh-TW" altLang="en-US" sz="1200" dirty="0"/>
          </a:p>
        </p:txBody>
      </p:sp>
      <p:sp>
        <p:nvSpPr>
          <p:cNvPr id="129" name="Hint text 129"/>
          <p:cNvSpPr txBox="1"/>
          <p:nvPr/>
        </p:nvSpPr>
        <p:spPr>
          <a:xfrm>
            <a:off x="6088000" y="42550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mysql 與 postgres 的標準埠號：flarum 一條，planka、peertube 各一條。</a:t>
            </a:r>
            <a:endParaRPr lang="zh-TW" altLang="en-US" sz="1300" dirty="0"/>
          </a:p>
        </p:txBody>
      </p:sp>
      <p:sp>
        <p:nvSpPr>
          <p:cNvPr id="130" name="Hint card 130"/>
          <p:cNvSpPr/>
          <p:nvPr/>
        </p:nvSpPr>
        <p:spPr>
          <a:xfrm>
            <a:off x="5908000" y="5037500"/>
            <a:ext cx="5776000" cy="10625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1" name="Hint label 131"/>
          <p:cNvSpPr txBox="1"/>
          <p:nvPr/>
        </p:nvSpPr>
        <p:spPr>
          <a:xfrm>
            <a:off x="6088000" y="5177500"/>
            <a:ext cx="5416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6759A"/>
                </a:solidFill>
                <a:latin typeface="Courier New"/>
                <a:ea typeface="Courier New"/>
                <a:cs typeface="Courier New"/>
                <a:sym typeface="Courier New"/>
              </a:rPr>
              <a:t>兩邊都要開</a:t>
            </a:r>
            <a:endParaRPr lang="zh-TW" altLang="en-US" sz="1200" dirty="0"/>
          </a:p>
        </p:txBody>
      </p:sp>
      <p:sp>
        <p:nvSpPr>
          <p:cNvPr id="132" name="Hint text 132"/>
          <p:cNvSpPr txBox="1"/>
          <p:nvPr/>
        </p:nvSpPr>
        <p:spPr>
          <a:xfrm>
            <a:off x="6088000" y="5467500"/>
            <a:ext cx="54160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三個 DB 的 NetworkPolicy 也要有放行 cloudbeaver 的 ingress，只寫這邊的 egress 還是會被擋。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連第一個 Pod 都生不出來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只有 1 個 replica，Deployment 卻建不出任何 Pod，Events 看到 exceeded quota。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events -n cloudbeaver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CrashLoopBackOff：permission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容器一起來就死，logs 出現權限相關錯誤。官方 entrypoint 需不需要 root 去動 PVC？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deploy/cloudbeaver -n cloudbeaver --previous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 且 1/1 Ready，透過 Gateway 連線得到 503 / connection refused。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cloudbeaver -n cloudbeaver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三個 DB 只連得到兩個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在 Pod 裡用 /dev/tcp 測試，第三個資料庫卡住逾時（不是立刻被拒絕）。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exec -it deploy/cloudbeaver -n cloudbeaver -- sh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8322260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80AD"/>
        </a:solidFill>
        <a:effectLst/>
      </p:bgPr>
    </p:bg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9" name="Google Shape;1489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1"/>
          <p:cNvSpPr/>
          <p:nvPr/>
        </p:nvSpPr>
        <p:spPr>
          <a:xfrm>
            <a:off x="508000" y="2588270"/>
            <a:ext cx="11511280" cy="103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41"/>
          <p:cNvSpPr/>
          <p:nvPr/>
        </p:nvSpPr>
        <p:spPr>
          <a:xfrm>
            <a:off x="508000" y="3746500"/>
            <a:ext cx="1151128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實戰部署工作坊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2" name="Google Shape;1492;p41" descr="AIC AIoT Cloud"/>
          <p:cNvPicPr preferRelativeResize="0"/>
          <p:nvPr/>
        </p:nvPicPr>
        <p:blipFill rotWithShape="1">
          <a:blip r:embed="rId4">
            <a:alphaModFix/>
          </a:blip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80AD"/>
        </a:solidFill>
        <a:effectLst/>
      </p:bgPr>
    </p:bg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p42" descr="preencoded.png"/>
          <p:cNvPicPr preferRelativeResize="0"/>
          <p:nvPr/>
        </p:nvPicPr>
        <p:blipFill rotWithShape="1">
          <a:blip r:embed="rId3">
            <a:alphaModFix/>
          </a:blip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42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r>
              <a:rPr lang="en-US" sz="7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補充</a:t>
            </a:r>
            <a:endParaRPr sz="7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42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補充資料：課後自學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42"/>
          <p:cNvSpPr/>
          <p:nvPr/>
        </p:nvSpPr>
        <p:spPr>
          <a:xfrm>
            <a:off x="508000" y="4155455"/>
            <a:ext cx="9906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2"/>
          <p:cNvSpPr/>
          <p:nvPr/>
        </p:nvSpPr>
        <p:spPr>
          <a:xfrm>
            <a:off x="673100" y="4206255"/>
            <a:ext cx="7112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課後閱讀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42"/>
          <p:cNvSpPr/>
          <p:nvPr/>
        </p:nvSpPr>
        <p:spPr>
          <a:xfrm>
            <a:off x="1651000" y="4179565"/>
            <a:ext cx="6000091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以下內容不在 90 分鐘主線，依章節排列，供學員課後自行閱讀。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4" name="Google Shape;1504;p42" descr="AIC AIoT Cloud"/>
          <p:cNvPicPr preferRelativeResize="0"/>
          <p:nvPr/>
        </p:nvPicPr>
        <p:blipFill rotWithShape="1">
          <a:blip r:embed="rId4">
            <a:alphaModFix/>
          </a:blip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0" name="Google Shape;1510;p43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43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延伸文件與問題討論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43"/>
          <p:cNvSpPr/>
          <p:nvPr/>
        </p:nvSpPr>
        <p:spPr>
          <a:xfrm>
            <a:off x="511175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43"/>
          <p:cNvSpPr/>
          <p:nvPr/>
        </p:nvSpPr>
        <p:spPr>
          <a:xfrm>
            <a:off x="690880" y="128525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docs/resources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43"/>
          <p:cNvSpPr/>
          <p:nvPr/>
        </p:nvSpPr>
        <p:spPr>
          <a:xfrm>
            <a:off x="690880" y="1597670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requests / limits 怎麼抓，含 k6 實測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43"/>
          <p:cNvSpPr/>
          <p:nvPr/>
        </p:nvSpPr>
        <p:spPr>
          <a:xfrm>
            <a:off x="4287282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43"/>
          <p:cNvSpPr/>
          <p:nvPr/>
        </p:nvSpPr>
        <p:spPr>
          <a:xfrm>
            <a:off x="4466987" y="128525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docs/hpa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43"/>
          <p:cNvSpPr/>
          <p:nvPr/>
        </p:nvSpPr>
        <p:spPr>
          <a:xfrm>
            <a:off x="4466987" y="1597670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用 draw.io 實測一次 scale-up / down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43"/>
          <p:cNvSpPr/>
          <p:nvPr/>
        </p:nvSpPr>
        <p:spPr>
          <a:xfrm>
            <a:off x="8063389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43"/>
          <p:cNvSpPr/>
          <p:nvPr/>
        </p:nvSpPr>
        <p:spPr>
          <a:xfrm>
            <a:off x="8243094" y="128525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docs/networkpolicy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43"/>
          <p:cNvSpPr/>
          <p:nvPr/>
        </p:nvSpPr>
        <p:spPr>
          <a:xfrm>
            <a:off x="8243094" y="1597670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零信任設計與真實 allow / deny 測試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43"/>
          <p:cNvSpPr/>
          <p:nvPr/>
        </p:nvSpPr>
        <p:spPr>
          <a:xfrm>
            <a:off x="511175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43"/>
          <p:cNvSpPr/>
          <p:nvPr/>
        </p:nvSpPr>
        <p:spPr>
          <a:xfrm>
            <a:off x="690880" y="236346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docs/rbac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43"/>
          <p:cNvSpPr/>
          <p:nvPr/>
        </p:nvSpPr>
        <p:spPr>
          <a:xfrm>
            <a:off x="690880" y="2675905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ServiceAccount、Role、ClusterRole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43"/>
          <p:cNvSpPr/>
          <p:nvPr/>
        </p:nvSpPr>
        <p:spPr>
          <a:xfrm>
            <a:off x="4287282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43"/>
          <p:cNvSpPr/>
          <p:nvPr/>
        </p:nvSpPr>
        <p:spPr>
          <a:xfrm>
            <a:off x="4466987" y="236346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docs/helm-chart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43"/>
          <p:cNvSpPr/>
          <p:nvPr/>
        </p:nvSpPr>
        <p:spPr>
          <a:xfrm>
            <a:off x="4466987" y="2675905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Helm 通用概念，搭配各產品的 chart/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43"/>
          <p:cNvSpPr/>
          <p:nvPr/>
        </p:nvSpPr>
        <p:spPr>
          <a:xfrm>
            <a:off x="8063389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43"/>
          <p:cNvSpPr/>
          <p:nvPr/>
        </p:nvSpPr>
        <p:spPr>
          <a:xfrm>
            <a:off x="8243094" y="2363465"/>
            <a:ext cx="33556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400"/>
              <a:buFont typeface="JetBrains Mono"/>
              <a:buNone/>
            </a:pPr>
            <a:r>
              <a:rPr lang="en-US" sz="14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dr/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43"/>
          <p:cNvSpPr/>
          <p:nvPr/>
        </p:nvSpPr>
        <p:spPr>
          <a:xfrm>
            <a:off x="8243094" y="2675905"/>
            <a:ext cx="33556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備份、復原與災難復原演練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43"/>
          <p:cNvSpPr/>
          <p:nvPr/>
        </p:nvSpPr>
        <p:spPr>
          <a:xfrm>
            <a:off x="508000" y="3385815"/>
            <a:ext cx="1151128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問題與討論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1" name="Google Shape;1531;p43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4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延伸閱讀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4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44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44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一個實際的 Application 需要哪些資源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4"/>
          <p:cNvSpPr/>
          <p:nvPr/>
        </p:nvSpPr>
        <p:spPr>
          <a:xfrm>
            <a:off x="5111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44"/>
          <p:cNvSpPr/>
          <p:nvPr/>
        </p:nvSpPr>
        <p:spPr>
          <a:xfrm>
            <a:off x="6908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邊界與治理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4"/>
          <p:cNvSpPr/>
          <p:nvPr/>
        </p:nvSpPr>
        <p:spPr>
          <a:xfrm>
            <a:off x="690880" y="1562100"/>
            <a:ext cx="2383358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Namespace · ResourceQuota · LimitRange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44"/>
          <p:cNvSpPr/>
          <p:nvPr/>
        </p:nvSpPr>
        <p:spPr>
          <a:xfrm>
            <a:off x="690880" y="231901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這些東西屬於誰、最多能用多少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4"/>
          <p:cNvSpPr/>
          <p:nvPr/>
        </p:nvSpPr>
        <p:spPr>
          <a:xfrm>
            <a:off x="33432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44"/>
          <p:cNvSpPr/>
          <p:nvPr/>
        </p:nvSpPr>
        <p:spPr>
          <a:xfrm>
            <a:off x="35229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運算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44"/>
          <p:cNvSpPr/>
          <p:nvPr/>
        </p:nvSpPr>
        <p:spPr>
          <a:xfrm>
            <a:off x="3522980" y="1562100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Deployment · StatefulSet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44"/>
          <p:cNvSpPr/>
          <p:nvPr/>
        </p:nvSpPr>
        <p:spPr>
          <a:xfrm>
            <a:off x="3522980" y="185675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跑幾個 Pod、怎麼換版、壞了自動補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44"/>
          <p:cNvSpPr/>
          <p:nvPr/>
        </p:nvSpPr>
        <p:spPr>
          <a:xfrm>
            <a:off x="61753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44"/>
          <p:cNvSpPr/>
          <p:nvPr/>
        </p:nvSpPr>
        <p:spPr>
          <a:xfrm>
            <a:off x="63550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服務發現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44"/>
          <p:cNvSpPr/>
          <p:nvPr/>
        </p:nvSpPr>
        <p:spPr>
          <a:xfrm>
            <a:off x="6355080" y="1562100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44"/>
          <p:cNvSpPr/>
          <p:nvPr/>
        </p:nvSpPr>
        <p:spPr>
          <a:xfrm>
            <a:off x="6355080" y="185675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給一組 Pod 一個穩定的名字和 IP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44"/>
          <p:cNvSpPr/>
          <p:nvPr/>
        </p:nvSpPr>
        <p:spPr>
          <a:xfrm>
            <a:off x="90074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44"/>
          <p:cNvSpPr/>
          <p:nvPr/>
        </p:nvSpPr>
        <p:spPr>
          <a:xfrm>
            <a:off x="9187180" y="128525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對外入口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44"/>
          <p:cNvSpPr/>
          <p:nvPr/>
        </p:nvSpPr>
        <p:spPr>
          <a:xfrm>
            <a:off x="9187180" y="1562100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lvl="0">
              <a:lnSpc>
                <a:spcPct val="130000"/>
              </a:lnSpc>
              <a:buClr>
                <a:srgbClr val="12517C"/>
              </a:buClr>
              <a:buSzPts val="1400"/>
            </a:pPr>
            <a:r>
              <a:rPr lang="en-US" sz="1400" b="1" i="0" u="none" strike="noStrike" cap="none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Gateway · </a:t>
            </a:r>
            <a:r>
              <a:rPr lang="en-US" sz="14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HTTPRoute</a:t>
            </a:r>
            <a:r>
              <a:rPr lang="en-US" sz="1400" b="1" i="0" u="none" strike="noStrike" cap="none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400" b="1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· Ingress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44"/>
          <p:cNvSpPr/>
          <p:nvPr/>
        </p:nvSpPr>
        <p:spPr>
          <a:xfrm>
            <a:off x="9187180" y="185675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哪個網址、哪個路徑送到哪個 Service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4"/>
          <p:cNvSpPr/>
          <p:nvPr/>
        </p:nvSpPr>
        <p:spPr>
          <a:xfrm>
            <a:off x="5111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44"/>
          <p:cNvSpPr/>
          <p:nvPr/>
        </p:nvSpPr>
        <p:spPr>
          <a:xfrm>
            <a:off x="6908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設定與密鑰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44"/>
          <p:cNvSpPr/>
          <p:nvPr/>
        </p:nvSpPr>
        <p:spPr>
          <a:xfrm>
            <a:off x="6908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ConfigMap · Secret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44"/>
          <p:cNvSpPr/>
          <p:nvPr/>
        </p:nvSpPr>
        <p:spPr>
          <a:xfrm>
            <a:off x="690880" y="365633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設定跟 image 分開，密碼不寫死在 Deployment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4"/>
          <p:cNvSpPr/>
          <p:nvPr/>
        </p:nvSpPr>
        <p:spPr>
          <a:xfrm>
            <a:off x="33432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44"/>
          <p:cNvSpPr/>
          <p:nvPr/>
        </p:nvSpPr>
        <p:spPr>
          <a:xfrm>
            <a:off x="35229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儲存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4"/>
          <p:cNvSpPr/>
          <p:nvPr/>
        </p:nvSpPr>
        <p:spPr>
          <a:xfrm>
            <a:off x="35229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PVC · StorageClass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44"/>
          <p:cNvSpPr/>
          <p:nvPr/>
        </p:nvSpPr>
        <p:spPr>
          <a:xfrm>
            <a:off x="3522980" y="365633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Pod 重建之後，資料還要在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44"/>
          <p:cNvSpPr/>
          <p:nvPr/>
        </p:nvSpPr>
        <p:spPr>
          <a:xfrm>
            <a:off x="61753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44"/>
          <p:cNvSpPr/>
          <p:nvPr/>
        </p:nvSpPr>
        <p:spPr>
          <a:xfrm>
            <a:off x="63550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網路隔離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4"/>
          <p:cNvSpPr/>
          <p:nvPr/>
        </p:nvSpPr>
        <p:spPr>
          <a:xfrm>
            <a:off x="63550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44"/>
          <p:cNvSpPr/>
          <p:nvPr/>
        </p:nvSpPr>
        <p:spPr>
          <a:xfrm>
            <a:off x="6355080" y="365633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預設全擋，只放行需要的連線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4"/>
          <p:cNvSpPr/>
          <p:nvPr/>
        </p:nvSpPr>
        <p:spPr>
          <a:xfrm>
            <a:off x="90074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44"/>
          <p:cNvSpPr/>
          <p:nvPr/>
        </p:nvSpPr>
        <p:spPr>
          <a:xfrm>
            <a:off x="9187180" y="3084835"/>
            <a:ext cx="238335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身分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44"/>
          <p:cNvSpPr/>
          <p:nvPr/>
        </p:nvSpPr>
        <p:spPr>
          <a:xfrm>
            <a:off x="9187180" y="3361705"/>
            <a:ext cx="238335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ServiceAccount · RBAC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44"/>
          <p:cNvSpPr/>
          <p:nvPr/>
        </p:nvSpPr>
        <p:spPr>
          <a:xfrm>
            <a:off x="9187180" y="365633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Pod 呼叫 Kubernetes API 時的身分與權限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3" name="Google Shape;1573;p44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4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1 章 · 資源設計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4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45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45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先畫架構，再開始部署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45"/>
          <p:cNvCxnSpPr/>
          <p:nvPr/>
        </p:nvCxnSpPr>
        <p:spPr>
          <a:xfrm>
            <a:off x="508000" y="1105545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4" name="Google Shape;1584;p45"/>
          <p:cNvSpPr/>
          <p:nvPr/>
        </p:nvSpPr>
        <p:spPr>
          <a:xfrm>
            <a:off x="508000" y="120905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5"/>
          <p:cNvSpPr/>
          <p:nvPr/>
        </p:nvSpPr>
        <p:spPr>
          <a:xfrm>
            <a:off x="1041400" y="1253505"/>
            <a:ext cx="6477711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使用者從哪個網址進來？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45"/>
          <p:cNvSpPr/>
          <p:nvPr/>
        </p:nvSpPr>
        <p:spPr>
          <a:xfrm>
            <a:off x="7508240" y="1280170"/>
            <a:ext cx="87376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7" name="Google Shape;1587;p45"/>
          <p:cNvCxnSpPr/>
          <p:nvPr/>
        </p:nvCxnSpPr>
        <p:spPr>
          <a:xfrm>
            <a:off x="508000" y="166943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8" name="Google Shape;1588;p45"/>
          <p:cNvSpPr/>
          <p:nvPr/>
        </p:nvSpPr>
        <p:spPr>
          <a:xfrm>
            <a:off x="508000" y="177291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5"/>
          <p:cNvSpPr/>
          <p:nvPr/>
        </p:nvSpPr>
        <p:spPr>
          <a:xfrm>
            <a:off x="1041400" y="1817365"/>
            <a:ext cx="610089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流量最後進到哪個 port？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45"/>
          <p:cNvSpPr/>
          <p:nvPr/>
        </p:nvSpPr>
        <p:spPr>
          <a:xfrm>
            <a:off x="7142400" y="1844055"/>
            <a:ext cx="1239599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 → Pod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1" name="Google Shape;1591;p45"/>
          <p:cNvCxnSpPr/>
          <p:nvPr/>
        </p:nvCxnSpPr>
        <p:spPr>
          <a:xfrm>
            <a:off x="508000" y="223329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2" name="Google Shape;1592;p45"/>
          <p:cNvSpPr/>
          <p:nvPr/>
        </p:nvSpPr>
        <p:spPr>
          <a:xfrm>
            <a:off x="508000" y="233680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45"/>
          <p:cNvSpPr/>
          <p:nvPr/>
        </p:nvSpPr>
        <p:spPr>
          <a:xfrm>
            <a:off x="1041400" y="2381250"/>
            <a:ext cx="5912612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哪些資料要留下？放哪種儲存？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45"/>
          <p:cNvSpPr/>
          <p:nvPr/>
        </p:nvSpPr>
        <p:spPr>
          <a:xfrm>
            <a:off x="6959600" y="2407915"/>
            <a:ext cx="14224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PVC · RWO / RWX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5" name="Google Shape;1595;p45"/>
          <p:cNvCxnSpPr/>
          <p:nvPr/>
        </p:nvCxnSpPr>
        <p:spPr>
          <a:xfrm>
            <a:off x="508000" y="2797175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6" name="Google Shape;1596;p45"/>
          <p:cNvSpPr/>
          <p:nvPr/>
        </p:nvSpPr>
        <p:spPr>
          <a:xfrm>
            <a:off x="508000" y="290068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45"/>
          <p:cNvSpPr/>
          <p:nvPr/>
        </p:nvSpPr>
        <p:spPr>
          <a:xfrm>
            <a:off x="1041400" y="2945135"/>
            <a:ext cx="6100978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誰可以連誰？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45"/>
          <p:cNvSpPr/>
          <p:nvPr/>
        </p:nvSpPr>
        <p:spPr>
          <a:xfrm>
            <a:off x="7142480" y="2971800"/>
            <a:ext cx="12395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9" name="Google Shape;1599;p45"/>
          <p:cNvCxnSpPr/>
          <p:nvPr/>
        </p:nvCxnSpPr>
        <p:spPr>
          <a:xfrm>
            <a:off x="508000" y="336106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0" name="Google Shape;1600;p45"/>
          <p:cNvSpPr/>
          <p:nvPr/>
        </p:nvSpPr>
        <p:spPr>
          <a:xfrm>
            <a:off x="508000" y="346457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45"/>
          <p:cNvSpPr/>
          <p:nvPr/>
        </p:nvSpPr>
        <p:spPr>
          <a:xfrm>
            <a:off x="1041400" y="3509020"/>
            <a:ext cx="5630062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密碼和設定放哪？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45"/>
          <p:cNvSpPr/>
          <p:nvPr/>
        </p:nvSpPr>
        <p:spPr>
          <a:xfrm>
            <a:off x="6685280" y="3535685"/>
            <a:ext cx="16967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Secret · 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45"/>
          <p:cNvSpPr/>
          <p:nvPr/>
        </p:nvSpPr>
        <p:spPr>
          <a:xfrm>
            <a:off x="8636000" y="1102370"/>
            <a:ext cx="3048000" cy="2819400"/>
          </a:xfrm>
          <a:prstGeom prst="roundRect">
            <a:avLst>
              <a:gd name="adj" fmla="val 4505"/>
            </a:avLst>
          </a:prstGeom>
          <a:solidFill>
            <a:srgbClr val="12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4" name="Google Shape;1604;p45" descr="Lightbulb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0000" y="155131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45"/>
          <p:cNvSpPr/>
          <p:nvPr/>
        </p:nvSpPr>
        <p:spPr>
          <a:xfrm>
            <a:off x="8890000" y="2033910"/>
            <a:ext cx="2616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架構圖上答不出來的問題，YAML 也寫不對。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45"/>
          <p:cNvSpPr/>
          <p:nvPr/>
        </p:nvSpPr>
        <p:spPr>
          <a:xfrm>
            <a:off x="8890000" y="2729880"/>
            <a:ext cx="2616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C9D3E0"/>
                </a:solidFill>
                <a:latin typeface="Arial"/>
                <a:ea typeface="Arial"/>
                <a:cs typeface="Arial"/>
                <a:sym typeface="Arial"/>
              </a:rPr>
              <a:t>每個產品都附 exercises/architecture.drawio，用 draw.io 本身就能打開。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7" name="Google Shape;1607;p45" descr="AIC AIoT Cloud"/>
          <p:cNvPicPr preferRelativeResize="0"/>
          <p:nvPr/>
        </p:nvPicPr>
        <p:blipFill rotWithShape="1">
          <a:blip r:embed="rId5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4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1 章 · 資源設計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4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p46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46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資源設定：兩層數字要對得上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46"/>
          <p:cNvSpPr/>
          <p:nvPr/>
        </p:nvSpPr>
        <p:spPr>
          <a:xfrm>
            <a:off x="511175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46"/>
          <p:cNvSpPr/>
          <p:nvPr/>
        </p:nvSpPr>
        <p:spPr>
          <a:xfrm>
            <a:off x="665480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LimitRange.min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46"/>
          <p:cNvSpPr/>
          <p:nvPr/>
        </p:nvSpPr>
        <p:spPr>
          <a:xfrm>
            <a:off x="665480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50m / 64Mi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46"/>
          <p:cNvSpPr/>
          <p:nvPr/>
        </p:nvSpPr>
        <p:spPr>
          <a:xfrm>
            <a:off x="3136186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46"/>
          <p:cNvSpPr/>
          <p:nvPr/>
        </p:nvSpPr>
        <p:spPr>
          <a:xfrm>
            <a:off x="3394313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46"/>
          <p:cNvSpPr/>
          <p:nvPr/>
        </p:nvSpPr>
        <p:spPr>
          <a:xfrm>
            <a:off x="3548618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46"/>
          <p:cNvSpPr/>
          <p:nvPr/>
        </p:nvSpPr>
        <p:spPr>
          <a:xfrm>
            <a:off x="3548618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100m / 256Mi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46"/>
          <p:cNvSpPr/>
          <p:nvPr/>
        </p:nvSpPr>
        <p:spPr>
          <a:xfrm>
            <a:off x="6019324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46"/>
          <p:cNvSpPr/>
          <p:nvPr/>
        </p:nvSpPr>
        <p:spPr>
          <a:xfrm>
            <a:off x="6277451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46"/>
          <p:cNvSpPr/>
          <p:nvPr/>
        </p:nvSpPr>
        <p:spPr>
          <a:xfrm>
            <a:off x="6431756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46"/>
          <p:cNvSpPr/>
          <p:nvPr/>
        </p:nvSpPr>
        <p:spPr>
          <a:xfrm>
            <a:off x="6431756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500m / 512Mi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46"/>
          <p:cNvSpPr/>
          <p:nvPr/>
        </p:nvSpPr>
        <p:spPr>
          <a:xfrm>
            <a:off x="8902462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46"/>
          <p:cNvSpPr/>
          <p:nvPr/>
        </p:nvSpPr>
        <p:spPr>
          <a:xfrm>
            <a:off x="9160590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46"/>
          <p:cNvSpPr/>
          <p:nvPr/>
        </p:nvSpPr>
        <p:spPr>
          <a:xfrm>
            <a:off x="9314894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LimitRange.max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6"/>
          <p:cNvSpPr/>
          <p:nvPr/>
        </p:nvSpPr>
        <p:spPr>
          <a:xfrm>
            <a:off x="9314894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1 / 1Gi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6"/>
          <p:cNvSpPr/>
          <p:nvPr/>
        </p:nvSpPr>
        <p:spPr>
          <a:xfrm>
            <a:off x="511175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46"/>
          <p:cNvSpPr/>
          <p:nvPr/>
        </p:nvSpPr>
        <p:spPr>
          <a:xfrm>
            <a:off x="665480" y="2275855"/>
            <a:ext cx="524760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Σ replicas × 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46"/>
          <p:cNvSpPr/>
          <p:nvPr/>
        </p:nvSpPr>
        <p:spPr>
          <a:xfrm>
            <a:off x="665480" y="2545085"/>
            <a:ext cx="524760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HPA 最多 5 個 Pod × 100m = 500m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6"/>
          <p:cNvSpPr/>
          <p:nvPr/>
        </p:nvSpPr>
        <p:spPr>
          <a:xfrm>
            <a:off x="6019324" y="2329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6"/>
          <p:cNvSpPr/>
          <p:nvPr/>
        </p:nvSpPr>
        <p:spPr>
          <a:xfrm>
            <a:off x="6277451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46"/>
          <p:cNvSpPr/>
          <p:nvPr/>
        </p:nvSpPr>
        <p:spPr>
          <a:xfrm>
            <a:off x="6431756" y="2275855"/>
            <a:ext cx="524760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ResourceQuota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46"/>
          <p:cNvSpPr/>
          <p:nvPr/>
        </p:nvSpPr>
        <p:spPr>
          <a:xfrm>
            <a:off x="6431756" y="2545085"/>
            <a:ext cx="524760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requests.cpu 抓 1（1000m），留一倍餘裕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6"/>
          <p:cNvSpPr/>
          <p:nvPr/>
        </p:nvSpPr>
        <p:spPr>
          <a:xfrm>
            <a:off x="5111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46"/>
          <p:cNvSpPr/>
          <p:nvPr/>
        </p:nvSpPr>
        <p:spPr>
          <a:xfrm>
            <a:off x="690880" y="3317255"/>
            <a:ext cx="530042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CPU 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46"/>
          <p:cNvSpPr/>
          <p:nvPr/>
        </p:nvSpPr>
        <p:spPr>
          <a:xfrm>
            <a:off x="690880" y="36449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超過 limit 只會被節流變慢，比例可以抓寬（本例 5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46"/>
          <p:cNvSpPr/>
          <p:nvPr/>
        </p:nvSpPr>
        <p:spPr>
          <a:xfrm>
            <a:off x="61753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46"/>
          <p:cNvSpPr/>
          <p:nvPr/>
        </p:nvSpPr>
        <p:spPr>
          <a:xfrm>
            <a:off x="6355080" y="3317255"/>
            <a:ext cx="530042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Memory 不可壓縮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46"/>
          <p:cNvSpPr/>
          <p:nvPr/>
        </p:nvSpPr>
        <p:spPr>
          <a:xfrm>
            <a:off x="6355080" y="36449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超過 limit 直接 OOMKilled，比例要抓保守（本例 2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5" name="Google Shape;1645;p46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4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2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4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3" name="Google Shape;1653;p47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47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Pod 的身分與設定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47"/>
          <p:cNvSpPr/>
          <p:nvPr/>
        </p:nvSpPr>
        <p:spPr>
          <a:xfrm>
            <a:off x="5111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47"/>
          <p:cNvSpPr/>
          <p:nvPr/>
        </p:nvSpPr>
        <p:spPr>
          <a:xfrm>
            <a:off x="741680" y="1336055"/>
            <a:ext cx="516961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ServiceAccount / RBAC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47"/>
          <p:cNvSpPr/>
          <p:nvPr/>
        </p:nvSpPr>
        <p:spPr>
          <a:xfrm>
            <a:off x="741680" y="1734815"/>
            <a:ext cx="5169611" cy="10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每個 Pod 都帶一個 ServiceAccount，沒指定就用 default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RBAC 預設零權限：沒有 RoleBinding，連 list pods 都不行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draw.io 不呼叫 Kubernetes API，用 default 就夠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完整實作見 docs/rbac：三組 Role / ClusterRole 對照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47"/>
          <p:cNvSpPr/>
          <p:nvPr/>
        </p:nvSpPr>
        <p:spPr>
          <a:xfrm>
            <a:off x="741680" y="2860055"/>
            <a:ext cx="5169611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auth can-i list pods -n drawio --as=system:serviceaccount:drawio:default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47"/>
          <p:cNvSpPr/>
          <p:nvPr/>
        </p:nvSpPr>
        <p:spPr>
          <a:xfrm>
            <a:off x="62007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47"/>
          <p:cNvSpPr/>
          <p:nvPr/>
        </p:nvSpPr>
        <p:spPr>
          <a:xfrm>
            <a:off x="6431280" y="1336055"/>
            <a:ext cx="516961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ConfigMap / Secret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47"/>
          <p:cNvSpPr/>
          <p:nvPr/>
        </p:nvSpPr>
        <p:spPr>
          <a:xfrm>
            <a:off x="6431280" y="1734815"/>
            <a:ext cx="5169611" cy="10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ConfigMap 放非機密設定，可掛成檔案或環境變數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Secret 放密碼與金鑰；base64 只是編碼，不是加密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只能在同一個 namespace 內引用：secretKeyRef、envFrom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draw.io 不需要；第 4 章 flarum 的 mysql-secret 會用到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47"/>
          <p:cNvSpPr/>
          <p:nvPr/>
        </p:nvSpPr>
        <p:spPr>
          <a:xfrm>
            <a:off x="6431280" y="2860055"/>
            <a:ext cx="516961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secret -n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3" name="Google Shape;1663;p47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4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2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4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1" name="Google Shape;1671;p48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2" name="Google Shape;1672;p48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 與 Pod 的關係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48"/>
          <p:cNvSpPr/>
          <p:nvPr/>
        </p:nvSpPr>
        <p:spPr>
          <a:xfrm>
            <a:off x="511175" y="1105545"/>
            <a:ext cx="3380264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48"/>
          <p:cNvSpPr/>
          <p:nvPr/>
        </p:nvSpPr>
        <p:spPr>
          <a:xfrm>
            <a:off x="665480" y="1259855"/>
            <a:ext cx="3163803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 drawio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48"/>
          <p:cNvSpPr/>
          <p:nvPr/>
        </p:nvSpPr>
        <p:spPr>
          <a:xfrm>
            <a:off x="665480" y="1554485"/>
            <a:ext cx="3163803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ClusterIP · port 80 → targetPort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6" name="Google Shape;1676;p48" descr="arrow-righ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6214" y="1432570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48"/>
          <p:cNvSpPr/>
          <p:nvPr/>
        </p:nvSpPr>
        <p:spPr>
          <a:xfrm>
            <a:off x="4405789" y="1105545"/>
            <a:ext cx="3380343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48"/>
          <p:cNvSpPr/>
          <p:nvPr/>
        </p:nvSpPr>
        <p:spPr>
          <a:xfrm>
            <a:off x="4560094" y="1259855"/>
            <a:ext cx="3163885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Endpoints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48"/>
          <p:cNvSpPr/>
          <p:nvPr/>
        </p:nvSpPr>
        <p:spPr>
          <a:xfrm>
            <a:off x="4560094" y="1554485"/>
            <a:ext cx="316388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只列 Ready 的 Pod IP:8080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0" name="Google Shape;1680;p48" descr="arrow-righ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90907" y="1432570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48"/>
          <p:cNvSpPr/>
          <p:nvPr/>
        </p:nvSpPr>
        <p:spPr>
          <a:xfrm>
            <a:off x="8300482" y="1105545"/>
            <a:ext cx="3380343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48"/>
          <p:cNvSpPr/>
          <p:nvPr/>
        </p:nvSpPr>
        <p:spPr>
          <a:xfrm>
            <a:off x="8454787" y="1259855"/>
            <a:ext cx="3163885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Pod ×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48"/>
          <p:cNvSpPr/>
          <p:nvPr/>
        </p:nvSpPr>
        <p:spPr>
          <a:xfrm>
            <a:off x="8454787" y="1554485"/>
            <a:ext cx="316388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label app=drawio · http = 8080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48"/>
          <p:cNvSpPr/>
          <p:nvPr/>
        </p:nvSpPr>
        <p:spPr>
          <a:xfrm>
            <a:off x="511175" y="2223145"/>
            <a:ext cx="55054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48"/>
          <p:cNvSpPr/>
          <p:nvPr/>
        </p:nvSpPr>
        <p:spPr>
          <a:xfrm>
            <a:off x="690880" y="240285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selector 選 Pod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48"/>
          <p:cNvSpPr/>
          <p:nvPr/>
        </p:nvSpPr>
        <p:spPr>
          <a:xfrm>
            <a:off x="690880" y="271400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Service 不認 Deployment，只認 label。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48"/>
          <p:cNvSpPr/>
          <p:nvPr/>
        </p:nvSpPr>
        <p:spPr>
          <a:xfrm>
            <a:off x="6175375" y="2223145"/>
            <a:ext cx="55054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48"/>
          <p:cNvSpPr/>
          <p:nvPr/>
        </p:nvSpPr>
        <p:spPr>
          <a:xfrm>
            <a:off x="6355080" y="240285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Endpoints 自動更新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48"/>
          <p:cNvSpPr/>
          <p:nvPr/>
        </p:nvSpPr>
        <p:spPr>
          <a:xfrm>
            <a:off x="6355080" y="2714005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Pod 沒 Ready 就被移出，不會收到流量。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48"/>
          <p:cNvSpPr/>
          <p:nvPr/>
        </p:nvSpPr>
        <p:spPr>
          <a:xfrm>
            <a:off x="511175" y="330009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p48"/>
          <p:cNvSpPr/>
          <p:nvPr/>
        </p:nvSpPr>
        <p:spPr>
          <a:xfrm>
            <a:off x="690880" y="34798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port 的對應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48"/>
          <p:cNvSpPr/>
          <p:nvPr/>
        </p:nvSpPr>
        <p:spPr>
          <a:xfrm>
            <a:off x="690880" y="379095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Service port 80 → targetPort http → containerPort 8080。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48"/>
          <p:cNvSpPr/>
          <p:nvPr/>
        </p:nvSpPr>
        <p:spPr>
          <a:xfrm>
            <a:off x="6175375" y="330009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48"/>
          <p:cNvSpPr/>
          <p:nvPr/>
        </p:nvSpPr>
        <p:spPr>
          <a:xfrm>
            <a:off x="6355080" y="34798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DNS 名稱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48"/>
          <p:cNvSpPr/>
          <p:nvPr/>
        </p:nvSpPr>
        <p:spPr>
          <a:xfrm>
            <a:off x="6355080" y="3790950"/>
            <a:ext cx="530042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同 namespace 用 drawio；跨 namespace 用 drawio.drawio.svc.cluster.local。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6" name="Google Shape;1696;p48" descr="AIC AIoT Cloud"/>
          <p:cNvPicPr preferRelativeResize="0"/>
          <p:nvPr/>
        </p:nvPicPr>
        <p:blipFill rotWithShape="1">
          <a:blip r:embed="rId5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7" name="Google Shape;1697;p4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3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4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4" name="Google Shape;1704;p49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49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Secret 與 HTTPS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49"/>
          <p:cNvSpPr/>
          <p:nvPr/>
        </p:nvSpPr>
        <p:spPr>
          <a:xfrm>
            <a:off x="508000" y="1102370"/>
            <a:ext cx="4064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49"/>
          <p:cNvSpPr/>
          <p:nvPr/>
        </p:nvSpPr>
        <p:spPr>
          <a:xfrm>
            <a:off x="736600" y="13055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dev-gateway.yaml（節錄）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49"/>
          <p:cNvSpPr/>
          <p:nvPr/>
        </p:nvSpPr>
        <p:spPr>
          <a:xfrm>
            <a:off x="736600" y="15443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listeners: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49"/>
          <p:cNvSpPr/>
          <p:nvPr/>
        </p:nvSpPr>
        <p:spPr>
          <a:xfrm>
            <a:off x="736600" y="17830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49"/>
          <p:cNvSpPr/>
          <p:nvPr/>
        </p:nvSpPr>
        <p:spPr>
          <a:xfrm>
            <a:off x="736600" y="20218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port: 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49"/>
          <p:cNvSpPr/>
          <p:nvPr/>
        </p:nvSpPr>
        <p:spPr>
          <a:xfrm>
            <a:off x="736600" y="22606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protocol: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49"/>
          <p:cNvSpPr/>
          <p:nvPr/>
        </p:nvSpPr>
        <p:spPr>
          <a:xfrm>
            <a:off x="736600" y="24993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49"/>
          <p:cNvSpPr/>
          <p:nvPr/>
        </p:nvSpPr>
        <p:spPr>
          <a:xfrm>
            <a:off x="736600" y="27381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port: 443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49"/>
          <p:cNvSpPr/>
          <p:nvPr/>
        </p:nvSpPr>
        <p:spPr>
          <a:xfrm>
            <a:off x="736600" y="29768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protocol: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49"/>
          <p:cNvSpPr/>
          <p:nvPr/>
        </p:nvSpPr>
        <p:spPr>
          <a:xfrm>
            <a:off x="736600" y="32156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tls: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49"/>
          <p:cNvSpPr/>
          <p:nvPr/>
        </p:nvSpPr>
        <p:spPr>
          <a:xfrm>
            <a:off x="736600" y="34544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mode: Terminate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49"/>
          <p:cNvSpPr/>
          <p:nvPr/>
        </p:nvSpPr>
        <p:spPr>
          <a:xfrm>
            <a:off x="736600" y="36931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certificateRefs: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49"/>
          <p:cNvSpPr/>
          <p:nvPr/>
        </p:nvSpPr>
        <p:spPr>
          <a:xfrm>
            <a:off x="736600" y="39319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- kind: 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49"/>
          <p:cNvSpPr/>
          <p:nvPr/>
        </p:nvSpPr>
        <p:spPr>
          <a:xfrm>
            <a:off x="736600" y="41706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name: gateway-tls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49"/>
          <p:cNvSpPr/>
          <p:nvPr/>
        </p:nvSpPr>
        <p:spPr>
          <a:xfrm>
            <a:off x="736600" y="44094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namespace: 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49"/>
          <p:cNvSpPr/>
          <p:nvPr/>
        </p:nvSpPr>
        <p:spPr>
          <a:xfrm>
            <a:off x="4829175" y="1105545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49"/>
          <p:cNvSpPr/>
          <p:nvPr/>
        </p:nvSpPr>
        <p:spPr>
          <a:xfrm>
            <a:off x="5008880" y="1285255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在 Gateway 終止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49"/>
          <p:cNvSpPr/>
          <p:nvPr/>
        </p:nvSpPr>
        <p:spPr>
          <a:xfrm>
            <a:off x="5008880" y="1596405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瀏覽器到 Gateway 走 HTTPS，Gateway 到 Pod 是一般 HTTP，應用不用管憑證。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49"/>
          <p:cNvSpPr/>
          <p:nvPr/>
        </p:nvSpPr>
        <p:spPr>
          <a:xfrm>
            <a:off x="4829175" y="214439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49"/>
          <p:cNvSpPr/>
          <p:nvPr/>
        </p:nvSpPr>
        <p:spPr>
          <a:xfrm>
            <a:off x="5008880" y="232410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Secret 跟 Gateway 放一起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9"/>
          <p:cNvSpPr/>
          <p:nvPr/>
        </p:nvSpPr>
        <p:spPr>
          <a:xfrm>
            <a:off x="5008880" y="263525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gateway-tls 在 default namespace，內含 tls.crt 與 tls.key。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49"/>
          <p:cNvSpPr/>
          <p:nvPr/>
        </p:nvSpPr>
        <p:spPr>
          <a:xfrm>
            <a:off x="4829175" y="318326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49"/>
          <p:cNvSpPr/>
          <p:nvPr/>
        </p:nvSpPr>
        <p:spPr>
          <a:xfrm>
            <a:off x="5008880" y="336297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自簽萬用憑證 *.nexai.org.com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49"/>
          <p:cNvSpPr/>
          <p:nvPr/>
        </p:nvSpPr>
        <p:spPr>
          <a:xfrm>
            <a:off x="5008880" y="367412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瀏覽器警告是預期行為，curl 要加 -k；可以順便講憑證鏈。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0" name="Google Shape;1730;p49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4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3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4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8" name="Google Shape;1738;p50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5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Gateway / HTTPRoute 的 host 與 path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50"/>
          <p:cNvSpPr/>
          <p:nvPr/>
        </p:nvSpPr>
        <p:spPr>
          <a:xfrm>
            <a:off x="508000" y="1102370"/>
            <a:ext cx="4064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50"/>
          <p:cNvSpPr/>
          <p:nvPr/>
        </p:nvSpPr>
        <p:spPr>
          <a:xfrm>
            <a:off x="736600" y="13055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spec: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50"/>
          <p:cNvSpPr/>
          <p:nvPr/>
        </p:nvSpPr>
        <p:spPr>
          <a:xfrm>
            <a:off x="736600" y="15443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parentRefs: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50"/>
          <p:cNvSpPr/>
          <p:nvPr/>
        </p:nvSpPr>
        <p:spPr>
          <a:xfrm>
            <a:off x="736600" y="17830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- name: __FILL_ME_13__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50"/>
          <p:cNvSpPr/>
          <p:nvPr/>
        </p:nvSpPr>
        <p:spPr>
          <a:xfrm>
            <a:off x="736600" y="20218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sectionName: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50"/>
          <p:cNvSpPr/>
          <p:nvPr/>
        </p:nvSpPr>
        <p:spPr>
          <a:xfrm>
            <a:off x="736600" y="22606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hostnames: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0"/>
          <p:cNvSpPr/>
          <p:nvPr/>
        </p:nvSpPr>
        <p:spPr>
          <a:xfrm>
            <a:off x="736600" y="24993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- "__FILL_ME_14__"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50"/>
          <p:cNvSpPr/>
          <p:nvPr/>
        </p:nvSpPr>
        <p:spPr>
          <a:xfrm>
            <a:off x="736600" y="27381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rules: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50"/>
          <p:cNvSpPr/>
          <p:nvPr/>
        </p:nvSpPr>
        <p:spPr>
          <a:xfrm>
            <a:off x="736600" y="29768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- matches: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0"/>
          <p:cNvSpPr/>
          <p:nvPr/>
        </p:nvSpPr>
        <p:spPr>
          <a:xfrm>
            <a:off x="736600" y="32156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- path: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50"/>
          <p:cNvSpPr/>
          <p:nvPr/>
        </p:nvSpPr>
        <p:spPr>
          <a:xfrm>
            <a:off x="736600" y="34544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  type: PathPrefix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50"/>
          <p:cNvSpPr/>
          <p:nvPr/>
        </p:nvSpPr>
        <p:spPr>
          <a:xfrm>
            <a:off x="736600" y="36931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  value: 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50"/>
          <p:cNvSpPr/>
          <p:nvPr/>
        </p:nvSpPr>
        <p:spPr>
          <a:xfrm>
            <a:off x="736600" y="39319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backendRefs: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50"/>
          <p:cNvSpPr/>
          <p:nvPr/>
        </p:nvSpPr>
        <p:spPr>
          <a:xfrm>
            <a:off x="736600" y="41706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- name: drawio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50"/>
          <p:cNvSpPr/>
          <p:nvPr/>
        </p:nvSpPr>
        <p:spPr>
          <a:xfrm>
            <a:off x="736600" y="44094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port: __FILL_ME_15__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50"/>
          <p:cNvSpPr/>
          <p:nvPr/>
        </p:nvSpPr>
        <p:spPr>
          <a:xfrm>
            <a:off x="4829175" y="1105545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50"/>
          <p:cNvSpPr/>
          <p:nvPr/>
        </p:nvSpPr>
        <p:spPr>
          <a:xfrm>
            <a:off x="4983480" y="1259855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__FILL_ME_13__ · parentRefs.name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50"/>
          <p:cNvSpPr/>
          <p:nvPr/>
        </p:nvSpPr>
        <p:spPr>
          <a:xfrm>
            <a:off x="4983480" y="1511300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要掛到哪個 Gateway？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50"/>
          <p:cNvSpPr/>
          <p:nvPr/>
        </p:nvSpPr>
        <p:spPr>
          <a:xfrm>
            <a:off x="4829175" y="2021210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50"/>
          <p:cNvSpPr/>
          <p:nvPr/>
        </p:nvSpPr>
        <p:spPr>
          <a:xfrm>
            <a:off x="4983480" y="2175520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__FILL_ME_14__ · hostnames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0"/>
          <p:cNvSpPr/>
          <p:nvPr/>
        </p:nvSpPr>
        <p:spPr>
          <a:xfrm>
            <a:off x="4983480" y="2426965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網域慣例：&lt;product&gt;.nexai.org.com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50"/>
          <p:cNvSpPr/>
          <p:nvPr/>
        </p:nvSpPr>
        <p:spPr>
          <a:xfrm>
            <a:off x="4829175" y="2936875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p50"/>
          <p:cNvSpPr/>
          <p:nvPr/>
        </p:nvSpPr>
        <p:spPr>
          <a:xfrm>
            <a:off x="4983480" y="3091185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path · PathPrefix 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50"/>
          <p:cNvSpPr/>
          <p:nvPr/>
        </p:nvSpPr>
        <p:spPr>
          <a:xfrm>
            <a:off x="4983480" y="3342655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/ 代表整個網站。延伸：改成 /docs 之後，其他路徑會得到什麼？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50"/>
          <p:cNvSpPr/>
          <p:nvPr/>
        </p:nvSpPr>
        <p:spPr>
          <a:xfrm>
            <a:off x="4829175" y="3852540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5" name="Google Shape;1765;p50"/>
          <p:cNvSpPr/>
          <p:nvPr/>
        </p:nvSpPr>
        <p:spPr>
          <a:xfrm>
            <a:off x="4983480" y="4006850"/>
            <a:ext cx="67393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__FILL_ME_15__ · backendRefs.port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50"/>
          <p:cNvSpPr/>
          <p:nvPr/>
        </p:nvSpPr>
        <p:spPr>
          <a:xfrm>
            <a:off x="4983480" y="4258320"/>
            <a:ext cx="673933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填 Service 的 port，不是 containerPort。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7" name="Google Shape;1767;p50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5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3 章 · 填空練習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5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51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51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建立 Application Data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51"/>
          <p:cNvSpPr/>
          <p:nvPr/>
        </p:nvSpPr>
        <p:spPr>
          <a:xfrm>
            <a:off x="508000" y="1102370"/>
            <a:ext cx="4318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8" name="Google Shape;1778;p51"/>
          <p:cNvSpPr/>
          <p:nvPr/>
        </p:nvSpPr>
        <p:spPr>
          <a:xfrm>
            <a:off x="736600" y="130557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07-flarum-deployment.yaml（節錄）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51"/>
          <p:cNvSpPr/>
          <p:nvPr/>
        </p:nvSpPr>
        <p:spPr>
          <a:xfrm>
            <a:off x="736600" y="154431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env: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51"/>
          <p:cNvSpPr/>
          <p:nvPr/>
        </p:nvSpPr>
        <p:spPr>
          <a:xfrm>
            <a:off x="736600" y="178308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DB_HOST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51"/>
          <p:cNvSpPr/>
          <p:nvPr/>
        </p:nvSpPr>
        <p:spPr>
          <a:xfrm>
            <a:off x="736600" y="202185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value: "mysql"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51"/>
          <p:cNvSpPr/>
          <p:nvPr/>
        </p:nvSpPr>
        <p:spPr>
          <a:xfrm>
            <a:off x="736600" y="226060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DB_PASS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51"/>
          <p:cNvSpPr/>
          <p:nvPr/>
        </p:nvSpPr>
        <p:spPr>
          <a:xfrm>
            <a:off x="736600" y="249937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valueFrom: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51"/>
          <p:cNvSpPr/>
          <p:nvPr/>
        </p:nvSpPr>
        <p:spPr>
          <a:xfrm>
            <a:off x="736600" y="273811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secretKeyRef: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51"/>
          <p:cNvSpPr/>
          <p:nvPr/>
        </p:nvSpPr>
        <p:spPr>
          <a:xfrm>
            <a:off x="736600" y="297688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name: mysql-secret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51"/>
          <p:cNvSpPr/>
          <p:nvPr/>
        </p:nvSpPr>
        <p:spPr>
          <a:xfrm>
            <a:off x="736600" y="321565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key: MYSQL_PASSWORD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51"/>
          <p:cNvSpPr/>
          <p:nvPr/>
        </p:nvSpPr>
        <p:spPr>
          <a:xfrm>
            <a:off x="736600" y="345440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volumeMounts: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51"/>
          <p:cNvSpPr/>
          <p:nvPr/>
        </p:nvSpPr>
        <p:spPr>
          <a:xfrm>
            <a:off x="736600" y="3693170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storage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51"/>
          <p:cNvSpPr/>
          <p:nvPr/>
        </p:nvSpPr>
        <p:spPr>
          <a:xfrm>
            <a:off x="736600" y="393191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mountPath: /flarum/app/storage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51"/>
          <p:cNvSpPr/>
          <p:nvPr/>
        </p:nvSpPr>
        <p:spPr>
          <a:xfrm>
            <a:off x="736600" y="417068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assets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51"/>
          <p:cNvSpPr/>
          <p:nvPr/>
        </p:nvSpPr>
        <p:spPr>
          <a:xfrm>
            <a:off x="736600" y="4409455"/>
            <a:ext cx="39766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mountPath: /flarum/app/public/assets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51"/>
          <p:cNvSpPr/>
          <p:nvPr/>
        </p:nvSpPr>
        <p:spPr>
          <a:xfrm>
            <a:off x="5083175" y="1105545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51"/>
          <p:cNvSpPr/>
          <p:nvPr/>
        </p:nvSpPr>
        <p:spPr>
          <a:xfrm>
            <a:off x="5262880" y="1285255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initContainer 先整理目錄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51"/>
          <p:cNvSpPr/>
          <p:nvPr/>
        </p:nvSpPr>
        <p:spPr>
          <a:xfrm>
            <a:off x="5262880" y="1596405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在空 PVC 裡建好子目錄、chown 991:991，主容器才寫得進去。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51"/>
          <p:cNvSpPr/>
          <p:nvPr/>
        </p:nvSpPr>
        <p:spPr>
          <a:xfrm>
            <a:off x="5083175" y="2144390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51"/>
          <p:cNvSpPr/>
          <p:nvPr/>
        </p:nvSpPr>
        <p:spPr>
          <a:xfrm>
            <a:off x="5262880" y="232410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只掛資料目錄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51"/>
          <p:cNvSpPr/>
          <p:nvPr/>
        </p:nvSpPr>
        <p:spPr>
          <a:xfrm>
            <a:off x="5262880" y="263525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掛整個 /flarum/app，空 PVC 會蓋掉 image 裡的程式。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51"/>
          <p:cNvSpPr/>
          <p:nvPr/>
        </p:nvSpPr>
        <p:spPr>
          <a:xfrm>
            <a:off x="5083175" y="3183260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51"/>
          <p:cNvSpPr/>
          <p:nvPr/>
        </p:nvSpPr>
        <p:spPr>
          <a:xfrm>
            <a:off x="5262880" y="336297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打開 flarum.nexai.org.com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51"/>
          <p:cNvSpPr/>
          <p:nvPr/>
        </p:nvSpPr>
        <p:spPr>
          <a:xfrm>
            <a:off x="5262880" y="3674120"/>
            <a:ext cx="642538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用 README 裡的管理員帳號登入，發第一篇文章。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1" name="Google Shape;1801;p51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5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4 章 ·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5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9" name="Google Shape;1809;p52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52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Pod 分散與節點維護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52"/>
          <p:cNvSpPr/>
          <p:nvPr/>
        </p:nvSpPr>
        <p:spPr>
          <a:xfrm>
            <a:off x="511175" y="1105545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52"/>
          <p:cNvSpPr/>
          <p:nvPr/>
        </p:nvSpPr>
        <p:spPr>
          <a:xfrm>
            <a:off x="690880" y="1285255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分散：topologySpreadConstraints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52"/>
          <p:cNvSpPr/>
          <p:nvPr/>
        </p:nvSpPr>
        <p:spPr>
          <a:xfrm>
            <a:off x="690880" y="1596405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兩個 draw.io Pod 如果剛好在同一個節點，節點一掛就全掛。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52"/>
          <p:cNvSpPr/>
          <p:nvPr/>
        </p:nvSpPr>
        <p:spPr>
          <a:xfrm>
            <a:off x="511175" y="2157090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52"/>
          <p:cNvSpPr/>
          <p:nvPr/>
        </p:nvSpPr>
        <p:spPr>
          <a:xfrm>
            <a:off x="690880" y="233680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PodDisruptionBudget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52"/>
          <p:cNvSpPr/>
          <p:nvPr/>
        </p:nvSpPr>
        <p:spPr>
          <a:xfrm>
            <a:off x="690880" y="264795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drain 節點時保留最少可用數，例如 minAvailable: 1。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52"/>
          <p:cNvSpPr/>
          <p:nvPr/>
        </p:nvSpPr>
        <p:spPr>
          <a:xfrm>
            <a:off x="511175" y="3208660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52"/>
          <p:cNvSpPr/>
          <p:nvPr/>
        </p:nvSpPr>
        <p:spPr>
          <a:xfrm>
            <a:off x="690880" y="338837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cordon → drain → uncordon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52"/>
          <p:cNvSpPr/>
          <p:nvPr/>
        </p:nvSpPr>
        <p:spPr>
          <a:xfrm>
            <a:off x="690880" y="3699520"/>
            <a:ext cx="616376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維護前先停止排入新 Pod，再把現有 Pod 趕走，做完再恢復。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52"/>
          <p:cNvSpPr/>
          <p:nvPr/>
        </p:nvSpPr>
        <p:spPr>
          <a:xfrm>
            <a:off x="7112000" y="1102370"/>
            <a:ext cx="4572000" cy="2151380"/>
          </a:xfrm>
          <a:prstGeom prst="roundRect">
            <a:avLst>
              <a:gd name="adj" fmla="val 4723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52"/>
          <p:cNvSpPr/>
          <p:nvPr/>
        </p:nvSpPr>
        <p:spPr>
          <a:xfrm>
            <a:off x="7340600" y="1305570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pod -n drawio -o wide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52"/>
          <p:cNvSpPr/>
          <p:nvPr/>
        </p:nvSpPr>
        <p:spPr>
          <a:xfrm>
            <a:off x="7340600" y="1544315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兩個 Pod 在不同節點嗎？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52"/>
          <p:cNvSpPr/>
          <p:nvPr/>
        </p:nvSpPr>
        <p:spPr>
          <a:xfrm>
            <a:off x="7340600" y="1808485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pdb -n drawio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52"/>
          <p:cNvSpPr/>
          <p:nvPr/>
        </p:nvSpPr>
        <p:spPr>
          <a:xfrm>
            <a:off x="7340600" y="2047255"/>
            <a:ext cx="423824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本教材目前沒有 PDB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52"/>
          <p:cNvSpPr/>
          <p:nvPr/>
        </p:nvSpPr>
        <p:spPr>
          <a:xfrm>
            <a:off x="7112000" y="3380755"/>
            <a:ext cx="4572000" cy="749300"/>
          </a:xfrm>
          <a:prstGeom prst="roundRect">
            <a:avLst>
              <a:gd name="adj" fmla="val 10169"/>
            </a:avLst>
          </a:prstGeom>
          <a:solidFill>
            <a:srgbClr val="FBEE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6" name="Google Shape;1826;p52" descr="Warning"/>
          <p:cNvPicPr preferRelativeResize="0"/>
          <p:nvPr/>
        </p:nvPicPr>
        <p:blipFill rotWithShape="1">
          <a:blip r:embed="rId4">
            <a:alphaModFix/>
          </a:blip>
          <a:srcRect t="-495" b="-495"/>
          <a:stretch/>
        </p:blipFill>
        <p:spPr>
          <a:xfrm>
            <a:off x="7289800" y="3628405"/>
            <a:ext cx="232648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52"/>
          <p:cNvSpPr/>
          <p:nvPr/>
        </p:nvSpPr>
        <p:spPr>
          <a:xfrm>
            <a:off x="7649449" y="3507755"/>
            <a:ext cx="3972454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320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A3208"/>
                </a:solidFill>
                <a:latin typeface="Arial"/>
                <a:ea typeface="Arial"/>
                <a:cs typeface="Arial"/>
                <a:sym typeface="Arial"/>
              </a:rPr>
              <a:t>共用叢集：drain 會影響其他租戶，只由講師講解或示範。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8" name="Google Shape;1828;p52" descr="AIC AIoT Cloud"/>
          <p:cNvPicPr preferRelativeResize="0"/>
          <p:nvPr/>
        </p:nvPicPr>
        <p:blipFill rotWithShape="1">
          <a:blip r:embed="rId5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5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5 章 · DR 基準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5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1836;p53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53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記錄目前 Application 狀態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53"/>
          <p:cNvSpPr/>
          <p:nvPr/>
        </p:nvSpPr>
        <p:spPr>
          <a:xfrm>
            <a:off x="5111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53"/>
          <p:cNvSpPr/>
          <p:nvPr/>
        </p:nvSpPr>
        <p:spPr>
          <a:xfrm>
            <a:off x="6908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資源清單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53"/>
          <p:cNvSpPr/>
          <p:nvPr/>
        </p:nvSpPr>
        <p:spPr>
          <a:xfrm>
            <a:off x="690880" y="1596405"/>
            <a:ext cx="2383358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Deployment、StatefulSet、Service、PVC、Secret 的名稱與狀態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53"/>
          <p:cNvSpPr/>
          <p:nvPr/>
        </p:nvSpPr>
        <p:spPr>
          <a:xfrm>
            <a:off x="33432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53"/>
          <p:cNvSpPr/>
          <p:nvPr/>
        </p:nvSpPr>
        <p:spPr>
          <a:xfrm>
            <a:off x="35229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PVC 與 PV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53"/>
          <p:cNvSpPr/>
          <p:nvPr/>
        </p:nvSpPr>
        <p:spPr>
          <a:xfrm>
            <a:off x="3522980" y="159640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哪顆 PVC 綁哪顆 PV、容量、StorageClass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53"/>
          <p:cNvSpPr/>
          <p:nvPr/>
        </p:nvSpPr>
        <p:spPr>
          <a:xfrm>
            <a:off x="61753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53"/>
          <p:cNvSpPr/>
          <p:nvPr/>
        </p:nvSpPr>
        <p:spPr>
          <a:xfrm>
            <a:off x="63550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資料指紋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53"/>
          <p:cNvSpPr/>
          <p:nvPr/>
        </p:nvSpPr>
        <p:spPr>
          <a:xfrm>
            <a:off x="6355080" y="159640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測試文章查詢結果、檔案 sha256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53"/>
          <p:cNvSpPr/>
          <p:nvPr/>
        </p:nvSpPr>
        <p:spPr>
          <a:xfrm>
            <a:off x="90074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53"/>
          <p:cNvSpPr/>
          <p:nvPr/>
        </p:nvSpPr>
        <p:spPr>
          <a:xfrm>
            <a:off x="9187180" y="1285255"/>
            <a:ext cx="238335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對外狀態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53"/>
          <p:cNvSpPr/>
          <p:nvPr/>
        </p:nvSpPr>
        <p:spPr>
          <a:xfrm>
            <a:off x="9187180" y="1596405"/>
            <a:ext cx="238335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curl 狀態碼、頁面標題 K8s Training Forum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53"/>
          <p:cNvSpPr/>
          <p:nvPr/>
        </p:nvSpPr>
        <p:spPr>
          <a:xfrm>
            <a:off x="508000" y="2801615"/>
            <a:ext cx="11176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53"/>
          <p:cNvSpPr/>
          <p:nvPr/>
        </p:nvSpPr>
        <p:spPr>
          <a:xfrm>
            <a:off x="736600" y="300481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OUT=baseline-flarum-$(date +%Y%m%d-%H%M); mkdir -p $OUT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53"/>
          <p:cNvSpPr/>
          <p:nvPr/>
        </p:nvSpPr>
        <p:spPr>
          <a:xfrm>
            <a:off x="736600" y="324358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all,pvc,cm,secret -n flarum -o wide &gt; $OUT/resources.txt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53"/>
          <p:cNvSpPr/>
          <p:nvPr/>
        </p:nvSpPr>
        <p:spPr>
          <a:xfrm>
            <a:off x="736600" y="348235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pvc -n flarum -o yaml &gt; $OUT/pvc.yaml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53"/>
          <p:cNvSpPr/>
          <p:nvPr/>
        </p:nvSpPr>
        <p:spPr>
          <a:xfrm>
            <a:off x="736600" y="3721100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pv &gt; $OUT/pv.txt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53"/>
          <p:cNvSpPr/>
          <p:nvPr/>
        </p:nvSpPr>
        <p:spPr>
          <a:xfrm>
            <a:off x="736600" y="3959870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-sk -o /dev/null -w "%{http_code}\n" https://flarum.nexai.org.com &gt; $OUT/http.txt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53"/>
          <p:cNvSpPr/>
          <p:nvPr/>
        </p:nvSpPr>
        <p:spPr>
          <a:xfrm>
            <a:off x="736600" y="4198615"/>
            <a:ext cx="1104036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叢集層級的基準：dr/script/baseline.sh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7" name="Google Shape;1857;p53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5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6 章 · 測試資料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5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354c58d55cfae689_0_591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七站反覆出現的四個教訓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h354c58d55cfae689_0_591"/>
          <p:cNvSpPr/>
          <p:nvPr/>
        </p:nvSpPr>
        <p:spPr>
          <a:xfrm>
            <a:off x="815975" y="1588133"/>
            <a:ext cx="5187900" cy="1485900"/>
          </a:xfrm>
          <a:prstGeom prst="roundRect">
            <a:avLst>
              <a:gd name="adj" fmla="val 662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h354c58d55cfae689_0_591"/>
          <p:cNvSpPr/>
          <p:nvPr/>
        </p:nvSpPr>
        <p:spPr>
          <a:xfrm>
            <a:off x="1021080" y="179324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預設會打外網的背景工作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h354c58d55cfae689_0_591"/>
          <p:cNvSpPr/>
          <p:nvPr/>
        </p:nvSpPr>
        <p:spPr>
          <a:xfrm>
            <a:off x="1021080" y="211582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零信任網路會悄悄丟棄連線：要嘛開白名單，要嘛乾脆關掉。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354c58d55cfae689_0_591"/>
          <p:cNvSpPr/>
          <p:nvPr/>
        </p:nvSpPr>
        <p:spPr>
          <a:xfrm>
            <a:off x="1021080" y="2426977"/>
            <a:ext cx="4921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出現在：onlyoffice</a:t>
            </a:r>
            <a:r>
              <a:rPr lang="en-US" sz="1200" b="0" i="0" u="none" strike="noStrike" cap="none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外掛下載、filebrowser</a:t>
            </a:r>
            <a:r>
              <a:rPr lang="en-US" sz="1200" b="0" i="0" u="none" strike="noStrike" cap="none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更新檢查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354c58d55cfae689_0_591"/>
          <p:cNvSpPr/>
          <p:nvPr/>
        </p:nvSpPr>
        <p:spPr>
          <a:xfrm>
            <a:off x="6188075" y="1588133"/>
            <a:ext cx="5187900" cy="1485900"/>
          </a:xfrm>
          <a:prstGeom prst="roundRect">
            <a:avLst>
              <a:gd name="adj" fmla="val 662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h354c58d55cfae689_0_591"/>
          <p:cNvSpPr/>
          <p:nvPr/>
        </p:nvSpPr>
        <p:spPr>
          <a:xfrm>
            <a:off x="6393180" y="179324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安全強化要先驗證 image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h354c58d55cfae689_0_591"/>
          <p:cNvSpPr/>
          <p:nvPr/>
        </p:nvSpPr>
        <p:spPr>
          <a:xfrm>
            <a:off x="6393180" y="211582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root 啟動再降權的 image，drop ALL 之後會直接起不來。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h354c58d55cfae689_0_591"/>
          <p:cNvSpPr/>
          <p:nvPr/>
        </p:nvSpPr>
        <p:spPr>
          <a:xfrm>
            <a:off x="6393180" y="2426977"/>
            <a:ext cx="49212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出現在：mysql、redis、peertube、cloudbeaver；draw.io、planka 可以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354c58d55cfae689_0_591"/>
          <p:cNvSpPr/>
          <p:nvPr/>
        </p:nvSpPr>
        <p:spPr>
          <a:xfrm>
            <a:off x="815975" y="3258183"/>
            <a:ext cx="5187900" cy="126480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h354c58d55cfae689_0_591"/>
          <p:cNvSpPr/>
          <p:nvPr/>
        </p:nvSpPr>
        <p:spPr>
          <a:xfrm>
            <a:off x="1021080" y="346329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只在第一次初始化時生效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354c58d55cfae689_0_591"/>
          <p:cNvSpPr/>
          <p:nvPr/>
        </p:nvSpPr>
        <p:spPr>
          <a:xfrm>
            <a:off x="1021080" y="378587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資料初始化之後才改 Secret，不會改到既有的帳號密碼。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h354c58d55cfae689_0_591"/>
          <p:cNvSpPr/>
          <p:nvPr/>
        </p:nvSpPr>
        <p:spPr>
          <a:xfrm>
            <a:off x="1021080" y="4097027"/>
            <a:ext cx="4921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出現在：planka 的 POSTGRES_PASSWORD、peertube 的 root 密碼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h354c58d55cfae689_0_591"/>
          <p:cNvSpPr/>
          <p:nvPr/>
        </p:nvSpPr>
        <p:spPr>
          <a:xfrm>
            <a:off x="6188075" y="3258183"/>
            <a:ext cx="5187900" cy="126480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h354c58d55cfae689_0_591"/>
          <p:cNvSpPr/>
          <p:nvPr/>
        </p:nvSpPr>
        <p:spPr>
          <a:xfrm>
            <a:off x="6393180" y="3463292"/>
            <a:ext cx="492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K8s 的貼心有時是坑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354c58d55cfae689_0_591"/>
          <p:cNvSpPr/>
          <p:nvPr/>
        </p:nvSpPr>
        <p:spPr>
          <a:xfrm>
            <a:off x="6393180" y="3785877"/>
            <a:ext cx="4921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自動注入的 Service 環境變數、太早開始檢查的 livenessProbe。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354c58d55cfae689_0_591"/>
          <p:cNvSpPr/>
          <p:nvPr/>
        </p:nvSpPr>
        <p:spPr>
          <a:xfrm>
            <a:off x="6393180" y="4097027"/>
            <a:ext cx="4921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出現在：flarum 的 FLARUM_PORT、mysql 與 cloudbeaver 的冷啟動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5" name="Google Shape;1865;p54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54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五個指令，各有用途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7" name="Google Shape;1867;p54"/>
          <p:cNvCxnSpPr/>
          <p:nvPr/>
        </p:nvCxnSpPr>
        <p:spPr>
          <a:xfrm>
            <a:off x="508000" y="1105545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8" name="Google Shape;1868;p54"/>
          <p:cNvSpPr/>
          <p:nvPr/>
        </p:nvSpPr>
        <p:spPr>
          <a:xfrm>
            <a:off x="508000" y="1221755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54"/>
          <p:cNvSpPr/>
          <p:nvPr/>
        </p:nvSpPr>
        <p:spPr>
          <a:xfrm>
            <a:off x="1854200" y="123951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現在的狀態：STATUS、READY、RESTARTS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54"/>
          <p:cNvSpPr/>
          <p:nvPr/>
        </p:nvSpPr>
        <p:spPr>
          <a:xfrm>
            <a:off x="7493000" y="1257300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pod -n flarum -o wide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1" name="Google Shape;1871;p54"/>
          <p:cNvCxnSpPr/>
          <p:nvPr/>
        </p:nvCxnSpPr>
        <p:spPr>
          <a:xfrm>
            <a:off x="508000" y="162369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2" name="Google Shape;1872;p54"/>
          <p:cNvSpPr/>
          <p:nvPr/>
        </p:nvSpPr>
        <p:spPr>
          <a:xfrm>
            <a:off x="508000" y="173990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describe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54"/>
          <p:cNvSpPr/>
          <p:nvPr/>
        </p:nvSpPr>
        <p:spPr>
          <a:xfrm>
            <a:off x="1854200" y="175768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為什麼會這樣：Conditions 與 Events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4"/>
          <p:cNvSpPr/>
          <p:nvPr/>
        </p:nvSpPr>
        <p:spPr>
          <a:xfrm>
            <a:off x="7493000" y="1775470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describe pod &lt;pod&gt; -n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5" name="Google Shape;1875;p54"/>
          <p:cNvCxnSpPr/>
          <p:nvPr/>
        </p:nvCxnSpPr>
        <p:spPr>
          <a:xfrm>
            <a:off x="508000" y="214186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6" name="Google Shape;1876;p54"/>
          <p:cNvSpPr/>
          <p:nvPr/>
        </p:nvSpPr>
        <p:spPr>
          <a:xfrm>
            <a:off x="508000" y="225807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54"/>
          <p:cNvSpPr/>
          <p:nvPr/>
        </p:nvSpPr>
        <p:spPr>
          <a:xfrm>
            <a:off x="1854200" y="227585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應用自己說了什麼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4"/>
          <p:cNvSpPr/>
          <p:nvPr/>
        </p:nvSpPr>
        <p:spPr>
          <a:xfrm>
            <a:off x="7493000" y="2293615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logs &lt;pod&gt; -n flarum --previous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9" name="Google Shape;1879;p54"/>
          <p:cNvCxnSpPr/>
          <p:nvPr/>
        </p:nvCxnSpPr>
        <p:spPr>
          <a:xfrm>
            <a:off x="508000" y="266003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0" name="Google Shape;1880;p54"/>
          <p:cNvSpPr/>
          <p:nvPr/>
        </p:nvSpPr>
        <p:spPr>
          <a:xfrm>
            <a:off x="508000" y="2776215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54"/>
          <p:cNvSpPr/>
          <p:nvPr/>
        </p:nvSpPr>
        <p:spPr>
          <a:xfrm>
            <a:off x="1854200" y="2794000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進容器裡驗證：DNS、連線、檔案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54"/>
          <p:cNvSpPr/>
          <p:nvPr/>
        </p:nvSpPr>
        <p:spPr>
          <a:xfrm>
            <a:off x="7493000" y="2811785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exec -it &lt;pod&gt; -n flarum -- 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3" name="Google Shape;1883;p54"/>
          <p:cNvCxnSpPr/>
          <p:nvPr/>
        </p:nvCxnSpPr>
        <p:spPr>
          <a:xfrm>
            <a:off x="508000" y="3178175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4" name="Google Shape;1884;p54"/>
          <p:cNvSpPr/>
          <p:nvPr/>
        </p:nvSpPr>
        <p:spPr>
          <a:xfrm>
            <a:off x="508000" y="336550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54"/>
          <p:cNvSpPr/>
          <p:nvPr/>
        </p:nvSpPr>
        <p:spPr>
          <a:xfrm>
            <a:off x="1854200" y="338328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整個 namespace 最近發生的事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54"/>
          <p:cNvSpPr/>
          <p:nvPr/>
        </p:nvSpPr>
        <p:spPr>
          <a:xfrm>
            <a:off x="7493000" y="3294385"/>
            <a:ext cx="43167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events -n flarum --sort-by=.lastTimestamp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7" name="Google Shape;1887;p54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5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7 章 · 完成檢查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5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20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29598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replicas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jgraph/drawio:24.7.17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readiness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drop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29598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"drawio.nexai.org.com"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scaleTargetRef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maxReplicas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averageUtilization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0713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draw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drawio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要跟 Pod label 完全一致；Service 只認 label。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永遠 0/1 Ready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readinessProbe port: 8081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readinessProbe port: http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 直接引用 named port，containerPort 改了也不會跟著錯。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HTTPRoute Accepted 卻連不到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8080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backendRefs 填 Service 的 port，不是 containerPort。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第二個 Pod 卡在 Pending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"100m"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個 Pod × 100m 就超過；HPA 最多 5 × 100m = 500m，抓 1 留餘裕。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9278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39347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disableUpdateCheck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internalUrl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http://filebrowser.filebrowser.svc.cluster.local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sources.path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/srv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replicas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strategy.type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Recreate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36656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gtstef/filebrowser:1.5.6-stable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readiness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drop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"filebrowser.nexai.org.com"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9370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459913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一直卡在 Pending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filebrowser-srv: rook-ceph-block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filebrowser-srv: rook-cephfs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RWX 需要檔案系統型的 CephFS；RBD 區塊儲存不支援多節點寫入。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file-browser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filebrowser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找不到設定檔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 key: config.yml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 key: config.yaml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用 subPath: config.yaml 掛載，ConfigMap 的 key 要同名。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下一次更新才卡住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strategy.type: RollingUpdate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strategy.type: Recreate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RWO 的 filebrowser-db 只能掛一個節點，舊 Pod 要先完全終止釋放 volume。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5803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40009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"750m"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Secret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clusterIP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serviceName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secretRef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delay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Secret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671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FLARUM_ADMIN_PASS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"TrainingAdmin123!"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enableServiceLinks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chown uid:gid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991:991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DB_HOST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"mysql"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secretRef DB_PASS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secretRef ADMIN_PASS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flarum-secret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liveness delay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/flarum/app/storage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3899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/flarum/app/public/assets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"flarum.nexai.org.com"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from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3306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to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9468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956925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過一陣子就重啟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liveness initialDelaySeconds: 20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liveness initialDelaySeconds: 60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第一次 initdb 還沒跑完就被 livenessProbe 砍掉，資料目錄初始化到一半壞掉。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 連 DB 認證失敗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 secretKeyRef: flarum-secret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 secretKeyRef: mysql-secret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MYSQL_PASSWORD 存在 mysql-secret；flarum-secret 只有管理員密碼。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收到沒設定過的埠號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（缺）enableServiceLinks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enableServiceLinks: false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叫 flarum，K8s 自動注入 FLARUM_PORT=tcp://… 蓋掉應用設定。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程式檔案不見了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 mountPath: /flarum/app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mountPath: /flarum/app/storage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 PVC 掛到整個 /flarum/app，把 image 裡的程式蓋掉了。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套用 NetworkPolicy 後逾時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flarum-app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flarum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放行來源的 label 要對到 flarum Pod 真正的 label。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9131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30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36304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128Mi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POSTGRES_PASSWORD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"TrainingPlanka123"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clusterIP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serviceName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PGDATA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/var/lib/postgresql/data/pgdata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3010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77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DATABASE_URL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"postgresql://planka:TrainingPlanka123@postgres:5432/planka"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ghcr.io/plankanban/planka:latest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BASE_URL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"http://planka.nexai.org.com"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1337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readiness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drop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32951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/app/data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"planka.nexai.org.com"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to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80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76413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postgres-0 起不來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PGDATA: /var/lib/postgresql/data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PGDATA: …/data/pgdata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ext4 掛載點根目錄自帶 lost+found，指到子目錄才是空目錄。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08-planka-service.yaml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plankaapp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planka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容器建立不起來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secretKeyRef.key: DATABASE_URI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secretKeyRef.key: DATABASE_URL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拼錯會卡在 CreateContainerConfigError，容器根本不會啟動。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 連不到資料庫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plankaapp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planka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 的 ingress 只放行 label 對得上的來源 Pod。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連不到網站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1337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1337 是 containerPort；backendRefs 要填 Service 的 port。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0047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41024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JWT_SECRET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"TrainingOnlyofficeJwtSecret_ChangeMe"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nodeSelector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key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nvidia.com/gpu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value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"true"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effect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NoSchedule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onlyoffice/documentserver:latest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34980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PLUGINS_ENABLED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"false"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readiness 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/healthcheck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/var/www/onlyoffice/Data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"onlyoffice.nexai.org.com"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8404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 異常偏高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（缺）PLUGINS_ENABLED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PLUGINS_ENABLED: "false"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外掛程序連外網被擋，卡在吃滿 1 核心的重試迴圈。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一直卡在 Pending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03-pvc.yaml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storageClassName: rook-ceph-blk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storageClassName: rook-ceph-block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叢集沒有 default StorageClass，名字拼錯就永遠不會 provision。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onlyofice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onlyoffice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少一個 f，Service 就選不到任何 Pod。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HTTPRoute Accepted 卻連不到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8080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對外開的是 80，這個 Service 上根本沒有 8080。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3647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43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40614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memory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3Gi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PVCs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64Mi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POSTGRES_USER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POSTGRES_DB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ConfigMap key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init-extensions.sql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EXTENSION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pg_trgm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EXTENSION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unaccent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clusterIP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selector.app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targetPort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6710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nodeSelector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mountPath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/docker-entrypoint-initdb.d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configMap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postgres-initdb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storageClass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storage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5Gi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selector.app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redis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targetPort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redis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nodeSelector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containerPort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6379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ADMIN_EMAIL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"admin@example.com"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DB_PASSWORD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"TrainingPeertube123"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storageClass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accessModes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WEBSERVER_PORT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"443"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WEBSERVER_HTTPS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"true"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43157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/>
                <a:gridCol w="1480000"/>
                <a:gridCol w="1682000"/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5586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TRUST_PROXY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'["loopback","linklocal","uniquelocal"]'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REDIS_HOSTNAME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"redis"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DB_HOSTNAME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"postgres"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containerPort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9000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claimName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peertube-storage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selector.app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targetPort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hostnames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"peertube.nexai.org.com"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backendRefs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parentRefs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ingress port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9000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podSelector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from podSelector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866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6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383950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資料庫認證失敗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07-peertube-secret.yaml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DB_PASSWORD: "TrainingPeertubeApp123"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DB_PASSWORD: "TrainingPeertube123"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02-postgres-secret 的 POSTGRES_PASSWORD 完全一致。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來源 IP / https 判斷異常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TRUST_PROXY: 少了 "uniquelocal"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["loopback","linklocal","uniquelocal"]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從 Pod 網路（私有位址）轉進來，要信任 uniquelocal。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migration 缺 extension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…/docker-entrypoint-initdb.d/extensions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/docker-entrypoint-initdb.d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官方映像只執行這個目錄第一層的 .sql / .sh，子目錄不會跑。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的 Endpoints 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redis-cache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redis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redis Pod 的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套用 NetworkPolicy 後逾時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 ingress port: 5433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 ingress port: 5432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放行錯的 port 等於沒放行，封包被悄悄丟棄才會是 timeout。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連不到網站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9000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9000 是 containerPort；Service 對外開的是 80。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0608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28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40362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"500m"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256Mi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2Gi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image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dbeaver/cloudbeaver:latest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containerPort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8978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liveness delay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mountPath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/opt/cloudbeaver/workspace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claimName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cloudbeaver-workspace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觀念題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不設 drop（需 root chown）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40362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/>
                <a:gridCol w="2300000"/>
                <a:gridCol w="2668000"/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selector.app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targetPort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parentRefs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hostnames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"cloudbeaver.nexai.org.com"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backendRefs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ingress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8978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3306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5432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5432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881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/>
                <a:gridCol w="2150000"/>
                <a:gridCol w="2400000"/>
                <a:gridCol w="3500000"/>
                <a:gridCol w="2706000"/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連第一個 Pod 都生不出來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"100m"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"500m"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容器 requests.cpu 是 250m，配額 100m 讓 ReplicaSet 直接被拒。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CrashLoopBackOff：permission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securityContext: drop [ALL]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移除這段 securityContext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entrypoint 先用 root chown PVC 再降權，drop ALL 會讓這一步失敗。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04-service.yaml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cloudbeaver-app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cloudbeaver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三個 DB 只連得到兩個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metadata.name: peertube-app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metadata.name: peertube</a:t>
                      </a:r>
                      <a:endParaRPr lang="zh-TW" altLang="en-US" sz="105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namespaceSelector 指到不存在的 namespace，等於沒放行。</a:t>
                      </a:r>
                      <a:endParaRPr lang="zh-TW" altLang="en-US" sz="1100" dirty="0"/>
                    </a:p>
                  </a:txBody>
                  <a:tcPr marL="72720" marR="72720" marT="45720" marB="45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226071"/>
      </p:ext>
    </p:extLst>
  </p:cSld>
  <p:clrMapOvr>
    <a:masterClrMapping/>
  </p:clrMapOvr>
</p:sld>
</file>

<file path=ppt/theme/theme1.xml><?xml version="1.0" encoding="utf-8"?>
<a:theme xmlns:a="http://schemas.openxmlformats.org/drawingml/2006/main" name="1._AIC conference_light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_AIC conference_Dark_BG">
  <a:themeElements>
    <a:clrScheme name="Presentation_02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D8D8D8"/>
      </a:accent1>
      <a:accent2>
        <a:srgbClr val="B2B2B2"/>
      </a:accent2>
      <a:accent3>
        <a:srgbClr val="B2B2B2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_AIC Presentation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AIC 課程 ppt Template_Light</Template>
  <TotalTime>484</TotalTime>
  <Words>5561</Words>
  <Application>Microsoft Office PowerPoint</Application>
  <PresentationFormat>寬螢幕</PresentationFormat>
  <Paragraphs>839</Paragraphs>
  <Slides>78</Slides>
  <Notes>64</Notes>
  <HiddenSlides>7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64</vt:i4>
      </vt:variant>
    </vt:vector>
  </HeadingPairs>
  <TitlesOfParts>
    <vt:vector size="73" baseType="lpstr">
      <vt:lpstr>Calibri</vt:lpstr>
      <vt:lpstr>微軟正黑體</vt:lpstr>
      <vt:lpstr>Courier New</vt:lpstr>
      <vt:lpstr>JetBrains Mono</vt:lpstr>
      <vt:lpstr>Arial</vt:lpstr>
      <vt:lpstr>Calibri Light</vt:lpstr>
      <vt:lpstr>1._AIC conference_light_BG</vt:lpstr>
      <vt:lpstr>2._AIC conference_Dark_BG</vt:lpstr>
      <vt:lpstr>3._AIC Presentation_BG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1 站 · draw.io</vt:lpstr>
      <vt:lpstr>PowerPoint 簡報</vt:lpstr>
      <vt:lpstr>PowerPoint 簡報</vt:lpstr>
      <vt:lpstr>PowerPoint 簡報</vt:lpstr>
      <vt:lpstr>PowerPoint 簡報</vt:lpstr>
      <vt:lpstr>PowerPoint 簡報</vt:lpstr>
      <vt:lpstr>第 2 站 · filebrowser</vt:lpstr>
      <vt:lpstr>PowerPoint 簡報</vt:lpstr>
      <vt:lpstr>PowerPoint 簡報</vt:lpstr>
      <vt:lpstr>PowerPoint 簡報</vt:lpstr>
      <vt:lpstr>PowerPoint 簡報</vt:lpstr>
      <vt:lpstr>PowerPoint 簡報</vt:lpstr>
      <vt:lpstr>第 3 站 ·  </vt:lpstr>
      <vt:lpstr>PowerPoint 簡報</vt:lpstr>
      <vt:lpstr>PowerPoint 簡報</vt:lpstr>
      <vt:lpstr>PowerPoint 簡報</vt:lpstr>
      <vt:lpstr>PowerPoint 簡報</vt:lpstr>
      <vt:lpstr>第 4 站 · planka</vt:lpstr>
      <vt:lpstr>PowerPoint 簡報</vt:lpstr>
      <vt:lpstr>PowerPoint 簡報</vt:lpstr>
      <vt:lpstr>PowerPoint 簡報</vt:lpstr>
      <vt:lpstr>PowerPoint 簡報</vt:lpstr>
      <vt:lpstr>PowerPoint 簡報</vt:lpstr>
      <vt:lpstr>第 5 站 · onlyoffice</vt:lpstr>
      <vt:lpstr>PowerPoint 簡報</vt:lpstr>
      <vt:lpstr>PowerPoint 簡報</vt:lpstr>
      <vt:lpstr>PowerPoint 簡報</vt:lpstr>
      <vt:lpstr>PowerPoint 簡報</vt:lpstr>
      <vt:lpstr>第 6 站 · peertube</vt:lpstr>
      <vt:lpstr>PowerPoint 簡報</vt:lpstr>
      <vt:lpstr>PowerPoint 簡報</vt:lpstr>
      <vt:lpstr>PowerPoint 簡報</vt:lpstr>
      <vt:lpstr>PowerPoint 簡報</vt:lpstr>
      <vt:lpstr>第 7 站 · cloudbeaver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PptxGenJS</dc:creator>
  <cp:lastModifiedBy>Ann Lee[李旻恩]</cp:lastModifiedBy>
  <cp:revision>52</cp:revision>
  <dcterms:created xsi:type="dcterms:W3CDTF">2026-09-24T10:08:04Z</dcterms:created>
  <dcterms:modified xsi:type="dcterms:W3CDTF">2026-09-29T08:14:43Z</dcterms:modified>
</cp:coreProperties>
</file>