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歡迎來到實戰部署工作坊。這門課不用 kind 或 minikube，而是把七個真實可用的開源應用部署到一座 Rancher 代管的正式叢集上。每一份 manifest 都真的部署、驗證過，課堂上看到的坑也都是實際踩過的。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堂課分三段。第一段先把環境講清楚，因為這座叢集跟一般教學環境不一樣。第二段是七站實作，前四站涵蓋全部新概念，由講師逐一深講；後三站是變化型，可以讓學員照著正解自己重做。第三段是練習和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所有對外流量都走同一個教學用的 dev-gateway，放在 default namespace。每個產品有自己的 namespace 和自己的 HTTPRoute，靠 Host header 分流。刻意不用正式的 admin-gateway 和 app-gateway，避免學員誤觸正式服務。cloudbeaver 是唯一會跨 namespace 連到 flarum、planka、peertube 資料庫的產品，最後一站再講。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這四件事會影響後面每一站。第一，叢集沒有傳統 Ingress Controller，全部走 Gateway API。第二，沒有預設 StorageClass，PVC 漏寫 storageClassName 就會一直 Pending。第三，三台一般節點記憶體都很滿，重量級的 onlyoffice 和 peertube 會刻意排到 gpu01。第四，自簽憑證的瀏覽器警告是預期行為，可以順便講 TLS 憑證鏈。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四種形式內容彼此同步。上課主線用 manifest 目錄，一支一支 apply、一個一個資源講。all-in-one 是一模一樣的合併版，拿來快速重建。chart 是 Helm 版本，教完 yaml 之後再教。exercises 是學員練習。注意用 Helm 安裝前要先 apply 00-namespace.yaml，chart 本身不建立 namespace。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深度統一抓進階款。每一站的 manifest 目錄都按這個順序編號：先 namespace，再配額，再工作負載、Service、HTTPRoute，最後才是 NetworkPolicy。NetworkPolicy 標記為選用，放最後是因為它最容易讓示範當場連不上，上課前一定要先實測。其他資源按產品需要再疊加上去。yaml 裡都有繁體中文註解，解釋為什麼這樣寫。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這是整門課的地圖。星等綜合結構複雜度和概念新穎度評定，不是嚴格線性，例如 onlyoffice 結構不複雜，但排錯和資源規劃的難度不低於 peertube。建議前四站講師帶著做，後三站讓學員自己動手。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draw.io 是純前端應用，不碰儲存也不碰資料庫，所以可以把注意力全放在骨架上。帶學員觀察 Deployment、ReplicaSet、Pod 三者的關係，再施加負載看 HPA 的 replicas 變化。hostnames 預設是 drawio.nexai.org.com，DNS 或學員的 hosts 檔要指到 dev-gateway 的 EXTERNAL-IP。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這頁對應 draw.io 練習題的 FILL_ME 3 到 5。requests 是排程器用來決定 Pod 排到哪裡的依據；limits 是尖峰上限。配額的計算基準是所有 Pod 的 requests 加總，而且要算到 HPA 的 maxReplicas，不能只算現在的 2 個 Pod。LimitRange 的 min 抓太高會擋掉合理的輕量容器，這是本教材真的踩過的坑。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RWO 還是 RWX，不是看應用種類，而是看這份資料允不允許多個 Pod 同時寫入。filebrowser 已經從封存的 filebrowser/filebrowser 換成社群 fork FileBrowser Quantum，用 1.5.6-stable 穩定線。預設帳密 admin/admin，示範完請學員修改。OnlyOffice 整合的 secret 要跟 onlyoffice 那邊的 JWT_SECRET 逐字一致。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這三個坑都已經修在 manifest 裡，可以直接當課堂案例。第二個特別適合現場演示：先只套一個方向的 NetworkPolicy，讓學員看到錯誤訊息，再帶著一起找出要補的第二條規則。OnlyOffice 整合是雙向流量，不是只有 filebrowser 連 onlyoffice。第三個坑跟 onlyoffice 的 PLUGINS_ENABLED 是同一類問題，後面會再遇到。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flarum 是踩坑最多的一站。只掛 storage 和 public/assets 這種資料類子目錄，不掛整個 app 目錄，否則 PVC 會蓋掉 image 裡的程式碼。enableServiceLinks 是很好的活教材：Kubernetes 幫你做的貼心事，有時候反而是坑。httpGet、tcpSocket、exec 三種 probe 在這一站都會出現。第一次啟動要跑安裝流程，大約 30 到 60 秒才會就緒。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planka 跟 flarum 並排看最有效，下一頁有對照表。官方文件常說 planka 要用 mysql，這是錯的，官方 docker-compose 用的是 PostgreSQL。DATABASE_URL 是組合好的連線字串，密碼裡不能有沒編碼的 @ : / 等字元。注意 ghcr.io 的 planka image 第一次拉取要 5 到 10 分鐘，上課前先在各節點預熱。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兩個產品都是 App 加專屬資料庫放在同一個 namespace，NetworkPolicy 也都是同 namespace 的 podSelector 寫法。差別在映像本身的設計。要帶出的觀念是：安全強化要不要做、能不能做，要看 image 實際怎麼設計，不能無腦套同一份模板。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onlyoffice 內建 PostgreSQL、Redis、RabbitMQ，全部包在同一個 container 裡。重點不在應用邏輯，而是資源緊繃的共用叢集該怎麼安排吃重的工作負載。taint 和 toleration 不只服務 GPU 排程，任何這個節點保留給特定用途的情境都適用。持久化刻意簡化，只有 Data 目錄用 PVC，其他用 emptyDir。第一次啟動約 1 到 2 分鐘才會 Ready。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peertube 把前面學過的概念串起來：StatefulSet 加 PVC 的 PostgreSQL、Deployment 加 emptyDir 的 Redis、還有應用本體，NetworkPolicy 規則數全教材最多，共 7 條。redis 和 peertube 的 image 都是 root 啟動再降權，所以不能 drop ALL。PEERTUBE_TRUST_PROXY 要納入叢集 Pod 網段。管理員帳號是寫死的 root，初始密碼只在資料庫全新初始化時生效，之後要用 reset-password 腳本重設。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前面所有案例都是同 namespace 的 podSelector，這一站改用 namespaceSelector，形成對照。部署前 flarum、planka、peertube 都要先部署好，並且重新 apply 各自最新的 NetworkPolicy。CloudBeaver 沒有用環境變數自動建立管理員，要手動跑一次瀏覽器精靈，建議帳號用 cbadmin。驗證連線可以從 Pod 內用 /dev/tcp 測三個資料庫的 port，不需要密碼。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停一下，讓學員回想七站裡遇過的錯誤。這些都不是為了教學故意設計的，而是在真實叢集上實際踩到、再修進 manifest 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這四個教訓在不同產品反覆出現，比單一產品的細節更值得帶走。第一個：零信任網路下，啟動時會連外網的背景工作要處理掉。第二個：同一份安全模板不是每個 image 都能套。第三個：資料庫類映像的初始化變數只在第一次生效。第四個：Kubernetes 的預設行為要知道它在做什麼。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每個產品的 exercises 目錄都有這兩種題型，正解就是上一層的 manifest 目錄。填空題訓練讀懂 yaml 各欄位之間的關聯；除錯題訓練維運時的排錯流程。除錯題每個檔案最多一個錯，也有檔案完全沒錯。只給症狀方向，不直接說錯在哪一行。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把七站遇到的錯誤整理成一張查表。重點是建立習慣：看到症狀先查對的地方，而不是亂改 yaml。describe pod 的 Events 能解決一半以上的問題；Endpoints 是空的幾乎都是 label 對不上；CrashLoopBackOff 要看上一次容器的 log。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這四個條件就是本教材驗證每一份 manifest 的標準，學員的作業也用同一套標準。Pod Running 不代表服務可用，一定要一路驗到 curl 拿到應用本身的內容。清除時每個產品刪掉自己的 namespace 即可；課程全部結束再刪 dev-gateway。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七個產品本身都用預設 ServiceAccount，沒有自訂 RBAC，所以 RBAC 另外有獨立的教學範例。下一門課是 dr 目錄的備份與災難復原演練。開放提問。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企業實戰教育訓練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39520"/>
            <a:ext cx="10883392" cy="91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F7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23114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個真實開源應用 · 一座正式 K8s 叢集 · 難度逐站遞增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5520055"/>
            <a:ext cx="898049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880" y="5572760"/>
            <a:ext cx="6910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draw.io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1974" y="5520055"/>
            <a:ext cx="1263888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0879" y="5572760"/>
            <a:ext cx="10568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filebrowser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93812" y="5520055"/>
            <a:ext cx="806609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2717" y="5572760"/>
            <a:ext cx="5995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flarum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08371" y="5520055"/>
            <a:ext cx="806609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7276" y="5572760"/>
            <a:ext cx="5995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planka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2929" y="5520055"/>
            <a:ext cx="1172369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1834" y="5572760"/>
            <a:ext cx="9653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onlyoffice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3248" y="5520055"/>
            <a:ext cx="989489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2153" y="5572760"/>
            <a:ext cx="7824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peertube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0687" y="5520055"/>
            <a:ext cx="1263888" cy="31877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9592" y="5572760"/>
            <a:ext cx="10568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cloudbeaver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今天的路線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97660"/>
            <a:ext cx="3318907" cy="0"/>
          </a:xfrm>
          <a:prstGeom prst="line">
            <a:avLst/>
          </a:prstGeom>
          <a:noFill/>
          <a:ln w="25400">
            <a:solidFill>
              <a:srgbClr val="1B6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813560"/>
            <a:ext cx="341847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372360"/>
            <a:ext cx="3418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環境與慣例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2778760"/>
            <a:ext cx="341847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叢集架構、每個產品的四種形式、所有產品共用的標準骨架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507" y="1597660"/>
            <a:ext cx="3318986" cy="0"/>
          </a:xfrm>
          <a:prstGeom prst="line">
            <a:avLst/>
          </a:prstGeom>
          <a:noFill/>
          <a:ln w="25400">
            <a:solidFill>
              <a:srgbClr val="1B6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507" y="1813560"/>
            <a:ext cx="34185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36507" y="2372360"/>
            <a:ext cx="341855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七站實作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36507" y="2778760"/>
            <a:ext cx="34185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從無狀態的 draw.io 一路到跨 namespace 的 cloudbeaver，每站只多一點新東西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60293" y="1597660"/>
            <a:ext cx="3318907" cy="0"/>
          </a:xfrm>
          <a:prstGeom prst="line">
            <a:avLst/>
          </a:prstGeom>
          <a:noFill/>
          <a:ln w="25400">
            <a:solidFill>
              <a:srgbClr val="1B6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0293" y="1813560"/>
            <a:ext cx="341847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060293" y="2372360"/>
            <a:ext cx="3418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練習與驗收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60293" y="2778760"/>
            <a:ext cx="341847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共通教訓、填空題與除錯題、四個綠燈的驗收標準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叢集架構：一個入口，七個 namespace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339975"/>
            <a:ext cx="1263650" cy="1527810"/>
          </a:xfrm>
          <a:prstGeom prst="roundRect">
            <a:avLst>
              <a:gd name="adj" fmla="val 7789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4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70000" y="251968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900" y="2951480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學員瀏覽器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94080" y="3276600"/>
            <a:ext cx="110744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HTTPS，各自的 Host header</a:t>
            </a:r>
            <a:endParaRPr lang="en-US" sz="12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35200" y="3002280"/>
            <a:ext cx="406400" cy="20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94000" y="2352041"/>
            <a:ext cx="1905000" cy="1503680"/>
          </a:xfrm>
          <a:prstGeom prst="roundRect">
            <a:avLst>
              <a:gd name="adj" fmla="val 6757"/>
            </a:avLst>
          </a:prstGeom>
          <a:solidFill>
            <a:srgbClr val="14213D"/>
          </a:solidFill>
          <a:ln/>
        </p:spPr>
      </p:sp>
      <p:sp>
        <p:nvSpPr>
          <p:cNvPr id="9" name="Text 5"/>
          <p:cNvSpPr/>
          <p:nvPr/>
        </p:nvSpPr>
        <p:spPr>
          <a:xfrm>
            <a:off x="2971800" y="2555241"/>
            <a:ext cx="160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dev-gateway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971800" y="2885441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API · Cilium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71800" y="3162300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:80 / https :443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71800" y="3439161"/>
            <a:ext cx="1600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default</a:t>
            </a:r>
            <a:endParaRPr lang="en-US" sz="1200" dirty="0"/>
          </a:p>
        </p:txBody>
      </p:sp>
      <p:pic>
        <p:nvPicPr>
          <p:cNvPr id="13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51400" y="3002280"/>
            <a:ext cx="406400" cy="203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13375" y="1588136"/>
            <a:ext cx="1915557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542280" y="1717041"/>
            <a:ext cx="17085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drawio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542280" y="1986280"/>
            <a:ext cx="17085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×2 + HPA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436882" y="1588136"/>
            <a:ext cx="1915557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565787" y="1717041"/>
            <a:ext cx="17085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filebrowser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565787" y="1986280"/>
            <a:ext cx="17085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RWX + RWO 兩顆 PVC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460389" y="1588136"/>
            <a:ext cx="1915636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589294" y="1717041"/>
            <a:ext cx="1708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flarum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589294" y="1986280"/>
            <a:ext cx="170862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MySQL StatefulSet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13375" y="2634616"/>
            <a:ext cx="1915557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42280" y="2763520"/>
            <a:ext cx="17085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planka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542280" y="3032761"/>
            <a:ext cx="170854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PostgreSQL StatefulSet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436882" y="2634616"/>
            <a:ext cx="1915557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65787" y="2763520"/>
            <a:ext cx="17085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onlyoffice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565787" y="3032761"/>
            <a:ext cx="17085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單體應用，釘選 gpu01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460389" y="2634616"/>
            <a:ext cx="1915636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589294" y="2763520"/>
            <a:ext cx="170862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peertube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589294" y="3032761"/>
            <a:ext cx="170862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PostgreSQL + Redis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413375" y="3681095"/>
            <a:ext cx="1915557" cy="93853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542280" y="3810000"/>
            <a:ext cx="17085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cloudbeaver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542280" y="4079241"/>
            <a:ext cx="170854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 namespace 連三個 DB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12800" y="49276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HTTPRoute 用 parentRefs 掛到 dev-gateway。它跟正式的 admin-gateway / app-gateway 分開：學員誤操作碰不到正式服務，課程結束刪掉這一個就收尾。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上課前要知道的四件事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6"/>
            <a:ext cx="5175250" cy="133223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4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1818641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9880" y="1818641"/>
            <a:ext cx="43062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Ingress，一律 Gateway API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79880" y="2156461"/>
            <a:ext cx="43062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 實作。七個產品全部用 HTTPRoute，沒有 NodePort 或 Ingress 範例。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00775" y="1588136"/>
            <a:ext cx="5175250" cy="133223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8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1280" y="1818641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4680" y="1818641"/>
            <a:ext cx="43062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default StorageClass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964680" y="2156461"/>
            <a:ext cx="43062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PVC 都要明確指定：rook-ceph-block（RWO）或 rook-cephfs（RWX）。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5975" y="3129916"/>
            <a:ext cx="5175250" cy="133223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12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6480" y="336042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79880" y="3360420"/>
            <a:ext cx="43062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個 Worker，記憶體吃緊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79880" y="3698241"/>
            <a:ext cx="43062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k8s01～03 長期 81～91%；gpu01 帶 NoSchedule taint，記憶體最空。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00775" y="3129916"/>
            <a:ext cx="5175250" cy="1332230"/>
          </a:xfrm>
          <a:prstGeom prst="roundRect">
            <a:avLst>
              <a:gd name="adj" fmla="val 73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16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1280" y="3360420"/>
            <a:ext cx="355600" cy="35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64680" y="3360420"/>
            <a:ext cx="430626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一產品一 namespace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964680" y="3698241"/>
            <a:ext cx="43062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彼此用 NetworkPolicy 隔離。TLS 是自簽的 *.nexai.org.com，瀏覽器警告屬預期。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每個產品都有四種形式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6"/>
            <a:ext cx="2520950" cy="155067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93239"/>
            <a:ext cx="2174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1080" y="2118361"/>
            <a:ext cx="21740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教學主線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080" y="2438400"/>
            <a:ext cx="217406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拆成編號 yaml，一支一支 apply，逐步講解每個資源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588136"/>
            <a:ext cx="2520950" cy="155067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793239"/>
            <a:ext cx="2174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all-in-one.yaml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0780" y="2118361"/>
            <a:ext cx="21740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快速重建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0780" y="2438400"/>
            <a:ext cx="217406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 manifest/ 逐 byte 一致的合併版，demo 或重建環境用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5375" y="1588136"/>
            <a:ext cx="2520950" cy="155067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0480" y="1793239"/>
            <a:ext cx="2174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0480" y="2118361"/>
            <a:ext cx="21740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版本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0480" y="2438400"/>
            <a:ext cx="217406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values.yaml 參數化，教完純 yaml 再講重複部署怎麼簡化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55075" y="1588136"/>
            <a:ext cx="2520950" cy="1550670"/>
          </a:xfrm>
          <a:prstGeom prst="roundRect">
            <a:avLst>
              <a:gd name="adj" fmla="val 6347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0180" y="1793239"/>
            <a:ext cx="2174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60180" y="2118361"/>
            <a:ext cx="21740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學員練習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60180" y="2438400"/>
            <a:ext cx="217406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填空題 + 除錯題 + 架構圖，正解就是 manifest/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3446782"/>
            <a:ext cx="10566400" cy="133604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3649982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共用的教學 Gateway，整門課只套一次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1400" y="3888739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dev-gateway.yaml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1400" y="4127500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apps/01-draw.io/manifest/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1400" y="4366261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 drawio apps/01-draw.io/chart/ -n drawio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標準骨架：每一站都從這六個資源開始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4880" y="2110739"/>
            <a:ext cx="1463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4880" y="2380614"/>
            <a:ext cx="14630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一產品一個，是隔離的邊界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93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2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22880" y="2110739"/>
            <a:ext cx="14630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/ LimitRange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22880" y="2586989"/>
            <a:ext cx="146304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管住整個 namespace 的資源用量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1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0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00880" y="2110739"/>
            <a:ext cx="1463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0880" y="2380614"/>
            <a:ext cx="146304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resources、probes、securityContext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49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8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8880" y="2110739"/>
            <a:ext cx="1463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8880" y="2380614"/>
            <a:ext cx="14630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ClusterIP，用 label 選中 Pod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27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6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56880" y="2110739"/>
            <a:ext cx="1463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56880" y="2380614"/>
            <a:ext cx="14630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掛到 dev-gateway，依 Host 分流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05975" y="1588136"/>
            <a:ext cx="1670050" cy="1816100"/>
          </a:xfrm>
          <a:prstGeom prst="roundRect">
            <a:avLst>
              <a:gd name="adj" fmla="val 58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4880" y="1742439"/>
            <a:ext cx="1463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834880" y="2110739"/>
            <a:ext cx="1463040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34880" y="2380614"/>
            <a:ext cx="14630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 default-deny，再逐條放行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3712211"/>
            <a:ext cx="1088339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依產品需要再疊加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5975" y="4086225"/>
            <a:ext cx="1929448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580" y="4151630"/>
            <a:ext cx="16970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 + StorageClass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40673" y="4086225"/>
            <a:ext cx="1106329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2278" y="4151630"/>
            <a:ext cx="873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42251" y="4086225"/>
            <a:ext cx="832009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3856" y="4151630"/>
            <a:ext cx="5995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69510" y="4086225"/>
            <a:ext cx="1289288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1115" y="4151630"/>
            <a:ext cx="10568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StatefulSet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4048" y="4086225"/>
            <a:ext cx="1472168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5653" y="4151630"/>
            <a:ext cx="1239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initContainer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21466" y="4086225"/>
            <a:ext cx="557609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3071" y="4151630"/>
            <a:ext cx="3251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74325" y="4086225"/>
            <a:ext cx="2569607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15930" y="4151630"/>
            <a:ext cx="23549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nodeSelector + toleration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5975" y="4525646"/>
            <a:ext cx="1014889" cy="344170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7580" y="4591051"/>
            <a:ext cx="7824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emptyDir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七站路線：難度逐站遞增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84961"/>
          <a:ext cx="10566400" cy="2854960"/>
        </p:xfrm>
        <a:graphic>
          <a:graphicData uri="http://schemas.openxmlformats.org/drawingml/2006/table">
            <a:tbl>
              <a:tblPr/>
              <a:tblGrid>
                <a:gridCol w="739648"/>
                <a:gridCol w="1901952"/>
                <a:gridCol w="1584960"/>
                <a:gridCol w="633984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難度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這一站新出現的概念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draw.io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★☆☆☆☆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無狀態骨架：Deployment、Service、HTTPRoute、HPA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filebrowser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與 StorageClass（RWX vs RWO）、ConfigMap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StatefulSet、initContainer、Secret 互相引用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planka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跟 flarum 對照：非 root 映像、免 initContainer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onlyoffice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nodeSelector + toleration、資源規劃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peertube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三元件整合、PVC vs emptyDir、7 條 NetworkPolicy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26A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存取（namespaceSelector）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548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前四站涵蓋全部新概念，講師逐一深講；後三站是既有概念的變化型，適合學員照正解自己重做。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站 · 入門 ★☆☆☆☆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draw.io：無狀態的起點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6445250" cy="115951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建立基本框架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Namespace、配額、Deployment、Service、HTTPRoute 一次到位，後面每站都沿用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317055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35026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全教材唯一的 HPA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65506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2，CPU 70% 觸發擴容，最多擴到 5 個 Pod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21576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39547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securityContext 全套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70027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capabilities.drop: [ALL] 的示範起點，後面每站都拿它來對照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1"/>
            <a:ext cx="3810000" cy="2768600"/>
          </a:xfrm>
          <a:prstGeom prst="roundRect">
            <a:avLst>
              <a:gd name="adj" fmla="val 3670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8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3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6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04-httproute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8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05-hpa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3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06-networkpolicy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觀察擴縮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hpa -n drawio -w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站 · 延伸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資源設定：兩層數字要對得上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2367836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0280" y="2032000"/>
            <a:ext cx="21210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LimitRange.min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0280" y="2301242"/>
            <a:ext cx="21210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單一容器的地板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88586" y="2077721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46713" y="1877696"/>
            <a:ext cx="2367836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1018" y="2032000"/>
            <a:ext cx="21210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1018" y="2301242"/>
            <a:ext cx="21210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 / 256Mi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19324" y="2077721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7451" y="1877696"/>
            <a:ext cx="2367836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1756" y="2032000"/>
            <a:ext cx="21210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31756" y="2301242"/>
            <a:ext cx="21210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 / 512Mi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50062" y="2077721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08190" y="1877696"/>
            <a:ext cx="2367836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494" y="2032000"/>
            <a:ext cx="21210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LimitRange.max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62494" y="2301242"/>
            <a:ext cx="21210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單一容器的天花板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2878454"/>
            <a:ext cx="5098574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280" y="3032764"/>
            <a:ext cx="49336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replicas × requests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0280" y="3302000"/>
            <a:ext cx="4933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最多 5 個 Pod × 100m = 500m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19324" y="3078479"/>
            <a:ext cx="20415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7451" y="2878454"/>
            <a:ext cx="5098574" cy="791210"/>
          </a:xfrm>
          <a:prstGeom prst="roundRect">
            <a:avLst>
              <a:gd name="adj" fmla="val 923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1756" y="3032764"/>
            <a:ext cx="493366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ResourceQuota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31756" y="3302000"/>
            <a:ext cx="4933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hard.requests.cpu 抓 1（1000m），留一倍餘裕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975" y="3879217"/>
            <a:ext cx="52006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5680" y="4058921"/>
            <a:ext cx="498647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可壓縮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5680" y="4363721"/>
            <a:ext cx="49864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 limit 只會被節流變慢，比例可以抓寬（本例 5 倍）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5375" y="3879217"/>
            <a:ext cx="52006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058921"/>
            <a:ext cx="498647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不可壓縮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4363721"/>
            <a:ext cx="498647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超過 limit 直接 OOMKilled，比例要抓保守（本例 2 倍）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站 · ★★☆☆☆ 第一個有狀態應用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filebrowser：RWX 與 RWO 怎麼選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6445250" cy="1159510"/>
          </a:xfrm>
          <a:prstGeom prst="roundRect">
            <a:avLst>
              <a:gd name="adj" fmla="val 8488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看資料能不能被多個 Pod 同時寫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檔案本體 filebrowser-srv 用 RWX cephfs；sqlite 的 filebrowser-db 用 RWO ceph-block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3170554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350264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1 + Recreate，刻意不做 HPA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655064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只允許單一寫入者：不是所有應用都能水平擴展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21576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39547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宣告式設定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70027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config.yaml 用 subPath 疊到預設路徑；還要跨 namespace 呼叫 onlyoffice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1"/>
            <a:ext cx="3810000" cy="300736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02-pvc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03-configmap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06-httproute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07-networkpolicy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兩顆 PVC 都要是 Bound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7800" y="44653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pvc -n filebrowser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站 · 課堂案例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filebrowser 實測踩到的三個坑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3380264" cy="2908300"/>
          </a:xfrm>
          <a:prstGeom prst="roundRect">
            <a:avLst>
              <a:gd name="adj" fmla="val 338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82800"/>
            <a:ext cx="305915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 FATAL：找不到設定檔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080" y="2423164"/>
            <a:ext cx="3059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1080" y="2712721"/>
            <a:ext cx="3059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的 entrypoint 不轉發 -c 參數，只認官方預設路徑。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1080" y="3284221"/>
            <a:ext cx="3059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1080" y="3573779"/>
            <a:ext cx="3059155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不跟 entrypoint 對抗：用 subPath 把 ConfigMap 疊到預設路徑的 config.yaml。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5789" y="1877696"/>
            <a:ext cx="3380343" cy="2908300"/>
          </a:xfrm>
          <a:prstGeom prst="roundRect">
            <a:avLst>
              <a:gd name="adj" fmla="val 338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0894" y="2082800"/>
            <a:ext cx="3059237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編輯器顯示「目前無法存取該檔案」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0894" y="2687321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0894" y="2976879"/>
            <a:ext cx="305923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document.url 用了瀏覽器網址；onlyoffice 回頭抓檔案的方向也沒放行。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0894" y="3548379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0894" y="3837942"/>
            <a:ext cx="3059237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 server.internalUrl，並補上 onlyoffice → filebrowser 的 NetworkPolicy。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95682" y="1877696"/>
            <a:ext cx="3380343" cy="2908300"/>
          </a:xfrm>
          <a:prstGeom prst="roundRect">
            <a:avLst>
              <a:gd name="adj" fmla="val 338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0787" y="2082800"/>
            <a:ext cx="305923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每次開機卡 31 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00787" y="2423164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00787" y="2712721"/>
            <a:ext cx="305923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啟動時同步檢查 GitHub 新版本，連線被 NetworkPolicy 悄悄丟棄。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00787" y="3284221"/>
            <a:ext cx="305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0787" y="3573779"/>
            <a:ext cx="305923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server.disableUpdateCheck: true，開機時間降到 2 秒內。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站 · ★★★☆☆ 踩坑最多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flarum：App 與 MySQL 住同一個 namespace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initContainer（全教材唯一）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一開始是空的：先建好子目錄、chown 991:991，主容器才寫得進去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22904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102614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enableServiceLinks: false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407414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叫 flarum，K8s 自動注入的 FLARUM_PORT 蓋掉了應用程式自己的設定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96811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14782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 Secret 互相引用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45262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用 secretKeyRef 直接讀 mysql-secret 的密碼，不用再複製一份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1"/>
            <a:ext cx="3810000" cy="324612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02-mysql-secret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03-mysql-service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04-mysql-statefulset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05-flarum-secret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06-flarum-pvc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07-flarum-deployment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08-flarum-service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7800" y="44653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09-httproute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97800" y="47040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10-networkpolicy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站 · ★★★☆☆ 對照組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planka：同樣架構，換成 PostgreSQL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 image 本身就是非 root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uid 1000 啟動，可以放心 drop ALL，也不需要 initContainer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22904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102614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RWX PVC → RollingUpdate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407414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不像 flarum、filebrowser 被 RWO 逼成 Recreate，可以零停機更新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96811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14782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密碼只在初始化時生效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45262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資料目錄初始化後才改 Secret，會出現 password authentication failed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1"/>
            <a:ext cx="3810000" cy="3246120"/>
          </a:xfrm>
          <a:prstGeom prst="roundRect">
            <a:avLst>
              <a:gd name="adj" fmla="val 3130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02-postgres-secret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03-postgres-service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04-postgres-statefulset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05-planka-secret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06-planka-pvc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07-planka-deployment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08-planka-service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7800" y="44653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09-httproute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97800" y="47040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10-networkpolicy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3、4 站 · 對照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flarum 與 planka 並排看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4521"/>
          <a:ext cx="10566400" cy="3068320"/>
        </p:xfrm>
        <a:graphic>
          <a:graphicData uri="http://schemas.openxmlformats.org/drawingml/2006/table">
            <a:tbl>
              <a:tblPr/>
              <a:tblGrid>
                <a:gridCol w="2535936"/>
                <a:gridCol w="4015232"/>
                <a:gridCol w="4015232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planka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8.0 StatefulSet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 StatefulSet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映像使用者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啟動再降權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 root（uid 1000）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不行，會啟動失敗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initContainer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需要，先建目錄與權限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更新策略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Recreate（RWO PVC）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RollingUpdate（RWX PVC）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連線設定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DB_HOST / DB_USER / DB_PASS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DATABASE_URL 單一字串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 app=flarum 能連 3306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 app=planka 能連 5432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站 · ★★★★☆ 資源與排程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onlyoffice：重量級工作負載怎麼排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96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nodeSelector + toleration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排到帶 nvidia.com/gpu taint、但記憶體最空的 gpu01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22904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102614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官方建議的 4GB 是保守值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407414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穩定狀態實測約 400～500Mi；首次啟動產生字型時會短暫吃滿 CPU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96811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147821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PLUGINS_ENABLED=false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452621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背景連 github.com 被擋，卡在吃滿 1 核心的重試迴圈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1"/>
            <a:ext cx="3810000" cy="3007360"/>
          </a:xfrm>
          <a:prstGeom prst="roundRect">
            <a:avLst>
              <a:gd name="adj" fmla="val 337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先確認節點資源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 nodes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02-secret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79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03-pvc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64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06-httproute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7800" y="4465321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07-networkpolicy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6 站 · ★★★★★ 最完整的整合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peertube：三個元件一起協作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702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vs emptyDir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的影片與使用者資料不能丟，用 PVC；redis 只是佇列快取，用 emptyDir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22910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102608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放初始化 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407408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啟用 pg_trgm、unaccent 兩個 extension，ConfigMap 不只能放設定檔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96811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147827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反向代理後面的埠號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452627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WEBSERVER 填使用者看到的 https:443，不是容器內部監聽的 9000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7"/>
            <a:ext cx="3810000" cy="3723640"/>
          </a:xfrm>
          <a:prstGeom prst="roundRect">
            <a:avLst>
              <a:gd name="adj" fmla="val 2729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7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8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5552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27940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02-postgres-secret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032758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03-postgres-initdb-configmap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271527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04-postgres-service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51028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05-postgres-statefulset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7490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06-redis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3987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07-peertube-secret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7800" y="4226558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08-peertube-pvc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97800" y="4465327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09-peertube-deployment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97800" y="470408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10-peertube-service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97800" y="49428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11-httproute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97800" y="51816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12-networkpolicy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 站 · ★★★★☆ 收尾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cloudbeaver：唯一的跨 namespace 存取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702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57400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namespaceSelector 放行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指向 flarum、planka、peertube，比對 kubernetes.io/metadata.name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22910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3102608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兩邊都要開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680" y="3407408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三個資料庫的 NetworkPolicy 也要加 ingress，放行來自 cloudbeaver 的連線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968117"/>
            <a:ext cx="6445250" cy="911860"/>
          </a:xfrm>
          <a:prstGeom prst="roundRect">
            <a:avLst>
              <a:gd name="adj" fmla="val 1079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4147827"/>
            <a:ext cx="626841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設定精靈只跑一次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5680" y="4452627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管理員帳號別取名 admin：會跟內建的 admin 團隊撞名，怎麼重試都失敗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69200" y="1874527"/>
            <a:ext cx="3810000" cy="2743200"/>
          </a:xfrm>
          <a:prstGeom prst="roundRect">
            <a:avLst>
              <a:gd name="adj" fmla="val 3704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797800" y="2077727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manifest/ 依序 apply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97800" y="2316485"/>
            <a:ext cx="3453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先重新 apply 三個 DB 的 NetworkPolicy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97800" y="27686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00-namespace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97800" y="3007358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01-resourcequota-limitrange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97800" y="3246127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02-pvc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97800" y="348488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97800" y="3723642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7800" y="39624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05-httproute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97800" y="4201158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06-networkpolicy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6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565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七站走完之後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79377"/>
            <a:ext cx="10883392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踩過的坑，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就是最好的教材。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8625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4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每一份 manifest 都真的部署到這座叢集、驗證過。下一頁整理反覆出現的四個教訓。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七站反覆出現的四個教訓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3"/>
            <a:ext cx="518795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93242"/>
            <a:ext cx="4921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預設會打外網的背景工作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2115827"/>
            <a:ext cx="49210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零信任網路會悄悄丟棄連線：要嘛開白名單，要嘛乾脆關掉。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1080" y="2426977"/>
            <a:ext cx="492107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出現在：onlyoffice 外掛下載、filebrowser 更新檢查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8075" y="1588133"/>
            <a:ext cx="5187950" cy="1485900"/>
          </a:xfrm>
          <a:prstGeom prst="roundRect">
            <a:avLst>
              <a:gd name="adj" fmla="val 662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3180" y="1793242"/>
            <a:ext cx="4921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安全強化要先驗證 image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93180" y="2115827"/>
            <a:ext cx="49210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啟動再降權的 image，drop ALL 之後會直接起不來。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93180" y="2426977"/>
            <a:ext cx="4921072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出現在：mysql、redis、peertube、cloudbeaver；draw.io、planka 可以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258183"/>
            <a:ext cx="5187950" cy="126492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3463292"/>
            <a:ext cx="4921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只在第一次初始化時生效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1080" y="3785877"/>
            <a:ext cx="49210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資料初始化之後才改 Secret，不會改到既有的帳號密碼。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1080" y="4097027"/>
            <a:ext cx="492107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出現在：planka 的 POSTGRES_PASSWORD、peertube 的 root 密碼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8075" y="3258183"/>
            <a:ext cx="5187950" cy="1264920"/>
          </a:xfrm>
          <a:prstGeom prst="roundRect">
            <a:avLst>
              <a:gd name="adj" fmla="val 7781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3180" y="3463292"/>
            <a:ext cx="492107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的貼心有時是坑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93180" y="3785877"/>
            <a:ext cx="49210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自動注入的 Service 環境變數、太早開始檢查的 livenessProbe。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3180" y="4097027"/>
            <a:ext cx="4921072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出現在：flarum 的 FLARUM_PORT、mysql 與 cloudbeaver 的冷啟動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兩種題型：填空與除錯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3"/>
            <a:ext cx="5175250" cy="3006090"/>
          </a:xfrm>
          <a:prstGeom prst="roundRect">
            <a:avLst>
              <a:gd name="adj" fmla="val 327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4404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題目一 · manifest-incomplete/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1880" y="21590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半成品 YAML 填空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56540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正解被挖掉的欄位標成 __FILL_ME_n__，照編號填完再依序 apply。光是 draw.io 就有 20 格。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880" y="320040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寫完用 diff 跟 ../manifest/ 對照。先自己推理一輪，再對答案。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588133"/>
            <a:ext cx="5175250" cy="3006090"/>
          </a:xfrm>
          <a:prstGeom prst="roundRect">
            <a:avLst>
              <a:gd name="adj" fmla="val 3274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680" y="184404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題目二 · manifest-buggy/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6680" y="21590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看起來完整，其實藏了錯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56680" y="256540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整套 apply 下去，用 describe、get -o yaml、logs 找出問題。draw.io 的四個症狀：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6680" y="3200400"/>
            <a:ext cx="4803343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永遠是空的（label）</a:t>
            </a:r>
            <a:endParaRPr lang="en-US" sz="1400" dirty="0"/>
          </a:p>
          <a:p>
            <a:pPr algn="l" marL="213360" indent="-213360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永遠 0/1 Ready（probe 的 port）</a:t>
            </a:r>
            <a:endParaRPr lang="en-US" sz="1400" dirty="0"/>
          </a:p>
          <a:p>
            <a:pPr algn="l" marL="213360" indent="-213360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Accepted 卻連不到（backendRefs）</a:t>
            </a:r>
            <a:endParaRPr lang="en-US" sz="1400" dirty="0"/>
          </a:p>
          <a:p>
            <a:pPr algn="l" marL="213360" indent="-213360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第二個 Pod 卡在 Pending（配額）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除錯工具箱：看到症狀先查哪裡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84958"/>
          <a:ext cx="10566400" cy="2498090"/>
        </p:xfrm>
        <a:graphic>
          <a:graphicData uri="http://schemas.openxmlformats.org/drawingml/2006/table">
            <a:tbl>
              <a:tblPr/>
              <a:tblGrid>
                <a:gridCol w="2535936"/>
                <a:gridCol w="3803904"/>
                <a:gridCol w="422656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先看哪裡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這門課常見的原因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2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卡在 Pending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 → 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超過配額、缺 toleration、PVC 未 Bound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但 0/1 Ready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 → probe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打錯 port、初始延遲太短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 是空的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endpoints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selector 跟 Pod label 對不上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回 503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httproute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backendRefs 不是 Service 的 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CrashLoopBackOff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logs --previous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ALL 讓降權失敗、設定路徑錯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連線逾時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6F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exec 測 /dev/tcp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少放行一個方向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7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驗收標準：四個綠燈才算部署完成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3"/>
            <a:ext cx="2520950" cy="213487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4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5680" y="1831342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3980" y="1793242"/>
            <a:ext cx="220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95680" y="2237742"/>
            <a:ext cx="2226386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 且 Ready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5680" y="2854958"/>
            <a:ext cx="222638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 -n &lt;ns&gt;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95675" y="1588133"/>
            <a:ext cx="2520950" cy="213487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9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75380" y="1831342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43680" y="1793242"/>
            <a:ext cx="220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675380" y="2237742"/>
            <a:ext cx="222638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有 endpoints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75380" y="2590800"/>
            <a:ext cx="222638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endpoints -n &lt;ns&gt;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5375" y="1588133"/>
            <a:ext cx="2520950" cy="213487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14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5080" y="1831342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3380" y="1793242"/>
            <a:ext cx="220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355080" y="2237742"/>
            <a:ext cx="2226386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HTTPRoute Accepted + ResolvedRefs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55080" y="2854958"/>
            <a:ext cx="222638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httproute -n &lt;ns&gt;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855075" y="1588133"/>
            <a:ext cx="2520950" cy="213487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6350">
            <a:solidFill>
              <a:srgbClr val="DEDAD0"/>
            </a:solidFill>
            <a:prstDash val="solid"/>
          </a:ln>
        </p:spPr>
      </p:sp>
      <p:pic>
        <p:nvPicPr>
          <p:cNvPr id="19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34780" y="1831342"/>
            <a:ext cx="279400" cy="279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03080" y="1793242"/>
            <a:ext cx="220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6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9034780" y="2237742"/>
            <a:ext cx="2226386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拿到應用的真實內容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034780" y="2854958"/>
            <a:ext cx="2226386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-k https://&lt;product&gt;.nexai.org.com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2800" y="4030985"/>
            <a:ext cx="10566400" cy="133604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/>
        </p:spPr>
      </p:sp>
      <p:sp>
        <p:nvSpPr>
          <p:cNvPr id="24" name="Text 18"/>
          <p:cNvSpPr/>
          <p:nvPr/>
        </p:nvSpPr>
        <p:spPr>
          <a:xfrm>
            <a:off x="1041400" y="4234185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單一產品收尾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41400" y="4472942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namespace &lt;product&gt;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41400" y="4711700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整門課結束：刪掉教學 Gateway 一次收尾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41400" y="4950458"/>
            <a:ext cx="10412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-f dev-gateway.yaml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下一步：延伸文件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88133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80" y="176784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docs/helm-chart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5680" y="2067558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通用概念，搭配各產品的 chart/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588133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8587" y="176784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68587" y="2067558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/ limits 怎麼抓，含 k6 實測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588133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1494" y="1767842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docs/hpa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41494" y="2067558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draw.io 實測一次 scale-up / 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645408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5680" y="2825117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docs/networkpolicy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5680" y="3124833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零信任設計與真實 allow / deny 測試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645408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8587" y="2825117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docs/rbac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8587" y="3124833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ServiceAccount、Role、ClusterRole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645408"/>
            <a:ext cx="3414157" cy="898525"/>
          </a:xfrm>
          <a:prstGeom prst="roundRect">
            <a:avLst>
              <a:gd name="adj" fmla="val 10954"/>
            </a:avLst>
          </a:prstGeom>
          <a:noFill/>
          <a:ln w="6350">
            <a:solidFill>
              <a:srgbClr val="3A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1494" y="2825117"/>
            <a:ext cx="31463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41494" y="3124833"/>
            <a:ext cx="314638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備份、復原與災難復原演練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3851908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問題與討論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實戰部署工作坊 · 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實戰部署工作坊</dc:title>
  <dc:subject>PptxGenJS Presentation</dc:subject>
  <dc:creator>PptxGenJS</dc:creator>
  <cp:lastModifiedBy>PptxGenJS</cp:lastModifiedBy>
  <cp:revision>1</cp:revision>
  <dcterms:created xsi:type="dcterms:W3CDTF">2026-09-24T07:01:25Z</dcterms:created>
  <dcterms:modified xsi:type="dcterms:W3CDTF">2026-09-24T07:01:25Z</dcterms:modified>
</cp:coreProperties>
</file>