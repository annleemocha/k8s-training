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歡迎來到實戰部署工作坊。這一章不用 kind 或 minikube，而是在一座 Rancher 代管的正式叢集上，從需求分析一路做到部署完成檢查。前半用無狀態的 draw.io 打地基，後半用有狀態的 flarum 處理資料庫和儲存，最後把環境整理成下一章備份與災難復原的起點。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整堂課七章。第一章是觀念，不碰叢集。第二、三章用 draw.io，因為它無狀態，可以專心在資源和網路。第四章換成 flarum，加入資料庫和儲存。第五、六章是為災難復原打基礎：先知道正常時長什麼樣子，再埋好測試資料。第七章做完整的部署檢查，交棒給下一章的 Backup。時間配置：開場 3 分鐘，七章依序 10、12、15、18、12、8、10 分鐘，最後 2 分鐘問答，合計 90 分鐘。沒有列在主線的頁面放在最後的補充資料，供學員課後閱讀。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第一章不打指令。目標是讓學員拿到一個應用時，能先回答：它需要哪些 Kubernetes 資源、資料放哪、流量怎麼走。建議時間：10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draw.io 當例子。HTTPRoute 決定網址對到哪個 Service；Service 用 label 找到 Pod；Deployment 負責讓指定數量的 Pod 一直活著；Namespace 是這一切的外框。每個資源只回答一個問題，把問題想清楚，YAML 就不難寫。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判斷是不是有狀態，就問一句：這個 Pod 被刪掉，會不會少了什麼？draw.io 不會，所以可以開兩份、隨時換版。flarum 會少文章和附件，所以要 PVC、要單一寫入、更新時會中斷，備份時也要連資料一起備。這張表的最後一列就是第五、六章在準備的事。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這是第四章 flarum 的全貌。三條關係要講清楚：App 透過 Service 名稱找資料庫，不直接存取它的檔案；資料庫的資料在它自己的 PVC；App 自己也有兩顆 PVC，一顆放執行期資料，一顆放上傳檔案。之後做備份時，這三顆 PVC 都是要救回來的對象。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這兩類錯誤不會讓 apply 失敗，卻會讓服務不通，是學員最常卡住的地方。label 的錯誤症狀通常是 Endpoints 是空的；namespace 的錯誤症狀通常是找不到東西，或東西跑到 default namespace 去。第二、三章的除錯題會實際遇到。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這是本工作坊的教學方法。架構圖讓學員知道要做什麼；填空讓學員理解每個欄位；除錯題模擬真實維運，只給症狀、不給答案；驗收標準用同一份清單判斷做完了沒有。四個步驟在 draw.io 和 flarum 都各走一次。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第二章用 draw.io。它是純前端應用，不碰儲存也不碰資料庫，可以專心在 namespace 治理和 Deployment 本身。建議時間：12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ResourceQuota 管整個 namespace 的總量，LimitRange 管單一容器的上下限，兩個常被搞混。右邊是 draw.io 實際的數字，這裡用縮寫呈現，完整 YAML 在 01-resourcequota-limitrange.yaml。有了 ResourceQuota 之後，每個容器都必須有 requests，沒寫的話就由 LimitRange 的 defaultRequest 補上。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左邊是節錄，完整檔案還有 resources、livenessProbe 和 securityContext。三個重點：selector 和 template labels 要一樣；port 取名字之後，probe 和 Service 都引用名字；每個容器都要有 resources。draw.io 的 image 可以放心 drop 所有 capabilities，後面 flarum 的 mysql 就不行。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帶學員用 -w 看 Pod 一路從 Pending 走到 1/1。每一站卡住的原因不同：Pending 多半是資源或配額，ContainerCreating 多半是 image 或 volume，0/1 是 readiness 沒過。順便講 Deployment、ReplicaSet、Pod 三層的關係。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答案寫在這裡，投影片上不顯示：FILL_ME_7 是 jgraph/drawio:24.7.17，FILL_ME_8 是 8080，FILL_ME_11 是 drawio。draw.io 的填空題共有 20 格，這三格最容易錯，也最能帶出 label 和 port 的對應關係。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第三章繼續用 draw.io，把網路從 Pod 一路接到瀏覽器：Service、Gateway、HTTPRoute、TLS，最後用 NetworkPolicy 把不該通的擋掉。建議時間：15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把請求路徑拆成六段，每一段各有自己的失敗症狀。排錯時從症狀反推是哪一段出問題：找不到主機是 DNS，404 是 HTTPRoute 比對不到，503 通常是後端或 Endpoints，逾時要懷疑 NetworkPolicy。dev-gateway 的 EXTERNAL-IP 用 kubectl get gateway dev-gateway -n default 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這三條是所有產品共用的骨架。第二條刻意不限來源，因為在 Cilium 下，Gateway 送進 Pod 的流量來源 IP 是 Gateway 自己，很難只放行 Gateway；本教材選擇只限 port，把存取控制留給應用層。要提醒：draw.io 的 06-networkpolicy.yaml 在 9 月 23 日盤點時還沒套用到叢集上，上課前請先套用並跑過下一頁的測試。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用同一個測試 Pod 同時示範通與不通：DNS 查得到，因為有 allow-egress-dns；但 HTTP 連不到 draw.io，因為 default-deny-all 擋掉了它的 egress，而且它沒有 app=drawio 的 label。這是預期結果，上課前請講師先在叢集上實測一次。測完 --rm 會自動刪掉測試 Pod。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這是第三章的排查案例，對應 draw.io 除錯題的第 3 題：backendRefs 的 port 填成了 containerPort。帶學員照這五步一路往下查，重點是 Accepted 不等於通。每一步都對應前面請求路徑那張表的某一段。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第四章換成 flarum 論壇，它有自己的 MySQL，還有兩顆 PVC。這是全教材踩坑最多的產品，很多坑都可以直接當課堂案例。建議時間：18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最重要的差別是身分：StatefulSet 的 Pod 有固定名字 mysql-0，重建後掛回同一顆 data-mysql-0，搭配 Headless Service 拿到穩定的 DNS 名稱。flarum 本身用 Deployment，因為它的狀態都在 PVC 和資料庫裡。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PVC 是需求單，StorageClass 是供應商，PV 是實際交貨的磁碟。學員只需要寫 PVC，PV 由 StorageClass 自動建立。這座叢集沒有 default StorageClass，是刻意設計成必須明確選擇。可以用 kubectl get pvc -n flarum 和 kubectl get pv 對照綁定關係。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RWO 和 RWX 的選擇會連帶影響更新策略：flarum-storage 是 RWO，所以 flarum 只能用 Recreate，舊 Pod 放掉磁碟，新 Pod 才掛得上。資料庫一律用 block storage，因為資料庫本身不允許多個行程同時寫同一份檔案。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先建 Secret，再建 Headless Service，最後才是 StatefulSet。livenessProbe 的等待時間是實測踩出來的：mysql 第一次初始化在這座叢集跑了約 97 秒，原本 30 秒的設定會在初始化到一半時砍掉容器，而且密碼設定會壞掉、只能刪 PVC 重來。最後用 SHOW DATABASES 確認看得到 appdb。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這個實驗讓學員親眼看到資料活得比 Pod 久。刪掉 Pod 之後，StatefulSet 會用同一個名字重建 mysql-0，並掛回同一顆 PVC。最後一定要強調反面：刪 namespace 會連 PVC 一起刪，而這座叢集的 reclaimPolicy 是 Delete，資料就真的不見了。這正是下一章要備份的理由。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答案：FILL_ME_14 是 ReadWriteOnce，16 是 ReadWriteMany，20 是 mysql，21 是 mysql-secret。flarum 的填空題共 35 格。注意現有題目挖空的是 secretKeyRef 的 name，key 名稱 MYSQL_PASSWORD 沒有挖空，可以口頭追問學員 key 要怎麼對。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這三個都是 flarum 除錯題 manifest-buggy 裡的錯誤，也都是建教材時真的遇到的。CrashLoopBackOff 本身不是原因，只是結果；要用 logs --previous 看上一次崩潰前的 log，用 describe 看 Exit Code。第三個特別值得講：Service 叫 flarum，Kubernetes 自動注入 FLARUM_PORT，剛好跟應用自己的設定撞名。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第五章是災難復原的前置。還原之後要回答「跟原本一樣嗎」，所以要先記下正常時的樣子，包括更新時會不會中斷、中斷多久。建議時間：12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高可用不是加 replicas 就好，要看應用能不能多開。draw.io 可以，所以一個 Pod 掛了另一個頂上。flarum 和 mysql 都只有一份，而且都釘選在 gpu01，這台節點維護時兩個會一起停。這不是錯誤，是目前設計的已知風險，要寫進基準紀錄。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draw.io 實際的更新策略。maxUnavailable 設 0，代表更新過程中可用的 Pod 數永遠不少於 replicas。關鍵在 readinessProbe：新 Pod 沒 Ready 之前，Deployment 不會動舊的。flarum 用 Recreate，會先把舊的全砍掉再建新的，所以一定有中斷。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兩種 probe 的失敗後果完全不同。readiness 失敗很安全，只是不送流量；liveness 失敗會重啟容器，對資料庫來說可能很危險。所以 mysql 的 liveness 刻意等 60 秒、失敗 4 次才動手。重點：readiness 決定換版能不能不中斷，liveness 決定壞掉時會不會自動恢復。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rollout restart 模擬換版，不用真的改 image 版本。終端機 A 每半秒打一次，觀察狀態碼有沒有中斷。draw.io 應該全程 200；對 flarum 做同樣的事，會看到一段 503 或連線失敗，把中斷秒數記下來。之後還原完成時，也用同樣的方法驗證。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第六章在 flarum 裡寫入測試資料並記錄狀態。之後做完還原，就用這些資料證明真的救回來了，而不只是 Pod 又 Running 了。建議時間：8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很多還原演練只看 Pod 有沒有 Running，這不夠。測試資料要滿足四個條件，才能證明資料本身救回來了。特別是要同時涵蓋兩種儲存，因為 block 和 CephFS 的備份與還原路徑不一樣，下一章的陷阱單元會看到其中一種救不回來的情況。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左邊是資料庫的測試資料：從網頁發文，再用 SQL 確認它真的寫進 mysql。DB_PW 沿用第四章取出密碼的那一行。右邊是檔案的測試資料：用 exec 寫一個已知內容的檔案，當場記下 sha256；再從網頁上傳一張頭像，模擬真實使用者的檔案。這些指令請講師上課前先實測一次。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請學員把這張表抄進自己的筆記，並逐項確認現在都查得到。這張表會直接變成下一章 Backup 與 Restore 的驗收標準。注意第五列：Secret 是 Kubernetes 物件，走的是 manifest 備份；前三列是 PV 資料，走的是 volume 備份，兩條路徑可能一條成功、一條失敗。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最後一章把前面學的檢查方法整理成一套固定流程，用在 draw.io 和 flarum 上，確認部署真的完成，也為下一章的 Backup 準備好起點。建議時間：10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固定用這個順序檢查。每一層都依賴下一層：namespace 配額不夠，Pod 就起不來；Pod 沒 Ready，Endpoints 就是空的；Endpoints 空的，Gateway 就回 503。所以一層沒過，就不要往下查。Storage 可以跟 Pod 一起看，PVC 沒 Bound 時 Pod 會卡在 Pending。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把前面各章遇到的錯誤整理成一張查表，每一列都在 draw.io 或 flarum 的除錯題裡出現過。重點是建立習慣：看到症狀先查對的地方，而不是亂改 YAML。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這份清單整理自 flarum 練習題的驗收標準，再加上第六章的測試資料項目。十項全部打勾，才算部署完成，也才可以開始備份。建議讓學員兩人一組，互相照清單驗收對方的環境。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本章的產出就是下一章的輸入。dr 目錄的課程從外部備份儲存開始，第一次備份、第一次還原，接著在單元 5 打破「Completed 就是成功」的信心。學員在第六章埋的測試資料，就是單元 4 驗證還原的依據。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課程結束，感謝參與。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補充資料從這一頁開始。上課時跳過這一段，提醒學員課後依章節自行閱讀；遇到問題可以在下次上課或討論區提出。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分鐘主線】這些延伸文件都在 repo 裡，可以依學員程度挑選。其他五個產品，filebrowser、planka、onlyoffice、peertube、cloudbeaver，也有同樣結構的 manifest 和練習題，適合課後自己重做。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分鐘主線】把一個應用拆成八類資源。拿到需求時，一類一類問：這個應用需要嗎？draw.io 只用到其中幾類，flarum 幾乎全部都會用到。這張表也是後面每一章的索引。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分鐘主線】要求學員動手前先畫圖，圖上要答得出這五個問題。答不出來就代表需求還沒想清楚，這時候寫 YAML 只會邊寫邊猜。每個產品的 exercises 目錄都有現成的架構圖，可以先讓學員自己畫，再跟現成的對照。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分鐘主線】這頁對應 draw.io 填空題的 FILL_ME 3 到 5。requests 是排程器決定 Pod 排到哪裡的依據，limits 是尖峰上限。配額用所有 Pod 的 requests 加總來算，而且要算到 HPA 的 maxReplicas，不能只算現在的 2 個 Pod。LimitRange 的 min 抓太高會擋掉合理的輕量容器，本教材真的踩過這個坑。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分鐘主線】老實說明：draw.io 的 manifest 沒有自訂 ServiceAccount，也沒有 ConfigMap 或 Secret，因為它不需要。這一頁先講觀念，實作分別在 docs/rbac 和第四章的 flarum。可以現場跑左下角的 auth can-i，讓學員看到 default ServiceAccount 回答 no。補充：這座叢集的 API Server 有開 Secret 靜態加密，所以 etcd 裡的 Secret 是加密的，但用 kubectl 拿到的仍然只是 base64。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分鐘主線】Service 和 Pod 之間沒有直接的連結，靠的是 label。Kubernetes 會持續把符合 selector、而且 Ready 的 Pod 放進 Endpoints。這就是為什麼 readinessProbe 失敗的 Pod 不會收到流量，也是為什麼 label 打錯時 Endpoints 會是空的。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分鐘主線】TLS 在 Gateway 就解開了，所以 draw.io 的 Pod 只需要聽一般的 HTTP 8080。TLS Secret 放在 Gateway 所在的 default namespace，各產品的 HTTPRoute 不需要自己準備憑證。另外，各產品的 HTTPRoute 在 parentRefs 裡同時掛 sectionName http 與 https 兩個 listener，所以兩種都能連。可以用 kubectl get secret gateway-tls -n default 確認，或用 openssl s_client 看瀏覽器拿到的憑證。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分鐘主線】答案：FILL_ME_13 是 dev-gateway，FILL_ME_14 是 drawio.nexai.org.com，FILL_ME_15 是 80。實際檔案有兩個 parentRefs，分別掛 http 和 https，這裡簡化成一個。path 在現有練習題裡不是填空，固定是 PathPrefix /，可以當延伸題：改成 /docs 之後，其他路徑會回 404。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分鐘主線】flarum 的密碼直接用 secretKeyRef 讀 mysql-secret，不用再複製一份，這只能在同一個 namespace 內做到。部署前先套用 06-flarum-pvc，建好 flarum-storage 與 flarum-assets 兩顆 PVC。initContainer 是全教材唯一的一個，用來在主容器啟動前整理空的 PVC。第一次啟動會跑安裝流程，大約 30 到 60 秒才會 Ready。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分鐘主線】要老實說明：本教材的 manifest 目前沒有設定 topologySpreadConstraints、podAntiAffinity，也沒有 PodDisruptionBudget。這一頁是觀念，加上一個觀察動作：看兩個 draw.io Pod 實際分在哪些節點。沒有這些設定就是一項風險，要寫進基準。這座叢集是共用的，不要讓學員自己 drain 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分鐘主線】還原之後要回答「跟災難前一樣嗎」，沒有基準紀錄就只能憑印象。把這份紀錄存到叢集外，因為叢集整個不見時，放在叢集裡的紀錄也會一起不見。叢集層級的基準，例如 StorageClass 和 Gateway，用 dr/script/baseline.sh 產生。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分鐘主線】五個指令從淺到深：get 看現況，describe 看原因，logs 看應用自己的說法，exec 進去親手驗證，events 看整個 namespace 的時間軸。養成習慣：先 get，有異狀再 describe，容器有起來才看 logs。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image" Target="../media/image-39-9.png"/><Relationship Id="rId10" Type="http://schemas.openxmlformats.org/officeDocument/2006/relationships/image" Target="../media/image-39-10.pn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0270"/>
            <a:ext cx="81102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企業實戰教育訓練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8000" y="2719070"/>
            <a:ext cx="81102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08000" y="3704590"/>
            <a:ext cx="811022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從需求到部署完成檢查：用 draw.io 與 flarum 走完一次真實部署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8000" y="4227830"/>
            <a:ext cx="81102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主講人：[姓名]</a:t>
            </a:r>
            <a:endParaRPr lang="en-US" sz="1500" dirty="0"/>
          </a:p>
        </p:txBody>
      </p:sp>
      <p:pic>
        <p:nvPicPr>
          <p:cNvPr id="7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七章路線 · 90 分鐘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3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209040"/>
            <a:ext cx="50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68400" y="1236980"/>
            <a:ext cx="43167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從需求到 Kubernetes 資源設計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62600" y="1224280"/>
            <a:ext cx="1651000" cy="289560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8" name="Text 5"/>
          <p:cNvSpPr/>
          <p:nvPr/>
        </p:nvSpPr>
        <p:spPr>
          <a:xfrm>
            <a:off x="5676900" y="1262380"/>
            <a:ext cx="147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觀念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16800" y="1244600"/>
            <a:ext cx="3466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先畫架構，再決定要哪些資源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34700" y="1244600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8000" y="163385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8000" y="1737360"/>
            <a:ext cx="50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68400" y="1765300"/>
            <a:ext cx="43167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Application 基礎環境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62600" y="1752600"/>
            <a:ext cx="1651000" cy="289560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15" name="Text 12"/>
          <p:cNvSpPr/>
          <p:nvPr/>
        </p:nvSpPr>
        <p:spPr>
          <a:xfrm>
            <a:off x="5676900" y="1790700"/>
            <a:ext cx="147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draw.io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16800" y="1772920"/>
            <a:ext cx="3466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Namespace、配額、Deployment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34700" y="1772920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分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8000" y="216217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8000" y="2265680"/>
            <a:ext cx="50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68400" y="2293620"/>
            <a:ext cx="43167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建立網路與對外服務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562600" y="2280920"/>
            <a:ext cx="1651000" cy="289560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22" name="Text 19"/>
          <p:cNvSpPr/>
          <p:nvPr/>
        </p:nvSpPr>
        <p:spPr>
          <a:xfrm>
            <a:off x="5676900" y="2319020"/>
            <a:ext cx="147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draw.io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16800" y="2301240"/>
            <a:ext cx="3466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Service、Gateway、TLS、NetworkPolicy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934700" y="2301240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8000" y="269049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8000" y="2794000"/>
            <a:ext cx="50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168400" y="2821940"/>
            <a:ext cx="43167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部署有狀態 Application 與儲存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562600" y="2809240"/>
            <a:ext cx="1651000" cy="289560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29" name="Text 26"/>
          <p:cNvSpPr/>
          <p:nvPr/>
        </p:nvSpPr>
        <p:spPr>
          <a:xfrm>
            <a:off x="5676900" y="2847340"/>
            <a:ext cx="147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flarum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416800" y="2829560"/>
            <a:ext cx="3466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StatefulSet、PVC、資料庫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934700" y="2829560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分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08000" y="321881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8000" y="3413760"/>
            <a:ext cx="50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168400" y="3441700"/>
            <a:ext cx="43167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DR 驗證基準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562600" y="3322320"/>
            <a:ext cx="1651000" cy="502920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36" name="Text 33"/>
          <p:cNvSpPr/>
          <p:nvPr/>
        </p:nvSpPr>
        <p:spPr>
          <a:xfrm>
            <a:off x="5676900" y="3360420"/>
            <a:ext cx="1473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draw.io · flarum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416800" y="3449320"/>
            <a:ext cx="3466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Replicas、Rolling Update、Probe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0934700" y="3449320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分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08000" y="393001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8000" y="4033520"/>
            <a:ext cx="50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168400" y="4061460"/>
            <a:ext cx="43167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 DR 準備測試資料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562600" y="4048760"/>
            <a:ext cx="1651000" cy="289560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43" name="Text 40"/>
          <p:cNvSpPr/>
          <p:nvPr/>
        </p:nvSpPr>
        <p:spPr>
          <a:xfrm>
            <a:off x="5676900" y="4086860"/>
            <a:ext cx="147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flarum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416800" y="4069080"/>
            <a:ext cx="3466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埋好之後必須救回來的資料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0934700" y="4069080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分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08000" y="445833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8000" y="4561840"/>
            <a:ext cx="50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168400" y="4589780"/>
            <a:ext cx="43167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部署完成檢查與問題排查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562600" y="4577080"/>
            <a:ext cx="1651000" cy="289560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50" name="Text 47"/>
          <p:cNvSpPr/>
          <p:nvPr/>
        </p:nvSpPr>
        <p:spPr>
          <a:xfrm>
            <a:off x="5676900" y="4615180"/>
            <a:ext cx="147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全部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7416800" y="4597400"/>
            <a:ext cx="34664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逐層確認，為 Backup 做準備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10934700" y="4597400"/>
            <a:ext cx="74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1400" dirty="0"/>
          </a:p>
        </p:txBody>
      </p:sp>
      <p:pic>
        <p:nvPicPr>
          <p:cNvPr id="53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0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0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從需求到 Kubernetes 資源設計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1"/>
            <a:ext cx="825500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1"/>
            <a:ext cx="5461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觀念章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85900" y="4179570"/>
            <a:ext cx="397662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動手之前，先把應用拆成資源、畫成架構。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四個核心資源，各管一件事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4350" y="1108711"/>
            <a:ext cx="11163300" cy="1971040"/>
          </a:xfrm>
          <a:prstGeom prst="roundRect">
            <a:avLst>
              <a:gd name="adj" fmla="val 6121"/>
            </a:avLst>
          </a:prstGeom>
          <a:noFill/>
          <a:ln w="12700">
            <a:solidFill>
              <a:srgbClr val="16759A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746760" y="1341120"/>
            <a:ext cx="1101943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Namespace: drawio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49935" y="1727836"/>
            <a:ext cx="2683510" cy="1116330"/>
          </a:xfrm>
          <a:prstGeom prst="roundRect">
            <a:avLst>
              <a:gd name="adj" fmla="val 881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4240" y="1882141"/>
            <a:ext cx="244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HTTPRoute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4240" y="2194561"/>
            <a:ext cx="24461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drawio.nexai.org.com 的請求要送去哪個 Service？</a:t>
            </a:r>
            <a:endParaRPr lang="en-US" sz="13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63620" y="2197100"/>
            <a:ext cx="304800" cy="17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98595" y="1727836"/>
            <a:ext cx="2683510" cy="1116330"/>
          </a:xfrm>
          <a:prstGeom prst="roundRect">
            <a:avLst>
              <a:gd name="adj" fmla="val 881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52900" y="1882141"/>
            <a:ext cx="244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52900" y="2194561"/>
            <a:ext cx="24461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要找 app=drawio 的 Pod，走哪個 port？</a:t>
            </a:r>
            <a:endParaRPr lang="en-US" sz="1300" dirty="0"/>
          </a:p>
        </p:txBody>
      </p:sp>
      <p:pic>
        <p:nvPicPr>
          <p:cNvPr id="13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12280" y="2197100"/>
            <a:ext cx="304800" cy="177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247255" y="1727836"/>
            <a:ext cx="2683510" cy="1116330"/>
          </a:xfrm>
          <a:prstGeom prst="roundRect">
            <a:avLst>
              <a:gd name="adj" fmla="val 881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401560" y="1882141"/>
            <a:ext cx="244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401560" y="2194561"/>
            <a:ext cx="24461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要跑幾份、用哪個 image、怎麼換版？</a:t>
            </a:r>
            <a:endParaRPr lang="en-US" sz="1300" dirty="0"/>
          </a:p>
        </p:txBody>
      </p:sp>
      <p:pic>
        <p:nvPicPr>
          <p:cNvPr id="17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060940" y="2197100"/>
            <a:ext cx="304800" cy="1778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492740" y="1788161"/>
            <a:ext cx="952500" cy="459740"/>
          </a:xfrm>
          <a:prstGeom prst="roundRect">
            <a:avLst>
              <a:gd name="adj" fmla="val 16575"/>
            </a:avLst>
          </a:prstGeom>
          <a:solidFill>
            <a:srgbClr val="16759A"/>
          </a:solidFill>
          <a:ln/>
        </p:spPr>
      </p:sp>
      <p:sp>
        <p:nvSpPr>
          <p:cNvPr id="19" name="Text 13"/>
          <p:cNvSpPr/>
          <p:nvPr/>
        </p:nvSpPr>
        <p:spPr>
          <a:xfrm>
            <a:off x="10581640" y="1902461"/>
            <a:ext cx="7747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Pod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10492740" y="2324100"/>
            <a:ext cx="952500" cy="459740"/>
          </a:xfrm>
          <a:prstGeom prst="roundRect">
            <a:avLst>
              <a:gd name="adj" fmla="val 16575"/>
            </a:avLst>
          </a:prstGeom>
          <a:solidFill>
            <a:srgbClr val="16759A"/>
          </a:solidFill>
          <a:ln/>
        </p:spPr>
      </p:sp>
      <p:sp>
        <p:nvSpPr>
          <p:cNvPr id="21" name="Text 15"/>
          <p:cNvSpPr/>
          <p:nvPr/>
        </p:nvSpPr>
        <p:spPr>
          <a:xfrm>
            <a:off x="10581640" y="2438400"/>
            <a:ext cx="7747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08000" y="336550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是外框：這些資源屬於誰、整體最多能用多少。刪掉 namespace，裡面的東西會一起消失。</a:t>
            </a:r>
            <a:endParaRPr lang="en-US" sz="1400" dirty="0"/>
          </a:p>
        </p:txBody>
      </p:sp>
      <p:pic>
        <p:nvPicPr>
          <p:cNvPr id="23" name="Image 4" descr="AIC AIoT Cloud">    </p:cNvPr>
          <p:cNvPicPr>
            <a:picLocks noChangeAspect="1"/>
          </p:cNvPicPr>
          <p:nvPr/>
        </p:nvPicPr>
        <p:blipFill>
          <a:blip r:embed="rId5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章 · 資源設計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與 Stateful 的差異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1"/>
          <a:ext cx="11176000" cy="2684780"/>
        </p:xfrm>
        <a:graphic>
          <a:graphicData uri="http://schemas.openxmlformats.org/drawingml/2006/table">
            <a:tbl>
              <a:tblPr/>
              <a:tblGrid>
                <a:gridCol w="2458720"/>
                <a:gridCol w="4023360"/>
                <a:gridCol w="469392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Stateless（draw.io）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Stateful（flarum + mysql）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資料放哪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不存資料，Pod 隨時可丟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文章在資料庫，附件在 volume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Deployment（App）+ StatefulSet（DB）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副本數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2，可以用 HPA 擴縮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1，RWO 儲存只能單一寫入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更新方式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RollingUpdate，不中斷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Recreate，會短暫中斷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壞掉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砍掉重建，什麼都不少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要確認 PVC 掛回、資料還在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備份重點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 manifest 就夠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manifest 與 PV 資料都要備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章 · 資源設計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Application、Database、Storage 的關係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8000" y="1484632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11175" y="1777364"/>
            <a:ext cx="2406650" cy="1743710"/>
          </a:xfrm>
          <a:prstGeom prst="roundRect">
            <a:avLst>
              <a:gd name="adj" fmla="val 564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880" y="1957071"/>
            <a:ext cx="21086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flarum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0880" y="2287271"/>
            <a:ext cx="210865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· replicas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0880" y="2598421"/>
            <a:ext cx="210865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DB_HOST=mysql 連資料庫，密碼從 mysql-secret 讀</a:t>
            </a:r>
            <a:endParaRPr lang="en-US" sz="13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48000" y="2415539"/>
            <a:ext cx="304800" cy="177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9800" y="1484632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482975" y="1777364"/>
            <a:ext cx="2660650" cy="1743710"/>
          </a:xfrm>
          <a:prstGeom prst="roundRect">
            <a:avLst>
              <a:gd name="adj" fmla="val 564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62680" y="1957071"/>
            <a:ext cx="23702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mysql-0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62680" y="2287271"/>
            <a:ext cx="237027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 · mysql:8.0.40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62680" y="2598421"/>
            <a:ext cx="237027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Service mysql:3306，只讓 flarum 連進來</a:t>
            </a:r>
            <a:endParaRPr lang="en-US" sz="13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73800" y="2415539"/>
            <a:ext cx="304800" cy="177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05600" y="1102361"/>
            <a:ext cx="5127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08775" y="1395096"/>
            <a:ext cx="4972050" cy="781050"/>
          </a:xfrm>
          <a:prstGeom prst="roundRect">
            <a:avLst>
              <a:gd name="adj" fmla="val 1260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50380" y="1536700"/>
            <a:ext cx="48295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data-mysql-0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50380" y="1805939"/>
            <a:ext cx="482950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RWO · rook-ceph-block · 5Gi · 資料庫檔案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08775" y="2258696"/>
            <a:ext cx="4972050" cy="781050"/>
          </a:xfrm>
          <a:prstGeom prst="roundRect">
            <a:avLst>
              <a:gd name="adj" fmla="val 1260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850380" y="2400300"/>
            <a:ext cx="48295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flarum-storage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850380" y="2669539"/>
            <a:ext cx="482950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RWO · rook-ceph-block · 2Gi · log、session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08775" y="3122296"/>
            <a:ext cx="4972050" cy="781050"/>
          </a:xfrm>
          <a:prstGeom prst="roundRect">
            <a:avLst>
              <a:gd name="adj" fmla="val 1260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50380" y="3263900"/>
            <a:ext cx="48295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flarum-assets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850380" y="3533139"/>
            <a:ext cx="482950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RWX · rook-cephfs · 5Gi · 頭像、附件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08000" y="4185921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不碰資料庫的磁碟，只透過 Service 連 DB；DB 和 App 各有自己的 PVC。刪掉 Pod 不會刪資料，刪掉 PVC 或整個 namespace 才會。</a:t>
            </a:r>
            <a:endParaRPr lang="en-US" sz="1400" dirty="0"/>
          </a:p>
        </p:txBody>
      </p:sp>
      <p:pic>
        <p:nvPicPr>
          <p:cNvPr id="27" name="Image 3" descr="AIC AIoT Cloud">    </p:cNvPr>
          <p:cNvPicPr>
            <a:picLocks noChangeAspect="1"/>
          </p:cNvPicPr>
          <p:nvPr/>
        </p:nvPicPr>
        <p:blipFill>
          <a:blip r:embed="rId4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章 · 資源設計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常見的資源設計錯誤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6"/>
            <a:ext cx="5480050" cy="2710180"/>
          </a:xfrm>
          <a:prstGeom prst="roundRect">
            <a:avLst>
              <a:gd name="adj" fmla="val 36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1680" y="1336039"/>
            <a:ext cx="5169611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對不上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1680" y="1734821"/>
            <a:ext cx="5169611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selector 跟 Pod label 不一致：Endpoints 是空的，Gateway 回 503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selector 跟 template labels 不一致：apply 直接被拒絕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 的 podSelector 打錯：規則沒生效，或擋錯對象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1680" y="3115946"/>
            <a:ext cx="5169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檢查：kubectl get endpoints -n drawio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105536"/>
            <a:ext cx="5480050" cy="2710180"/>
          </a:xfrm>
          <a:prstGeom prst="roundRect">
            <a:avLst>
              <a:gd name="adj" fmla="val 36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31280" y="1336039"/>
            <a:ext cx="5169611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混用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31280" y="1734821"/>
            <a:ext cx="5169611" cy="156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忘了 -n，資源建到 default namespace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Secret、ConfigMap 不能跨 namespace 引用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短名稱只在同 namespace 解析；跨 namespace 要寫 &lt;svc&gt;.&lt;ns&gt;.svc.cluster.local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 要轉給別的 namespace 的 Service，需要 ReferenceGrant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31280" y="3371850"/>
            <a:ext cx="5169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檢查：kubectl get all -n default</a:t>
            </a:r>
            <a:endParaRPr lang="en-US" sz="1200" dirty="0"/>
          </a:p>
        </p:txBody>
      </p:sp>
      <p:pic>
        <p:nvPicPr>
          <p:cNvPr id="12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章 · 資源設計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每一章都走同樣的四個步驟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229361"/>
            <a:ext cx="2406650" cy="1882140"/>
          </a:xfrm>
          <a:prstGeom prst="roundRect">
            <a:avLst>
              <a:gd name="adj" fmla="val 522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409064"/>
            <a:ext cx="21086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90880" y="1790064"/>
            <a:ext cx="210865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架構圖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0880" y="2146936"/>
            <a:ext cx="21086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architecture.drawio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0880" y="2436496"/>
            <a:ext cx="210865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先看懂要建哪些資源、彼此怎麼連</a:t>
            </a:r>
            <a:endParaRPr lang="en-US" sz="13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22600" y="2081532"/>
            <a:ext cx="304800" cy="17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32175" y="1105536"/>
            <a:ext cx="2406650" cy="2129790"/>
          </a:xfrm>
          <a:prstGeom prst="roundRect">
            <a:avLst>
              <a:gd name="adj" fmla="val 46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11880" y="1285239"/>
            <a:ext cx="21086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611880" y="1666239"/>
            <a:ext cx="210865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填空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11880" y="2023111"/>
            <a:ext cx="21086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manifest-incomplete/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2312671"/>
            <a:ext cx="210865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正解挖空成 __FILL_ME_n__，照編號填回</a:t>
            </a:r>
            <a:endParaRPr lang="en-US" sz="13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2081532"/>
            <a:ext cx="304800" cy="177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353175" y="1229361"/>
            <a:ext cx="2406650" cy="1882140"/>
          </a:xfrm>
          <a:prstGeom prst="roundRect">
            <a:avLst>
              <a:gd name="adj" fmla="val 522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32880" y="1409064"/>
            <a:ext cx="21086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532880" y="1790064"/>
            <a:ext cx="210865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除錯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32880" y="2146936"/>
            <a:ext cx="21086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manifest-buggy/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32880" y="2436496"/>
            <a:ext cx="210865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看起來完整卻藏了錯，靠 describe、logs 找出來</a:t>
            </a:r>
            <a:endParaRPr lang="en-US" sz="1300" dirty="0"/>
          </a:p>
        </p:txBody>
      </p:sp>
      <p:pic>
        <p:nvPicPr>
          <p:cNvPr id="2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4600" y="2081532"/>
            <a:ext cx="304800" cy="1778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274175" y="1229361"/>
            <a:ext cx="2406650" cy="1882140"/>
          </a:xfrm>
          <a:prstGeom prst="roundRect">
            <a:avLst>
              <a:gd name="adj" fmla="val 522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453880" y="1409064"/>
            <a:ext cx="21086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9453880" y="1790064"/>
            <a:ext cx="210865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驗收標準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9453880" y="2146936"/>
            <a:ext cx="21086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exercises/README.md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453880" y="2436496"/>
            <a:ext cx="210865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同一份檢查清單；最後跟 manifest/ 做 diff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08000" y="3517900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正解永遠是上一層的 manifest/。先自己推理一輪，再對答案。</a:t>
            </a:r>
            <a:endParaRPr lang="en-US" sz="1500" dirty="0"/>
          </a:p>
        </p:txBody>
      </p:sp>
      <p:pic>
        <p:nvPicPr>
          <p:cNvPr id="28" name="Image 4" descr="AIC AIoT Cloud">    </p:cNvPr>
          <p:cNvPicPr>
            <a:picLocks noChangeAspect="1"/>
          </p:cNvPicPr>
          <p:nvPr/>
        </p:nvPicPr>
        <p:blipFill>
          <a:blip r:embed="rId5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章 · 教學方法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1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1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Application 基礎環境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902018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62261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62418" y="4179571"/>
            <a:ext cx="569857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先把地基打好：namespace、資源上限、第一個能跑的 Pod。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Namespace、ResourceQuota、LimitRange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9"/>
            <a:ext cx="69278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42"/>
            <a:ext cx="676549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0880" y="1612900"/>
            <a:ext cx="676549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一產品一個：drawio。所有資源都寫 namespace: drawio，刪掉它就整個收乾淨。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1175" y="2173604"/>
            <a:ext cx="69278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880" y="2353314"/>
            <a:ext cx="676549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ResourceQuota：管總量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0880" y="2680971"/>
            <a:ext cx="676549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整個 namespace 加總：requests 1 CPU / 1Gi、limits 2 CPU / 2Gi，最多 10 個 Pod。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1175" y="3241675"/>
            <a:ext cx="69278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880" y="3421379"/>
            <a:ext cx="676549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LimitRange：管單一容器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880" y="3749042"/>
            <a:ext cx="676549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每個容器 50m～1 CPU、64Mi～1Gi；沒寫 resources 就套預設值。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47000" y="1102364"/>
            <a:ext cx="3937000" cy="3246120"/>
          </a:xfrm>
          <a:prstGeom prst="roundRect">
            <a:avLst>
              <a:gd name="adj" fmla="val 3130"/>
            </a:avLst>
          </a:prstGeom>
          <a:solidFill>
            <a:srgbClr val="0F2F47"/>
          </a:solidFill>
          <a:ln/>
        </p:spPr>
      </p:sp>
      <p:sp>
        <p:nvSpPr>
          <p:cNvPr id="14" name="Text 11"/>
          <p:cNvSpPr/>
          <p:nvPr/>
        </p:nvSpPr>
        <p:spPr>
          <a:xfrm>
            <a:off x="7975600" y="1305564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01-resourcequota-limitrange.yaml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75600" y="1544321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ResourceQuota.spec.hard: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75600" y="1783079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requests.cpu: "1"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75600" y="2021842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requests.memory: 1Gi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75600" y="2260600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limits.cpu: "2"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75600" y="2499364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limits.memory: 2Gi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75600" y="2738121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pods: "10"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75600" y="2976879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LimitRange (type: Container):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75600" y="3215642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defaultRequest: 100m / 128Mi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75600" y="3454400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default:        250m / 256Mi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75600" y="3693164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min:            50m  / 64Mi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975600" y="3931921"/>
            <a:ext cx="358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max:            1    / 1Gi</a:t>
            </a:r>
            <a:endParaRPr lang="en-US" sz="1200" dirty="0"/>
          </a:p>
        </p:txBody>
      </p:sp>
      <p:pic>
        <p:nvPicPr>
          <p:cNvPr id="2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章 · draw.io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建立基本 Deployment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64"/>
            <a:ext cx="4826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64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21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replicas: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79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selector: { matchLabels: { app: drawio } }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template: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metadata: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64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labels: { app: drawio 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21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spec: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879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containers: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156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- image: jgraph/drawio:24.7.17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454400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ports: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693164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- name: http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600" y="3931921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containerPort: 8080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600" y="4170679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readinessProbe: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6600" y="44094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httpGet: { path: /, port: http }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591175" y="1105539"/>
            <a:ext cx="6089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70880" y="1285242"/>
            <a:ext cx="59021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要等於 template labels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70880" y="1596392"/>
            <a:ext cx="59021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不一致 apply 會被拒絕；Service 也靠這組 label 找 Pod。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591175" y="2157096"/>
            <a:ext cx="6089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70880" y="2336800"/>
            <a:ext cx="59021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取名 http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770880" y="2647950"/>
            <a:ext cx="59021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和 Service 的 targetPort 都引用名字，改 port 只要改一處。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591175" y="3208654"/>
            <a:ext cx="6089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70880" y="3388364"/>
            <a:ext cx="59021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每個容器都寫 resources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770880" y="3699514"/>
            <a:ext cx="59021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100m / 256Mi、limits 500m / 512Mi，再加上 drop: [ALL]。</a:t>
            </a:r>
            <a:endParaRPr lang="en-US" sz="1300" dirty="0"/>
          </a:p>
        </p:txBody>
      </p:sp>
      <p:pic>
        <p:nvPicPr>
          <p:cNvPr id="2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章 · draw.io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Pod 是否正常運作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9"/>
            <a:ext cx="24066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4479"/>
            <a:ext cx="21609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等待排程：資源、配額、taint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22600" y="1432564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32175" y="1105539"/>
            <a:ext cx="24066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586480" y="12598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ContainerCreating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586480" y="1554479"/>
            <a:ext cx="21609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 image、掛 volume</a:t>
            </a:r>
            <a:endParaRPr lang="en-US" sz="12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432564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53175" y="1105539"/>
            <a:ext cx="24066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07480" y="12598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Running 0/1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07480" y="1554479"/>
            <a:ext cx="21609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容器起來了，readiness 還沒過</a:t>
            </a:r>
            <a:endParaRPr lang="en-US" sz="12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4600" y="1432564"/>
            <a:ext cx="3048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74175" y="1105539"/>
            <a:ext cx="2406650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428480" y="12598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Running 1/1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428480" y="1554479"/>
            <a:ext cx="21609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可以接流量了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08000" y="2219964"/>
            <a:ext cx="11176000" cy="1574800"/>
          </a:xfrm>
          <a:prstGeom prst="roundRect">
            <a:avLst>
              <a:gd name="adj" fmla="val 6452"/>
            </a:avLst>
          </a:prstGeom>
          <a:solidFill>
            <a:srgbClr val="0F2F47"/>
          </a:solidFill>
          <a:ln/>
        </p:spPr>
      </p:sp>
      <p:sp>
        <p:nvSpPr>
          <p:cNvPr id="20" name="Text 14"/>
          <p:cNvSpPr/>
          <p:nvPr/>
        </p:nvSpPr>
        <p:spPr>
          <a:xfrm>
            <a:off x="736600" y="2423164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pods -n drawio -w                          # 看狀態一路走到 1/1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6600" y="2661921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deploy,rs,pod -n drawio                    # Deployment → ReplicaSet → Pod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6600" y="2900679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describe pod &lt;pod&gt; -n drawio                   # 卡住時看 Events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36600" y="3139442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logs -n drawio deploy/drawio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6600" y="33782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events -n drawio --sort-by=.lastTimestamp</a:t>
            </a:r>
            <a:endParaRPr lang="en-US" sz="1200" dirty="0"/>
          </a:p>
        </p:txBody>
      </p:sp>
      <p:pic>
        <p:nvPicPr>
          <p:cNvPr id="25" name="Image 4" descr="AIC AIoT Cloud">    </p:cNvPr>
          <p:cNvPicPr>
            <a:picLocks noChangeAspect="1"/>
          </p:cNvPicPr>
          <p:nvPr/>
        </p:nvPicPr>
        <p:blipFill>
          <a:blip r:embed="rId5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章 · draw.io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三個最容易填錯的欄位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9"/>
            <a:ext cx="3617357" cy="2054860"/>
          </a:xfrm>
          <a:prstGeom prst="roundRect">
            <a:avLst>
              <a:gd name="adj" fmla="val 479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280" y="1310642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__FILL_ME_7__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6280" y="1600200"/>
            <a:ext cx="3303361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與 tag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6280" y="1957071"/>
            <a:ext cx="330336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02-deployment.yaml → containers[0].image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6280" y="2459992"/>
            <a:ext cx="330336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 官方映像加版本 tag。寫死版本，重建時才拿得到同一份 image。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87282" y="1105539"/>
            <a:ext cx="3617436" cy="2054860"/>
          </a:xfrm>
          <a:prstGeom prst="roundRect">
            <a:avLst>
              <a:gd name="adj" fmla="val 479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92387" y="1310642"/>
            <a:ext cx="33034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__FILL_ME_8__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2387" y="1600200"/>
            <a:ext cx="3303443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containerPort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92387" y="1957071"/>
            <a:ext cx="330344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02-deployment.yaml → ports[0].containerPort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92387" y="2459992"/>
            <a:ext cx="330344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應用在容器裡實際監聽的 port，要跟 Service 的 targetPort: http 對得上。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63468" y="1105539"/>
            <a:ext cx="3617357" cy="2054860"/>
          </a:xfrm>
          <a:prstGeom prst="roundRect">
            <a:avLst>
              <a:gd name="adj" fmla="val 479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8574" y="1310642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__FILL_ME_11__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68574" y="1600200"/>
            <a:ext cx="3303361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selector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68574" y="1957071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03-service.yaml → spec.selector.app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68574" y="2246629"/>
            <a:ext cx="330336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 Pod template 的 labels 完全一致，否則 Endpoints 是空的。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8000" y="3442971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填完檢查：kubectl get endpoints drawio -n drawio 要看到兩組 IP:8080。</a:t>
            </a:r>
            <a:endParaRPr lang="en-US" sz="1400" dirty="0"/>
          </a:p>
        </p:txBody>
      </p:sp>
      <p:pic>
        <p:nvPicPr>
          <p:cNvPr id="20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章 · 填空練習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1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1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Application 網路與對外服務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902018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62261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62418" y="4179571"/>
            <a:ext cx="461653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讓瀏覽器連得到 Pod，也讓不該通的連線通不了。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從瀏覽器到 Pod 的完整請求路徑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4"/>
          <a:ext cx="11176000" cy="2498090"/>
        </p:xfrm>
        <a:graphic>
          <a:graphicData uri="http://schemas.openxmlformats.org/drawingml/2006/table">
            <a:tbl>
              <a:tblPr/>
              <a:tblGrid>
                <a:gridCol w="670560"/>
                <a:gridCol w="2682240"/>
                <a:gridCol w="4470400"/>
                <a:gridCol w="335280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經過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在這一段做什麼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這一段壞掉的症狀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/ hosts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網域解析到 dev-gateway 的 EXTERNAL-IP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找不到主機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listener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 :443 用 gateway-tls 終止 TLS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憑證錯誤、連線被拒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比對 hostnames 與 PathPrefix 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backendRefs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轉給 Service drawio :80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→ Endpoints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挑一個 Ready 的 Pod 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 空的，503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:8080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容器回應 draw.io 頁面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逾時（NetworkPolicy）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890014"/>
            <a:ext cx="1117600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4093214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curl -vk https://drawio.nexai.org.com                          # 看 TLS 與狀態碼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4331971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curl -H "Host: drawio.nexai.org.com" http://&lt;gateway-IP&gt;/         # 繞過 DNS 測試</a:t>
            </a:r>
            <a:endParaRPr lang="en-US" sz="12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章 · draw.io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NetworkPolicy：限制東西向流量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8000" y="1102364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東西向是 Pod 與 Pod 之間的流量。draw.io 用三條規則，先全擋、再補洞：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11175" y="1670683"/>
            <a:ext cx="3617357" cy="1750060"/>
          </a:xfrm>
          <a:prstGeom prst="roundRect">
            <a:avLst>
              <a:gd name="adj" fmla="val 56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80" y="1875792"/>
            <a:ext cx="33033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default-deny-all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6280" y="2183135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podSelector: {} · Ingress + Egress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6280" y="2472692"/>
            <a:ext cx="330336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整個 namespace 先全部擋下。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87282" y="1670683"/>
            <a:ext cx="3617436" cy="1750060"/>
          </a:xfrm>
          <a:prstGeom prst="roundRect">
            <a:avLst>
              <a:gd name="adj" fmla="val 56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92387" y="1875792"/>
            <a:ext cx="330344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allow-ingress-from-gateway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92387" y="2183135"/>
            <a:ext cx="33034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app=drawio · TCP 8080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92387" y="2472692"/>
            <a:ext cx="330344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只開 8080。來源不限（from: []），因為 Gateway 送進來的流量來源就是 Gateway 自己。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63468" y="1670683"/>
            <a:ext cx="3617357" cy="1750060"/>
          </a:xfrm>
          <a:prstGeom prst="roundRect">
            <a:avLst>
              <a:gd name="adj" fmla="val 56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68574" y="1875792"/>
            <a:ext cx="33033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allow-egress-dns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68574" y="2183135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所有 Pod · UDP / TCP 53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68574" y="2472692"/>
            <a:ext cx="330336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沒有這條，連 Service 名稱都解析不了。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8000" y="3703327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8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3830327"/>
            <a:ext cx="254000" cy="254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66800" y="3833502"/>
            <a:ext cx="600916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 的 NetworkPolicy 標為選用，上課前先套用並實測，避免示範時連不上。</a:t>
            </a:r>
            <a:endParaRPr lang="en-US" sz="1300" dirty="0"/>
          </a:p>
        </p:txBody>
      </p:sp>
      <p:pic>
        <p:nvPicPr>
          <p:cNvPr id="20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章 · draw.io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實際測試：正常與被阻擋的流量</a:t>
            </a:r>
            <a:endParaRPr lang="en-US" sz="3200" dirty="0"/>
          </a:p>
        </p:txBody>
      </p:sp>
      <p:pic>
        <p:nvPicPr>
          <p:cNvPr id="4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000" y="1111250"/>
            <a:ext cx="279400" cy="279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9000" y="1102358"/>
            <a:ext cx="7366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應該通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508000" y="1501142"/>
            <a:ext cx="5486400" cy="2077720"/>
          </a:xfrm>
          <a:prstGeom prst="roundRect">
            <a:avLst>
              <a:gd name="adj" fmla="val 4890"/>
            </a:avLst>
          </a:prstGeom>
          <a:solidFill>
            <a:srgbClr val="0F2F47"/>
          </a:solidFill>
          <a:ln/>
        </p:spPr>
      </p:sp>
      <p:sp>
        <p:nvSpPr>
          <p:cNvPr id="7" name="Text 3"/>
          <p:cNvSpPr/>
          <p:nvPr/>
        </p:nvSpPr>
        <p:spPr>
          <a:xfrm>
            <a:off x="736600" y="1704342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從叢集外，經過 Gateway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6600" y="1943100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curl -sk -o /dev/null -w "%{http_code}\n" \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6600" y="2181858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https://drawio.nexai.org.com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6600" y="2420627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預期：200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6600" y="2684785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在 nettest 裡查 DNS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6600" y="2923542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nslookup drawio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6600" y="3162300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預期：解析成功（有放行 53）</a:t>
            </a:r>
            <a:endParaRPr lang="en-US" sz="1200" dirty="0"/>
          </a:p>
        </p:txBody>
      </p:sp>
      <p:pic>
        <p:nvPicPr>
          <p:cNvPr id="14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7600" y="1111250"/>
            <a:ext cx="279400" cy="279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78600" y="1102358"/>
            <a:ext cx="9652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應該被擋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97600" y="1501142"/>
            <a:ext cx="5486400" cy="2077720"/>
          </a:xfrm>
          <a:prstGeom prst="roundRect">
            <a:avLst>
              <a:gd name="adj" fmla="val 4890"/>
            </a:avLst>
          </a:prstGeom>
          <a:solidFill>
            <a:srgbClr val="0F2F47"/>
          </a:solidFill>
          <a:ln/>
        </p:spPr>
      </p:sp>
      <p:sp>
        <p:nvSpPr>
          <p:cNvPr id="17" name="Text 12"/>
          <p:cNvSpPr/>
          <p:nvPr/>
        </p:nvSpPr>
        <p:spPr>
          <a:xfrm>
            <a:off x="6426200" y="1704342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在 drawio namespace 起一個測試 Pod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26200" y="1943100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run nettest -n drawio --rm -it \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6200" y="2181858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--restart=Never --image=busybox:1.36 -- sh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26200" y="2446027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在 nettest 裡連 draw.io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26200" y="2684785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wget -T 3 -qO- http://drawio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26200" y="2923542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預期：逾時。egress 只放行 DNS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8000" y="3858258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 namespace 的 Pod 一樣會被擋：NetworkPolicy 看的是 label 和 port，不是「是不是自己人」。</a:t>
            </a:r>
            <a:endParaRPr lang="en-US" sz="1400" dirty="0"/>
          </a:p>
        </p:txBody>
      </p:sp>
      <p:pic>
        <p:nvPicPr>
          <p:cNvPr id="24" name="Image 3" descr="AIC AIoT Cloud">    </p:cNvPr>
          <p:cNvPicPr>
            <a:picLocks noChangeAspect="1"/>
          </p:cNvPicPr>
          <p:nvPr/>
        </p:nvPicPr>
        <p:blipFill>
          <a:blip r:embed="rId4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章 · draw.io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 看起來對，流量卻進不去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58"/>
            <a:ext cx="3302000" cy="2626360"/>
          </a:xfrm>
          <a:prstGeom prst="roundRect">
            <a:avLst>
              <a:gd name="adj" fmla="val 4836"/>
            </a:avLst>
          </a:prstGeom>
          <a:solidFill>
            <a:srgbClr val="12517C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356358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2000" y="1684027"/>
            <a:ext cx="28778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 存在，狀態 Accepted: True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2000" y="2331727"/>
            <a:ext cx="28778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瀏覽器卻得到 503，或根本連不到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2000" y="2979427"/>
            <a:ext cx="28778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只代表 Gateway 接受了這條路由，不代表後端接得上。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0" y="1105533"/>
            <a:ext cx="7569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1196342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0" y="1196342"/>
            <a:ext cx="732536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describe httproute：除了 Accepted，還要看 ResolvedRefs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0" y="1608460"/>
            <a:ext cx="7569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1699258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0" y="1699258"/>
            <a:ext cx="732536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backendRefs.port 對照 Service 的 port（80），不是 containerPort 8080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14800" y="2111375"/>
            <a:ext cx="7569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2202185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72000" y="2202185"/>
            <a:ext cx="732536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endpoints drawio：空的就回頭查 selector 與 label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114800" y="2614302"/>
            <a:ext cx="7569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0" y="2705100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0" y="2705100"/>
            <a:ext cx="732536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hostnames 跟實際的 Host 一致嗎？https 有掛 sectionName: https 嗎？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114800" y="3117217"/>
            <a:ext cx="7569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0" y="3208027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72000" y="3208027"/>
            <a:ext cx="732536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 有放行 8080 嗎？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8000" y="4008127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 除錯題 manifest-buggy/ 的第 3 個錯誤，就是這個案例。</a:t>
            </a:r>
            <a:endParaRPr lang="en-US" sz="1400" dirty="0"/>
          </a:p>
        </p:txBody>
      </p:sp>
      <p:pic>
        <p:nvPicPr>
          <p:cNvPr id="2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章 · 排查案例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7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7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部署有狀態 Application 與儲存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834787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5553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95187" y="4179577"/>
            <a:ext cx="467465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資料庫、上傳檔案，而且 Pod 重建之後資料還在。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 與 Deployment 的差異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684780"/>
        </p:xfrm>
        <a:graphic>
          <a:graphicData uri="http://schemas.openxmlformats.org/drawingml/2006/table">
            <a:tbl>
              <a:tblPr/>
              <a:tblGrid>
                <a:gridCol w="2458720"/>
                <a:gridCol w="4023360"/>
                <a:gridCol w="469392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Deployment（flarum）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StatefulSet（mysql）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名稱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flarum-&lt;hash&gt;，每次重建都變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固定序號：mysql-0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儲存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引用事先建好的 PVC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volumeClaimTemplates，每個 Pod 一顆：data-mysql-0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網路身分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一般 Service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Headless Service（clusterIP: None）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啟動與刪除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同時進行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照序號一個一個來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重建之後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新名字的新 Pod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同名 Pod，掛回同一顆 PVC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適合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無狀態或單一寫入的 App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需要穩定身分的資料庫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章 · flarum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PVC、StorageClass、PV 的關係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42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4485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裡寫 claimName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53640" y="1546858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37815" y="1105533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992120" y="1259842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PVC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992120" y="1554485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我要 5Gi、RWO、rook-ceph-block</a:t>
            </a:r>
            <a:endParaRPr lang="en-US" sz="12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80280" y="1546858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64455" y="1105533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318760" y="1259842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StorageClass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18760" y="1554485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決定由誰、用什麼方式建</a:t>
            </a:r>
            <a:endParaRPr lang="en-US" sz="12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06920" y="1546858"/>
            <a:ext cx="3048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91095" y="1105533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645400" y="1259842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PV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645400" y="1554485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自動建立的實體磁碟，Bound 給 PVC</a:t>
            </a:r>
            <a:endParaRPr lang="en-US" sz="1200" dirty="0"/>
          </a:p>
        </p:txBody>
      </p:sp>
      <p:pic>
        <p:nvPicPr>
          <p:cNvPr id="19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33560" y="1546858"/>
            <a:ext cx="304800" cy="1778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817735" y="1105533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972040" y="1259842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Ceph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972040" y="1554485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RBD image 或 CephFS 目錄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11175" y="2451733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90880" y="263144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default StorageClass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90880" y="294259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PVC 都要寫 storageClassName，漏寫就一直 Pending。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287282" y="2451733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466987" y="263144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動態佈建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66987" y="294259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不用手動建 PV：PVC 一建立，StorageClass 就自動做一顆。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63389" y="2451733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243094" y="263144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reclaimPolicy: Delete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243094" y="294259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刪 PVC 或整個 namespace，PV 和資料會一起刪掉。</a:t>
            </a:r>
            <a:endParaRPr lang="en-US" sz="1300" dirty="0"/>
          </a:p>
        </p:txBody>
      </p:sp>
      <p:pic>
        <p:nvPicPr>
          <p:cNvPr id="32" name="Image 5" descr="AIC AIoT Cloud">    </p:cNvPr>
          <p:cNvPicPr>
            <a:picLocks noChangeAspect="1"/>
          </p:cNvPicPr>
          <p:nvPr/>
        </p:nvPicPr>
        <p:blipFill>
          <a:blip r:embed="rId6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章 · flarum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Storage 與 Shared Filesystem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5480050" cy="2509520"/>
          </a:xfrm>
          <a:prstGeom prst="roundRect">
            <a:avLst>
              <a:gd name="adj" fmla="val 392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1680" y="1336042"/>
            <a:ext cx="51696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rook-ceph-block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1680" y="1666242"/>
            <a:ext cx="51696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RBD · RWO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1680" y="1960885"/>
            <a:ext cx="51696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一次只能掛在一個節點上。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1680" y="2272035"/>
            <a:ext cx="5169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1680" y="2548892"/>
            <a:ext cx="51696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資料庫、sqlite 這類單一寫入者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1680" y="2860042"/>
            <a:ext cx="5169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 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1680" y="3136900"/>
            <a:ext cx="51696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data-mysql-0 5Gi、flarum-storage 2Gi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00775" y="1105533"/>
            <a:ext cx="5480050" cy="2509520"/>
          </a:xfrm>
          <a:prstGeom prst="roundRect">
            <a:avLst>
              <a:gd name="adj" fmla="val 392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1280" y="1336042"/>
            <a:ext cx="51696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rook-cephfs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31280" y="1666242"/>
            <a:ext cx="51696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CephFS · RWX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31280" y="1960885"/>
            <a:ext cx="51696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多個 Pod、多個節點可以同時讀寫。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31280" y="2272035"/>
            <a:ext cx="5169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31280" y="2548892"/>
            <a:ext cx="51696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上傳檔案、共享素材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31280" y="2860042"/>
            <a:ext cx="5169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 裡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31280" y="3136900"/>
            <a:ext cx="51696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flarum-assets 5Gi（頭像、附件）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8000" y="3897635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判斷標準不是「這是什麼應用」，而是「這份資料會不會被多個 Pod 同時寫」。</a:t>
            </a:r>
            <a:endParaRPr lang="en-US" sz="1400" dirty="0"/>
          </a:p>
        </p:txBody>
      </p:sp>
      <p:pic>
        <p:nvPicPr>
          <p:cNvPr id="21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章 · flarum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Database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3617357" cy="1662430"/>
          </a:xfrm>
          <a:prstGeom prst="roundRect">
            <a:avLst>
              <a:gd name="adj" fmla="val 59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42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mysql-secret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90880" y="1597658"/>
            <a:ext cx="335568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MYSQL_ROOT_PASSWORD、MYSQL_DATABASE、MYSQL_USER、MYSQL_PASSWORD，用 envFrom 一次帶進容器。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87282" y="1105533"/>
            <a:ext cx="3617357" cy="1662430"/>
          </a:xfrm>
          <a:prstGeom prst="roundRect">
            <a:avLst>
              <a:gd name="adj" fmla="val 59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66987" y="1285242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Headless Service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66987" y="1597658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clusterIP: None，讓 mysql-0 有穩定的 DNS 名稱。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63389" y="1105533"/>
            <a:ext cx="3617357" cy="1662430"/>
          </a:xfrm>
          <a:prstGeom prst="roundRect">
            <a:avLst>
              <a:gd name="adj" fmla="val 59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43094" y="1285242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StatefulSet mysql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43094" y="1597658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mysql:8.0.40、5Gi RWO。liveness 要等 60 秒：第一次 initdb 實測約 97 秒。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8000" y="3050542"/>
            <a:ext cx="111760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14" name="Text 11"/>
          <p:cNvSpPr/>
          <p:nvPr/>
        </p:nvSpPr>
        <p:spPr>
          <a:xfrm>
            <a:off x="736600" y="3253742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00、01（namespace、配額）已套用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4925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manifest/02-mysql-secret.yaml -f manifest/03-mysql-service.yaml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600" y="3731258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manifest/04-mysql-statefulset.yaml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600" y="3970027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pod mysql-0 -n flarum -w                 # 等到 1/1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6600" y="42087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DB_PW=$(kubectl get secret mysql-secret -n flarum -o jsonpath='{.data.MYSQL_PASSWORD}' | base64 -d)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6600" y="4447542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exec -n flarum mysql-0 -- mysql -uappuser -p"$DB_PW" -e "SHOW DATABASES;"</a:t>
            </a:r>
            <a:endParaRPr lang="en-US" sz="1200" dirty="0"/>
          </a:p>
        </p:txBody>
      </p:sp>
      <p:pic>
        <p:nvPicPr>
          <p:cNvPr id="20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章 · flarum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Pod 重建後資料仍存在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219833"/>
            <a:ext cx="24066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3741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寫入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668785"/>
            <a:ext cx="21609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發一篇文章，記下標題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22600" y="1546858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32175" y="1219833"/>
            <a:ext cx="24066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586480" y="13741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刪 Pod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586480" y="1668785"/>
            <a:ext cx="21609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刪掉 mysql-0 與 flarum Pod</a:t>
            </a:r>
            <a:endParaRPr lang="en-US" sz="12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546858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53175" y="1105533"/>
            <a:ext cx="240665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07480" y="12598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等待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07480" y="1554485"/>
            <a:ext cx="216098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mysql-0 同名重建，掛回 data-mysql-0</a:t>
            </a:r>
            <a:endParaRPr lang="en-US" sz="12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4600" y="1546858"/>
            <a:ext cx="3048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74175" y="1219833"/>
            <a:ext cx="2406650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428480" y="13741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確認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9428480" y="1668785"/>
            <a:ext cx="21609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重新整理頁面，文章還在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08000" y="2448558"/>
            <a:ext cx="11176000" cy="1336040"/>
          </a:xfrm>
          <a:prstGeom prst="roundRect">
            <a:avLst>
              <a:gd name="adj" fmla="val 7605"/>
            </a:avLst>
          </a:prstGeom>
          <a:solidFill>
            <a:srgbClr val="0F2F47"/>
          </a:solidFill>
          <a:ln/>
        </p:spPr>
      </p:sp>
      <p:sp>
        <p:nvSpPr>
          <p:cNvPr id="20" name="Text 14"/>
          <p:cNvSpPr/>
          <p:nvPr/>
        </p:nvSpPr>
        <p:spPr>
          <a:xfrm>
            <a:off x="736600" y="2651758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delete pod mysql-0 -n flarum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6600" y="2890527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delete pod -n flarum -l app=flarum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6600" y="31292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pod -n flarum -w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36600" y="3368042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pvc -n flarum             # 三顆都還是 Bound，名字沒變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8000" y="406400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25" name="Image 4" descr="War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5800" y="4191000"/>
            <a:ext cx="254000" cy="2540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66800" y="4194175"/>
            <a:ext cx="59812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不是資料的主人，PVC 才是。刪掉 namespace，PVC 和資料會一起消失。</a:t>
            </a:r>
            <a:endParaRPr lang="en-US" sz="1300" dirty="0"/>
          </a:p>
        </p:txBody>
      </p:sp>
      <p:pic>
        <p:nvPicPr>
          <p:cNvPr id="27" name="Image 5" descr="AIC AIoT Cloud">    </p:cNvPr>
          <p:cNvPicPr>
            <a:picLocks noChangeAspect="1"/>
          </p:cNvPicPr>
          <p:nvPr/>
        </p:nvPicPr>
        <p:blipFill>
          <a:blip r:embed="rId6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章 · flarum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accessModes、DB 連線、Secret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3617357" cy="2054860"/>
          </a:xfrm>
          <a:prstGeom prst="roundRect">
            <a:avLst>
              <a:gd name="adj" fmla="val 479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280" y="1310642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__FILL_ME_14__ · 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6280" y="1600200"/>
            <a:ext cx="3303361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accessModes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6280" y="1957077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06-flarum-pvc.yaml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6280" y="2246635"/>
            <a:ext cx="330336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flarum-storage 只有一個 Pod 在寫；flarum-assets 之後可能多個 Pod 同時讀寫。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87282" y="1105533"/>
            <a:ext cx="3617436" cy="2054860"/>
          </a:xfrm>
          <a:prstGeom prst="roundRect">
            <a:avLst>
              <a:gd name="adj" fmla="val 479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92387" y="1310642"/>
            <a:ext cx="33034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__FILL_ME_20__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2387" y="1600200"/>
            <a:ext cx="3303443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連線環境變數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92387" y="1957077"/>
            <a:ext cx="330344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07-flarum-deployment.yaml → env DB_HOST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92387" y="2459992"/>
            <a:ext cx="330344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 namespace 裡 mysql 的 Service 叫什麼？不需要完整 FQDN。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63468" y="1105533"/>
            <a:ext cx="3617357" cy="2054860"/>
          </a:xfrm>
          <a:prstGeom prst="roundRect">
            <a:avLst>
              <a:gd name="adj" fmla="val 479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8574" y="1310642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__FILL_ME_21__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68574" y="1600200"/>
            <a:ext cx="3303361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名稱與 key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68574" y="1957077"/>
            <a:ext cx="33033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07-flarum-deployment.yaml → DB_PASS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68574" y="2246635"/>
            <a:ext cx="330336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密碼實際存在哪一個 Secret？key 是 MYSQL_PASSWORD。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8000" y="3442977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同一組還有 storageClassName（__FILL_ME_11__、15、17）：RWO 配 rook-ceph-block，RWX 配 rook-cephfs。</a:t>
            </a:r>
            <a:endParaRPr lang="en-US" sz="1400" dirty="0"/>
          </a:p>
        </p:txBody>
      </p:sp>
      <p:pic>
        <p:nvPicPr>
          <p:cNvPr id="20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章 · 填空練習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CrashLoopBackOff：flarum 的三個真實案例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58"/>
            <a:ext cx="11176000" cy="1097280"/>
          </a:xfrm>
          <a:prstGeom prst="roundRect">
            <a:avLst>
              <a:gd name="adj" fmla="val 9259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58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pod -n flarum                        # STATUS、RESTARTS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27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describe pod &lt;pod&gt; -n flarum             # Last State、Exit Code、Events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logs &lt;pod&gt; -n flarum --previous          # 崩潰前最後的 log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1175" y="2482217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880" y="2661927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mysql：過一陣子才開始崩潰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0880" y="2973077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livenessProbe 太早，砍掉還在 initdb 的容器；密碼沒設好，只能刪 PVC 重來。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87282" y="2482217"/>
            <a:ext cx="3617436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6987" y="2661927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flarum：資料庫認證失敗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66987" y="2973077"/>
            <a:ext cx="335576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DB_PASS 讀錯了 Secret；mysql 本身是健康的。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63468" y="2482217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3174" y="2661927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flarum：port 對不上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43174" y="2973077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enableServiceLinks 沒關，K8s 自動注入的 FLARUM_PORT 蓋掉了應用設定。</a:t>
            </a:r>
            <a:endParaRPr lang="en-US" sz="1300" dirty="0"/>
          </a:p>
        </p:txBody>
      </p:sp>
      <p:pic>
        <p:nvPicPr>
          <p:cNvPr id="17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章 · 除錯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45308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62908"/>
            <a:ext cx="86334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Disaster Recovery 驗證基準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476750"/>
            <a:ext cx="1553369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527550"/>
            <a:ext cx="127396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 · flarum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13769" y="4500885"/>
            <a:ext cx="586028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先知道正常長什麼樣子：更新、重啟、維護時，服務會不會斷。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與高可用的關係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301240"/>
        </p:xfrm>
        <a:graphic>
          <a:graphicData uri="http://schemas.openxmlformats.org/drawingml/2006/table">
            <a:tbl>
              <a:tblPr/>
              <a:tblGrid>
                <a:gridCol w="2458720"/>
                <a:gridCol w="2905760"/>
                <a:gridCol w="2905760"/>
                <a:gridCol w="290576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draw.io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更新策略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RollingUpdate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Recreate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StatefulSet 依序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一個 Pod 掛掉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另一個繼續服務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中斷到新 Pod Ready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中斷到 mysql-0 重建完成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無狀態，可以多開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RWO PVC 只能單一寫入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單一資料庫實例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排程位置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k8s01～03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釘選 gpu01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釘選 gpu01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693158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1 就沒有高可用。gpu01 維護時，flarum 與 mysql 會一起停。這就是要先記下來的基準。</a:t>
            </a:r>
            <a:endParaRPr lang="en-US" sz="140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 章 · DR 基準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Update：換版不停機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307467"/>
            <a:ext cx="2406650" cy="1385570"/>
          </a:xfrm>
          <a:prstGeom prst="roundRect">
            <a:avLst>
              <a:gd name="adj" fmla="val 71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461777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開始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5480" y="1794508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C9CED6"/>
          </a:solidFill>
          <a:ln/>
        </p:spPr>
      </p:sp>
      <p:sp>
        <p:nvSpPr>
          <p:cNvPr id="7" name="Text 4"/>
          <p:cNvSpPr/>
          <p:nvPr/>
        </p:nvSpPr>
        <p:spPr>
          <a:xfrm>
            <a:off x="738657" y="1858008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舊 v1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5480" y="2198377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C9CED6"/>
          </a:solidFill>
          <a:ln/>
        </p:spPr>
      </p:sp>
      <p:sp>
        <p:nvSpPr>
          <p:cNvPr id="9" name="Text 6"/>
          <p:cNvSpPr/>
          <p:nvPr/>
        </p:nvSpPr>
        <p:spPr>
          <a:xfrm>
            <a:off x="738657" y="2261877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舊 v1</a:t>
            </a:r>
            <a:endParaRPr lang="en-US" sz="12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22600" y="1911350"/>
            <a:ext cx="304800" cy="177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32175" y="1105533"/>
            <a:ext cx="2406650" cy="1789430"/>
          </a:xfrm>
          <a:prstGeom prst="roundRect">
            <a:avLst>
              <a:gd name="adj" fmla="val 550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86480" y="1259842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多開一個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586480" y="1592585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C9CED6"/>
          </a:solidFill>
          <a:ln/>
        </p:spPr>
      </p:sp>
      <p:sp>
        <p:nvSpPr>
          <p:cNvPr id="14" name="Text 10"/>
          <p:cNvSpPr/>
          <p:nvPr/>
        </p:nvSpPr>
        <p:spPr>
          <a:xfrm>
            <a:off x="3659657" y="1656085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舊 v1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86480" y="1996442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C9CED6"/>
          </a:solidFill>
          <a:ln/>
        </p:spPr>
      </p:sp>
      <p:sp>
        <p:nvSpPr>
          <p:cNvPr id="16" name="Text 12"/>
          <p:cNvSpPr/>
          <p:nvPr/>
        </p:nvSpPr>
        <p:spPr>
          <a:xfrm>
            <a:off x="3659657" y="2059942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舊 v1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586480" y="2400300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16759A"/>
          </a:solidFill>
          <a:ln/>
        </p:spPr>
      </p:sp>
      <p:sp>
        <p:nvSpPr>
          <p:cNvPr id="18" name="Text 14"/>
          <p:cNvSpPr/>
          <p:nvPr/>
        </p:nvSpPr>
        <p:spPr>
          <a:xfrm>
            <a:off x="3659657" y="2463800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新 v2 等 Ready</a:t>
            </a:r>
            <a:endParaRPr lang="en-US" sz="1200" dirty="0"/>
          </a:p>
        </p:txBody>
      </p:sp>
      <p:pic>
        <p:nvPicPr>
          <p:cNvPr id="1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911350"/>
            <a:ext cx="304800" cy="1778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53175" y="1307467"/>
            <a:ext cx="2406650" cy="1385570"/>
          </a:xfrm>
          <a:prstGeom prst="roundRect">
            <a:avLst>
              <a:gd name="adj" fmla="val 71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07480" y="1461777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新的 Ready，砍一個舊的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507480" y="1794508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C9CED6"/>
          </a:solidFill>
          <a:ln/>
        </p:spPr>
      </p:sp>
      <p:sp>
        <p:nvSpPr>
          <p:cNvPr id="23" name="Text 18"/>
          <p:cNvSpPr/>
          <p:nvPr/>
        </p:nvSpPr>
        <p:spPr>
          <a:xfrm>
            <a:off x="6580658" y="1858008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舊 v1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507480" y="2198377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16759A"/>
          </a:solidFill>
          <a:ln/>
        </p:spPr>
      </p:sp>
      <p:sp>
        <p:nvSpPr>
          <p:cNvPr id="25" name="Text 20"/>
          <p:cNvSpPr/>
          <p:nvPr/>
        </p:nvSpPr>
        <p:spPr>
          <a:xfrm>
            <a:off x="6580658" y="2261877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新 v2</a:t>
            </a:r>
            <a:endParaRPr lang="en-US" sz="1200" dirty="0"/>
          </a:p>
        </p:txBody>
      </p:sp>
      <p:pic>
        <p:nvPicPr>
          <p:cNvPr id="26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4600" y="1911350"/>
            <a:ext cx="304800" cy="1778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274175" y="1307467"/>
            <a:ext cx="2406650" cy="1385570"/>
          </a:xfrm>
          <a:prstGeom prst="roundRect">
            <a:avLst>
              <a:gd name="adj" fmla="val 71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428480" y="1461777"/>
            <a:ext cx="21609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完成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428480" y="1794508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16759A"/>
          </a:solidFill>
          <a:ln/>
        </p:spPr>
      </p:sp>
      <p:sp>
        <p:nvSpPr>
          <p:cNvPr id="30" name="Text 24"/>
          <p:cNvSpPr/>
          <p:nvPr/>
        </p:nvSpPr>
        <p:spPr>
          <a:xfrm>
            <a:off x="9501658" y="1858008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新 v2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428480" y="2198377"/>
            <a:ext cx="2098040" cy="340360"/>
          </a:xfrm>
          <a:prstGeom prst="roundRect">
            <a:avLst>
              <a:gd name="adj" fmla="val 18657"/>
            </a:avLst>
          </a:prstGeom>
          <a:solidFill>
            <a:srgbClr val="16759A"/>
          </a:solidFill>
          <a:ln/>
        </p:spPr>
      </p:sp>
      <p:sp>
        <p:nvSpPr>
          <p:cNvPr id="32" name="Text 26"/>
          <p:cNvSpPr/>
          <p:nvPr/>
        </p:nvSpPr>
        <p:spPr>
          <a:xfrm>
            <a:off x="9501658" y="2261877"/>
            <a:ext cx="1951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新 v2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08000" y="3177542"/>
            <a:ext cx="3556000" cy="1574800"/>
          </a:xfrm>
          <a:prstGeom prst="roundRect">
            <a:avLst>
              <a:gd name="adj" fmla="val 6452"/>
            </a:avLst>
          </a:prstGeom>
          <a:solidFill>
            <a:srgbClr val="0F2F47"/>
          </a:solidFill>
          <a:ln/>
        </p:spPr>
      </p:sp>
      <p:sp>
        <p:nvSpPr>
          <p:cNvPr id="34" name="Text 28"/>
          <p:cNvSpPr/>
          <p:nvPr/>
        </p:nvSpPr>
        <p:spPr>
          <a:xfrm>
            <a:off x="736600" y="3380742"/>
            <a:ext cx="31917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strategy: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36600" y="3619500"/>
            <a:ext cx="31917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type: RollingUpdate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36600" y="3858258"/>
            <a:ext cx="31917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rollingUpdate: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736600" y="4097027"/>
            <a:ext cx="31917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maxSurge: 1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736600" y="4335785"/>
            <a:ext cx="31917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maxUnavailable: 0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270375" y="3180717"/>
            <a:ext cx="7410450" cy="1568450"/>
          </a:xfrm>
          <a:prstGeom prst="roundRect">
            <a:avLst>
              <a:gd name="adj" fmla="val 627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450080" y="3360427"/>
            <a:ext cx="726257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maxSurge: 1 · maxUnavailable: 0</a:t>
            </a:r>
            <a:endParaRPr lang="en-US" sz="1500" dirty="0"/>
          </a:p>
        </p:txBody>
      </p:sp>
      <p:sp>
        <p:nvSpPr>
          <p:cNvPr id="41" name="Text 35"/>
          <p:cNvSpPr/>
          <p:nvPr/>
        </p:nvSpPr>
        <p:spPr>
          <a:xfrm>
            <a:off x="4450080" y="3671577"/>
            <a:ext cx="726257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最多多開 1 個；任何時刻都至少有 2 個 Ready。新 Pod 的 readiness 通過，才會砍舊的。</a:t>
            </a:r>
            <a:endParaRPr lang="en-US" sz="1300" dirty="0"/>
          </a:p>
        </p:txBody>
      </p:sp>
      <p:pic>
        <p:nvPicPr>
          <p:cNvPr id="42" name="Image 4" descr="AIC AIoT Cloud">    </p:cNvPr>
          <p:cNvPicPr>
            <a:picLocks noChangeAspect="1"/>
          </p:cNvPicPr>
          <p:nvPr/>
        </p:nvPicPr>
        <p:blipFill>
          <a:blip r:embed="rId5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 章 · DR 基準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與 Liveness Probe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684780"/>
        </p:xfrm>
        <a:graphic>
          <a:graphicData uri="http://schemas.openxmlformats.org/drawingml/2006/table">
            <a:tbl>
              <a:tblPr/>
              <a:tblGrid>
                <a:gridCol w="2458720"/>
                <a:gridCol w="4358640"/>
                <a:gridCol w="435864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readinessProbe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livenessProbe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問的問題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可以接流量了嗎？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還活著嗎？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失敗的後果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移出 Endpoints，不送流量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重啟容器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換版時的角色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 Pod Ready 前不接流量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不影響換版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抓太短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只是晚一點上線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可能砍掉初始化中的資料庫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draw.io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httpGet / :http，10 秒後開始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httpGet / :http，20 秒後開始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 mysqladmin ping，20 秒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tcpSocket 3306，60 秒 × 4 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 章 · DR 基準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模擬更新，驗證服務是否持續可用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8000" y="1102358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終端機 A：持續打流量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8000" y="1404627"/>
            <a:ext cx="5486400" cy="1574800"/>
          </a:xfrm>
          <a:prstGeom prst="roundRect">
            <a:avLst>
              <a:gd name="adj" fmla="val 6452"/>
            </a:avLst>
          </a:prstGeom>
          <a:solidFill>
            <a:srgbClr val="0F2F47"/>
          </a:solidFill>
          <a:ln/>
        </p:spPr>
      </p:sp>
      <p:sp>
        <p:nvSpPr>
          <p:cNvPr id="6" name="Text 3"/>
          <p:cNvSpPr/>
          <p:nvPr/>
        </p:nvSpPr>
        <p:spPr>
          <a:xfrm>
            <a:off x="736600" y="1607827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true; 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846585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curl -sk -o /dev/null -w "%{http_code} " \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85342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https://drawio.nexai.org.com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324100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sleep 0.5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62870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7600" y="1102358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終端機 B：觸發更新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97600" y="1404627"/>
            <a:ext cx="5486400" cy="1574800"/>
          </a:xfrm>
          <a:prstGeom prst="roundRect">
            <a:avLst>
              <a:gd name="adj" fmla="val 6452"/>
            </a:avLst>
          </a:prstGeom>
          <a:solidFill>
            <a:srgbClr val="0F2F47"/>
          </a:solidFill>
          <a:ln/>
        </p:spPr>
      </p:sp>
      <p:sp>
        <p:nvSpPr>
          <p:cNvPr id="13" name="Text 10"/>
          <p:cNvSpPr/>
          <p:nvPr/>
        </p:nvSpPr>
        <p:spPr>
          <a:xfrm>
            <a:off x="6426200" y="1607827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rollout restart deploy/drawio -n drawio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26200" y="1846585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rollout status deploy/drawio -n drawio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26200" y="2085342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rollout history deploy/drawio -n drawio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26200" y="2324100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出問題時回滾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26200" y="2562870"/>
            <a:ext cx="51800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rollout undo deploy/drawio -n drawio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1175" y="3261990"/>
            <a:ext cx="5480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880" y="3441700"/>
            <a:ext cx="52742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 預期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0880" y="3752850"/>
            <a:ext cx="52742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全程都是 200。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00775" y="3261990"/>
            <a:ext cx="5480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0480" y="3441700"/>
            <a:ext cx="52742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 做同一件事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80480" y="3752850"/>
            <a:ext cx="52742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 會出現一段非 200。記下中斷了幾秒，這就是基準。</a:t>
            </a:r>
            <a:endParaRPr lang="en-US" sz="1300" dirty="0"/>
          </a:p>
        </p:txBody>
      </p:sp>
      <p:pic>
        <p:nvPicPr>
          <p:cNvPr id="24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 章 · DR 基準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45320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62920"/>
            <a:ext cx="86334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 Disaster Recovery 準備測試資料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476750"/>
            <a:ext cx="834787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527550"/>
            <a:ext cx="5553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95187" y="4500885"/>
            <a:ext cx="397662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災難之前，先埋好之後必須救回來的證據。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好的測試資料長什麼樣子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92750" cy="1182370"/>
          </a:xfrm>
          <a:prstGeom prst="roundRect">
            <a:avLst>
              <a:gd name="adj" fmla="val 83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55"/>
            <a:ext cx="52873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只存在 PVC 裡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0880" y="1612900"/>
            <a:ext cx="528734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寫進資料庫或 volume，不在 image、不在 manifest，才驗得出 PV 有沒有救回來。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88075" y="1105545"/>
            <a:ext cx="5492750" cy="1182370"/>
          </a:xfrm>
          <a:prstGeom prst="roundRect">
            <a:avLst>
              <a:gd name="adj" fmla="val 83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7780" y="1285255"/>
            <a:ext cx="52873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值是已知且唯一的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67780" y="1612900"/>
            <a:ext cx="528734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 DR-TEST-DB-001，還原後一查就知道是不是同一份。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1175" y="2472060"/>
            <a:ext cx="5492750" cy="1182370"/>
          </a:xfrm>
          <a:prstGeom prst="roundRect">
            <a:avLst>
              <a:gd name="adj" fmla="val 83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880" y="2651770"/>
            <a:ext cx="52873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能用指令驗證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880" y="2979415"/>
            <a:ext cx="528734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SQL 查詢、sha256sum 比對，不靠「頁面看起來正常」。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88075" y="2472060"/>
            <a:ext cx="5492750" cy="1182370"/>
          </a:xfrm>
          <a:prstGeom prst="roundRect">
            <a:avLst>
              <a:gd name="adj" fmla="val 83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7780" y="2651770"/>
            <a:ext cx="52873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資料庫和檔案都要有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67780" y="2979415"/>
            <a:ext cx="528734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文章在 data-mysql-0（RWO），附件在 flarum-assets（RWX），兩種儲存各驗一次。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8000" y="393700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dr/ 課程用同樣的原則：dr/script/write-postgres.sh 負責寫入，check-data.sh 負責驗證。</a:t>
            </a:r>
            <a:endParaRPr lang="en-US" sz="1400" dirty="0"/>
          </a:p>
        </p:txBody>
      </p:sp>
      <p:pic>
        <p:nvPicPr>
          <p:cNvPr id="17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6 章 · 測試資料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Database 與檔案測試資料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8000" y="1102370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data-mysql-0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8000" y="1404615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0F2F47"/>
          </a:solidFill>
          <a:ln/>
        </p:spPr>
      </p:sp>
      <p:sp>
        <p:nvSpPr>
          <p:cNvPr id="6" name="Text 3"/>
          <p:cNvSpPr/>
          <p:nvPr/>
        </p:nvSpPr>
        <p:spPr>
          <a:xfrm>
            <a:off x="736600" y="16078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在 flarum 發一篇文章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736600" y="16332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    標題：DR-TEST-DB-001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736600" y="16586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用 SQL 確認真的在資料庫裡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736600" y="16840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exec -n flarum mysql-0 -- \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36600" y="17094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mysql -uappuser -p"$DB_PW" appdb -e \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736600" y="17348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"SELECT id, title FROM discussions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736600" y="17602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WHERE title='DR-TEST-DB-001';"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6197600" y="1102370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 · flarum-assets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97600" y="1404615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0F2F47"/>
          </a:solidFill>
          <a:ln/>
        </p:spPr>
      </p:sp>
      <p:sp>
        <p:nvSpPr>
          <p:cNvPr id="15" name="Text 12"/>
          <p:cNvSpPr/>
          <p:nvPr/>
        </p:nvSpPr>
        <p:spPr>
          <a:xfrm>
            <a:off x="6426200" y="16078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寫一個已知內容的檔案，記下 sha256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426200" y="16332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F=/flarum/app/public/assets/dr-test.txt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426200" y="16586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exec -n flarum deploy/flarum -c flarum -- \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6426200" y="16840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sh -c "echo DR-TEST-FILE-001 &gt;$F; sha256sum $F"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6426200" y="17348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再從網頁上傳一張頭像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6426200" y="1760215"/>
            <a:ext cx="5180076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    存進 assets/avatars</a:t>
            </a:r>
            <a:endParaRPr lang="en-US" sz="720" dirty="0"/>
          </a:p>
        </p:txBody>
      </p:sp>
      <p:pic>
        <p:nvPicPr>
          <p:cNvPr id="21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6 章 · 測試資料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確認：這些資料之後必須被救回來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498090"/>
        </p:xfrm>
        <a:graphic>
          <a:graphicData uri="http://schemas.openxmlformats.org/drawingml/2006/table">
            <a:tbl>
              <a:tblPr/>
              <a:tblGrid>
                <a:gridCol w="3352800"/>
                <a:gridCol w="3799840"/>
                <a:gridCol w="402336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存在哪裡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還原後怎麼驗證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測試文章 DR-TEST-DB-001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→ data-mysql-0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查得到同一筆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測試檔案 dr-test.txt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flarum-assets（RWX）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sha256 跟基準一致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使用者上傳的頭像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flarum-assets/avatars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頁面上頭像正常顯示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管理員帳號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→ data-mysql-0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用原本的密碼登入成功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與設定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物件（etcd）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secret 存在且內容相同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對外網址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 + dev-gateway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curl 200，標題 K8s Training Forum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89002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這張表就是下一章 Backup 的驗收標準。沒列在表上的東西，還原後不算數。</a:t>
            </a:r>
            <a:endParaRPr lang="en-US" sz="140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6 章 · 測試資料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部署完成檢查與問題排查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55"/>
            <a:ext cx="660400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55"/>
            <a:ext cx="3810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0800" y="4179565"/>
            <a:ext cx="397662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一層一層確認，全部綠燈之後才開始備份。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逐層確認，一層沒過就不往下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141220"/>
        </p:xfrm>
        <a:graphic>
          <a:graphicData uri="http://schemas.openxmlformats.org/drawingml/2006/table">
            <a:tbl>
              <a:tblPr/>
              <a:tblGrid>
                <a:gridCol w="1676400"/>
                <a:gridCol w="5588000"/>
                <a:gridCol w="391160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層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指令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正常的樣子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quota -n flarum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沒有超過 Hard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pod -n flarum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Running、1/1、RESTARTS 不再增加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endpoints -n flarum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 與 mysql 都有 IP:port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httproute flarum -n flarum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Accepted 與 ResolvedRefs 都是 True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pvc -n flarum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三顆都是 Bound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33155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出問題時，從最下層往上找：Pod 沒 Ready，Service 和 Gateway 再怎麼設都不會通。</a:t>
            </a:r>
            <a:endParaRPr lang="en-US" sz="140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7 章 · 完成檢查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看到症狀，先查哪裡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498090"/>
        </p:xfrm>
        <a:graphic>
          <a:graphicData uri="http://schemas.openxmlformats.org/drawingml/2006/table">
            <a:tbl>
              <a:tblPr/>
              <a:tblGrid>
                <a:gridCol w="2682240"/>
                <a:gridCol w="4023360"/>
                <a:gridCol w="447040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先看哪裡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這門課常見的原因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卡在 Pending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pod → Events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超過配額、缺 toleration、PVC 未 Bound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但 0/1 Ready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pod → probe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 打錯 port、初始延遲太短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 是空的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endpoints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selector 跟 Pod label 對不上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回 503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httproute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backendRefs 不是 Service 的 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CrashLoopBackOff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logs --previous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密碼讀錯 Secret、env 撞名、probe 太早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連線逾時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exec 測 /dev/tcp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 少放行一個方向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7 章 · 問題排查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部署完成檢查清單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5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000" y="12192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3600" y="12090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Pod 都 Running、1/1，RESTARTS 不再增加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08000" y="15627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000" y="167640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3600" y="16662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每顆 PVC 都是 Bound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08000" y="20199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1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8000" y="213360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3600" y="21234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Service 的 Endpoints 都不是空的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508000" y="24771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4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8000" y="259080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3600" y="25806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 的 Accepted 與 ResolvedRefs 都是 True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508000" y="29343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7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08000" y="304800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3600" y="30378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與 https 都回 200，內容是真的應用頁面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62484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0" name="Image 6" descr="CheckCircl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248400" y="121920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604000" y="12090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NetworkPolicy：該通的通，該擋的擋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6248400" y="15627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3" name="Image 7" descr="CheckCircl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48400" y="1676400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604000" y="16662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裡沒有資料庫認證錯誤</a:t>
            </a:r>
            <a:endParaRPr lang="en-US" sz="1400" dirty="0"/>
          </a:p>
        </p:txBody>
      </p:sp>
      <p:sp>
        <p:nvSpPr>
          <p:cNvPr id="25" name="Shape 15"/>
          <p:cNvSpPr/>
          <p:nvPr/>
        </p:nvSpPr>
        <p:spPr>
          <a:xfrm>
            <a:off x="6248400" y="20199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6" name="Image 8" descr="CheckCircl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248400" y="2133600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604000" y="21234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測試資料與基準紀錄已存到叢集外</a:t>
            </a:r>
            <a:endParaRPr lang="en-US" sz="1400" dirty="0"/>
          </a:p>
        </p:txBody>
      </p:sp>
      <p:sp>
        <p:nvSpPr>
          <p:cNvPr id="28" name="Shape 17"/>
          <p:cNvSpPr/>
          <p:nvPr/>
        </p:nvSpPr>
        <p:spPr>
          <a:xfrm>
            <a:off x="6248400" y="24771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9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248400" y="2590800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604000" y="25806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跟 ../manifest/ diff 只剩註解差異</a:t>
            </a:r>
            <a:endParaRPr lang="en-US" sz="1400" dirty="0"/>
          </a:p>
        </p:txBody>
      </p:sp>
      <p:sp>
        <p:nvSpPr>
          <p:cNvPr id="31" name="Shape 19"/>
          <p:cNvSpPr/>
          <p:nvPr/>
        </p:nvSpPr>
        <p:spPr>
          <a:xfrm>
            <a:off x="6248400" y="29343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32" name="Image 10" descr="CheckCircle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248400" y="3048000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604000" y="3037855"/>
            <a:ext cx="523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必須救回清單已逐項確認</a:t>
            </a:r>
            <a:endParaRPr lang="en-US" sz="1400" dirty="0"/>
          </a:p>
        </p:txBody>
      </p:sp>
      <p:pic>
        <p:nvPicPr>
          <p:cNvPr id="34" name="Image 11" descr="AIC AIoT Cloud">    </p:cNvPr>
          <p:cNvPicPr>
            <a:picLocks noChangeAspect="1"/>
          </p:cNvPicPr>
          <p:nvPr/>
        </p:nvPicPr>
        <p:blipFill>
          <a:blip r:embed="rId1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7 章 · 完成檢查</a:t>
            </a:r>
            <a:endParaRPr lang="en-US" sz="1200" dirty="0"/>
          </a:p>
        </p:txBody>
      </p:sp>
      <p:sp>
        <p:nvSpPr>
          <p:cNvPr id="36" name="Text 2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為下一章 Backup 做準備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3556000" cy="3144520"/>
          </a:xfrm>
          <a:prstGeom prst="roundRect">
            <a:avLst>
              <a:gd name="adj" fmla="val 4039"/>
            </a:avLst>
          </a:prstGeom>
          <a:solidFill>
            <a:srgbClr val="12517C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356370"/>
            <a:ext cx="3139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我們手上已經有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2000" y="1696715"/>
            <a:ext cx="31394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全部綠燈的部署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2000" y="2090415"/>
            <a:ext cx="31394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已知的測試資料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2000" y="2484115"/>
            <a:ext cx="31394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存在叢集外的基準紀錄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2000" y="2877815"/>
            <a:ext cx="31394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必須救回清單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68800" y="1105545"/>
            <a:ext cx="7315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68800" y="1221755"/>
            <a:ext cx="8128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83200" y="1221755"/>
            <a:ext cx="65928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建立外部 Backup Storage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283200" y="1526555"/>
            <a:ext cx="65928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備份為什麼一定要放在叢集外？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68800" y="1891680"/>
            <a:ext cx="7315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8800" y="2007865"/>
            <a:ext cx="8128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83200" y="2007865"/>
            <a:ext cx="65928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Backup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83200" y="2312665"/>
            <a:ext cx="65928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怎麼判斷備份真的完成了？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368800" y="2677790"/>
            <a:ext cx="7315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68800" y="2794000"/>
            <a:ext cx="8128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83200" y="2794000"/>
            <a:ext cx="65928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Restore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283200" y="3098800"/>
            <a:ext cx="65928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用測試資料證明救回來，不只是 Pod Running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368800" y="3463925"/>
            <a:ext cx="7315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68800" y="3580135"/>
            <a:ext cx="8128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283200" y="3580135"/>
            <a:ext cx="65928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的陷阱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283200" y="3884935"/>
            <a:ext cx="65928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 Completed，為什麼還是救不回來？</a:t>
            </a:r>
            <a:endParaRPr lang="en-US" sz="1300" dirty="0"/>
          </a:p>
        </p:txBody>
      </p:sp>
      <p:pic>
        <p:nvPicPr>
          <p:cNvPr id="2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7 章 · 交棒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588270"/>
            <a:ext cx="115112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08000" y="3746500"/>
            <a:ext cx="1151128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</a:t>
            </a:r>
            <a:endParaRPr lang="en-US" sz="1800" dirty="0"/>
          </a:p>
        </p:txBody>
      </p:sp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補充資料：課後自學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55"/>
            <a:ext cx="990600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55"/>
            <a:ext cx="711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課後閱讀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51000" y="4179565"/>
            <a:ext cx="600009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以下內容不在 90 分鐘主線，依章節排列，供學員課後自行閱讀。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延伸文件與問題討論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55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docs/resources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90880" y="159767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/ limits 怎麼抓，含 k6 實測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87282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66987" y="1285255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docs/hpa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66987" y="159767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draw.io 實測一次 scale-up / down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63389" y="1105545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43094" y="1285255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docs/networkpolicy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43094" y="159767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零信任設計與真實 allow / deny 測試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1175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880" y="2363465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docs/rbac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0880" y="267590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ServiceAccount、Role、ClusterRole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87282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66987" y="2363465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docs/helm-chart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466987" y="267590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通用概念，搭配各產品的 chart/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63389" y="2183780"/>
            <a:ext cx="3617357" cy="919480"/>
          </a:xfrm>
          <a:prstGeom prst="roundRect">
            <a:avLst>
              <a:gd name="adj" fmla="val 1070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43094" y="2363465"/>
            <a:ext cx="3355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dr/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43094" y="267590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備份、復原與災難復原演練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8000" y="3385815"/>
            <a:ext cx="11511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問題與討論</a:t>
            </a:r>
            <a:endParaRPr lang="en-US" sz="2000" dirty="0"/>
          </a:p>
        </p:txBody>
      </p:sp>
      <p:pic>
        <p:nvPicPr>
          <p:cNvPr id="23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延伸閱讀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一個實際的 Application 需要哪些資源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55"/>
            <a:ext cx="2383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邊界與治理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562100"/>
            <a:ext cx="238335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· ResourceQuota · LimitRange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0880" y="2319015"/>
            <a:ext cx="23833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這些東西屬於誰、最多能用多少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432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2980" y="1285255"/>
            <a:ext cx="2383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運算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22980" y="1562100"/>
            <a:ext cx="23833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· StatefulSet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22980" y="1856755"/>
            <a:ext cx="2383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跑幾個 Pod、怎麼換版、壞了自動補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53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1285255"/>
            <a:ext cx="2383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服務發現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1562100"/>
            <a:ext cx="23833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55080" y="1856755"/>
            <a:ext cx="2383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給一組 Pod 一個穩定的名字和 IP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007475" y="1105545"/>
            <a:ext cx="2673350" cy="1640840"/>
          </a:xfrm>
          <a:prstGeom prst="roundRect">
            <a:avLst>
              <a:gd name="adj" fmla="val 599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87180" y="1285255"/>
            <a:ext cx="2383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對外入口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87180" y="1562100"/>
            <a:ext cx="23833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· HTTPRoute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87180" y="1856755"/>
            <a:ext cx="2383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哪個網址、哪個路徑送到哪個 Service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111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880" y="3084835"/>
            <a:ext cx="2383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設定與密鑰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0880" y="3361705"/>
            <a:ext cx="23833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· Secret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0880" y="3656335"/>
            <a:ext cx="2383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設定跟 image 分開，密碼不寫死在 Deployment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3432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22980" y="3084835"/>
            <a:ext cx="2383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儲存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522980" y="3361705"/>
            <a:ext cx="23833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· StorageClass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522980" y="3656335"/>
            <a:ext cx="23833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重建之後，資料還要在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53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55080" y="3084835"/>
            <a:ext cx="2383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網路隔離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55080" y="3361705"/>
            <a:ext cx="23833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355080" y="3656335"/>
            <a:ext cx="23833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預設全擋，只放行需要的連線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9007475" y="2905125"/>
            <a:ext cx="2673350" cy="1426210"/>
          </a:xfrm>
          <a:prstGeom prst="roundRect">
            <a:avLst>
              <a:gd name="adj" fmla="val 690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87180" y="3084835"/>
            <a:ext cx="2383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身分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187180" y="3361705"/>
            <a:ext cx="23833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 · RBAC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187180" y="3656335"/>
            <a:ext cx="2383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呼叫 Kubernetes API 時的身分與權限</a:t>
            </a:r>
            <a:endParaRPr lang="en-US" sz="1300" dirty="0"/>
          </a:p>
        </p:txBody>
      </p:sp>
      <p:pic>
        <p:nvPicPr>
          <p:cNvPr id="3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1 章 · 資源設計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先畫架構，再開始部署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7823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209055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41400" y="1253505"/>
            <a:ext cx="64777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使用者從哪個網址進來？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08240" y="1280170"/>
            <a:ext cx="8737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HTTPRoute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8000" y="1669430"/>
            <a:ext cx="7823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8000" y="1772915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41400" y="1817365"/>
            <a:ext cx="61008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流量最後進到哪個 port？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42400" y="1844055"/>
            <a:ext cx="12395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 → Pod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8000" y="2233290"/>
            <a:ext cx="7823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8000" y="233680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41400" y="2381250"/>
            <a:ext cx="59126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哪些資料要留下？放哪種儲存？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59600" y="2407915"/>
            <a:ext cx="142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PVC · RWO / RWX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8000" y="2797175"/>
            <a:ext cx="7823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2900685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41400" y="2945135"/>
            <a:ext cx="61009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誰可以連誰？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142480" y="2971800"/>
            <a:ext cx="1239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NetworkPolicy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8000" y="3361060"/>
            <a:ext cx="78232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8000" y="346457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41400" y="3509020"/>
            <a:ext cx="56300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密碼和設定放哪？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85280" y="3535685"/>
            <a:ext cx="1696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Secret · ConfigMap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636000" y="1102370"/>
            <a:ext cx="3048000" cy="2819400"/>
          </a:xfrm>
          <a:prstGeom prst="roundRect">
            <a:avLst>
              <a:gd name="adj" fmla="val 4505"/>
            </a:avLst>
          </a:prstGeom>
          <a:solidFill>
            <a:srgbClr val="12517C"/>
          </a:solidFill>
          <a:ln/>
        </p:spPr>
      </p:sp>
      <p:pic>
        <p:nvPicPr>
          <p:cNvPr id="25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90000" y="1551310"/>
            <a:ext cx="355600" cy="355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890000" y="2033910"/>
            <a:ext cx="261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架構圖上答不出來的問題，YAML 也寫不對。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890000" y="2729880"/>
            <a:ext cx="261620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每個產品都附 exercises/architecture.drawio，用 draw.io 本身就能打開。</a:t>
            </a:r>
            <a:endParaRPr lang="en-US" sz="1300" dirty="0"/>
          </a:p>
        </p:txBody>
      </p:sp>
      <p:pic>
        <p:nvPicPr>
          <p:cNvPr id="28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1 章 · 資源設計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資源設定：兩層數字要對得上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55"/>
            <a:ext cx="227797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LimitRange.min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29085"/>
            <a:ext cx="22779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 / 64Mi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136186" y="1313185"/>
            <a:ext cx="2041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4313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48618" y="1259855"/>
            <a:ext cx="227797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548618" y="1529085"/>
            <a:ext cx="22779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 / 256Mi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19324" y="1313185"/>
            <a:ext cx="2041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277451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1756" y="1259855"/>
            <a:ext cx="227797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31756" y="1529085"/>
            <a:ext cx="22779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 / 512Mi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02462" y="1313185"/>
            <a:ext cx="2041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160590" y="1105545"/>
            <a:ext cx="2520236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14894" y="1259855"/>
            <a:ext cx="227797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LimitRange.max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314894" y="1529085"/>
            <a:ext cx="22779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1Gi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1175" y="2121545"/>
            <a:ext cx="5403374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5480" y="2275855"/>
            <a:ext cx="524760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Σ replicas × requests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5480" y="2545085"/>
            <a:ext cx="524760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最多 5 個 Pod × 100m = 500m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19324" y="2329185"/>
            <a:ext cx="2041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277451" y="2121545"/>
            <a:ext cx="5403374" cy="806450"/>
          </a:xfrm>
          <a:prstGeom prst="roundRect">
            <a:avLst>
              <a:gd name="adj" fmla="val 1220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31756" y="2275855"/>
            <a:ext cx="524760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ResourceQuota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31756" y="2545085"/>
            <a:ext cx="524760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requests.cpu 抓 1（1000m），留一倍餘裕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11175" y="3137545"/>
            <a:ext cx="55054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0880" y="3317255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可壓縮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0880" y="36449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超過 limit 只會被節流變慢，比例可以抓寬（本例 5 倍）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175375" y="3137545"/>
            <a:ext cx="5505450" cy="934720"/>
          </a:xfrm>
          <a:prstGeom prst="roundRect">
            <a:avLst>
              <a:gd name="adj" fmla="val 1053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55080" y="3317255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不可壓縮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55080" y="36449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超過 limit 直接 OOMKilled，比例要抓保守（本例 2 倍）</a:t>
            </a:r>
            <a:endParaRPr lang="en-US" sz="1300" dirty="0"/>
          </a:p>
        </p:txBody>
      </p:sp>
      <p:pic>
        <p:nvPicPr>
          <p:cNvPr id="32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2 章 · draw.io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的身分與設定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2411730"/>
          </a:xfrm>
          <a:prstGeom prst="roundRect">
            <a:avLst>
              <a:gd name="adj" fmla="val 40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1680" y="1336055"/>
            <a:ext cx="5169611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 / RBAC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1680" y="1734815"/>
            <a:ext cx="5169611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Pod 都帶一個 ServiceAccount，沒指定就用 default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預設零權限：沒有 RoleBinding，連 list pods 都不行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 不呼叫 Kubernetes API，用 default 就夠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完整實作見 docs/rbac：三組 Role / ClusterRole 對照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1680" y="2860055"/>
            <a:ext cx="516961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auth can-i list pods -n drawio --as=system:serviceaccount:drawio:default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105545"/>
            <a:ext cx="5480050" cy="2411730"/>
          </a:xfrm>
          <a:prstGeom prst="roundRect">
            <a:avLst>
              <a:gd name="adj" fmla="val 40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31280" y="1336055"/>
            <a:ext cx="5169611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/ Secret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31280" y="1734815"/>
            <a:ext cx="5169611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放非機密設定，可掛成檔案或環境變數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放密碼與金鑰；base64 只是編碼，不是加密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只能在同一個 namespace 內引用：secretKeyRef、envFrom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 不需要；第 4 章 flarum 的 mysql-secret 會用到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31280" y="2860055"/>
            <a:ext cx="5169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secret -n flarum</a:t>
            </a:r>
            <a:endParaRPr lang="en-US" sz="1200" dirty="0"/>
          </a:p>
        </p:txBody>
      </p:sp>
      <p:pic>
        <p:nvPicPr>
          <p:cNvPr id="12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2 章 · draw.io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與 Pod 的關係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3380264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55"/>
            <a:ext cx="31638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 drawio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4485"/>
            <a:ext cx="31638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 · port 80 → targetPort http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96214" y="1432570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05789" y="1105545"/>
            <a:ext cx="3380343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60094" y="1259855"/>
            <a:ext cx="31638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60094" y="1554485"/>
            <a:ext cx="31638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只列 Ready 的 Pod IP:8080</a:t>
            </a:r>
            <a:endParaRPr lang="en-US" sz="12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90907" y="1432570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300482" y="1105545"/>
            <a:ext cx="3380343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454787" y="1259855"/>
            <a:ext cx="31638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Pod × 2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454787" y="1554485"/>
            <a:ext cx="31638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app=drawio · http = 8080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11175" y="2223145"/>
            <a:ext cx="55054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0880" y="2402855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選 Pod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90880" y="2714005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不認 Deployment，只認 label。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5375" y="2223145"/>
            <a:ext cx="55054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55080" y="2402855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自動更新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55080" y="2714005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沒 Ready 就被移出，不會收到流量。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11175" y="3300090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0880" y="34798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的對應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90880" y="379095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port 80 → targetPort http → containerPort 8080。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75375" y="3300090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55080" y="34798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名稱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355080" y="3790950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 namespace 用 drawio；跨 namespace 用 drawio.drawio.svc.cluster.local。</a:t>
            </a:r>
            <a:endParaRPr lang="en-US" sz="1300" dirty="0"/>
          </a:p>
        </p:txBody>
      </p:sp>
      <p:pic>
        <p:nvPicPr>
          <p:cNvPr id="27" name="Image 3" descr="AIC AIoT Cloud">    </p:cNvPr>
          <p:cNvPicPr>
            <a:picLocks noChangeAspect="1"/>
          </p:cNvPicPr>
          <p:nvPr/>
        </p:nvPicPr>
        <p:blipFill>
          <a:blip r:embed="rId4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3 章 · draw.io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Secret 與 HTTPS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4064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dev-gateway.yaml（節錄）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listeners: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 name: http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5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port: 80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protocol: HTTP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 name: https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1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port: 443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88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protocol: HTTPS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1565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tls: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45440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mode: Terminate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69317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certificateRefs: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600" y="393191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- kind: Secret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600" y="417068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name: gateway-tls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6600" y="440945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namespace: default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29175" y="1105545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8880" y="1285255"/>
            <a:ext cx="6687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在 Gateway 終止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008880" y="1596405"/>
            <a:ext cx="6687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瀏覽器到 Gateway 走 HTTPS，Gateway 到 Pod 是一般 HTTP，應用不用管憑證。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29175" y="2144390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08880" y="2324100"/>
            <a:ext cx="6687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Secret 跟 Gateway 放一起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008880" y="2635250"/>
            <a:ext cx="6687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gateway-tls 在 default namespace，內含 tls.crt 與 tls.key。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29175" y="3183260"/>
            <a:ext cx="6851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08880" y="3362970"/>
            <a:ext cx="6687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自簽萬用憑證 *.nexai.org.com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08880" y="3674120"/>
            <a:ext cx="66870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瀏覽器警告是預期行為，curl 要加 -k；可以順便講憑證鏈。</a:t>
            </a:r>
            <a:endParaRPr lang="en-US" sz="1300" dirty="0"/>
          </a:p>
        </p:txBody>
      </p:sp>
      <p:pic>
        <p:nvPicPr>
          <p:cNvPr id="2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3 章 · draw.io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/ HTTPRoute 的 host 與 path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4064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parentRefs: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- name: __FILL_ME_13__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5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sectionName: https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hostnames: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- "__FILL_ME_14__"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1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rules: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88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- matches: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1565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- path: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45440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type: PathPrefix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69317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value: /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600" y="393191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backendRefs: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600" y="417068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- name: drawio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6600" y="4409455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port: __FILL_ME_15__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29175" y="1105545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1259855"/>
            <a:ext cx="6739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__FILL_ME_13__ · parentRefs.name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83480" y="1511300"/>
            <a:ext cx="673933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要掛到哪個 Gateway？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29175" y="2021210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2175520"/>
            <a:ext cx="6739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__FILL_ME_14__ · hostnames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83480" y="2426965"/>
            <a:ext cx="673933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網域慣例：&lt;product&gt;.nexai.org.com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29175" y="2936875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3091185"/>
            <a:ext cx="6739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 · PathPrefix /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983480" y="3342655"/>
            <a:ext cx="673933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代表整個網站。延伸：改成 /docs 之後，其他路徑會得到什麼？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29175" y="3852540"/>
            <a:ext cx="6851650" cy="807720"/>
          </a:xfrm>
          <a:prstGeom prst="roundRect">
            <a:avLst>
              <a:gd name="adj" fmla="val 1218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83480" y="4006850"/>
            <a:ext cx="6739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__FILL_ME_15__ · backendRefs.port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83480" y="4258320"/>
            <a:ext cx="673933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 Service 的 port，不是 containerPort。</a:t>
            </a:r>
            <a:endParaRPr lang="en-US" sz="1300" dirty="0"/>
          </a:p>
        </p:txBody>
      </p:sp>
      <p:pic>
        <p:nvPicPr>
          <p:cNvPr id="31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3 章 · 填空練習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Application Data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4318000" cy="3723640"/>
          </a:xfrm>
          <a:prstGeom prst="roundRect">
            <a:avLst>
              <a:gd name="adj" fmla="val 2729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07-flarum-deployment.yaml（節錄）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 name: DB_HOST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5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value: "mysql"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 name: DB_PASS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valueFrom: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1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secretKeyRef: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88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name: mysql-secret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1565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key: MYSQL_PASSWORD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454400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volumeMounts: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693170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 name: storage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600" y="393191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mountPath: /flarum/app/storage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600" y="417068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 name: assets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6600" y="4409455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mountPath: /flarum/app/public/assets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83175" y="1105545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62880" y="1285255"/>
            <a:ext cx="64253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initContainer 先整理目錄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262880" y="1596405"/>
            <a:ext cx="64253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在空 PVC 裡建好子目錄、chown 991:991，主容器才寫得進去。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83175" y="2144390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62880" y="2324100"/>
            <a:ext cx="64253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只掛資料目錄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262880" y="2635250"/>
            <a:ext cx="64253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掛整個 /flarum/app，空 PVC 會蓋掉 image 裡的程式。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083175" y="3183260"/>
            <a:ext cx="6597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62880" y="3362970"/>
            <a:ext cx="64253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打開 flarum.nexai.org.com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262880" y="3674120"/>
            <a:ext cx="64253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README 裡的管理員帳號登入，發第一篇文章。</a:t>
            </a:r>
            <a:endParaRPr lang="en-US" sz="1300" dirty="0"/>
          </a:p>
        </p:txBody>
      </p:sp>
      <p:pic>
        <p:nvPicPr>
          <p:cNvPr id="2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4 章 · flarum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分散與節點維護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55"/>
            <a:ext cx="6163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分散：topologySpreadConstraints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0880" y="1596405"/>
            <a:ext cx="6163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 draw.io Pod 如果剛好在同一個節點，節點一掛就全掛。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1175" y="2157090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880" y="2336800"/>
            <a:ext cx="6163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PodDisruptionBudget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880" y="2647950"/>
            <a:ext cx="6163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 節點時保留最少可用數，例如 minAvailable: 1。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1175" y="3208660"/>
            <a:ext cx="63436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880" y="3388370"/>
            <a:ext cx="6163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cordon → drain → uncordon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880" y="3699520"/>
            <a:ext cx="6163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維護前先停止排入新 Pod，再把現有 Pod 趕走，做完再恢復。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112000" y="1102370"/>
            <a:ext cx="4572000" cy="2151380"/>
          </a:xfrm>
          <a:prstGeom prst="roundRect">
            <a:avLst>
              <a:gd name="adj" fmla="val 4723"/>
            </a:avLst>
          </a:prstGeom>
          <a:solidFill>
            <a:srgbClr val="0F2F47"/>
          </a:solidFill>
          <a:ln/>
        </p:spPr>
      </p:sp>
      <p:sp>
        <p:nvSpPr>
          <p:cNvPr id="14" name="Text 11"/>
          <p:cNvSpPr/>
          <p:nvPr/>
        </p:nvSpPr>
        <p:spPr>
          <a:xfrm>
            <a:off x="7340600" y="1305570"/>
            <a:ext cx="42382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pod -n drawio -o wide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40600" y="1544315"/>
            <a:ext cx="42382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兩個 Pod 在不同節點嗎？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40600" y="1808485"/>
            <a:ext cx="42382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pdb -n drawio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40600" y="2047255"/>
            <a:ext cx="42382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本教材目前沒有 PDB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12000" y="3380755"/>
            <a:ext cx="4572000" cy="749300"/>
          </a:xfrm>
          <a:prstGeom prst="roundRect">
            <a:avLst>
              <a:gd name="adj" fmla="val 10169"/>
            </a:avLst>
          </a:prstGeom>
          <a:solidFill>
            <a:srgbClr val="FBEEDC"/>
          </a:solidFill>
          <a:ln/>
        </p:spPr>
      </p:sp>
      <p:pic>
        <p:nvPicPr>
          <p:cNvPr id="19" name="Image 1" descr="Warning">    </p:cNvPr>
          <p:cNvPicPr>
            <a:picLocks noChangeAspect="1"/>
          </p:cNvPicPr>
          <p:nvPr/>
        </p:nvPicPr>
        <p:blipFill>
          <a:blip r:embed="rId2"/>
          <a:srcRect l="0" r="0" t="-495" b="-495"/>
          <a:stretch/>
        </p:blipFill>
        <p:spPr>
          <a:xfrm>
            <a:off x="7289800" y="3628405"/>
            <a:ext cx="232648" cy="254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49449" y="3507755"/>
            <a:ext cx="397245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共用叢集：drain 會影響其他租戶，只由講師講解或示範。</a:t>
            </a:r>
            <a:endParaRPr lang="en-US" sz="1300" dirty="0"/>
          </a:p>
        </p:txBody>
      </p:sp>
      <p:pic>
        <p:nvPicPr>
          <p:cNvPr id="21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5 章 · DR 基準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記錄目前 Application 狀態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55"/>
            <a:ext cx="23833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資源清單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0880" y="1596405"/>
            <a:ext cx="238335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Deployment、StatefulSet、Service、PVC、Secret 的名稱與狀態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432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22980" y="1285255"/>
            <a:ext cx="23833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與 PV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522980" y="1596405"/>
            <a:ext cx="2383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哪顆 PVC 綁哪顆 PV、容量、StorageClass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53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285255"/>
            <a:ext cx="23833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資料指紋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596405"/>
            <a:ext cx="2383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測試文章查詢結果、檔案 sha256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007475" y="1105545"/>
            <a:ext cx="2673350" cy="1413510"/>
          </a:xfrm>
          <a:prstGeom prst="roundRect">
            <a:avLst>
              <a:gd name="adj" fmla="val 696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87180" y="1285255"/>
            <a:ext cx="23833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對外狀態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87180" y="1596405"/>
            <a:ext cx="2383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狀態碼、頁面標題 K8s Training Forum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8000" y="2801615"/>
            <a:ext cx="111760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17" name="Text 14"/>
          <p:cNvSpPr/>
          <p:nvPr/>
        </p:nvSpPr>
        <p:spPr>
          <a:xfrm>
            <a:off x="736600" y="300481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OUT=baseline-flarum-$(date +%Y%m%d-%H%M); mkdir -p $OUT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6600" y="32435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all,pvc,cm,secret -n flarum -o wide &gt; $OUT/resources.txt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6600" y="348235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pvc -n flarum -o yaml &gt; $OUT/pvc.yaml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600" y="37211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pv &gt; $OUT/pv.txt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6600" y="39598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curl -sk -o /dev/null -w "%{http_code}\n" https://flarum.nexai.org.com &gt; $OUT/http.txt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6600" y="419861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叢集層級的基準：dr/script/baseline.sh</a:t>
            </a:r>
            <a:endParaRPr lang="en-US" sz="1200" dirty="0"/>
          </a:p>
        </p:txBody>
      </p:sp>
      <p:pic>
        <p:nvPicPr>
          <p:cNvPr id="23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6 章 · 測試資料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五個指令，各有用途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221755"/>
            <a:ext cx="1193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54200" y="123951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現在的狀態：STATUS、READY、RESTARTS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3000" y="1257300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pod -n flarum -o wide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8000" y="162369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8000" y="1739900"/>
            <a:ext cx="1193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describe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54200" y="175768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為什麼會這樣：Conditions 與 Events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3000" y="1775470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describe pod &lt;pod&gt; -n flarum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8000" y="214186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8000" y="2258070"/>
            <a:ext cx="1193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54200" y="227585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應用自己說了什麼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93000" y="2293615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logs &lt;pod&gt; -n flarum --previous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8000" y="266003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2776215"/>
            <a:ext cx="1193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854200" y="2794000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進容器裡驗證：DNS、連線、檔案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93000" y="2811785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exec -it &lt;pod&gt; -n flarum -- sh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8000" y="317817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8000" y="3365500"/>
            <a:ext cx="1193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854200" y="3383285"/>
            <a:ext cx="559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整個 namespace 最近發生的事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3000" y="3294385"/>
            <a:ext cx="43167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events -n flarum --sort-by=.lastTimestamp</a:t>
            </a:r>
            <a:endParaRPr lang="en-US" sz="1200" dirty="0"/>
          </a:p>
        </p:txBody>
      </p:sp>
      <p:pic>
        <p:nvPicPr>
          <p:cNvPr id="24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第 7 章 · 完成檢查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實戰部署工作坊</dc:title>
  <dc:subject>PptxGenJS Presentation</dc:subject>
  <dc:creator>PptxGenJS</dc:creator>
  <cp:lastModifiedBy>PptxGenJS</cp:lastModifiedBy>
  <cp:revision>1</cp:revision>
  <dcterms:created xsi:type="dcterms:W3CDTF">2026-09-24T10:08:04Z</dcterms:created>
  <dcterms:modified xsi:type="dcterms:W3CDTF">2026-09-24T10:08:04Z</dcterms:modified>
</cp:coreProperties>
</file>